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854" r:id="rId1"/>
  </p:sldMasterIdLst>
  <p:notesMasterIdLst>
    <p:notesMasterId r:id="rId178"/>
  </p:notesMasterIdLst>
  <p:handoutMasterIdLst>
    <p:handoutMasterId r:id="rId179"/>
  </p:handoutMasterIdLst>
  <p:sldIdLst>
    <p:sldId id="256" r:id="rId2"/>
    <p:sldId id="593" r:id="rId3"/>
    <p:sldId id="595" r:id="rId4"/>
    <p:sldId id="517" r:id="rId5"/>
    <p:sldId id="603" r:id="rId6"/>
    <p:sldId id="498" r:id="rId7"/>
    <p:sldId id="499" r:id="rId8"/>
    <p:sldId id="500" r:id="rId9"/>
    <p:sldId id="589" r:id="rId10"/>
    <p:sldId id="501" r:id="rId11"/>
    <p:sldId id="502" r:id="rId12"/>
    <p:sldId id="504" r:id="rId13"/>
    <p:sldId id="505" r:id="rId14"/>
    <p:sldId id="506" r:id="rId15"/>
    <p:sldId id="507" r:id="rId16"/>
    <p:sldId id="508" r:id="rId17"/>
    <p:sldId id="510" r:id="rId18"/>
    <p:sldId id="511" r:id="rId19"/>
    <p:sldId id="512" r:id="rId20"/>
    <p:sldId id="513" r:id="rId21"/>
    <p:sldId id="514" r:id="rId22"/>
    <p:sldId id="604" r:id="rId23"/>
    <p:sldId id="605" r:id="rId24"/>
    <p:sldId id="606" r:id="rId25"/>
    <p:sldId id="659" r:id="rId26"/>
    <p:sldId id="515" r:id="rId27"/>
    <p:sldId id="516" r:id="rId28"/>
    <p:sldId id="518" r:id="rId29"/>
    <p:sldId id="519" r:id="rId30"/>
    <p:sldId id="520" r:id="rId31"/>
    <p:sldId id="521" r:id="rId32"/>
    <p:sldId id="523" r:id="rId33"/>
    <p:sldId id="607" r:id="rId34"/>
    <p:sldId id="527" r:id="rId35"/>
    <p:sldId id="528" r:id="rId36"/>
    <p:sldId id="529" r:id="rId37"/>
    <p:sldId id="530" r:id="rId38"/>
    <p:sldId id="531" r:id="rId39"/>
    <p:sldId id="532" r:id="rId40"/>
    <p:sldId id="533" r:id="rId41"/>
    <p:sldId id="535" r:id="rId42"/>
    <p:sldId id="536" r:id="rId43"/>
    <p:sldId id="538" r:id="rId44"/>
    <p:sldId id="541" r:id="rId45"/>
    <p:sldId id="544" r:id="rId46"/>
    <p:sldId id="546" r:id="rId47"/>
    <p:sldId id="547" r:id="rId48"/>
    <p:sldId id="548" r:id="rId49"/>
    <p:sldId id="550" r:id="rId50"/>
    <p:sldId id="551" r:id="rId51"/>
    <p:sldId id="560" r:id="rId52"/>
    <p:sldId id="561" r:id="rId53"/>
    <p:sldId id="563" r:id="rId54"/>
    <p:sldId id="565" r:id="rId55"/>
    <p:sldId id="596" r:id="rId56"/>
    <p:sldId id="568" r:id="rId57"/>
    <p:sldId id="569" r:id="rId58"/>
    <p:sldId id="597" r:id="rId59"/>
    <p:sldId id="570" r:id="rId60"/>
    <p:sldId id="572" r:id="rId61"/>
    <p:sldId id="598" r:id="rId62"/>
    <p:sldId id="573" r:id="rId63"/>
    <p:sldId id="574" r:id="rId64"/>
    <p:sldId id="579" r:id="rId65"/>
    <p:sldId id="599" r:id="rId66"/>
    <p:sldId id="582" r:id="rId67"/>
    <p:sldId id="600" r:id="rId68"/>
    <p:sldId id="601" r:id="rId69"/>
    <p:sldId id="602" r:id="rId70"/>
    <p:sldId id="608" r:id="rId71"/>
    <p:sldId id="615" r:id="rId72"/>
    <p:sldId id="616" r:id="rId73"/>
    <p:sldId id="617" r:id="rId74"/>
    <p:sldId id="618" r:id="rId75"/>
    <p:sldId id="619" r:id="rId76"/>
    <p:sldId id="620" r:id="rId77"/>
    <p:sldId id="621" r:id="rId78"/>
    <p:sldId id="623" r:id="rId79"/>
    <p:sldId id="624" r:id="rId80"/>
    <p:sldId id="625" r:id="rId81"/>
    <p:sldId id="626" r:id="rId82"/>
    <p:sldId id="627" r:id="rId83"/>
    <p:sldId id="628" r:id="rId84"/>
    <p:sldId id="629" r:id="rId85"/>
    <p:sldId id="630" r:id="rId86"/>
    <p:sldId id="631" r:id="rId87"/>
    <p:sldId id="633" r:id="rId88"/>
    <p:sldId id="634" r:id="rId89"/>
    <p:sldId id="635" r:id="rId90"/>
    <p:sldId id="636" r:id="rId91"/>
    <p:sldId id="637" r:id="rId92"/>
    <p:sldId id="638" r:id="rId93"/>
    <p:sldId id="639" r:id="rId94"/>
    <p:sldId id="609" r:id="rId95"/>
    <p:sldId id="610" r:id="rId96"/>
    <p:sldId id="611" r:id="rId97"/>
    <p:sldId id="612" r:id="rId98"/>
    <p:sldId id="670" r:id="rId99"/>
    <p:sldId id="614" r:id="rId100"/>
    <p:sldId id="654" r:id="rId101"/>
    <p:sldId id="653" r:id="rId102"/>
    <p:sldId id="656" r:id="rId103"/>
    <p:sldId id="658" r:id="rId104"/>
    <p:sldId id="657" r:id="rId105"/>
    <p:sldId id="660" r:id="rId106"/>
    <p:sldId id="661" r:id="rId107"/>
    <p:sldId id="683" r:id="rId108"/>
    <p:sldId id="662" r:id="rId109"/>
    <p:sldId id="663" r:id="rId110"/>
    <p:sldId id="664" r:id="rId111"/>
    <p:sldId id="665" r:id="rId112"/>
    <p:sldId id="667" r:id="rId113"/>
    <p:sldId id="668" r:id="rId114"/>
    <p:sldId id="669" r:id="rId115"/>
    <p:sldId id="671" r:id="rId116"/>
    <p:sldId id="672" r:id="rId117"/>
    <p:sldId id="681" r:id="rId118"/>
    <p:sldId id="682" r:id="rId119"/>
    <p:sldId id="673" r:id="rId120"/>
    <p:sldId id="675" r:id="rId121"/>
    <p:sldId id="676" r:id="rId122"/>
    <p:sldId id="674" r:id="rId123"/>
    <p:sldId id="677" r:id="rId124"/>
    <p:sldId id="678" r:id="rId125"/>
    <p:sldId id="684" r:id="rId126"/>
    <p:sldId id="679" r:id="rId127"/>
    <p:sldId id="689" r:id="rId128"/>
    <p:sldId id="687" r:id="rId129"/>
    <p:sldId id="690" r:id="rId130"/>
    <p:sldId id="691" r:id="rId131"/>
    <p:sldId id="692" r:id="rId132"/>
    <p:sldId id="688" r:id="rId133"/>
    <p:sldId id="693" r:id="rId134"/>
    <p:sldId id="694" r:id="rId135"/>
    <p:sldId id="695" r:id="rId136"/>
    <p:sldId id="696" r:id="rId137"/>
    <p:sldId id="697" r:id="rId138"/>
    <p:sldId id="699" r:id="rId139"/>
    <p:sldId id="698" r:id="rId140"/>
    <p:sldId id="700" r:id="rId141"/>
    <p:sldId id="701" r:id="rId142"/>
    <p:sldId id="685" r:id="rId143"/>
    <p:sldId id="703" r:id="rId144"/>
    <p:sldId id="704" r:id="rId145"/>
    <p:sldId id="705" r:id="rId146"/>
    <p:sldId id="702" r:id="rId147"/>
    <p:sldId id="706" r:id="rId148"/>
    <p:sldId id="707" r:id="rId149"/>
    <p:sldId id="708" r:id="rId150"/>
    <p:sldId id="640" r:id="rId151"/>
    <p:sldId id="641" r:id="rId152"/>
    <p:sldId id="642" r:id="rId153"/>
    <p:sldId id="643" r:id="rId154"/>
    <p:sldId id="644" r:id="rId155"/>
    <p:sldId id="645" r:id="rId156"/>
    <p:sldId id="646" r:id="rId157"/>
    <p:sldId id="651" r:id="rId158"/>
    <p:sldId id="647" r:id="rId159"/>
    <p:sldId id="648" r:id="rId160"/>
    <p:sldId id="686" r:id="rId161"/>
    <p:sldId id="652" r:id="rId162"/>
    <p:sldId id="710" r:id="rId163"/>
    <p:sldId id="711" r:id="rId164"/>
    <p:sldId id="712" r:id="rId165"/>
    <p:sldId id="713" r:id="rId166"/>
    <p:sldId id="714" r:id="rId167"/>
    <p:sldId id="715" r:id="rId168"/>
    <p:sldId id="716" r:id="rId169"/>
    <p:sldId id="709" r:id="rId170"/>
    <p:sldId id="717" r:id="rId171"/>
    <p:sldId id="718" r:id="rId172"/>
    <p:sldId id="719" r:id="rId173"/>
    <p:sldId id="720" r:id="rId174"/>
    <p:sldId id="721" r:id="rId175"/>
    <p:sldId id="722" r:id="rId176"/>
    <p:sldId id="723" r:id="rId17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04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79" autoAdjust="0"/>
    <p:restoredTop sz="84364" autoAdjust="0"/>
  </p:normalViewPr>
  <p:slideViewPr>
    <p:cSldViewPr>
      <p:cViewPr varScale="1">
        <p:scale>
          <a:sx n="59" d="100"/>
          <a:sy n="59" d="100"/>
        </p:scale>
        <p:origin x="1602" y="4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54" d="100"/>
          <a:sy n="54" d="100"/>
        </p:scale>
        <p:origin x="2796" y="48"/>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viewProps" Target="viewProp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handoutMaster" Target="handoutMasters/handout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commentAuthors" Target="commentAuthor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s>
</file>

<file path=ppt/diagrams/_rels/data1.xml.rels><?xml version="1.0" encoding="UTF-8" standalone="yes"?>
<Relationships xmlns="http://schemas.openxmlformats.org/package/2006/relationships"><Relationship Id="rId1"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EFF75A-B6F4-42FD-93EA-FF48D58EADE1}" type="doc">
      <dgm:prSet loTypeId="urn:microsoft.com/office/officeart/2005/8/layout/cycle7" loCatId="cycle" qsTypeId="urn:microsoft.com/office/officeart/2005/8/quickstyle/simple1" qsCatId="simple" csTypeId="urn:microsoft.com/office/officeart/2005/8/colors/accent1_1" csCatId="accent1" phldr="1"/>
      <dgm:spPr/>
      <dgm:t>
        <a:bodyPr/>
        <a:lstStyle/>
        <a:p>
          <a:endParaRPr lang="en-GB"/>
        </a:p>
      </dgm:t>
    </dgm:pt>
    <dgm:pt modelId="{776A850E-89B6-491B-A4FF-D8F7BB854F4D}">
      <dgm:prSet phldrT="[Text]"/>
      <dgm:spPr/>
      <dgm:t>
        <a:bodyPr/>
        <a:lstStyle/>
        <a:p>
          <a:r>
            <a:rPr lang="en-GB" smtClean="0"/>
            <a:t>Lệnh rẽ nhánh</a:t>
          </a:r>
          <a:endParaRPr lang="en-GB"/>
        </a:p>
      </dgm:t>
    </dgm:pt>
    <dgm:pt modelId="{DECA13FA-5485-4EDC-90C1-1140E3673BAA}" type="parTrans" cxnId="{601F4EC0-57F9-4591-AF8B-E5B7A922DA57}">
      <dgm:prSet/>
      <dgm:spPr/>
      <dgm:t>
        <a:bodyPr/>
        <a:lstStyle/>
        <a:p>
          <a:endParaRPr lang="en-GB"/>
        </a:p>
      </dgm:t>
    </dgm:pt>
    <dgm:pt modelId="{4EE3A7A7-E091-4D56-9D63-C989454828D6}" type="sibTrans" cxnId="{601F4EC0-57F9-4591-AF8B-E5B7A922DA57}">
      <dgm:prSet/>
      <dgm:spPr/>
      <dgm:t>
        <a:bodyPr/>
        <a:lstStyle/>
        <a:p>
          <a:endParaRPr lang="en-GB"/>
        </a:p>
      </dgm:t>
    </dgm:pt>
    <dgm:pt modelId="{0A27FCF6-2F1B-4209-A32D-4ACD8196ADD7}">
      <dgm:prSet phldrT="[Text]"/>
      <dgm:spPr/>
      <dgm:t>
        <a:bodyPr/>
        <a:lstStyle/>
        <a:p>
          <a:r>
            <a:rPr lang="en-GB" smtClean="0"/>
            <a:t>Lệnh </a:t>
          </a:r>
          <a:br>
            <a:rPr lang="en-GB" smtClean="0"/>
          </a:br>
          <a:r>
            <a:rPr lang="en-GB" smtClean="0"/>
            <a:t>switch … case</a:t>
          </a:r>
          <a:endParaRPr lang="en-GB"/>
        </a:p>
      </dgm:t>
      <dgm:extLst>
        <a:ext uri="{E40237B7-FDA0-4F09-8148-C483321AD2D9}">
          <dgm14:cNvPr xmlns:dgm14="http://schemas.microsoft.com/office/drawing/2010/diagram" id="0" name="">
            <a:hlinkClick xmlns:r="http://schemas.openxmlformats.org/officeDocument/2006/relationships" r:id="rId1" action="ppaction://hlinksldjump"/>
          </dgm14:cNvPr>
        </a:ext>
      </dgm:extLst>
    </dgm:pt>
    <dgm:pt modelId="{53E7524C-9AD8-4F20-BE15-746586D8E830}" type="parTrans" cxnId="{5DF79E6A-A338-49D4-AE3E-D4C98B37C69F}">
      <dgm:prSet/>
      <dgm:spPr/>
      <dgm:t>
        <a:bodyPr/>
        <a:lstStyle/>
        <a:p>
          <a:endParaRPr lang="en-GB"/>
        </a:p>
      </dgm:t>
    </dgm:pt>
    <dgm:pt modelId="{C66D4899-9D48-491B-A3AF-7DE2476068F0}" type="sibTrans" cxnId="{5DF79E6A-A338-49D4-AE3E-D4C98B37C69F}">
      <dgm:prSet/>
      <dgm:spPr/>
      <dgm:t>
        <a:bodyPr/>
        <a:lstStyle/>
        <a:p>
          <a:endParaRPr lang="en-GB"/>
        </a:p>
      </dgm:t>
    </dgm:pt>
    <dgm:pt modelId="{21EC9D69-37D9-485E-BC9D-0207D9C9F5E9}">
      <dgm:prSet phldrT="[Text]"/>
      <dgm:spPr/>
      <dgm:t>
        <a:bodyPr/>
        <a:lstStyle/>
        <a:p>
          <a:r>
            <a:rPr lang="en-GB" smtClean="0"/>
            <a:t>Lệnh if</a:t>
          </a:r>
          <a:endParaRPr lang="en-GB"/>
        </a:p>
      </dgm:t>
      <dgm:extLst>
        <a:ext uri="{E40237B7-FDA0-4F09-8148-C483321AD2D9}">
          <dgm14:cNvPr xmlns:dgm14="http://schemas.microsoft.com/office/drawing/2010/diagram" id="0" name="">
            <a:hlinkClick xmlns:r="http://schemas.openxmlformats.org/officeDocument/2006/relationships" r:id="" action="ppaction://hlinkshowjump?jump=nextslide"/>
          </dgm14:cNvPr>
        </a:ext>
      </dgm:extLst>
    </dgm:pt>
    <dgm:pt modelId="{A5E2A811-0C62-4C25-B04F-FC8438FE4C69}" type="parTrans" cxnId="{8C4F48BE-EA80-4331-9407-6C2B83FDA8FE}">
      <dgm:prSet/>
      <dgm:spPr/>
      <dgm:t>
        <a:bodyPr/>
        <a:lstStyle/>
        <a:p>
          <a:endParaRPr lang="en-GB"/>
        </a:p>
      </dgm:t>
    </dgm:pt>
    <dgm:pt modelId="{B64D56CF-B111-43B1-AEE1-8FB1A3D48CA9}" type="sibTrans" cxnId="{8C4F48BE-EA80-4331-9407-6C2B83FDA8FE}">
      <dgm:prSet/>
      <dgm:spPr/>
      <dgm:t>
        <a:bodyPr/>
        <a:lstStyle/>
        <a:p>
          <a:endParaRPr lang="en-GB"/>
        </a:p>
      </dgm:t>
    </dgm:pt>
    <dgm:pt modelId="{26CFB04C-B5FC-4B43-A22C-E459380ACD30}" type="pres">
      <dgm:prSet presAssocID="{29EFF75A-B6F4-42FD-93EA-FF48D58EADE1}" presName="Name0" presStyleCnt="0">
        <dgm:presLayoutVars>
          <dgm:dir/>
          <dgm:resizeHandles val="exact"/>
        </dgm:presLayoutVars>
      </dgm:prSet>
      <dgm:spPr/>
      <dgm:t>
        <a:bodyPr/>
        <a:lstStyle/>
        <a:p>
          <a:endParaRPr lang="en-GB"/>
        </a:p>
      </dgm:t>
    </dgm:pt>
    <dgm:pt modelId="{CADE0ADB-66CF-48D5-A304-F3BCFCED470D}" type="pres">
      <dgm:prSet presAssocID="{776A850E-89B6-491B-A4FF-D8F7BB854F4D}" presName="node" presStyleLbl="node1" presStyleIdx="0" presStyleCnt="3">
        <dgm:presLayoutVars>
          <dgm:bulletEnabled val="1"/>
        </dgm:presLayoutVars>
      </dgm:prSet>
      <dgm:spPr/>
      <dgm:t>
        <a:bodyPr/>
        <a:lstStyle/>
        <a:p>
          <a:endParaRPr lang="en-GB"/>
        </a:p>
      </dgm:t>
    </dgm:pt>
    <dgm:pt modelId="{5C6351D1-04A7-4CEB-A555-76A707F0C0D7}" type="pres">
      <dgm:prSet presAssocID="{4EE3A7A7-E091-4D56-9D63-C989454828D6}" presName="sibTrans" presStyleLbl="sibTrans2D1" presStyleIdx="0" presStyleCnt="3"/>
      <dgm:spPr>
        <a:prstGeom prst="rightArrow">
          <a:avLst/>
        </a:prstGeom>
      </dgm:spPr>
      <dgm:t>
        <a:bodyPr/>
        <a:lstStyle/>
        <a:p>
          <a:endParaRPr lang="en-GB"/>
        </a:p>
      </dgm:t>
    </dgm:pt>
    <dgm:pt modelId="{6796F22E-F636-4B2A-B579-3C80DF1884FF}" type="pres">
      <dgm:prSet presAssocID="{4EE3A7A7-E091-4D56-9D63-C989454828D6}" presName="connectorText" presStyleLbl="sibTrans2D1" presStyleIdx="0" presStyleCnt="3"/>
      <dgm:spPr/>
      <dgm:t>
        <a:bodyPr/>
        <a:lstStyle/>
        <a:p>
          <a:endParaRPr lang="en-GB"/>
        </a:p>
      </dgm:t>
    </dgm:pt>
    <dgm:pt modelId="{053B2710-9AE6-404C-B39E-354DC1EB01D8}" type="pres">
      <dgm:prSet presAssocID="{0A27FCF6-2F1B-4209-A32D-4ACD8196ADD7}" presName="node" presStyleLbl="node1" presStyleIdx="1" presStyleCnt="3" custRadScaleRad="89662" custRadScaleInc="-24982">
        <dgm:presLayoutVars>
          <dgm:bulletEnabled val="1"/>
        </dgm:presLayoutVars>
      </dgm:prSet>
      <dgm:spPr/>
      <dgm:t>
        <a:bodyPr/>
        <a:lstStyle/>
        <a:p>
          <a:endParaRPr lang="en-GB"/>
        </a:p>
      </dgm:t>
    </dgm:pt>
    <dgm:pt modelId="{0C15D164-C32E-4DBF-B862-582EE5F89FAF}" type="pres">
      <dgm:prSet presAssocID="{C66D4899-9D48-491B-A3AF-7DE2476068F0}" presName="sibTrans" presStyleLbl="sibTrans2D1" presStyleIdx="1" presStyleCnt="3" custScaleX="1247" custScaleY="1247" custLinFactX="100000" custLinFactY="-302635" custLinFactNeighborX="137892" custLinFactNeighborY="-400000"/>
      <dgm:spPr/>
      <dgm:t>
        <a:bodyPr/>
        <a:lstStyle/>
        <a:p>
          <a:endParaRPr lang="en-GB"/>
        </a:p>
      </dgm:t>
    </dgm:pt>
    <dgm:pt modelId="{C5FD5BAB-23F3-4353-BE1A-0D68BE52AA96}" type="pres">
      <dgm:prSet presAssocID="{C66D4899-9D48-491B-A3AF-7DE2476068F0}" presName="connectorText" presStyleLbl="sibTrans2D1" presStyleIdx="1" presStyleCnt="3"/>
      <dgm:spPr/>
      <dgm:t>
        <a:bodyPr/>
        <a:lstStyle/>
        <a:p>
          <a:endParaRPr lang="en-GB"/>
        </a:p>
      </dgm:t>
    </dgm:pt>
    <dgm:pt modelId="{7E984A35-6E35-48D9-A689-051DFB5E7CB8}" type="pres">
      <dgm:prSet presAssocID="{21EC9D69-37D9-485E-BC9D-0207D9C9F5E9}" presName="node" presStyleLbl="node1" presStyleIdx="2" presStyleCnt="3" custRadScaleRad="94140" custRadScaleInc="24755">
        <dgm:presLayoutVars>
          <dgm:bulletEnabled val="1"/>
        </dgm:presLayoutVars>
      </dgm:prSet>
      <dgm:spPr/>
      <dgm:t>
        <a:bodyPr/>
        <a:lstStyle/>
        <a:p>
          <a:endParaRPr lang="en-GB"/>
        </a:p>
      </dgm:t>
    </dgm:pt>
    <dgm:pt modelId="{CD5E8566-9E54-40D0-97D7-F94C1AA468F3}" type="pres">
      <dgm:prSet presAssocID="{B64D56CF-B111-43B1-AEE1-8FB1A3D48CA9}" presName="sibTrans" presStyleLbl="sibTrans2D1" presStyleIdx="2" presStyleCnt="3"/>
      <dgm:spPr>
        <a:prstGeom prst="leftArrow">
          <a:avLst/>
        </a:prstGeom>
      </dgm:spPr>
      <dgm:t>
        <a:bodyPr/>
        <a:lstStyle/>
        <a:p>
          <a:endParaRPr lang="en-GB"/>
        </a:p>
      </dgm:t>
    </dgm:pt>
    <dgm:pt modelId="{48784093-44EB-4EE4-AA95-A5CB4C3F9E07}" type="pres">
      <dgm:prSet presAssocID="{B64D56CF-B111-43B1-AEE1-8FB1A3D48CA9}" presName="connectorText" presStyleLbl="sibTrans2D1" presStyleIdx="2" presStyleCnt="3"/>
      <dgm:spPr/>
      <dgm:t>
        <a:bodyPr/>
        <a:lstStyle/>
        <a:p>
          <a:endParaRPr lang="en-GB"/>
        </a:p>
      </dgm:t>
    </dgm:pt>
  </dgm:ptLst>
  <dgm:cxnLst>
    <dgm:cxn modelId="{A8790000-EF6F-4B70-990E-5A62136AA03B}" type="presOf" srcId="{4EE3A7A7-E091-4D56-9D63-C989454828D6}" destId="{5C6351D1-04A7-4CEB-A555-76A707F0C0D7}" srcOrd="0" destOrd="0" presId="urn:microsoft.com/office/officeart/2005/8/layout/cycle7"/>
    <dgm:cxn modelId="{577F0877-20C5-4447-B6B7-2A2F8820D8A5}" type="presOf" srcId="{21EC9D69-37D9-485E-BC9D-0207D9C9F5E9}" destId="{7E984A35-6E35-48D9-A689-051DFB5E7CB8}" srcOrd="0" destOrd="0" presId="urn:microsoft.com/office/officeart/2005/8/layout/cycle7"/>
    <dgm:cxn modelId="{1E58566B-59EF-4E1D-8A40-6E59B6688D30}" type="presOf" srcId="{4EE3A7A7-E091-4D56-9D63-C989454828D6}" destId="{6796F22E-F636-4B2A-B579-3C80DF1884FF}" srcOrd="1" destOrd="0" presId="urn:microsoft.com/office/officeart/2005/8/layout/cycle7"/>
    <dgm:cxn modelId="{8E5A4ECF-928F-4BB6-B511-35984FB8F3A5}" type="presOf" srcId="{776A850E-89B6-491B-A4FF-D8F7BB854F4D}" destId="{CADE0ADB-66CF-48D5-A304-F3BCFCED470D}" srcOrd="0" destOrd="0" presId="urn:microsoft.com/office/officeart/2005/8/layout/cycle7"/>
    <dgm:cxn modelId="{659A4FE9-6484-49A7-849F-69481527B212}" type="presOf" srcId="{C66D4899-9D48-491B-A3AF-7DE2476068F0}" destId="{0C15D164-C32E-4DBF-B862-582EE5F89FAF}" srcOrd="0" destOrd="0" presId="urn:microsoft.com/office/officeart/2005/8/layout/cycle7"/>
    <dgm:cxn modelId="{74AEE9C4-960B-478F-9A47-548F9F7A9CFC}" type="presOf" srcId="{0A27FCF6-2F1B-4209-A32D-4ACD8196ADD7}" destId="{053B2710-9AE6-404C-B39E-354DC1EB01D8}" srcOrd="0" destOrd="0" presId="urn:microsoft.com/office/officeart/2005/8/layout/cycle7"/>
    <dgm:cxn modelId="{87430FFF-6B23-4B74-9448-E8BCF3C03252}" type="presOf" srcId="{C66D4899-9D48-491B-A3AF-7DE2476068F0}" destId="{C5FD5BAB-23F3-4353-BE1A-0D68BE52AA96}" srcOrd="1" destOrd="0" presId="urn:microsoft.com/office/officeart/2005/8/layout/cycle7"/>
    <dgm:cxn modelId="{1335D322-52CE-44E9-972D-50F2ED9C2A9D}" type="presOf" srcId="{B64D56CF-B111-43B1-AEE1-8FB1A3D48CA9}" destId="{48784093-44EB-4EE4-AA95-A5CB4C3F9E07}" srcOrd="1" destOrd="0" presId="urn:microsoft.com/office/officeart/2005/8/layout/cycle7"/>
    <dgm:cxn modelId="{8C4F48BE-EA80-4331-9407-6C2B83FDA8FE}" srcId="{29EFF75A-B6F4-42FD-93EA-FF48D58EADE1}" destId="{21EC9D69-37D9-485E-BC9D-0207D9C9F5E9}" srcOrd="2" destOrd="0" parTransId="{A5E2A811-0C62-4C25-B04F-FC8438FE4C69}" sibTransId="{B64D56CF-B111-43B1-AEE1-8FB1A3D48CA9}"/>
    <dgm:cxn modelId="{96A6BA4D-CB22-40FB-B390-B5A73E1EFDD8}" type="presOf" srcId="{B64D56CF-B111-43B1-AEE1-8FB1A3D48CA9}" destId="{CD5E8566-9E54-40D0-97D7-F94C1AA468F3}" srcOrd="0" destOrd="0" presId="urn:microsoft.com/office/officeart/2005/8/layout/cycle7"/>
    <dgm:cxn modelId="{5DF79E6A-A338-49D4-AE3E-D4C98B37C69F}" srcId="{29EFF75A-B6F4-42FD-93EA-FF48D58EADE1}" destId="{0A27FCF6-2F1B-4209-A32D-4ACD8196ADD7}" srcOrd="1" destOrd="0" parTransId="{53E7524C-9AD8-4F20-BE15-746586D8E830}" sibTransId="{C66D4899-9D48-491B-A3AF-7DE2476068F0}"/>
    <dgm:cxn modelId="{601F4EC0-57F9-4591-AF8B-E5B7A922DA57}" srcId="{29EFF75A-B6F4-42FD-93EA-FF48D58EADE1}" destId="{776A850E-89B6-491B-A4FF-D8F7BB854F4D}" srcOrd="0" destOrd="0" parTransId="{DECA13FA-5485-4EDC-90C1-1140E3673BAA}" sibTransId="{4EE3A7A7-E091-4D56-9D63-C989454828D6}"/>
    <dgm:cxn modelId="{9ED3C322-0727-4859-818F-7DA0DE73732B}" type="presOf" srcId="{29EFF75A-B6F4-42FD-93EA-FF48D58EADE1}" destId="{26CFB04C-B5FC-4B43-A22C-E459380ACD30}" srcOrd="0" destOrd="0" presId="urn:microsoft.com/office/officeart/2005/8/layout/cycle7"/>
    <dgm:cxn modelId="{58A0750C-4176-49FF-8C97-7D5B38A385CD}" type="presParOf" srcId="{26CFB04C-B5FC-4B43-A22C-E459380ACD30}" destId="{CADE0ADB-66CF-48D5-A304-F3BCFCED470D}" srcOrd="0" destOrd="0" presId="urn:microsoft.com/office/officeart/2005/8/layout/cycle7"/>
    <dgm:cxn modelId="{9EC4758B-4E83-4EC5-97C6-588085CA5504}" type="presParOf" srcId="{26CFB04C-B5FC-4B43-A22C-E459380ACD30}" destId="{5C6351D1-04A7-4CEB-A555-76A707F0C0D7}" srcOrd="1" destOrd="0" presId="urn:microsoft.com/office/officeart/2005/8/layout/cycle7"/>
    <dgm:cxn modelId="{99CA44F0-9A19-4ACF-BD34-2D363910E6E3}" type="presParOf" srcId="{5C6351D1-04A7-4CEB-A555-76A707F0C0D7}" destId="{6796F22E-F636-4B2A-B579-3C80DF1884FF}" srcOrd="0" destOrd="0" presId="urn:microsoft.com/office/officeart/2005/8/layout/cycle7"/>
    <dgm:cxn modelId="{21D34482-9248-42B5-8820-DF1AAE977B5E}" type="presParOf" srcId="{26CFB04C-B5FC-4B43-A22C-E459380ACD30}" destId="{053B2710-9AE6-404C-B39E-354DC1EB01D8}" srcOrd="2" destOrd="0" presId="urn:microsoft.com/office/officeart/2005/8/layout/cycle7"/>
    <dgm:cxn modelId="{B3E4D170-FFEF-4D9F-B7FD-9935346D459D}" type="presParOf" srcId="{26CFB04C-B5FC-4B43-A22C-E459380ACD30}" destId="{0C15D164-C32E-4DBF-B862-582EE5F89FAF}" srcOrd="3" destOrd="0" presId="urn:microsoft.com/office/officeart/2005/8/layout/cycle7"/>
    <dgm:cxn modelId="{ED7A1E68-7A12-4949-828B-14876D64D341}" type="presParOf" srcId="{0C15D164-C32E-4DBF-B862-582EE5F89FAF}" destId="{C5FD5BAB-23F3-4353-BE1A-0D68BE52AA96}" srcOrd="0" destOrd="0" presId="urn:microsoft.com/office/officeart/2005/8/layout/cycle7"/>
    <dgm:cxn modelId="{7FFBC9D4-0161-47AC-BADE-E547C701107D}" type="presParOf" srcId="{26CFB04C-B5FC-4B43-A22C-E459380ACD30}" destId="{7E984A35-6E35-48D9-A689-051DFB5E7CB8}" srcOrd="4" destOrd="0" presId="urn:microsoft.com/office/officeart/2005/8/layout/cycle7"/>
    <dgm:cxn modelId="{0F228EBD-AF96-496F-A224-CAE352D30C52}" type="presParOf" srcId="{26CFB04C-B5FC-4B43-A22C-E459380ACD30}" destId="{CD5E8566-9E54-40D0-97D7-F94C1AA468F3}" srcOrd="5" destOrd="0" presId="urn:microsoft.com/office/officeart/2005/8/layout/cycle7"/>
    <dgm:cxn modelId="{4FEBB49F-C121-4A07-B1DD-EDA6A9718E83}" type="presParOf" srcId="{CD5E8566-9E54-40D0-97D7-F94C1AA468F3}" destId="{48784093-44EB-4EE4-AA95-A5CB4C3F9E07}" srcOrd="0" destOrd="0" presId="urn:microsoft.com/office/officeart/2005/8/layout/cycle7"/>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DE0ADB-66CF-48D5-A304-F3BCFCED470D}">
      <dsp:nvSpPr>
        <dsp:cNvPr id="0" name=""/>
        <dsp:cNvSpPr/>
      </dsp:nvSpPr>
      <dsp:spPr>
        <a:xfrm>
          <a:off x="2168968" y="775"/>
          <a:ext cx="1818746" cy="909373"/>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n-GB" sz="2200" kern="1200" smtClean="0"/>
            <a:t>Lệnh rẽ nhánh</a:t>
          </a:r>
          <a:endParaRPr lang="en-GB" sz="2200" kern="1200"/>
        </a:p>
      </dsp:txBody>
      <dsp:txXfrm>
        <a:off x="2195603" y="27410"/>
        <a:ext cx="1765476" cy="856103"/>
      </dsp:txXfrm>
    </dsp:sp>
    <dsp:sp modelId="{5C6351D1-04A7-4CEB-A555-76A707F0C0D7}">
      <dsp:nvSpPr>
        <dsp:cNvPr id="0" name=""/>
        <dsp:cNvSpPr/>
      </dsp:nvSpPr>
      <dsp:spPr>
        <a:xfrm rot="3293996">
          <a:off x="3325962" y="1364130"/>
          <a:ext cx="1005699" cy="318280"/>
        </a:xfrm>
        <a:prstGeom prst="right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n-GB" sz="1300" kern="1200"/>
        </a:p>
      </dsp:txBody>
      <dsp:txXfrm>
        <a:off x="3421446" y="1427786"/>
        <a:ext cx="814731" cy="190968"/>
      </dsp:txXfrm>
    </dsp:sp>
    <dsp:sp modelId="{053B2710-9AE6-404C-B39E-354DC1EB01D8}">
      <dsp:nvSpPr>
        <dsp:cNvPr id="0" name=""/>
        <dsp:cNvSpPr/>
      </dsp:nvSpPr>
      <dsp:spPr>
        <a:xfrm>
          <a:off x="3669909" y="2136393"/>
          <a:ext cx="1818746" cy="909373"/>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n-GB" sz="2200" kern="1200" smtClean="0"/>
            <a:t>Lệnh </a:t>
          </a:r>
          <a:br>
            <a:rPr lang="en-GB" sz="2200" kern="1200" smtClean="0"/>
          </a:br>
          <a:r>
            <a:rPr lang="en-GB" sz="2200" kern="1200" smtClean="0"/>
            <a:t>switch … case</a:t>
          </a:r>
          <a:endParaRPr lang="en-GB" sz="2200" kern="1200"/>
        </a:p>
      </dsp:txBody>
      <dsp:txXfrm>
        <a:off x="3696544" y="2163028"/>
        <a:ext cx="1765476" cy="856103"/>
      </dsp:txXfrm>
    </dsp:sp>
    <dsp:sp modelId="{0C15D164-C32E-4DBF-B862-582EE5F89FAF}">
      <dsp:nvSpPr>
        <dsp:cNvPr id="0" name=""/>
        <dsp:cNvSpPr/>
      </dsp:nvSpPr>
      <dsp:spPr>
        <a:xfrm rot="10773349">
          <a:off x="5427574" y="364666"/>
          <a:ext cx="12541" cy="3968"/>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22250">
            <a:lnSpc>
              <a:spcPct val="90000"/>
            </a:lnSpc>
            <a:spcBef>
              <a:spcPct val="0"/>
            </a:spcBef>
            <a:spcAft>
              <a:spcPct val="35000"/>
            </a:spcAft>
          </a:pPr>
          <a:endParaRPr lang="en-GB" sz="500" kern="1200"/>
        </a:p>
      </dsp:txBody>
      <dsp:txXfrm rot="10800000">
        <a:off x="5428764" y="365460"/>
        <a:ext cx="10161" cy="2380"/>
      </dsp:txXfrm>
    </dsp:sp>
    <dsp:sp modelId="{7E984A35-6E35-48D9-A689-051DFB5E7CB8}">
      <dsp:nvSpPr>
        <dsp:cNvPr id="0" name=""/>
        <dsp:cNvSpPr/>
      </dsp:nvSpPr>
      <dsp:spPr>
        <a:xfrm>
          <a:off x="594075" y="2160239"/>
          <a:ext cx="1818746" cy="909373"/>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n-GB" sz="2200" kern="1200" smtClean="0"/>
            <a:t>Lệnh if</a:t>
          </a:r>
          <a:endParaRPr lang="en-GB" sz="2200" kern="1200"/>
        </a:p>
      </dsp:txBody>
      <dsp:txXfrm>
        <a:off x="620710" y="2186874"/>
        <a:ext cx="1765476" cy="856103"/>
      </dsp:txXfrm>
    </dsp:sp>
    <dsp:sp modelId="{CD5E8566-9E54-40D0-97D7-F94C1AA468F3}">
      <dsp:nvSpPr>
        <dsp:cNvPr id="0" name=""/>
        <dsp:cNvSpPr/>
      </dsp:nvSpPr>
      <dsp:spPr>
        <a:xfrm rot="18366193">
          <a:off x="1788045" y="1376053"/>
          <a:ext cx="1005699" cy="318280"/>
        </a:xfrm>
        <a:prstGeom prst="left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en-GB" sz="1300" kern="1200"/>
        </a:p>
      </dsp:txBody>
      <dsp:txXfrm>
        <a:off x="1883529" y="1439709"/>
        <a:ext cx="814731" cy="190968"/>
      </dsp:txXfrm>
    </dsp:sp>
  </dsp:spTree>
</dsp:drawing>
</file>

<file path=ppt/diagrams/layout1.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57200" y="228600"/>
            <a:ext cx="2514600" cy="310662"/>
          </a:xfrm>
          <a:prstGeom prst="rect">
            <a:avLst/>
          </a:prstGeom>
        </p:spPr>
        <p:txBody>
          <a:bodyPr vert="horz" lIns="91440" tIns="45720" rIns="91440" bIns="45720" rtlCol="0"/>
          <a:lstStyle>
            <a:lvl1pPr algn="l">
              <a:defRPr sz="1200"/>
            </a:lvl1pPr>
          </a:lstStyle>
          <a:p>
            <a:r>
              <a:rPr lang="en-US" smtClean="0"/>
              <a:t>Công nghệ Java</a:t>
            </a:r>
            <a:endParaRPr lang="en-GB"/>
          </a:p>
        </p:txBody>
      </p:sp>
      <p:sp>
        <p:nvSpPr>
          <p:cNvPr id="4" name="Footer Placeholder 3"/>
          <p:cNvSpPr>
            <a:spLocks noGrp="1"/>
          </p:cNvSpPr>
          <p:nvPr>
            <p:ph type="ftr" sz="quarter" idx="2"/>
          </p:nvPr>
        </p:nvSpPr>
        <p:spPr>
          <a:xfrm>
            <a:off x="0" y="8532813"/>
            <a:ext cx="13716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2590800" y="8532813"/>
            <a:ext cx="1296987" cy="458787"/>
          </a:xfrm>
          <a:prstGeom prst="rect">
            <a:avLst/>
          </a:prstGeom>
        </p:spPr>
        <p:txBody>
          <a:bodyPr vert="horz" lIns="91440" tIns="45720" rIns="91440" bIns="45720" rtlCol="0" anchor="b"/>
          <a:lstStyle>
            <a:lvl1pPr algn="r">
              <a:defRPr sz="1200"/>
            </a:lvl1pPr>
          </a:lstStyle>
          <a:p>
            <a:pPr algn="ctr"/>
            <a:fld id="{76D47C7C-ADC2-467D-8E42-8B10FCB69FC6}" type="slidenum">
              <a:rPr lang="en-GB" smtClean="0"/>
              <a:pPr algn="ctr"/>
              <a:t>‹#›</a:t>
            </a:fld>
            <a:endParaRPr lang="en-GB"/>
          </a:p>
        </p:txBody>
      </p:sp>
    </p:spTree>
    <p:extLst>
      <p:ext uri="{BB962C8B-B14F-4D97-AF65-F5344CB8AC3E}">
        <p14:creationId xmlns:p14="http://schemas.microsoft.com/office/powerpoint/2010/main" val="41288795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32" tIns="45716" rIns="91432" bIns="45716" numCol="1" anchor="t" anchorCtr="0" compatLnSpc="1">
            <a:prstTxWarp prst="textNoShape">
              <a:avLst/>
            </a:prstTxWarp>
          </a:bodyPr>
          <a:lstStyle>
            <a:lvl1pPr>
              <a:defRPr sz="1200"/>
            </a:lvl1pPr>
          </a:lstStyle>
          <a:p>
            <a:endParaRPr lang="en-US"/>
          </a:p>
        </p:txBody>
      </p:sp>
      <p:sp>
        <p:nvSpPr>
          <p:cNvPr id="317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32" tIns="45716" rIns="91432" bIns="45716" numCol="1" anchor="t" anchorCtr="0" compatLnSpc="1">
            <a:prstTxWarp prst="textNoShape">
              <a:avLst/>
            </a:prstTxWarp>
          </a:bodyPr>
          <a:lstStyle>
            <a:lvl1pPr algn="r">
              <a:defRPr sz="1200"/>
            </a:lvl1pPr>
          </a:lstStyle>
          <a:p>
            <a:endParaRPr lang="en-US"/>
          </a:p>
        </p:txBody>
      </p:sp>
      <p:sp>
        <p:nvSpPr>
          <p:cNvPr id="50180" name="Rectangle 4"/>
          <p:cNvSpPr>
            <a:spLocks noGrp="1" noRot="1" noChangeAspect="1" noChangeArrowheads="1" noTextEdit="1"/>
          </p:cNvSpPr>
          <p:nvPr>
            <p:ph type="sldImg" idx="2"/>
          </p:nvPr>
        </p:nvSpPr>
        <p:spPr bwMode="auto">
          <a:xfrm>
            <a:off x="1143000" y="685800"/>
            <a:ext cx="4573588"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32" tIns="45716" rIns="91432" bIns="45716"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17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32" tIns="45716" rIns="91432" bIns="45716" numCol="1" anchor="b" anchorCtr="0" compatLnSpc="1">
            <a:prstTxWarp prst="textNoShape">
              <a:avLst/>
            </a:prstTxWarp>
          </a:bodyPr>
          <a:lstStyle>
            <a:lvl1pPr>
              <a:defRPr sz="1200"/>
            </a:lvl1pPr>
          </a:lstStyle>
          <a:p>
            <a:endParaRPr lang="en-US"/>
          </a:p>
        </p:txBody>
      </p:sp>
      <p:sp>
        <p:nvSpPr>
          <p:cNvPr id="317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32" tIns="45716" rIns="91432" bIns="45716" numCol="1" anchor="b" anchorCtr="0" compatLnSpc="1">
            <a:prstTxWarp prst="textNoShape">
              <a:avLst/>
            </a:prstTxWarp>
          </a:bodyPr>
          <a:lstStyle>
            <a:lvl1pPr algn="r">
              <a:defRPr sz="1200"/>
            </a:lvl1pPr>
          </a:lstStyle>
          <a:p>
            <a:fld id="{C4FAFF74-62C9-4164-83E5-C3FEE683EDA9}" type="slidenum">
              <a:rPr lang="en-US"/>
              <a:pPr/>
              <a:t>‹#›</a:t>
            </a:fld>
            <a:endParaRPr lang="en-US"/>
          </a:p>
        </p:txBody>
      </p:sp>
    </p:spTree>
    <p:extLst>
      <p:ext uri="{BB962C8B-B14F-4D97-AF65-F5344CB8AC3E}">
        <p14:creationId xmlns:p14="http://schemas.microsoft.com/office/powerpoint/2010/main" val="3127029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22</a:t>
            </a:fld>
            <a:endParaRPr lang="en-US"/>
          </a:p>
        </p:txBody>
      </p:sp>
    </p:spTree>
    <p:extLst>
      <p:ext uri="{BB962C8B-B14F-4D97-AF65-F5344CB8AC3E}">
        <p14:creationId xmlns:p14="http://schemas.microsoft.com/office/powerpoint/2010/main" val="2234181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23</a:t>
            </a:fld>
            <a:endParaRPr lang="en-US"/>
          </a:p>
        </p:txBody>
      </p:sp>
    </p:spTree>
    <p:extLst>
      <p:ext uri="{BB962C8B-B14F-4D97-AF65-F5344CB8AC3E}">
        <p14:creationId xmlns:p14="http://schemas.microsoft.com/office/powerpoint/2010/main" val="1540783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24</a:t>
            </a:fld>
            <a:endParaRPr lang="en-US"/>
          </a:p>
        </p:txBody>
      </p:sp>
    </p:spTree>
    <p:extLst>
      <p:ext uri="{BB962C8B-B14F-4D97-AF65-F5344CB8AC3E}">
        <p14:creationId xmlns:p14="http://schemas.microsoft.com/office/powerpoint/2010/main" val="3927864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28</a:t>
            </a:fld>
            <a:endParaRPr lang="en-US"/>
          </a:p>
        </p:txBody>
      </p:sp>
    </p:spTree>
    <p:extLst>
      <p:ext uri="{BB962C8B-B14F-4D97-AF65-F5344CB8AC3E}">
        <p14:creationId xmlns:p14="http://schemas.microsoft.com/office/powerpoint/2010/main" val="410294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29</a:t>
            </a:fld>
            <a:endParaRPr lang="en-US"/>
          </a:p>
        </p:txBody>
      </p:sp>
    </p:spTree>
    <p:extLst>
      <p:ext uri="{BB962C8B-B14F-4D97-AF65-F5344CB8AC3E}">
        <p14:creationId xmlns:p14="http://schemas.microsoft.com/office/powerpoint/2010/main" val="1017711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30</a:t>
            </a:fld>
            <a:endParaRPr lang="en-US"/>
          </a:p>
        </p:txBody>
      </p:sp>
    </p:spTree>
    <p:extLst>
      <p:ext uri="{BB962C8B-B14F-4D97-AF65-F5344CB8AC3E}">
        <p14:creationId xmlns:p14="http://schemas.microsoft.com/office/powerpoint/2010/main" val="584523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31</a:t>
            </a:fld>
            <a:endParaRPr lang="en-US"/>
          </a:p>
        </p:txBody>
      </p:sp>
    </p:spTree>
    <p:extLst>
      <p:ext uri="{BB962C8B-B14F-4D97-AF65-F5344CB8AC3E}">
        <p14:creationId xmlns:p14="http://schemas.microsoft.com/office/powerpoint/2010/main" val="2363345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32</a:t>
            </a:fld>
            <a:endParaRPr lang="en-US"/>
          </a:p>
        </p:txBody>
      </p:sp>
    </p:spTree>
    <p:extLst>
      <p:ext uri="{BB962C8B-B14F-4D97-AF65-F5344CB8AC3E}">
        <p14:creationId xmlns:p14="http://schemas.microsoft.com/office/powerpoint/2010/main" val="1921772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33</a:t>
            </a:fld>
            <a:endParaRPr lang="en-US"/>
          </a:p>
        </p:txBody>
      </p:sp>
    </p:spTree>
    <p:extLst>
      <p:ext uri="{BB962C8B-B14F-4D97-AF65-F5344CB8AC3E}">
        <p14:creationId xmlns:p14="http://schemas.microsoft.com/office/powerpoint/2010/main" val="23042922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35</a:t>
            </a:fld>
            <a:endParaRPr lang="en-US"/>
          </a:p>
        </p:txBody>
      </p:sp>
    </p:spTree>
    <p:extLst>
      <p:ext uri="{BB962C8B-B14F-4D97-AF65-F5344CB8AC3E}">
        <p14:creationId xmlns:p14="http://schemas.microsoft.com/office/powerpoint/2010/main" val="36169326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36</a:t>
            </a:fld>
            <a:endParaRPr lang="en-US"/>
          </a:p>
        </p:txBody>
      </p:sp>
    </p:spTree>
    <p:extLst>
      <p:ext uri="{BB962C8B-B14F-4D97-AF65-F5344CB8AC3E}">
        <p14:creationId xmlns:p14="http://schemas.microsoft.com/office/powerpoint/2010/main" val="1881481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44</a:t>
            </a:fld>
            <a:endParaRPr lang="en-US"/>
          </a:p>
        </p:txBody>
      </p:sp>
    </p:spTree>
    <p:extLst>
      <p:ext uri="{BB962C8B-B14F-4D97-AF65-F5344CB8AC3E}">
        <p14:creationId xmlns:p14="http://schemas.microsoft.com/office/powerpoint/2010/main" val="8426191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45</a:t>
            </a:fld>
            <a:endParaRPr lang="en-US"/>
          </a:p>
        </p:txBody>
      </p:sp>
    </p:spTree>
    <p:extLst>
      <p:ext uri="{BB962C8B-B14F-4D97-AF65-F5344CB8AC3E}">
        <p14:creationId xmlns:p14="http://schemas.microsoft.com/office/powerpoint/2010/main" val="4940747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46</a:t>
            </a:fld>
            <a:endParaRPr lang="en-US"/>
          </a:p>
        </p:txBody>
      </p:sp>
    </p:spTree>
    <p:extLst>
      <p:ext uri="{BB962C8B-B14F-4D97-AF65-F5344CB8AC3E}">
        <p14:creationId xmlns:p14="http://schemas.microsoft.com/office/powerpoint/2010/main" val="1026734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47</a:t>
            </a:fld>
            <a:endParaRPr lang="en-US"/>
          </a:p>
        </p:txBody>
      </p:sp>
    </p:spTree>
    <p:extLst>
      <p:ext uri="{BB962C8B-B14F-4D97-AF65-F5344CB8AC3E}">
        <p14:creationId xmlns:p14="http://schemas.microsoft.com/office/powerpoint/2010/main" val="34749296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48</a:t>
            </a:fld>
            <a:endParaRPr lang="en-US"/>
          </a:p>
        </p:txBody>
      </p:sp>
    </p:spTree>
    <p:extLst>
      <p:ext uri="{BB962C8B-B14F-4D97-AF65-F5344CB8AC3E}">
        <p14:creationId xmlns:p14="http://schemas.microsoft.com/office/powerpoint/2010/main" val="17330498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49</a:t>
            </a:fld>
            <a:endParaRPr lang="en-US"/>
          </a:p>
        </p:txBody>
      </p:sp>
    </p:spTree>
    <p:extLst>
      <p:ext uri="{BB962C8B-B14F-4D97-AF65-F5344CB8AC3E}">
        <p14:creationId xmlns:p14="http://schemas.microsoft.com/office/powerpoint/2010/main" val="2753008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50</a:t>
            </a:fld>
            <a:endParaRPr lang="en-US"/>
          </a:p>
        </p:txBody>
      </p:sp>
    </p:spTree>
    <p:extLst>
      <p:ext uri="{BB962C8B-B14F-4D97-AF65-F5344CB8AC3E}">
        <p14:creationId xmlns:p14="http://schemas.microsoft.com/office/powerpoint/2010/main" val="21740102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52</a:t>
            </a:fld>
            <a:endParaRPr lang="en-US"/>
          </a:p>
        </p:txBody>
      </p:sp>
    </p:spTree>
    <p:extLst>
      <p:ext uri="{BB962C8B-B14F-4D97-AF65-F5344CB8AC3E}">
        <p14:creationId xmlns:p14="http://schemas.microsoft.com/office/powerpoint/2010/main" val="117820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53</a:t>
            </a:fld>
            <a:endParaRPr lang="en-US"/>
          </a:p>
        </p:txBody>
      </p:sp>
    </p:spTree>
    <p:extLst>
      <p:ext uri="{BB962C8B-B14F-4D97-AF65-F5344CB8AC3E}">
        <p14:creationId xmlns:p14="http://schemas.microsoft.com/office/powerpoint/2010/main" val="13135904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54</a:t>
            </a:fld>
            <a:endParaRPr lang="en-US"/>
          </a:p>
        </p:txBody>
      </p:sp>
    </p:spTree>
    <p:extLst>
      <p:ext uri="{BB962C8B-B14F-4D97-AF65-F5344CB8AC3E}">
        <p14:creationId xmlns:p14="http://schemas.microsoft.com/office/powerpoint/2010/main" val="7467324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55</a:t>
            </a:fld>
            <a:endParaRPr lang="en-US"/>
          </a:p>
        </p:txBody>
      </p:sp>
    </p:spTree>
    <p:extLst>
      <p:ext uri="{BB962C8B-B14F-4D97-AF65-F5344CB8AC3E}">
        <p14:creationId xmlns:p14="http://schemas.microsoft.com/office/powerpoint/2010/main" val="31474997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56</a:t>
            </a:fld>
            <a:endParaRPr lang="en-US"/>
          </a:p>
        </p:txBody>
      </p:sp>
    </p:spTree>
    <p:extLst>
      <p:ext uri="{BB962C8B-B14F-4D97-AF65-F5344CB8AC3E}">
        <p14:creationId xmlns:p14="http://schemas.microsoft.com/office/powerpoint/2010/main" val="28928045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57</a:t>
            </a:fld>
            <a:endParaRPr lang="en-US"/>
          </a:p>
        </p:txBody>
      </p:sp>
    </p:spTree>
    <p:extLst>
      <p:ext uri="{BB962C8B-B14F-4D97-AF65-F5344CB8AC3E}">
        <p14:creationId xmlns:p14="http://schemas.microsoft.com/office/powerpoint/2010/main" val="7937826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58</a:t>
            </a:fld>
            <a:endParaRPr lang="en-US"/>
          </a:p>
        </p:txBody>
      </p:sp>
    </p:spTree>
    <p:extLst>
      <p:ext uri="{BB962C8B-B14F-4D97-AF65-F5344CB8AC3E}">
        <p14:creationId xmlns:p14="http://schemas.microsoft.com/office/powerpoint/2010/main" val="24102523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59</a:t>
            </a:fld>
            <a:endParaRPr lang="en-US"/>
          </a:p>
        </p:txBody>
      </p:sp>
    </p:spTree>
    <p:extLst>
      <p:ext uri="{BB962C8B-B14F-4D97-AF65-F5344CB8AC3E}">
        <p14:creationId xmlns:p14="http://schemas.microsoft.com/office/powerpoint/2010/main" val="3711715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60</a:t>
            </a:fld>
            <a:endParaRPr lang="en-US"/>
          </a:p>
        </p:txBody>
      </p:sp>
    </p:spTree>
    <p:extLst>
      <p:ext uri="{BB962C8B-B14F-4D97-AF65-F5344CB8AC3E}">
        <p14:creationId xmlns:p14="http://schemas.microsoft.com/office/powerpoint/2010/main" val="35195891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61</a:t>
            </a:fld>
            <a:endParaRPr lang="en-US"/>
          </a:p>
        </p:txBody>
      </p:sp>
    </p:spTree>
    <p:extLst>
      <p:ext uri="{BB962C8B-B14F-4D97-AF65-F5344CB8AC3E}">
        <p14:creationId xmlns:p14="http://schemas.microsoft.com/office/powerpoint/2010/main" val="23054286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62</a:t>
            </a:fld>
            <a:endParaRPr lang="en-US"/>
          </a:p>
        </p:txBody>
      </p:sp>
    </p:spTree>
    <p:extLst>
      <p:ext uri="{BB962C8B-B14F-4D97-AF65-F5344CB8AC3E}">
        <p14:creationId xmlns:p14="http://schemas.microsoft.com/office/powerpoint/2010/main" val="23761369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63</a:t>
            </a:fld>
            <a:endParaRPr lang="en-US"/>
          </a:p>
        </p:txBody>
      </p:sp>
    </p:spTree>
    <p:extLst>
      <p:ext uri="{BB962C8B-B14F-4D97-AF65-F5344CB8AC3E}">
        <p14:creationId xmlns:p14="http://schemas.microsoft.com/office/powerpoint/2010/main" val="36185703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64</a:t>
            </a:fld>
            <a:endParaRPr lang="en-US"/>
          </a:p>
        </p:txBody>
      </p:sp>
    </p:spTree>
    <p:extLst>
      <p:ext uri="{BB962C8B-B14F-4D97-AF65-F5344CB8AC3E}">
        <p14:creationId xmlns:p14="http://schemas.microsoft.com/office/powerpoint/2010/main" val="33791582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65</a:t>
            </a:fld>
            <a:endParaRPr lang="en-US"/>
          </a:p>
        </p:txBody>
      </p:sp>
    </p:spTree>
    <p:extLst>
      <p:ext uri="{BB962C8B-B14F-4D97-AF65-F5344CB8AC3E}">
        <p14:creationId xmlns:p14="http://schemas.microsoft.com/office/powerpoint/2010/main" val="7018411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66</a:t>
            </a:fld>
            <a:endParaRPr lang="en-US"/>
          </a:p>
        </p:txBody>
      </p:sp>
    </p:spTree>
    <p:extLst>
      <p:ext uri="{BB962C8B-B14F-4D97-AF65-F5344CB8AC3E}">
        <p14:creationId xmlns:p14="http://schemas.microsoft.com/office/powerpoint/2010/main" val="10894816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67</a:t>
            </a:fld>
            <a:endParaRPr lang="en-US"/>
          </a:p>
        </p:txBody>
      </p:sp>
    </p:spTree>
    <p:extLst>
      <p:ext uri="{BB962C8B-B14F-4D97-AF65-F5344CB8AC3E}">
        <p14:creationId xmlns:p14="http://schemas.microsoft.com/office/powerpoint/2010/main" val="40104548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68</a:t>
            </a:fld>
            <a:endParaRPr lang="en-US"/>
          </a:p>
        </p:txBody>
      </p:sp>
    </p:spTree>
    <p:extLst>
      <p:ext uri="{BB962C8B-B14F-4D97-AF65-F5344CB8AC3E}">
        <p14:creationId xmlns:p14="http://schemas.microsoft.com/office/powerpoint/2010/main" val="26926632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69</a:t>
            </a:fld>
            <a:endParaRPr lang="en-US"/>
          </a:p>
        </p:txBody>
      </p:sp>
    </p:spTree>
    <p:extLst>
      <p:ext uri="{BB962C8B-B14F-4D97-AF65-F5344CB8AC3E}">
        <p14:creationId xmlns:p14="http://schemas.microsoft.com/office/powerpoint/2010/main" val="35774904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92</a:t>
            </a:fld>
            <a:endParaRPr lang="en-US"/>
          </a:p>
        </p:txBody>
      </p:sp>
    </p:spTree>
    <p:extLst>
      <p:ext uri="{BB962C8B-B14F-4D97-AF65-F5344CB8AC3E}">
        <p14:creationId xmlns:p14="http://schemas.microsoft.com/office/powerpoint/2010/main" val="29532492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93</a:t>
            </a:fld>
            <a:endParaRPr lang="en-US"/>
          </a:p>
        </p:txBody>
      </p:sp>
    </p:spTree>
    <p:extLst>
      <p:ext uri="{BB962C8B-B14F-4D97-AF65-F5344CB8AC3E}">
        <p14:creationId xmlns:p14="http://schemas.microsoft.com/office/powerpoint/2010/main" val="18141263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94</a:t>
            </a:fld>
            <a:endParaRPr lang="en-US"/>
          </a:p>
        </p:txBody>
      </p:sp>
    </p:spTree>
    <p:extLst>
      <p:ext uri="{BB962C8B-B14F-4D97-AF65-F5344CB8AC3E}">
        <p14:creationId xmlns:p14="http://schemas.microsoft.com/office/powerpoint/2010/main" val="40306022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95</a:t>
            </a:fld>
            <a:endParaRPr lang="en-US"/>
          </a:p>
        </p:txBody>
      </p:sp>
    </p:spTree>
    <p:extLst>
      <p:ext uri="{BB962C8B-B14F-4D97-AF65-F5344CB8AC3E}">
        <p14:creationId xmlns:p14="http://schemas.microsoft.com/office/powerpoint/2010/main" val="12251318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96</a:t>
            </a:fld>
            <a:endParaRPr lang="en-US"/>
          </a:p>
        </p:txBody>
      </p:sp>
    </p:spTree>
    <p:extLst>
      <p:ext uri="{BB962C8B-B14F-4D97-AF65-F5344CB8AC3E}">
        <p14:creationId xmlns:p14="http://schemas.microsoft.com/office/powerpoint/2010/main" val="36150583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97</a:t>
            </a:fld>
            <a:endParaRPr lang="en-US"/>
          </a:p>
        </p:txBody>
      </p:sp>
    </p:spTree>
    <p:extLst>
      <p:ext uri="{BB962C8B-B14F-4D97-AF65-F5344CB8AC3E}">
        <p14:creationId xmlns:p14="http://schemas.microsoft.com/office/powerpoint/2010/main" val="37044230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98</a:t>
            </a:fld>
            <a:endParaRPr lang="en-US"/>
          </a:p>
        </p:txBody>
      </p:sp>
    </p:spTree>
    <p:extLst>
      <p:ext uri="{BB962C8B-B14F-4D97-AF65-F5344CB8AC3E}">
        <p14:creationId xmlns:p14="http://schemas.microsoft.com/office/powerpoint/2010/main" val="4309406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99</a:t>
            </a:fld>
            <a:endParaRPr lang="en-US"/>
          </a:p>
        </p:txBody>
      </p:sp>
    </p:spTree>
    <p:extLst>
      <p:ext uri="{BB962C8B-B14F-4D97-AF65-F5344CB8AC3E}">
        <p14:creationId xmlns:p14="http://schemas.microsoft.com/office/powerpoint/2010/main" val="14018388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100</a:t>
            </a:fld>
            <a:endParaRPr lang="en-US"/>
          </a:p>
        </p:txBody>
      </p:sp>
    </p:spTree>
    <p:extLst>
      <p:ext uri="{BB962C8B-B14F-4D97-AF65-F5344CB8AC3E}">
        <p14:creationId xmlns:p14="http://schemas.microsoft.com/office/powerpoint/2010/main" val="31081215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101</a:t>
            </a:fld>
            <a:endParaRPr lang="en-US"/>
          </a:p>
        </p:txBody>
      </p:sp>
    </p:spTree>
    <p:extLst>
      <p:ext uri="{BB962C8B-B14F-4D97-AF65-F5344CB8AC3E}">
        <p14:creationId xmlns:p14="http://schemas.microsoft.com/office/powerpoint/2010/main" val="41093189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102</a:t>
            </a:fld>
            <a:endParaRPr lang="en-US"/>
          </a:p>
        </p:txBody>
      </p:sp>
    </p:spTree>
    <p:extLst>
      <p:ext uri="{BB962C8B-B14F-4D97-AF65-F5344CB8AC3E}">
        <p14:creationId xmlns:p14="http://schemas.microsoft.com/office/powerpoint/2010/main" val="14557889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103</a:t>
            </a:fld>
            <a:endParaRPr lang="en-US"/>
          </a:p>
        </p:txBody>
      </p:sp>
    </p:spTree>
    <p:extLst>
      <p:ext uri="{BB962C8B-B14F-4D97-AF65-F5344CB8AC3E}">
        <p14:creationId xmlns:p14="http://schemas.microsoft.com/office/powerpoint/2010/main" val="26449580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104</a:t>
            </a:fld>
            <a:endParaRPr lang="en-US"/>
          </a:p>
        </p:txBody>
      </p:sp>
    </p:spTree>
    <p:extLst>
      <p:ext uri="{BB962C8B-B14F-4D97-AF65-F5344CB8AC3E}">
        <p14:creationId xmlns:p14="http://schemas.microsoft.com/office/powerpoint/2010/main" val="10220010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105</a:t>
            </a:fld>
            <a:endParaRPr lang="en-US"/>
          </a:p>
        </p:txBody>
      </p:sp>
    </p:spTree>
    <p:extLst>
      <p:ext uri="{BB962C8B-B14F-4D97-AF65-F5344CB8AC3E}">
        <p14:creationId xmlns:p14="http://schemas.microsoft.com/office/powerpoint/2010/main" val="9166554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106</a:t>
            </a:fld>
            <a:endParaRPr lang="en-US"/>
          </a:p>
        </p:txBody>
      </p:sp>
    </p:spTree>
    <p:extLst>
      <p:ext uri="{BB962C8B-B14F-4D97-AF65-F5344CB8AC3E}">
        <p14:creationId xmlns:p14="http://schemas.microsoft.com/office/powerpoint/2010/main" val="12816210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107</a:t>
            </a:fld>
            <a:endParaRPr lang="en-US"/>
          </a:p>
        </p:txBody>
      </p:sp>
    </p:spTree>
    <p:extLst>
      <p:ext uri="{BB962C8B-B14F-4D97-AF65-F5344CB8AC3E}">
        <p14:creationId xmlns:p14="http://schemas.microsoft.com/office/powerpoint/2010/main" val="2422687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108</a:t>
            </a:fld>
            <a:endParaRPr lang="en-US"/>
          </a:p>
        </p:txBody>
      </p:sp>
    </p:spTree>
    <p:extLst>
      <p:ext uri="{BB962C8B-B14F-4D97-AF65-F5344CB8AC3E}">
        <p14:creationId xmlns:p14="http://schemas.microsoft.com/office/powerpoint/2010/main" val="338833163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109</a:t>
            </a:fld>
            <a:endParaRPr lang="en-US"/>
          </a:p>
        </p:txBody>
      </p:sp>
    </p:spTree>
    <p:extLst>
      <p:ext uri="{BB962C8B-B14F-4D97-AF65-F5344CB8AC3E}">
        <p14:creationId xmlns:p14="http://schemas.microsoft.com/office/powerpoint/2010/main" val="86611108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110</a:t>
            </a:fld>
            <a:endParaRPr lang="en-US"/>
          </a:p>
        </p:txBody>
      </p:sp>
    </p:spTree>
    <p:extLst>
      <p:ext uri="{BB962C8B-B14F-4D97-AF65-F5344CB8AC3E}">
        <p14:creationId xmlns:p14="http://schemas.microsoft.com/office/powerpoint/2010/main" val="34168175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111</a:t>
            </a:fld>
            <a:endParaRPr lang="en-US"/>
          </a:p>
        </p:txBody>
      </p:sp>
    </p:spTree>
    <p:extLst>
      <p:ext uri="{BB962C8B-B14F-4D97-AF65-F5344CB8AC3E}">
        <p14:creationId xmlns:p14="http://schemas.microsoft.com/office/powerpoint/2010/main" val="262371737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112</a:t>
            </a:fld>
            <a:endParaRPr lang="en-US"/>
          </a:p>
        </p:txBody>
      </p:sp>
    </p:spTree>
    <p:extLst>
      <p:ext uri="{BB962C8B-B14F-4D97-AF65-F5344CB8AC3E}">
        <p14:creationId xmlns:p14="http://schemas.microsoft.com/office/powerpoint/2010/main" val="221318596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113</a:t>
            </a:fld>
            <a:endParaRPr lang="en-US"/>
          </a:p>
        </p:txBody>
      </p:sp>
    </p:spTree>
    <p:extLst>
      <p:ext uri="{BB962C8B-B14F-4D97-AF65-F5344CB8AC3E}">
        <p14:creationId xmlns:p14="http://schemas.microsoft.com/office/powerpoint/2010/main" val="56777720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114</a:t>
            </a:fld>
            <a:endParaRPr lang="en-US"/>
          </a:p>
        </p:txBody>
      </p:sp>
    </p:spTree>
    <p:extLst>
      <p:ext uri="{BB962C8B-B14F-4D97-AF65-F5344CB8AC3E}">
        <p14:creationId xmlns:p14="http://schemas.microsoft.com/office/powerpoint/2010/main" val="277402820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115</a:t>
            </a:fld>
            <a:endParaRPr lang="en-US"/>
          </a:p>
        </p:txBody>
      </p:sp>
    </p:spTree>
    <p:extLst>
      <p:ext uri="{BB962C8B-B14F-4D97-AF65-F5344CB8AC3E}">
        <p14:creationId xmlns:p14="http://schemas.microsoft.com/office/powerpoint/2010/main" val="340647620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116</a:t>
            </a:fld>
            <a:endParaRPr lang="en-US"/>
          </a:p>
        </p:txBody>
      </p:sp>
    </p:spTree>
    <p:extLst>
      <p:ext uri="{BB962C8B-B14F-4D97-AF65-F5344CB8AC3E}">
        <p14:creationId xmlns:p14="http://schemas.microsoft.com/office/powerpoint/2010/main" val="34556054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117</a:t>
            </a:fld>
            <a:endParaRPr lang="en-US"/>
          </a:p>
        </p:txBody>
      </p:sp>
    </p:spTree>
    <p:extLst>
      <p:ext uri="{BB962C8B-B14F-4D97-AF65-F5344CB8AC3E}">
        <p14:creationId xmlns:p14="http://schemas.microsoft.com/office/powerpoint/2010/main" val="23190028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118</a:t>
            </a:fld>
            <a:endParaRPr lang="en-US"/>
          </a:p>
        </p:txBody>
      </p:sp>
    </p:spTree>
    <p:extLst>
      <p:ext uri="{BB962C8B-B14F-4D97-AF65-F5344CB8AC3E}">
        <p14:creationId xmlns:p14="http://schemas.microsoft.com/office/powerpoint/2010/main" val="295192950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119</a:t>
            </a:fld>
            <a:endParaRPr lang="en-US"/>
          </a:p>
        </p:txBody>
      </p:sp>
    </p:spTree>
    <p:extLst>
      <p:ext uri="{BB962C8B-B14F-4D97-AF65-F5344CB8AC3E}">
        <p14:creationId xmlns:p14="http://schemas.microsoft.com/office/powerpoint/2010/main" val="35488545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120</a:t>
            </a:fld>
            <a:endParaRPr lang="en-US"/>
          </a:p>
        </p:txBody>
      </p:sp>
    </p:spTree>
    <p:extLst>
      <p:ext uri="{BB962C8B-B14F-4D97-AF65-F5344CB8AC3E}">
        <p14:creationId xmlns:p14="http://schemas.microsoft.com/office/powerpoint/2010/main" val="384628328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121</a:t>
            </a:fld>
            <a:endParaRPr lang="en-US"/>
          </a:p>
        </p:txBody>
      </p:sp>
    </p:spTree>
    <p:extLst>
      <p:ext uri="{BB962C8B-B14F-4D97-AF65-F5344CB8AC3E}">
        <p14:creationId xmlns:p14="http://schemas.microsoft.com/office/powerpoint/2010/main" val="176092721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122</a:t>
            </a:fld>
            <a:endParaRPr lang="en-US"/>
          </a:p>
        </p:txBody>
      </p:sp>
    </p:spTree>
    <p:extLst>
      <p:ext uri="{BB962C8B-B14F-4D97-AF65-F5344CB8AC3E}">
        <p14:creationId xmlns:p14="http://schemas.microsoft.com/office/powerpoint/2010/main" val="997381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123</a:t>
            </a:fld>
            <a:endParaRPr lang="en-US"/>
          </a:p>
        </p:txBody>
      </p:sp>
    </p:spTree>
    <p:extLst>
      <p:ext uri="{BB962C8B-B14F-4D97-AF65-F5344CB8AC3E}">
        <p14:creationId xmlns:p14="http://schemas.microsoft.com/office/powerpoint/2010/main" val="380695890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124</a:t>
            </a:fld>
            <a:endParaRPr lang="en-US"/>
          </a:p>
        </p:txBody>
      </p:sp>
    </p:spTree>
    <p:extLst>
      <p:ext uri="{BB962C8B-B14F-4D97-AF65-F5344CB8AC3E}">
        <p14:creationId xmlns:p14="http://schemas.microsoft.com/office/powerpoint/2010/main" val="57733058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125</a:t>
            </a:fld>
            <a:endParaRPr lang="en-US"/>
          </a:p>
        </p:txBody>
      </p:sp>
    </p:spTree>
    <p:extLst>
      <p:ext uri="{BB962C8B-B14F-4D97-AF65-F5344CB8AC3E}">
        <p14:creationId xmlns:p14="http://schemas.microsoft.com/office/powerpoint/2010/main" val="147214482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126</a:t>
            </a:fld>
            <a:endParaRPr lang="en-US"/>
          </a:p>
        </p:txBody>
      </p:sp>
    </p:spTree>
    <p:extLst>
      <p:ext uri="{BB962C8B-B14F-4D97-AF65-F5344CB8AC3E}">
        <p14:creationId xmlns:p14="http://schemas.microsoft.com/office/powerpoint/2010/main" val="314635107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127</a:t>
            </a:fld>
            <a:endParaRPr lang="en-US"/>
          </a:p>
        </p:txBody>
      </p:sp>
    </p:spTree>
    <p:extLst>
      <p:ext uri="{BB962C8B-B14F-4D97-AF65-F5344CB8AC3E}">
        <p14:creationId xmlns:p14="http://schemas.microsoft.com/office/powerpoint/2010/main" val="285494782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128</a:t>
            </a:fld>
            <a:endParaRPr lang="en-US"/>
          </a:p>
        </p:txBody>
      </p:sp>
    </p:spTree>
    <p:extLst>
      <p:ext uri="{BB962C8B-B14F-4D97-AF65-F5344CB8AC3E}">
        <p14:creationId xmlns:p14="http://schemas.microsoft.com/office/powerpoint/2010/main" val="91760505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129</a:t>
            </a:fld>
            <a:endParaRPr lang="en-US"/>
          </a:p>
        </p:txBody>
      </p:sp>
    </p:spTree>
    <p:extLst>
      <p:ext uri="{BB962C8B-B14F-4D97-AF65-F5344CB8AC3E}">
        <p14:creationId xmlns:p14="http://schemas.microsoft.com/office/powerpoint/2010/main" val="82271217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130</a:t>
            </a:fld>
            <a:endParaRPr lang="en-US"/>
          </a:p>
        </p:txBody>
      </p:sp>
    </p:spTree>
    <p:extLst>
      <p:ext uri="{BB962C8B-B14F-4D97-AF65-F5344CB8AC3E}">
        <p14:creationId xmlns:p14="http://schemas.microsoft.com/office/powerpoint/2010/main" val="43206451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131</a:t>
            </a:fld>
            <a:endParaRPr lang="en-US"/>
          </a:p>
        </p:txBody>
      </p:sp>
    </p:spTree>
    <p:extLst>
      <p:ext uri="{BB962C8B-B14F-4D97-AF65-F5344CB8AC3E}">
        <p14:creationId xmlns:p14="http://schemas.microsoft.com/office/powerpoint/2010/main" val="284490004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132</a:t>
            </a:fld>
            <a:endParaRPr lang="en-US"/>
          </a:p>
        </p:txBody>
      </p:sp>
    </p:spTree>
    <p:extLst>
      <p:ext uri="{BB962C8B-B14F-4D97-AF65-F5344CB8AC3E}">
        <p14:creationId xmlns:p14="http://schemas.microsoft.com/office/powerpoint/2010/main" val="221736909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133</a:t>
            </a:fld>
            <a:endParaRPr lang="en-US"/>
          </a:p>
        </p:txBody>
      </p:sp>
    </p:spTree>
    <p:extLst>
      <p:ext uri="{BB962C8B-B14F-4D97-AF65-F5344CB8AC3E}">
        <p14:creationId xmlns:p14="http://schemas.microsoft.com/office/powerpoint/2010/main" val="164465948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134</a:t>
            </a:fld>
            <a:endParaRPr lang="en-US"/>
          </a:p>
        </p:txBody>
      </p:sp>
    </p:spTree>
    <p:extLst>
      <p:ext uri="{BB962C8B-B14F-4D97-AF65-F5344CB8AC3E}">
        <p14:creationId xmlns:p14="http://schemas.microsoft.com/office/powerpoint/2010/main" val="273764405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135</a:t>
            </a:fld>
            <a:endParaRPr lang="en-US"/>
          </a:p>
        </p:txBody>
      </p:sp>
    </p:spTree>
    <p:extLst>
      <p:ext uri="{BB962C8B-B14F-4D97-AF65-F5344CB8AC3E}">
        <p14:creationId xmlns:p14="http://schemas.microsoft.com/office/powerpoint/2010/main" val="173044628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136</a:t>
            </a:fld>
            <a:endParaRPr lang="en-US"/>
          </a:p>
        </p:txBody>
      </p:sp>
    </p:spTree>
    <p:extLst>
      <p:ext uri="{BB962C8B-B14F-4D97-AF65-F5344CB8AC3E}">
        <p14:creationId xmlns:p14="http://schemas.microsoft.com/office/powerpoint/2010/main" val="300121386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137</a:t>
            </a:fld>
            <a:endParaRPr lang="en-US"/>
          </a:p>
        </p:txBody>
      </p:sp>
    </p:spTree>
    <p:extLst>
      <p:ext uri="{BB962C8B-B14F-4D97-AF65-F5344CB8AC3E}">
        <p14:creationId xmlns:p14="http://schemas.microsoft.com/office/powerpoint/2010/main" val="23327577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138</a:t>
            </a:fld>
            <a:endParaRPr lang="en-US"/>
          </a:p>
        </p:txBody>
      </p:sp>
    </p:spTree>
    <p:extLst>
      <p:ext uri="{BB962C8B-B14F-4D97-AF65-F5344CB8AC3E}">
        <p14:creationId xmlns:p14="http://schemas.microsoft.com/office/powerpoint/2010/main" val="289340396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139</a:t>
            </a:fld>
            <a:endParaRPr lang="en-US"/>
          </a:p>
        </p:txBody>
      </p:sp>
    </p:spTree>
    <p:extLst>
      <p:ext uri="{BB962C8B-B14F-4D97-AF65-F5344CB8AC3E}">
        <p14:creationId xmlns:p14="http://schemas.microsoft.com/office/powerpoint/2010/main" val="25401421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140</a:t>
            </a:fld>
            <a:endParaRPr lang="en-US"/>
          </a:p>
        </p:txBody>
      </p:sp>
    </p:spTree>
    <p:extLst>
      <p:ext uri="{BB962C8B-B14F-4D97-AF65-F5344CB8AC3E}">
        <p14:creationId xmlns:p14="http://schemas.microsoft.com/office/powerpoint/2010/main" val="214452624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141</a:t>
            </a:fld>
            <a:endParaRPr lang="en-US"/>
          </a:p>
        </p:txBody>
      </p:sp>
    </p:spTree>
    <p:extLst>
      <p:ext uri="{BB962C8B-B14F-4D97-AF65-F5344CB8AC3E}">
        <p14:creationId xmlns:p14="http://schemas.microsoft.com/office/powerpoint/2010/main" val="404077159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142</a:t>
            </a:fld>
            <a:endParaRPr lang="en-US"/>
          </a:p>
        </p:txBody>
      </p:sp>
    </p:spTree>
    <p:extLst>
      <p:ext uri="{BB962C8B-B14F-4D97-AF65-F5344CB8AC3E}">
        <p14:creationId xmlns:p14="http://schemas.microsoft.com/office/powerpoint/2010/main" val="261160250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143</a:t>
            </a:fld>
            <a:endParaRPr lang="en-US"/>
          </a:p>
        </p:txBody>
      </p:sp>
    </p:spTree>
    <p:extLst>
      <p:ext uri="{BB962C8B-B14F-4D97-AF65-F5344CB8AC3E}">
        <p14:creationId xmlns:p14="http://schemas.microsoft.com/office/powerpoint/2010/main" val="187961609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144</a:t>
            </a:fld>
            <a:endParaRPr lang="en-US"/>
          </a:p>
        </p:txBody>
      </p:sp>
    </p:spTree>
    <p:extLst>
      <p:ext uri="{BB962C8B-B14F-4D97-AF65-F5344CB8AC3E}">
        <p14:creationId xmlns:p14="http://schemas.microsoft.com/office/powerpoint/2010/main" val="306724782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145</a:t>
            </a:fld>
            <a:endParaRPr lang="en-US"/>
          </a:p>
        </p:txBody>
      </p:sp>
    </p:spTree>
    <p:extLst>
      <p:ext uri="{BB962C8B-B14F-4D97-AF65-F5344CB8AC3E}">
        <p14:creationId xmlns:p14="http://schemas.microsoft.com/office/powerpoint/2010/main" val="36707508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146</a:t>
            </a:fld>
            <a:endParaRPr lang="en-US"/>
          </a:p>
        </p:txBody>
      </p:sp>
    </p:spTree>
    <p:extLst>
      <p:ext uri="{BB962C8B-B14F-4D97-AF65-F5344CB8AC3E}">
        <p14:creationId xmlns:p14="http://schemas.microsoft.com/office/powerpoint/2010/main" val="60400211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147</a:t>
            </a:fld>
            <a:endParaRPr lang="en-US"/>
          </a:p>
        </p:txBody>
      </p:sp>
    </p:spTree>
    <p:extLst>
      <p:ext uri="{BB962C8B-B14F-4D97-AF65-F5344CB8AC3E}">
        <p14:creationId xmlns:p14="http://schemas.microsoft.com/office/powerpoint/2010/main" val="104316655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148</a:t>
            </a:fld>
            <a:endParaRPr lang="en-US"/>
          </a:p>
        </p:txBody>
      </p:sp>
    </p:spTree>
    <p:extLst>
      <p:ext uri="{BB962C8B-B14F-4D97-AF65-F5344CB8AC3E}">
        <p14:creationId xmlns:p14="http://schemas.microsoft.com/office/powerpoint/2010/main" val="382771547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149</a:t>
            </a:fld>
            <a:endParaRPr lang="en-US"/>
          </a:p>
        </p:txBody>
      </p:sp>
    </p:spTree>
    <p:extLst>
      <p:ext uri="{BB962C8B-B14F-4D97-AF65-F5344CB8AC3E}">
        <p14:creationId xmlns:p14="http://schemas.microsoft.com/office/powerpoint/2010/main" val="79827890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150</a:t>
            </a:fld>
            <a:endParaRPr lang="en-US"/>
          </a:p>
        </p:txBody>
      </p:sp>
    </p:spTree>
    <p:extLst>
      <p:ext uri="{BB962C8B-B14F-4D97-AF65-F5344CB8AC3E}">
        <p14:creationId xmlns:p14="http://schemas.microsoft.com/office/powerpoint/2010/main" val="246589551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151</a:t>
            </a:fld>
            <a:endParaRPr lang="en-US"/>
          </a:p>
        </p:txBody>
      </p:sp>
    </p:spTree>
    <p:extLst>
      <p:ext uri="{BB962C8B-B14F-4D97-AF65-F5344CB8AC3E}">
        <p14:creationId xmlns:p14="http://schemas.microsoft.com/office/powerpoint/2010/main" val="30535984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152</a:t>
            </a:fld>
            <a:endParaRPr lang="en-US"/>
          </a:p>
        </p:txBody>
      </p:sp>
    </p:spTree>
    <p:extLst>
      <p:ext uri="{BB962C8B-B14F-4D97-AF65-F5344CB8AC3E}">
        <p14:creationId xmlns:p14="http://schemas.microsoft.com/office/powerpoint/2010/main" val="109520992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153</a:t>
            </a:fld>
            <a:endParaRPr lang="en-US"/>
          </a:p>
        </p:txBody>
      </p:sp>
    </p:spTree>
    <p:extLst>
      <p:ext uri="{BB962C8B-B14F-4D97-AF65-F5344CB8AC3E}">
        <p14:creationId xmlns:p14="http://schemas.microsoft.com/office/powerpoint/2010/main" val="331186285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154</a:t>
            </a:fld>
            <a:endParaRPr lang="en-US"/>
          </a:p>
        </p:txBody>
      </p:sp>
    </p:spTree>
    <p:extLst>
      <p:ext uri="{BB962C8B-B14F-4D97-AF65-F5344CB8AC3E}">
        <p14:creationId xmlns:p14="http://schemas.microsoft.com/office/powerpoint/2010/main" val="88906726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155</a:t>
            </a:fld>
            <a:endParaRPr lang="en-US"/>
          </a:p>
        </p:txBody>
      </p:sp>
    </p:spTree>
    <p:extLst>
      <p:ext uri="{BB962C8B-B14F-4D97-AF65-F5344CB8AC3E}">
        <p14:creationId xmlns:p14="http://schemas.microsoft.com/office/powerpoint/2010/main" val="87084602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156</a:t>
            </a:fld>
            <a:endParaRPr lang="en-US"/>
          </a:p>
        </p:txBody>
      </p:sp>
    </p:spTree>
    <p:extLst>
      <p:ext uri="{BB962C8B-B14F-4D97-AF65-F5344CB8AC3E}">
        <p14:creationId xmlns:p14="http://schemas.microsoft.com/office/powerpoint/2010/main" val="249379811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157</a:t>
            </a:fld>
            <a:endParaRPr lang="en-US"/>
          </a:p>
        </p:txBody>
      </p:sp>
    </p:spTree>
    <p:extLst>
      <p:ext uri="{BB962C8B-B14F-4D97-AF65-F5344CB8AC3E}">
        <p14:creationId xmlns:p14="http://schemas.microsoft.com/office/powerpoint/2010/main" val="275439935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vi-VN" sz="1200" smtClean="0"/>
          </a:p>
        </p:txBody>
      </p:sp>
      <p:sp>
        <p:nvSpPr>
          <p:cNvPr id="4" name="Slide Number Placeholder 3"/>
          <p:cNvSpPr>
            <a:spLocks noGrp="1"/>
          </p:cNvSpPr>
          <p:nvPr>
            <p:ph type="sldNum" sz="quarter" idx="10"/>
          </p:nvPr>
        </p:nvSpPr>
        <p:spPr/>
        <p:txBody>
          <a:bodyPr/>
          <a:lstStyle/>
          <a:p>
            <a:fld id="{CDF83C8A-37B2-47AD-8B4B-9133DA213D7B}" type="slidenum">
              <a:rPr lang="en-US" smtClean="0"/>
              <a:t>158</a:t>
            </a:fld>
            <a:endParaRPr lang="en-US"/>
          </a:p>
        </p:txBody>
      </p:sp>
    </p:spTree>
    <p:extLst>
      <p:ext uri="{BB962C8B-B14F-4D97-AF65-F5344CB8AC3E}">
        <p14:creationId xmlns:p14="http://schemas.microsoft.com/office/powerpoint/2010/main" val="114682663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159</a:t>
            </a:fld>
            <a:endParaRPr lang="en-US"/>
          </a:p>
        </p:txBody>
      </p:sp>
    </p:spTree>
    <p:extLst>
      <p:ext uri="{BB962C8B-B14F-4D97-AF65-F5344CB8AC3E}">
        <p14:creationId xmlns:p14="http://schemas.microsoft.com/office/powerpoint/2010/main" val="200750554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160</a:t>
            </a:fld>
            <a:endParaRPr lang="en-US"/>
          </a:p>
        </p:txBody>
      </p:sp>
    </p:spTree>
    <p:extLst>
      <p:ext uri="{BB962C8B-B14F-4D97-AF65-F5344CB8AC3E}">
        <p14:creationId xmlns:p14="http://schemas.microsoft.com/office/powerpoint/2010/main" val="42606603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161</a:t>
            </a:fld>
            <a:endParaRPr lang="en-US"/>
          </a:p>
        </p:txBody>
      </p:sp>
    </p:spTree>
    <p:extLst>
      <p:ext uri="{BB962C8B-B14F-4D97-AF65-F5344CB8AC3E}">
        <p14:creationId xmlns:p14="http://schemas.microsoft.com/office/powerpoint/2010/main" val="391346166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162</a:t>
            </a:fld>
            <a:endParaRPr lang="en-US"/>
          </a:p>
        </p:txBody>
      </p:sp>
    </p:spTree>
    <p:extLst>
      <p:ext uri="{BB962C8B-B14F-4D97-AF65-F5344CB8AC3E}">
        <p14:creationId xmlns:p14="http://schemas.microsoft.com/office/powerpoint/2010/main" val="221598110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163</a:t>
            </a:fld>
            <a:endParaRPr lang="en-US"/>
          </a:p>
        </p:txBody>
      </p:sp>
    </p:spTree>
    <p:extLst>
      <p:ext uri="{BB962C8B-B14F-4D97-AF65-F5344CB8AC3E}">
        <p14:creationId xmlns:p14="http://schemas.microsoft.com/office/powerpoint/2010/main" val="18986614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164</a:t>
            </a:fld>
            <a:endParaRPr lang="en-US"/>
          </a:p>
        </p:txBody>
      </p:sp>
    </p:spTree>
    <p:extLst>
      <p:ext uri="{BB962C8B-B14F-4D97-AF65-F5344CB8AC3E}">
        <p14:creationId xmlns:p14="http://schemas.microsoft.com/office/powerpoint/2010/main" val="13889933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165</a:t>
            </a:fld>
            <a:endParaRPr lang="en-US"/>
          </a:p>
        </p:txBody>
      </p:sp>
    </p:spTree>
    <p:extLst>
      <p:ext uri="{BB962C8B-B14F-4D97-AF65-F5344CB8AC3E}">
        <p14:creationId xmlns:p14="http://schemas.microsoft.com/office/powerpoint/2010/main" val="344543912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166</a:t>
            </a:fld>
            <a:endParaRPr lang="en-US"/>
          </a:p>
        </p:txBody>
      </p:sp>
    </p:spTree>
    <p:extLst>
      <p:ext uri="{BB962C8B-B14F-4D97-AF65-F5344CB8AC3E}">
        <p14:creationId xmlns:p14="http://schemas.microsoft.com/office/powerpoint/2010/main" val="256941169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167</a:t>
            </a:fld>
            <a:endParaRPr lang="en-US"/>
          </a:p>
        </p:txBody>
      </p:sp>
    </p:spTree>
    <p:extLst>
      <p:ext uri="{BB962C8B-B14F-4D97-AF65-F5344CB8AC3E}">
        <p14:creationId xmlns:p14="http://schemas.microsoft.com/office/powerpoint/2010/main" val="306187503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168</a:t>
            </a:fld>
            <a:endParaRPr lang="en-US"/>
          </a:p>
        </p:txBody>
      </p:sp>
    </p:spTree>
    <p:extLst>
      <p:ext uri="{BB962C8B-B14F-4D97-AF65-F5344CB8AC3E}">
        <p14:creationId xmlns:p14="http://schemas.microsoft.com/office/powerpoint/2010/main" val="334574151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169</a:t>
            </a:fld>
            <a:endParaRPr lang="en-US"/>
          </a:p>
        </p:txBody>
      </p:sp>
    </p:spTree>
    <p:extLst>
      <p:ext uri="{BB962C8B-B14F-4D97-AF65-F5344CB8AC3E}">
        <p14:creationId xmlns:p14="http://schemas.microsoft.com/office/powerpoint/2010/main" val="115164393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170</a:t>
            </a:fld>
            <a:endParaRPr lang="en-US"/>
          </a:p>
        </p:txBody>
      </p:sp>
    </p:spTree>
    <p:extLst>
      <p:ext uri="{BB962C8B-B14F-4D97-AF65-F5344CB8AC3E}">
        <p14:creationId xmlns:p14="http://schemas.microsoft.com/office/powerpoint/2010/main" val="72309021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171</a:t>
            </a:fld>
            <a:endParaRPr lang="en-US"/>
          </a:p>
        </p:txBody>
      </p:sp>
    </p:spTree>
    <p:extLst>
      <p:ext uri="{BB962C8B-B14F-4D97-AF65-F5344CB8AC3E}">
        <p14:creationId xmlns:p14="http://schemas.microsoft.com/office/powerpoint/2010/main" val="198072481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172</a:t>
            </a:fld>
            <a:endParaRPr lang="en-US"/>
          </a:p>
        </p:txBody>
      </p:sp>
    </p:spTree>
    <p:extLst>
      <p:ext uri="{BB962C8B-B14F-4D97-AF65-F5344CB8AC3E}">
        <p14:creationId xmlns:p14="http://schemas.microsoft.com/office/powerpoint/2010/main" val="32835388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173</a:t>
            </a:fld>
            <a:endParaRPr lang="en-US"/>
          </a:p>
        </p:txBody>
      </p:sp>
    </p:spTree>
    <p:extLst>
      <p:ext uri="{BB962C8B-B14F-4D97-AF65-F5344CB8AC3E}">
        <p14:creationId xmlns:p14="http://schemas.microsoft.com/office/powerpoint/2010/main" val="12141278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174</a:t>
            </a:fld>
            <a:endParaRPr lang="en-US"/>
          </a:p>
        </p:txBody>
      </p:sp>
    </p:spTree>
    <p:extLst>
      <p:ext uri="{BB962C8B-B14F-4D97-AF65-F5344CB8AC3E}">
        <p14:creationId xmlns:p14="http://schemas.microsoft.com/office/powerpoint/2010/main" val="340278922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175</a:t>
            </a:fld>
            <a:endParaRPr lang="en-US"/>
          </a:p>
        </p:txBody>
      </p:sp>
    </p:spTree>
    <p:extLst>
      <p:ext uri="{BB962C8B-B14F-4D97-AF65-F5344CB8AC3E}">
        <p14:creationId xmlns:p14="http://schemas.microsoft.com/office/powerpoint/2010/main" val="51141938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3588"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F83C8A-37B2-47AD-8B4B-9133DA213D7B}" type="slidenum">
              <a:rPr lang="en-US" smtClean="0"/>
              <a:t>176</a:t>
            </a:fld>
            <a:endParaRPr lang="en-US"/>
          </a:p>
        </p:txBody>
      </p:sp>
    </p:spTree>
    <p:extLst>
      <p:ext uri="{BB962C8B-B14F-4D97-AF65-F5344CB8AC3E}">
        <p14:creationId xmlns:p14="http://schemas.microsoft.com/office/powerpoint/2010/main" val="2344901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60845"/>
            <a:ext cx="9144000" cy="269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9144000" cy="282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228600" y="2438409"/>
            <a:ext cx="8534400" cy="1470025"/>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a:defRPr b="1" cap="none" spc="38">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defRPr>
            </a:lvl1pPr>
          </a:lstStyle>
          <a:p>
            <a:r>
              <a:rPr lang="en-US" smtClean="0"/>
              <a:t>Click to edit Master title style</a:t>
            </a:r>
            <a:endParaRPr lang="en-US"/>
          </a:p>
        </p:txBody>
      </p:sp>
      <p:sp>
        <p:nvSpPr>
          <p:cNvPr id="3" name="Subtitle 2"/>
          <p:cNvSpPr>
            <a:spLocks noGrp="1"/>
          </p:cNvSpPr>
          <p:nvPr>
            <p:ph type="subTitle" idx="1"/>
          </p:nvPr>
        </p:nvSpPr>
        <p:spPr>
          <a:xfrm>
            <a:off x="1371600" y="4148533"/>
            <a:ext cx="6400800" cy="762000"/>
          </a:xfrm>
        </p:spPr>
        <p:txBody>
          <a:bodyPr>
            <a:normAutofit/>
          </a:bodyPr>
          <a:lstStyle>
            <a:lvl1pPr marL="0" indent="0" algn="ctr">
              <a:buNone/>
              <a:defRPr sz="15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p>
          <a:p>
            <a:endParaRPr lang="en-US"/>
          </a:p>
        </p:txBody>
      </p:sp>
    </p:spTree>
    <p:extLst>
      <p:ext uri="{BB962C8B-B14F-4D97-AF65-F5344CB8AC3E}">
        <p14:creationId xmlns:p14="http://schemas.microsoft.com/office/powerpoint/2010/main" val="961019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629400"/>
            <a:ext cx="9144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WinFX__LineGlow"/>
          <p:cNvPicPr>
            <a:picLocks noChangeAspect="1" noChangeArrowheads="1"/>
          </p:cNvPicPr>
          <p:nvPr/>
        </p:nvPicPr>
        <p:blipFill>
          <a:blip r:embed="rId4" cstate="print">
            <a:duotone>
              <a:schemeClr val="accent6">
                <a:shade val="45000"/>
                <a:satMod val="135000"/>
              </a:schemeClr>
              <a:prstClr val="white"/>
            </a:duotone>
            <a:lum bright="16000" contrast="26000"/>
          </a:blip>
          <a:srcRect/>
          <a:stretch>
            <a:fillRect/>
          </a:stretch>
        </p:blipFill>
        <p:spPr bwMode="auto">
          <a:xfrm>
            <a:off x="0" y="1143000"/>
            <a:ext cx="9144000" cy="228600"/>
          </a:xfrm>
          <a:prstGeom prst="rect">
            <a:avLst/>
          </a:prstGeom>
          <a:noFill/>
        </p:spPr>
      </p:pic>
      <p:pic>
        <p:nvPicPr>
          <p:cNvPr id="7" name="Picture 5" descr="WinFX_WCF__03a"/>
          <p:cNvPicPr>
            <a:picLocks noChangeAspect="1" noChangeArrowheads="1"/>
          </p:cNvPicPr>
          <p:nvPr/>
        </p:nvPicPr>
        <p:blipFill>
          <a:blip r:embed="rId5" cstate="print">
            <a:duotone>
              <a:schemeClr val="accent6">
                <a:shade val="45000"/>
                <a:satMod val="135000"/>
              </a:schemeClr>
              <a:prstClr val="white"/>
            </a:duotone>
          </a:blip>
          <a:srcRect/>
          <a:stretch>
            <a:fillRect/>
          </a:stretch>
        </p:blipFill>
        <p:spPr bwMode="auto">
          <a:xfrm>
            <a:off x="8534217" y="6400800"/>
            <a:ext cx="609784" cy="457200"/>
          </a:xfrm>
          <a:prstGeom prst="rect">
            <a:avLst/>
          </a:prstGeom>
          <a:noFill/>
        </p:spPr>
      </p:pic>
      <p:sp>
        <p:nvSpPr>
          <p:cNvPr id="2" name="Title 1"/>
          <p:cNvSpPr>
            <a:spLocks noGrp="1"/>
          </p:cNvSpPr>
          <p:nvPr>
            <p:ph type="title"/>
          </p:nvPr>
        </p:nvSpPr>
        <p:spPr>
          <a:xfrm>
            <a:off x="381000" y="152400"/>
            <a:ext cx="8610600" cy="1143000"/>
          </a:xfrm>
        </p:spPr>
        <p:txBody>
          <a:bodyPr>
            <a:scene3d>
              <a:camera prst="orthographicFront"/>
              <a:lightRig rig="flat" dir="tl">
                <a:rot lat="0" lon="0" rev="6600000"/>
              </a:lightRig>
            </a:scene3d>
            <a:sp3d extrusionH="25400" contourW="8890">
              <a:bevelT w="38100" h="31750"/>
              <a:contourClr>
                <a:schemeClr val="accent2">
                  <a:shade val="75000"/>
                </a:schemeClr>
              </a:contourClr>
            </a:sp3d>
          </a:bodyPr>
          <a:lstStyle>
            <a:lvl1pPr algn="ctr">
              <a:defRPr sz="2700" b="1" cap="none" spc="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defRPr>
            </a:lvl1pPr>
          </a:lstStyle>
          <a:p>
            <a:r>
              <a:rPr lang="en-US" smtClean="0"/>
              <a:t>Click to edit Master title style</a:t>
            </a:r>
            <a:endParaRPr lang="en-US"/>
          </a:p>
        </p:txBody>
      </p:sp>
      <p:sp>
        <p:nvSpPr>
          <p:cNvPr id="3" name="Content Placeholder 2"/>
          <p:cNvSpPr>
            <a:spLocks noGrp="1"/>
          </p:cNvSpPr>
          <p:nvPr>
            <p:ph idx="1"/>
          </p:nvPr>
        </p:nvSpPr>
        <p:spPr>
          <a:xfrm>
            <a:off x="304800" y="1371601"/>
            <a:ext cx="8534308" cy="4876800"/>
          </a:xfrm>
        </p:spPr>
        <p:txBody>
          <a:bodyPr/>
          <a:lstStyle>
            <a:lvl1pPr marL="257175" indent="-257175" algn="just">
              <a:buFont typeface="Wingdings" pitchFamily="2" charset="2"/>
              <a:buChar char="Ø"/>
              <a:defRPr sz="2250"/>
            </a:lvl1pPr>
            <a:lvl2pPr algn="just">
              <a:defRPr/>
            </a:lvl2pPr>
            <a:lvl3pPr algn="just">
              <a:defRPr/>
            </a:lvl3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3"/>
          <p:cNvSpPr>
            <a:spLocks noGrp="1"/>
          </p:cNvSpPr>
          <p:nvPr>
            <p:ph type="dt" sz="half" idx="10"/>
          </p:nvPr>
        </p:nvSpPr>
        <p:spPr>
          <a:xfrm>
            <a:off x="304800" y="6356359"/>
            <a:ext cx="990600" cy="365125"/>
          </a:xfrm>
        </p:spPr>
        <p:txBody>
          <a:bodyPr/>
          <a:lstStyle>
            <a:lvl1pPr>
              <a:defRPr>
                <a:solidFill>
                  <a:schemeClr val="tx1"/>
                </a:solidFill>
                <a:latin typeface="Tahoma" pitchFamily="34" charset="0"/>
                <a:cs typeface="Tahoma" pitchFamily="34" charset="0"/>
              </a:defRPr>
            </a:lvl1pPr>
          </a:lstStyle>
          <a:p>
            <a:endParaRPr lang="en-US" altLang="en-US"/>
          </a:p>
        </p:txBody>
      </p:sp>
      <p:sp>
        <p:nvSpPr>
          <p:cNvPr id="9" name="Footer Placeholder 4"/>
          <p:cNvSpPr>
            <a:spLocks noGrp="1"/>
          </p:cNvSpPr>
          <p:nvPr>
            <p:ph type="ftr" sz="quarter" idx="11"/>
          </p:nvPr>
        </p:nvSpPr>
        <p:spPr>
          <a:xfrm>
            <a:off x="1905000" y="6356359"/>
            <a:ext cx="6248400" cy="365125"/>
          </a:xfrm>
        </p:spPr>
        <p:txBody>
          <a:bodyPr/>
          <a:lstStyle>
            <a:lvl1pPr>
              <a:defRPr>
                <a:solidFill>
                  <a:schemeClr val="tx1"/>
                </a:solidFill>
                <a:latin typeface="Tahoma" pitchFamily="34" charset="0"/>
                <a:cs typeface="Tahoma" pitchFamily="34" charset="0"/>
              </a:defRPr>
            </a:lvl1pPr>
          </a:lstStyle>
          <a:p>
            <a:endParaRPr lang="en-US" altLang="en-US"/>
          </a:p>
        </p:txBody>
      </p:sp>
      <p:sp>
        <p:nvSpPr>
          <p:cNvPr id="10" name="Slide Number Placeholder 5"/>
          <p:cNvSpPr>
            <a:spLocks noGrp="1"/>
          </p:cNvSpPr>
          <p:nvPr>
            <p:ph type="sldNum" sz="quarter" idx="12"/>
          </p:nvPr>
        </p:nvSpPr>
        <p:spPr>
          <a:xfrm>
            <a:off x="8344422" y="6356359"/>
            <a:ext cx="533400" cy="365125"/>
          </a:xfrm>
        </p:spPr>
        <p:txBody>
          <a:bodyPr/>
          <a:lstStyle>
            <a:lvl1pPr>
              <a:defRPr>
                <a:solidFill>
                  <a:schemeClr val="tx1"/>
                </a:solidFill>
                <a:latin typeface="Tahoma" pitchFamily="34" charset="0"/>
                <a:cs typeface="Tahoma" pitchFamily="34" charset="0"/>
              </a:defRPr>
            </a:lvl1pPr>
          </a:lstStyle>
          <a:p>
            <a:fld id="{04E14541-87DE-422E-93EA-11027DDA40BD}" type="slidenum">
              <a:rPr lang="en-US" altLang="en-US"/>
              <a:pPr/>
              <a:t>‹#›</a:t>
            </a:fld>
            <a:endParaRPr lang="en-US" altLang="en-US"/>
          </a:p>
        </p:txBody>
      </p:sp>
    </p:spTree>
    <p:extLst>
      <p:ext uri="{BB962C8B-B14F-4D97-AF65-F5344CB8AC3E}">
        <p14:creationId xmlns:p14="http://schemas.microsoft.com/office/powerpoint/2010/main" val="3350305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pic>
        <p:nvPicPr>
          <p:cNvPr id="3" name="Picture 5" descr="WinFX_WCF__03a"/>
          <p:cNvPicPr>
            <a:picLocks noChangeAspect="1" noChangeArrowheads="1"/>
          </p:cNvPicPr>
          <p:nvPr/>
        </p:nvPicPr>
        <p:blipFill>
          <a:blip r:embed="rId2" cstate="print">
            <a:duotone>
              <a:schemeClr val="accent6">
                <a:shade val="45000"/>
                <a:satMod val="135000"/>
              </a:schemeClr>
              <a:prstClr val="white"/>
            </a:duotone>
          </a:blip>
          <a:srcRect/>
          <a:stretch>
            <a:fillRect/>
          </a:stretch>
        </p:blipFill>
        <p:spPr bwMode="auto">
          <a:xfrm>
            <a:off x="4800600" y="3601437"/>
            <a:ext cx="4343400" cy="3256571"/>
          </a:xfrm>
          <a:prstGeom prst="rect">
            <a:avLst/>
          </a:prstGeom>
          <a:noFill/>
        </p:spPr>
      </p:pic>
      <p:pic>
        <p:nvPicPr>
          <p:cNvPr id="4" name="Picture 8" descr="WinFX__LineGlow"/>
          <p:cNvPicPr>
            <a:picLocks noChangeAspect="1" noChangeArrowheads="1"/>
          </p:cNvPicPr>
          <p:nvPr/>
        </p:nvPicPr>
        <p:blipFill>
          <a:blip r:embed="rId3" cstate="print">
            <a:duotone>
              <a:schemeClr val="accent6">
                <a:shade val="45000"/>
                <a:satMod val="135000"/>
              </a:schemeClr>
              <a:prstClr val="white"/>
            </a:duotone>
            <a:lum bright="16000" contrast="26000"/>
          </a:blip>
          <a:srcRect r="16667" b="33333"/>
          <a:stretch>
            <a:fillRect/>
          </a:stretch>
        </p:blipFill>
        <p:spPr bwMode="auto">
          <a:xfrm>
            <a:off x="1524000" y="1905000"/>
            <a:ext cx="7620000" cy="152400"/>
          </a:xfrm>
          <a:prstGeom prst="rect">
            <a:avLst/>
          </a:prstGeom>
          <a:noFill/>
        </p:spPr>
      </p:pic>
      <p:pic>
        <p:nvPicPr>
          <p:cNvPr id="5" name="Picture 4" descr="WinFX__LineGlow"/>
          <p:cNvPicPr>
            <a:picLocks noChangeAspect="1" noChangeArrowheads="1"/>
          </p:cNvPicPr>
          <p:nvPr/>
        </p:nvPicPr>
        <p:blipFill>
          <a:blip r:embed="rId3" cstate="print">
            <a:duotone>
              <a:schemeClr val="accent6">
                <a:shade val="45000"/>
                <a:satMod val="135000"/>
              </a:schemeClr>
              <a:prstClr val="white"/>
            </a:duotone>
            <a:lum bright="16000" contrast="26000"/>
          </a:blip>
          <a:srcRect l="15000" t="33333"/>
          <a:stretch>
            <a:fillRect/>
          </a:stretch>
        </p:blipFill>
        <p:spPr bwMode="auto">
          <a:xfrm>
            <a:off x="0" y="4343400"/>
            <a:ext cx="7772400" cy="152400"/>
          </a:xfrm>
          <a:prstGeom prst="rect">
            <a:avLst/>
          </a:prstGeom>
          <a:noFill/>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D:\Dropbox\SS-Slides\DeCuong-CDIO\TemplateCDIOv1\HinhAnh\LogoCDIO_Transparen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1089" y="863609"/>
            <a:ext cx="10525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D:\Dropbox\SS-Slides\DeCuong-CDIO\TemplateCDIOv1\HinhAnh\LogoTruong_Transparent.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888" y="815984"/>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81000" y="2492385"/>
            <a:ext cx="8534400" cy="1470025"/>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a:defRPr b="1" cap="none" spc="38">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defRPr>
            </a:lvl1pPr>
          </a:lstStyle>
          <a:p>
            <a:r>
              <a:rPr lang="en-US" smtClean="0"/>
              <a:t>Click to edit Master title style</a:t>
            </a:r>
            <a:endParaRPr lang="en-US"/>
          </a:p>
        </p:txBody>
      </p:sp>
    </p:spTree>
    <p:extLst>
      <p:ext uri="{BB962C8B-B14F-4D97-AF65-F5344CB8AC3E}">
        <p14:creationId xmlns:p14="http://schemas.microsoft.com/office/powerpoint/2010/main" val="4039359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953000"/>
            <a:ext cx="9144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
            <a:ext cx="9144000" cy="152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descr="E:\04_Image Collection\01_ICON\Question\Help.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990600"/>
            <a:ext cx="5105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071462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9"/>
            <a:ext cx="7772400" cy="1362075"/>
          </a:xfrm>
        </p:spPr>
        <p:txBody>
          <a:bodyPr anchor="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algn="l">
              <a:defRPr sz="3000" b="1" cap="none" spc="38">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defRPr>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endParaRPr lang="en-US" alt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lt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D752161-84C5-490F-8C16-3A376D823178}" type="slidenum">
              <a:rPr lang="en-US" altLang="en-US"/>
              <a:pPr/>
              <a:t>‹#›</a:t>
            </a:fld>
            <a:endParaRPr lang="en-US" altLang="en-US"/>
          </a:p>
        </p:txBody>
      </p:sp>
    </p:spTree>
    <p:extLst>
      <p:ext uri="{BB962C8B-B14F-4D97-AF65-F5344CB8AC3E}">
        <p14:creationId xmlns:p14="http://schemas.microsoft.com/office/powerpoint/2010/main" val="1768075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629400"/>
            <a:ext cx="9144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WinFX__LineGlow"/>
          <p:cNvPicPr>
            <a:picLocks noChangeAspect="1" noChangeArrowheads="1"/>
          </p:cNvPicPr>
          <p:nvPr/>
        </p:nvPicPr>
        <p:blipFill>
          <a:blip r:embed="rId4" cstate="print">
            <a:duotone>
              <a:schemeClr val="accent6">
                <a:shade val="45000"/>
                <a:satMod val="135000"/>
              </a:schemeClr>
              <a:prstClr val="white"/>
            </a:duotone>
            <a:lum bright="16000" contrast="26000"/>
          </a:blip>
          <a:srcRect/>
          <a:stretch>
            <a:fillRect/>
          </a:stretch>
        </p:blipFill>
        <p:spPr bwMode="auto">
          <a:xfrm>
            <a:off x="0" y="1295400"/>
            <a:ext cx="9144000" cy="228600"/>
          </a:xfrm>
          <a:prstGeom prst="rect">
            <a:avLst/>
          </a:prstGeom>
          <a:noFill/>
        </p:spPr>
      </p:pic>
      <p:sp>
        <p:nvSpPr>
          <p:cNvPr id="2" name="Title 1"/>
          <p:cNvSpPr>
            <a:spLocks noGrp="1"/>
          </p:cNvSpPr>
          <p:nvPr>
            <p:ph type="title"/>
          </p:nvPr>
        </p:nvSpPr>
        <p:spPr>
          <a:xfrm>
            <a:off x="457200" y="152400"/>
            <a:ext cx="8534400" cy="1143000"/>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a:defRPr b="1" cap="none" spc="38">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4"/>
          <p:cNvSpPr>
            <a:spLocks noGrp="1"/>
          </p:cNvSpPr>
          <p:nvPr>
            <p:ph type="dt" sz="half" idx="10"/>
          </p:nvPr>
        </p:nvSpPr>
        <p:spPr>
          <a:xfrm>
            <a:off x="457200" y="6356359"/>
            <a:ext cx="914400" cy="365125"/>
          </a:xfrm>
        </p:spPr>
        <p:txBody>
          <a:bodyPr/>
          <a:lstStyle>
            <a:lvl1pPr>
              <a:defRPr>
                <a:solidFill>
                  <a:schemeClr val="tx1"/>
                </a:solidFill>
              </a:defRPr>
            </a:lvl1pPr>
          </a:lstStyle>
          <a:p>
            <a:endParaRPr lang="en-US" altLang="en-US"/>
          </a:p>
        </p:txBody>
      </p:sp>
      <p:sp>
        <p:nvSpPr>
          <p:cNvPr id="9" name="Footer Placeholder 5"/>
          <p:cNvSpPr>
            <a:spLocks noGrp="1"/>
          </p:cNvSpPr>
          <p:nvPr>
            <p:ph type="ftr" sz="quarter" idx="11"/>
          </p:nvPr>
        </p:nvSpPr>
        <p:spPr>
          <a:xfrm>
            <a:off x="1524000" y="6356359"/>
            <a:ext cx="6400800" cy="365125"/>
          </a:xfrm>
        </p:spPr>
        <p:txBody>
          <a:bodyPr/>
          <a:lstStyle>
            <a:lvl1pPr>
              <a:defRPr>
                <a:solidFill>
                  <a:schemeClr val="tx1"/>
                </a:solidFill>
              </a:defRPr>
            </a:lvl1pPr>
          </a:lstStyle>
          <a:p>
            <a:endParaRPr lang="en-US" altLang="en-US"/>
          </a:p>
        </p:txBody>
      </p:sp>
      <p:sp>
        <p:nvSpPr>
          <p:cNvPr id="10" name="Slide Number Placeholder 6"/>
          <p:cNvSpPr>
            <a:spLocks noGrp="1"/>
          </p:cNvSpPr>
          <p:nvPr>
            <p:ph type="sldNum" sz="quarter" idx="12"/>
          </p:nvPr>
        </p:nvSpPr>
        <p:spPr>
          <a:xfrm>
            <a:off x="8153400" y="6356359"/>
            <a:ext cx="533400" cy="365125"/>
          </a:xfrm>
        </p:spPr>
        <p:txBody>
          <a:bodyPr/>
          <a:lstStyle>
            <a:lvl1pPr>
              <a:defRPr>
                <a:solidFill>
                  <a:schemeClr val="tx1"/>
                </a:solidFill>
              </a:defRPr>
            </a:lvl1pPr>
          </a:lstStyle>
          <a:p>
            <a:fld id="{61223252-CD90-444C-B6C2-7CFA06AB67FA}" type="slidenum">
              <a:rPr lang="en-US" altLang="en-US"/>
              <a:pPr/>
              <a:t>‹#›</a:t>
            </a:fld>
            <a:endParaRPr lang="en-US" altLang="en-US"/>
          </a:p>
        </p:txBody>
      </p:sp>
    </p:spTree>
    <p:extLst>
      <p:ext uri="{BB962C8B-B14F-4D97-AF65-F5344CB8AC3E}">
        <p14:creationId xmlns:p14="http://schemas.microsoft.com/office/powerpoint/2010/main" val="1026083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a:defRPr b="1" cap="none" spc="38">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7"/>
            <a:ext cx="4040188"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1" y="1535117"/>
            <a:ext cx="4041775"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31"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endParaRPr lang="en-US" altLang="en-US"/>
          </a:p>
        </p:txBody>
      </p:sp>
      <p:sp>
        <p:nvSpPr>
          <p:cNvPr id="8" name="Footer Placeholder 4"/>
          <p:cNvSpPr>
            <a:spLocks noGrp="1"/>
          </p:cNvSpPr>
          <p:nvPr>
            <p:ph type="ftr" sz="quarter" idx="11"/>
          </p:nvPr>
        </p:nvSpPr>
        <p:spPr/>
        <p:txBody>
          <a:bodyPr/>
          <a:lstStyle>
            <a:lvl1pPr>
              <a:defRPr/>
            </a:lvl1pPr>
          </a:lstStyle>
          <a:p>
            <a:endParaRPr lang="en-US" altLang="en-US"/>
          </a:p>
        </p:txBody>
      </p:sp>
      <p:sp>
        <p:nvSpPr>
          <p:cNvPr id="9" name="Slide Number Placeholder 5"/>
          <p:cNvSpPr>
            <a:spLocks noGrp="1"/>
          </p:cNvSpPr>
          <p:nvPr>
            <p:ph type="sldNum" sz="quarter" idx="12"/>
          </p:nvPr>
        </p:nvSpPr>
        <p:spPr/>
        <p:txBody>
          <a:bodyPr/>
          <a:lstStyle>
            <a:lvl1pPr>
              <a:defRPr/>
            </a:lvl1pPr>
          </a:lstStyle>
          <a:p>
            <a:fld id="{CA58D610-6654-4EF4-BDA5-FE54BB8838D6}" type="slidenum">
              <a:rPr lang="en-US" altLang="en-US"/>
              <a:pPr/>
              <a:t>‹#›</a:t>
            </a:fld>
            <a:endParaRPr lang="en-US" altLang="en-US"/>
          </a:p>
        </p:txBody>
      </p:sp>
    </p:spTree>
    <p:extLst>
      <p:ext uri="{BB962C8B-B14F-4D97-AF65-F5344CB8AC3E}">
        <p14:creationId xmlns:p14="http://schemas.microsoft.com/office/powerpoint/2010/main" val="3988408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7"/>
            <a:ext cx="3008313" cy="1162051"/>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73060"/>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endParaRPr lang="en-US" altLang="en-US"/>
          </a:p>
        </p:txBody>
      </p:sp>
      <p:sp>
        <p:nvSpPr>
          <p:cNvPr id="6" name="Footer Placeholder 4"/>
          <p:cNvSpPr>
            <a:spLocks noGrp="1"/>
          </p:cNvSpPr>
          <p:nvPr>
            <p:ph type="ftr" sz="quarter" idx="11"/>
          </p:nvPr>
        </p:nvSpPr>
        <p:spPr/>
        <p:txBody>
          <a:bodyPr/>
          <a:lstStyle>
            <a:lvl1pPr>
              <a:defRPr/>
            </a:lvl1pPr>
          </a:lstStyle>
          <a:p>
            <a:endParaRPr lang="en-US" altLang="en-US"/>
          </a:p>
        </p:txBody>
      </p:sp>
      <p:sp>
        <p:nvSpPr>
          <p:cNvPr id="7" name="Slide Number Placeholder 5"/>
          <p:cNvSpPr>
            <a:spLocks noGrp="1"/>
          </p:cNvSpPr>
          <p:nvPr>
            <p:ph type="sldNum" sz="quarter" idx="12"/>
          </p:nvPr>
        </p:nvSpPr>
        <p:spPr/>
        <p:txBody>
          <a:bodyPr/>
          <a:lstStyle>
            <a:lvl1pPr>
              <a:defRPr/>
            </a:lvl1pPr>
          </a:lstStyle>
          <a:p>
            <a:fld id="{E486CF7F-2DC5-43F7-AAC5-209202E932E9}" type="slidenum">
              <a:rPr lang="en-US" altLang="en-US"/>
              <a:pPr/>
              <a:t>‹#›</a:t>
            </a:fld>
            <a:endParaRPr lang="en-US" altLang="en-US"/>
          </a:p>
        </p:txBody>
      </p:sp>
    </p:spTree>
    <p:extLst>
      <p:ext uri="{BB962C8B-B14F-4D97-AF65-F5344CB8AC3E}">
        <p14:creationId xmlns:p14="http://schemas.microsoft.com/office/powerpoint/2010/main" val="3920779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8"/>
            <a:ext cx="5486400" cy="566739"/>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46"/>
            <a:ext cx="54864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endParaRPr lang="en-US" altLang="en-US"/>
          </a:p>
        </p:txBody>
      </p:sp>
      <p:sp>
        <p:nvSpPr>
          <p:cNvPr id="6" name="Footer Placeholder 4"/>
          <p:cNvSpPr>
            <a:spLocks noGrp="1"/>
          </p:cNvSpPr>
          <p:nvPr>
            <p:ph type="ftr" sz="quarter" idx="11"/>
          </p:nvPr>
        </p:nvSpPr>
        <p:spPr/>
        <p:txBody>
          <a:bodyPr/>
          <a:lstStyle>
            <a:lvl1pPr>
              <a:defRPr/>
            </a:lvl1pPr>
          </a:lstStyle>
          <a:p>
            <a:endParaRPr lang="en-US" altLang="en-US"/>
          </a:p>
        </p:txBody>
      </p:sp>
      <p:sp>
        <p:nvSpPr>
          <p:cNvPr id="7" name="Slide Number Placeholder 5"/>
          <p:cNvSpPr>
            <a:spLocks noGrp="1"/>
          </p:cNvSpPr>
          <p:nvPr>
            <p:ph type="sldNum" sz="quarter" idx="12"/>
          </p:nvPr>
        </p:nvSpPr>
        <p:spPr/>
        <p:txBody>
          <a:bodyPr/>
          <a:lstStyle>
            <a:lvl1pPr>
              <a:defRPr/>
            </a:lvl1pPr>
          </a:lstStyle>
          <a:p>
            <a:fld id="{7F8B56C3-AD5A-4B80-A913-0551DDF95D6D}" type="slidenum">
              <a:rPr lang="en-US" altLang="en-US"/>
              <a:pPr/>
              <a:t>‹#›</a:t>
            </a:fld>
            <a:endParaRPr lang="en-US" altLang="en-US"/>
          </a:p>
        </p:txBody>
      </p:sp>
    </p:spTree>
    <p:extLst>
      <p:ext uri="{BB962C8B-B14F-4D97-AF65-F5344CB8AC3E}">
        <p14:creationId xmlns:p14="http://schemas.microsoft.com/office/powerpoint/2010/main" val="1276335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4F972C1B-6C77-4067-BEA7-E892694A452C}" type="slidenum">
              <a:rPr lang="en-US" altLang="en-US"/>
              <a:pPr/>
              <a:t>‹#›</a:t>
            </a:fld>
            <a:endParaRPr lang="en-US" altLang="en-US"/>
          </a:p>
        </p:txBody>
      </p:sp>
    </p:spTree>
    <p:extLst>
      <p:ext uri="{BB962C8B-B14F-4D97-AF65-F5344CB8AC3E}">
        <p14:creationId xmlns:p14="http://schemas.microsoft.com/office/powerpoint/2010/main" val="2253648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7"/>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7"/>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78307E3C-D608-456E-B6C7-4B895AC42FA2}" type="slidenum">
              <a:rPr lang="en-US" altLang="en-US"/>
              <a:pPr/>
              <a:t>‹#›</a:t>
            </a:fld>
            <a:endParaRPr lang="en-US" altLang="en-US"/>
          </a:p>
        </p:txBody>
      </p:sp>
    </p:spTree>
    <p:extLst>
      <p:ext uri="{BB962C8B-B14F-4D97-AF65-F5344CB8AC3E}">
        <p14:creationId xmlns:p14="http://schemas.microsoft.com/office/powerpoint/2010/main" val="90143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438400" y="609609"/>
            <a:ext cx="6248400" cy="487363"/>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19200"/>
            <a:ext cx="40386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219201"/>
            <a:ext cx="40386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848101"/>
            <a:ext cx="40386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3"/>
          <p:cNvSpPr>
            <a:spLocks noGrp="1"/>
          </p:cNvSpPr>
          <p:nvPr>
            <p:ph type="dt" sz="half" idx="10"/>
          </p:nvPr>
        </p:nvSpPr>
        <p:spPr/>
        <p:txBody>
          <a:bodyPr/>
          <a:lstStyle>
            <a:lvl1pPr>
              <a:defRPr/>
            </a:lvl1pPr>
          </a:lstStyle>
          <a:p>
            <a:endParaRPr lang="en-US" altLang="en-US"/>
          </a:p>
        </p:txBody>
      </p:sp>
      <p:sp>
        <p:nvSpPr>
          <p:cNvPr id="7" name="Footer Placeholder 4"/>
          <p:cNvSpPr>
            <a:spLocks noGrp="1"/>
          </p:cNvSpPr>
          <p:nvPr>
            <p:ph type="ftr" sz="quarter" idx="11"/>
          </p:nvPr>
        </p:nvSpPr>
        <p:spPr/>
        <p:txBody>
          <a:bodyPr/>
          <a:lstStyle>
            <a:lvl1pPr>
              <a:defRPr/>
            </a:lvl1pPr>
          </a:lstStyle>
          <a:p>
            <a:endParaRPr lang="en-US" altLang="en-US"/>
          </a:p>
        </p:txBody>
      </p:sp>
      <p:sp>
        <p:nvSpPr>
          <p:cNvPr id="8" name="Slide Number Placeholder 5"/>
          <p:cNvSpPr>
            <a:spLocks noGrp="1"/>
          </p:cNvSpPr>
          <p:nvPr>
            <p:ph type="sldNum" sz="quarter" idx="12"/>
          </p:nvPr>
        </p:nvSpPr>
        <p:spPr/>
        <p:txBody>
          <a:bodyPr/>
          <a:lstStyle>
            <a:lvl1pPr>
              <a:defRPr/>
            </a:lvl1pPr>
          </a:lstStyle>
          <a:p>
            <a:fld id="{E47DEC5C-C1DF-4AD0-B199-9868809CC6B0}" type="slidenum">
              <a:rPr lang="en-US" altLang="en-US"/>
              <a:pPr/>
              <a:t>‹#›</a:t>
            </a:fld>
            <a:endParaRPr lang="en-US" altLang="en-US"/>
          </a:p>
        </p:txBody>
      </p:sp>
    </p:spTree>
    <p:extLst>
      <p:ext uri="{BB962C8B-B14F-4D97-AF65-F5344CB8AC3E}">
        <p14:creationId xmlns:p14="http://schemas.microsoft.com/office/powerpoint/2010/main" val="78772603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8400" y="609609"/>
            <a:ext cx="6248400" cy="487363"/>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19200"/>
            <a:ext cx="40386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19200"/>
            <a:ext cx="40386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endParaRPr lang="en-US" altLang="en-US"/>
          </a:p>
        </p:txBody>
      </p:sp>
      <p:sp>
        <p:nvSpPr>
          <p:cNvPr id="6" name="Footer Placeholder 4"/>
          <p:cNvSpPr>
            <a:spLocks noGrp="1"/>
          </p:cNvSpPr>
          <p:nvPr>
            <p:ph type="ftr" sz="quarter" idx="11"/>
          </p:nvPr>
        </p:nvSpPr>
        <p:spPr/>
        <p:txBody>
          <a:bodyPr/>
          <a:lstStyle>
            <a:lvl1pPr>
              <a:defRPr/>
            </a:lvl1pPr>
          </a:lstStyle>
          <a:p>
            <a:endParaRPr lang="en-US" altLang="en-US"/>
          </a:p>
        </p:txBody>
      </p:sp>
      <p:sp>
        <p:nvSpPr>
          <p:cNvPr id="7" name="Slide Number Placeholder 5"/>
          <p:cNvSpPr>
            <a:spLocks noGrp="1"/>
          </p:cNvSpPr>
          <p:nvPr>
            <p:ph type="sldNum" sz="quarter" idx="12"/>
          </p:nvPr>
        </p:nvSpPr>
        <p:spPr/>
        <p:txBody>
          <a:bodyPr/>
          <a:lstStyle>
            <a:lvl1pPr>
              <a:defRPr/>
            </a:lvl1pPr>
          </a:lstStyle>
          <a:p>
            <a:fld id="{255C21EE-0949-4F64-A3B6-119F06C76298}" type="slidenum">
              <a:rPr lang="en-US" altLang="en-US"/>
              <a:pPr/>
              <a:t>‹#›</a:t>
            </a:fld>
            <a:endParaRPr lang="en-US" altLang="en-US"/>
          </a:p>
        </p:txBody>
      </p:sp>
    </p:spTree>
    <p:extLst>
      <p:ext uri="{BB962C8B-B14F-4D97-AF65-F5344CB8AC3E}">
        <p14:creationId xmlns:p14="http://schemas.microsoft.com/office/powerpoint/2010/main" val="285621576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6"/>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9"/>
            <a:ext cx="2133600" cy="365125"/>
          </a:xfrm>
          <a:prstGeom prst="rect">
            <a:avLst/>
          </a:prstGeom>
        </p:spPr>
        <p:txBody>
          <a:bodyPr vert="horz" wrap="square" lIns="91440" tIns="45720" rIns="91440" bIns="45720" numCol="1" anchor="ctr" anchorCtr="0" compatLnSpc="1">
            <a:prstTxWarp prst="textNoShape">
              <a:avLst/>
            </a:prstTxWarp>
          </a:bodyPr>
          <a:lstStyle>
            <a:lvl1pPr>
              <a:defRPr sz="900">
                <a:solidFill>
                  <a:srgbClr val="898989"/>
                </a:solidFill>
              </a:defRPr>
            </a:lvl1pPr>
          </a:lstStyle>
          <a:p>
            <a:endParaRPr lang="en-US" altLang="en-US"/>
          </a:p>
        </p:txBody>
      </p:sp>
      <p:sp>
        <p:nvSpPr>
          <p:cNvPr id="5" name="Footer Placeholder 4"/>
          <p:cNvSpPr>
            <a:spLocks noGrp="1"/>
          </p:cNvSpPr>
          <p:nvPr>
            <p:ph type="ftr" sz="quarter" idx="3"/>
          </p:nvPr>
        </p:nvSpPr>
        <p:spPr>
          <a:xfrm>
            <a:off x="3124200" y="6356359"/>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900">
                <a:solidFill>
                  <a:srgbClr val="898989"/>
                </a:solidFill>
              </a:defRPr>
            </a:lvl1pPr>
          </a:lstStyle>
          <a:p>
            <a:endParaRPr lang="en-US" altLang="en-US"/>
          </a:p>
        </p:txBody>
      </p:sp>
      <p:sp>
        <p:nvSpPr>
          <p:cNvPr id="6" name="Slide Number Placeholder 5"/>
          <p:cNvSpPr>
            <a:spLocks noGrp="1"/>
          </p:cNvSpPr>
          <p:nvPr>
            <p:ph type="sldNum" sz="quarter" idx="4"/>
          </p:nvPr>
        </p:nvSpPr>
        <p:spPr>
          <a:xfrm>
            <a:off x="6553200" y="6356359"/>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898989"/>
                </a:solidFill>
              </a:defRPr>
            </a:lvl1pPr>
          </a:lstStyle>
          <a:p>
            <a:fld id="{FD8CC005-B970-4095-AC33-29DAF7CD53BC}"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940" r:id="rId1"/>
    <p:sldLayoutId id="2147483941" r:id="rId2"/>
    <p:sldLayoutId id="2147483942" r:id="rId3"/>
    <p:sldLayoutId id="2147483943" r:id="rId4"/>
    <p:sldLayoutId id="2147483944" r:id="rId5"/>
    <p:sldLayoutId id="2147483945" r:id="rId6"/>
    <p:sldLayoutId id="2147483933" r:id="rId7"/>
    <p:sldLayoutId id="2147483934" r:id="rId8"/>
    <p:sldLayoutId id="2147483935" r:id="rId9"/>
    <p:sldLayoutId id="2147483936" r:id="rId10"/>
    <p:sldLayoutId id="2147483937" r:id="rId11"/>
    <p:sldLayoutId id="2147483938" r:id="rId12"/>
    <p:sldLayoutId id="2147483939" r:id="rId13"/>
  </p:sldLayoutIdLst>
  <p:hf hdr="0" ftr="0" dt="0"/>
  <p:txStyles>
    <p:titleStyle>
      <a:lvl1pPr algn="ctr" rtl="0" eaLnBrk="0" fontAlgn="base" hangingPunct="0">
        <a:spcBef>
          <a:spcPct val="0"/>
        </a:spcBef>
        <a:spcAft>
          <a:spcPct val="0"/>
        </a:spcAft>
        <a:defRPr sz="3300" kern="1200">
          <a:solidFill>
            <a:schemeClr val="tx1"/>
          </a:solidFill>
          <a:latin typeface="Tahoma" pitchFamily="34" charset="0"/>
          <a:ea typeface="Tahoma" pitchFamily="34" charset="0"/>
          <a:cs typeface="Tahoma" pitchFamily="34" charset="0"/>
        </a:defRPr>
      </a:lvl1pPr>
      <a:lvl2pPr algn="ctr" rtl="0" eaLnBrk="0" fontAlgn="base" hangingPunct="0">
        <a:spcBef>
          <a:spcPct val="0"/>
        </a:spcBef>
        <a:spcAft>
          <a:spcPct val="0"/>
        </a:spcAft>
        <a:defRPr sz="3300">
          <a:solidFill>
            <a:schemeClr val="tx1"/>
          </a:solidFill>
          <a:latin typeface="Tahoma" pitchFamily="34" charset="0"/>
          <a:cs typeface="Tahoma" pitchFamily="34" charset="0"/>
        </a:defRPr>
      </a:lvl2pPr>
      <a:lvl3pPr algn="ctr" rtl="0" eaLnBrk="0" fontAlgn="base" hangingPunct="0">
        <a:spcBef>
          <a:spcPct val="0"/>
        </a:spcBef>
        <a:spcAft>
          <a:spcPct val="0"/>
        </a:spcAft>
        <a:defRPr sz="3300">
          <a:solidFill>
            <a:schemeClr val="tx1"/>
          </a:solidFill>
          <a:latin typeface="Tahoma" pitchFamily="34" charset="0"/>
          <a:cs typeface="Tahoma" pitchFamily="34" charset="0"/>
        </a:defRPr>
      </a:lvl3pPr>
      <a:lvl4pPr algn="ctr" rtl="0" eaLnBrk="0" fontAlgn="base" hangingPunct="0">
        <a:spcBef>
          <a:spcPct val="0"/>
        </a:spcBef>
        <a:spcAft>
          <a:spcPct val="0"/>
        </a:spcAft>
        <a:defRPr sz="3300">
          <a:solidFill>
            <a:schemeClr val="tx1"/>
          </a:solidFill>
          <a:latin typeface="Tahoma" pitchFamily="34" charset="0"/>
          <a:cs typeface="Tahoma" pitchFamily="34" charset="0"/>
        </a:defRPr>
      </a:lvl4pPr>
      <a:lvl5pPr algn="ctr" rtl="0" eaLnBrk="0" fontAlgn="base" hangingPunct="0">
        <a:spcBef>
          <a:spcPct val="0"/>
        </a:spcBef>
        <a:spcAft>
          <a:spcPct val="0"/>
        </a:spcAft>
        <a:defRPr sz="3300">
          <a:solidFill>
            <a:schemeClr val="tx1"/>
          </a:solidFill>
          <a:latin typeface="Tahoma" pitchFamily="34" charset="0"/>
          <a:cs typeface="Tahoma" pitchFamily="34" charset="0"/>
        </a:defRPr>
      </a:lvl5pPr>
      <a:lvl6pPr marL="342900" algn="ctr" rtl="0" fontAlgn="base">
        <a:spcBef>
          <a:spcPct val="0"/>
        </a:spcBef>
        <a:spcAft>
          <a:spcPct val="0"/>
        </a:spcAft>
        <a:defRPr sz="3300">
          <a:solidFill>
            <a:schemeClr val="tx1"/>
          </a:solidFill>
          <a:latin typeface="Tahoma" pitchFamily="34" charset="0"/>
          <a:cs typeface="Tahoma" pitchFamily="34" charset="0"/>
        </a:defRPr>
      </a:lvl6pPr>
      <a:lvl7pPr marL="685800" algn="ctr" rtl="0" fontAlgn="base">
        <a:spcBef>
          <a:spcPct val="0"/>
        </a:spcBef>
        <a:spcAft>
          <a:spcPct val="0"/>
        </a:spcAft>
        <a:defRPr sz="3300">
          <a:solidFill>
            <a:schemeClr val="tx1"/>
          </a:solidFill>
          <a:latin typeface="Tahoma" pitchFamily="34" charset="0"/>
          <a:cs typeface="Tahoma" pitchFamily="34" charset="0"/>
        </a:defRPr>
      </a:lvl7pPr>
      <a:lvl8pPr marL="1028700" algn="ctr" rtl="0" fontAlgn="base">
        <a:spcBef>
          <a:spcPct val="0"/>
        </a:spcBef>
        <a:spcAft>
          <a:spcPct val="0"/>
        </a:spcAft>
        <a:defRPr sz="3300">
          <a:solidFill>
            <a:schemeClr val="tx1"/>
          </a:solidFill>
          <a:latin typeface="Tahoma" pitchFamily="34" charset="0"/>
          <a:cs typeface="Tahoma" pitchFamily="34" charset="0"/>
        </a:defRPr>
      </a:lvl8pPr>
      <a:lvl9pPr marL="1371600" algn="ctr" rtl="0" fontAlgn="base">
        <a:spcBef>
          <a:spcPct val="0"/>
        </a:spcBef>
        <a:spcAft>
          <a:spcPct val="0"/>
        </a:spcAft>
        <a:defRPr sz="3300">
          <a:solidFill>
            <a:schemeClr val="tx1"/>
          </a:solidFill>
          <a:latin typeface="Tahoma" pitchFamily="34" charset="0"/>
          <a:cs typeface="Tahoma" pitchFamily="34" charset="0"/>
        </a:defRPr>
      </a:lvl9pPr>
    </p:titleStyle>
    <p:bodyStyle>
      <a:lvl1pPr marL="257175" indent="-257175" algn="l" rtl="0" eaLnBrk="0" fontAlgn="base" hangingPunct="0">
        <a:spcBef>
          <a:spcPct val="20000"/>
        </a:spcBef>
        <a:spcAft>
          <a:spcPct val="0"/>
        </a:spcAft>
        <a:buFont typeface="Arial" pitchFamily="34" charset="0"/>
        <a:buChar char="•"/>
        <a:defRPr sz="2400" kern="1200">
          <a:solidFill>
            <a:schemeClr val="tx1"/>
          </a:solidFill>
          <a:latin typeface="Tahoma" pitchFamily="34" charset="0"/>
          <a:ea typeface="Tahoma" pitchFamily="34" charset="0"/>
          <a:cs typeface="Tahoma" pitchFamily="34" charset="0"/>
        </a:defRPr>
      </a:lvl1pPr>
      <a:lvl2pPr marL="557213" indent="-214313" algn="l" rtl="0" eaLnBrk="0" fontAlgn="base" hangingPunct="0">
        <a:spcBef>
          <a:spcPct val="20000"/>
        </a:spcBef>
        <a:spcAft>
          <a:spcPct val="0"/>
        </a:spcAft>
        <a:buFont typeface="Arial" pitchFamily="34" charset="0"/>
        <a:buChar char="–"/>
        <a:defRPr sz="2100" kern="1200">
          <a:solidFill>
            <a:schemeClr val="tx1"/>
          </a:solidFill>
          <a:latin typeface="Tahoma" pitchFamily="34" charset="0"/>
          <a:ea typeface="Tahoma" pitchFamily="34" charset="0"/>
          <a:cs typeface="Tahoma" pitchFamily="34" charset="0"/>
        </a:defRPr>
      </a:lvl2pPr>
      <a:lvl3pPr marL="857250" indent="-171450" algn="l" rtl="0" eaLnBrk="0" fontAlgn="base" hangingPunct="0">
        <a:spcBef>
          <a:spcPct val="20000"/>
        </a:spcBef>
        <a:spcAft>
          <a:spcPct val="0"/>
        </a:spcAft>
        <a:buFont typeface="Arial" pitchFamily="34" charset="0"/>
        <a:buChar char="•"/>
        <a:defRPr sz="1800" kern="1200">
          <a:solidFill>
            <a:schemeClr val="tx1"/>
          </a:solidFill>
          <a:latin typeface="Tahoma" pitchFamily="34" charset="0"/>
          <a:ea typeface="Tahoma" pitchFamily="34" charset="0"/>
          <a:cs typeface="Tahoma" pitchFamily="34" charset="0"/>
        </a:defRPr>
      </a:lvl3pPr>
      <a:lvl4pPr marL="1200150" indent="-171450" algn="l" rtl="0" eaLnBrk="0" fontAlgn="base" hangingPunct="0">
        <a:spcBef>
          <a:spcPct val="20000"/>
        </a:spcBef>
        <a:spcAft>
          <a:spcPct val="0"/>
        </a:spcAft>
        <a:buFont typeface="Arial" pitchFamily="34" charset="0"/>
        <a:buChar char="–"/>
        <a:defRPr sz="1500" kern="1200">
          <a:solidFill>
            <a:schemeClr val="tx1"/>
          </a:solidFill>
          <a:latin typeface="Tahoma" pitchFamily="34" charset="0"/>
          <a:ea typeface="Tahoma" pitchFamily="34" charset="0"/>
          <a:cs typeface="Tahoma" pitchFamily="34" charset="0"/>
        </a:defRPr>
      </a:lvl4pPr>
      <a:lvl5pPr marL="1543050" indent="-171450" algn="l" rtl="0" eaLnBrk="0" fontAlgn="base" hangingPunct="0">
        <a:spcBef>
          <a:spcPct val="20000"/>
        </a:spcBef>
        <a:spcAft>
          <a:spcPct val="0"/>
        </a:spcAft>
        <a:buFont typeface="Arial" pitchFamily="34" charset="0"/>
        <a:buChar char="»"/>
        <a:defRPr sz="1500" kern="1200">
          <a:solidFill>
            <a:schemeClr val="tx1"/>
          </a:solidFill>
          <a:latin typeface="Tahoma" pitchFamily="34" charset="0"/>
          <a:ea typeface="Tahoma" pitchFamily="34" charset="0"/>
          <a:cs typeface="Tahoma"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6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6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57.tmp"/><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58.tmp"/></Relationships>
</file>

<file path=ppt/slides/_rels/slide111.xml.rels><?xml version="1.0" encoding="UTF-8" standalone="yes"?>
<Relationships xmlns="http://schemas.openxmlformats.org/package/2006/relationships"><Relationship Id="rId3" Type="http://schemas.openxmlformats.org/officeDocument/2006/relationships/image" Target="../media/image59.tmp"/><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60.tmp"/><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61.tmp"/></Relationships>
</file>

<file path=ppt/slides/_rels/slide11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64.tmp"/><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65.tmp"/><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66.tmp"/></Relationships>
</file>

<file path=ppt/slides/_rels/slide12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74.tmp"/><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75.tmp"/></Relationships>
</file>

<file path=ppt/slides/_rels/slide13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13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3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14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14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14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15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04.xml"/><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16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 6"/>
          <p:cNvSpPr>
            <a:spLocks noGrp="1" noChangeArrowheads="1"/>
          </p:cNvSpPr>
          <p:nvPr>
            <p:ph type="sldNum" sz="quarter" idx="4294967295"/>
          </p:nvPr>
        </p:nvSpPr>
        <p:spPr>
          <a:xfrm>
            <a:off x="6400800" y="5539979"/>
            <a:ext cx="1600200" cy="342900"/>
          </a:xfrm>
        </p:spPr>
        <p:txBody>
          <a:bodyPr/>
          <a:lstStyle>
            <a:lvl1pPr eaLnBrk="0" hangingPunct="0">
              <a:defRPr>
                <a:solidFill>
                  <a:schemeClr val="tx1"/>
                </a:solidFill>
                <a:latin typeface="Arial" pitchFamily="34" charset="0"/>
              </a:defRPr>
            </a:lvl1pPr>
            <a:lvl2pPr marL="557213" indent="-214313" eaLnBrk="0" hangingPunct="0">
              <a:defRPr>
                <a:solidFill>
                  <a:schemeClr val="tx1"/>
                </a:solidFill>
                <a:latin typeface="Arial" pitchFamily="34" charset="0"/>
              </a:defRPr>
            </a:lvl2pPr>
            <a:lvl3pPr marL="857250" indent="-171450" eaLnBrk="0" hangingPunct="0">
              <a:defRPr>
                <a:solidFill>
                  <a:schemeClr val="tx1"/>
                </a:solidFill>
                <a:latin typeface="Arial" pitchFamily="34" charset="0"/>
              </a:defRPr>
            </a:lvl3pPr>
            <a:lvl4pPr marL="1200150" indent="-171450" eaLnBrk="0" hangingPunct="0">
              <a:defRPr>
                <a:solidFill>
                  <a:schemeClr val="tx1"/>
                </a:solidFill>
                <a:latin typeface="Arial" pitchFamily="34" charset="0"/>
              </a:defRPr>
            </a:lvl4pPr>
            <a:lvl5pPr marL="1543050" indent="-171450" eaLnBrk="0" hangingPunct="0">
              <a:defRPr>
                <a:solidFill>
                  <a:schemeClr val="tx1"/>
                </a:solidFill>
                <a:latin typeface="Arial" pitchFamily="34" charset="0"/>
              </a:defRPr>
            </a:lvl5pPr>
            <a:lvl6pPr marL="1885950" indent="-171450" eaLnBrk="0" fontAlgn="base" hangingPunct="0">
              <a:spcBef>
                <a:spcPct val="0"/>
              </a:spcBef>
              <a:spcAft>
                <a:spcPct val="0"/>
              </a:spcAft>
              <a:defRPr>
                <a:solidFill>
                  <a:schemeClr val="tx1"/>
                </a:solidFill>
                <a:latin typeface="Arial" pitchFamily="34" charset="0"/>
              </a:defRPr>
            </a:lvl6pPr>
            <a:lvl7pPr marL="2228850" indent="-171450" eaLnBrk="0" fontAlgn="base" hangingPunct="0">
              <a:spcBef>
                <a:spcPct val="0"/>
              </a:spcBef>
              <a:spcAft>
                <a:spcPct val="0"/>
              </a:spcAft>
              <a:defRPr>
                <a:solidFill>
                  <a:schemeClr val="tx1"/>
                </a:solidFill>
                <a:latin typeface="Arial" pitchFamily="34" charset="0"/>
              </a:defRPr>
            </a:lvl7pPr>
            <a:lvl8pPr marL="2571750" indent="-171450" eaLnBrk="0" fontAlgn="base" hangingPunct="0">
              <a:spcBef>
                <a:spcPct val="0"/>
              </a:spcBef>
              <a:spcAft>
                <a:spcPct val="0"/>
              </a:spcAft>
              <a:defRPr>
                <a:solidFill>
                  <a:schemeClr val="tx1"/>
                </a:solidFill>
                <a:latin typeface="Arial" pitchFamily="34" charset="0"/>
              </a:defRPr>
            </a:lvl8pPr>
            <a:lvl9pPr marL="2914650" indent="-171450" eaLnBrk="0" fontAlgn="base" hangingPunct="0">
              <a:spcBef>
                <a:spcPct val="0"/>
              </a:spcBef>
              <a:spcAft>
                <a:spcPct val="0"/>
              </a:spcAft>
              <a:defRPr>
                <a:solidFill>
                  <a:schemeClr val="tx1"/>
                </a:solidFill>
                <a:latin typeface="Arial" pitchFamily="34" charset="0"/>
              </a:defRPr>
            </a:lvl9pPr>
          </a:lstStyle>
          <a:p>
            <a:pPr eaLnBrk="1" hangingPunct="1"/>
            <a:fld id="{1A86CBDA-2D38-4FEF-9AE6-B75BF6C6E58F}" type="slidenum">
              <a:rPr lang="en-US" altLang="en-US">
                <a:solidFill>
                  <a:srgbClr val="898989"/>
                </a:solidFill>
              </a:rPr>
              <a:pPr eaLnBrk="1" hangingPunct="1"/>
              <a:t>1</a:t>
            </a:fld>
            <a:endParaRPr lang="en-US" altLang="en-US">
              <a:solidFill>
                <a:srgbClr val="898989"/>
              </a:solidFill>
            </a:endParaRPr>
          </a:p>
        </p:txBody>
      </p:sp>
      <p:sp>
        <p:nvSpPr>
          <p:cNvPr id="6" name="Title 5"/>
          <p:cNvSpPr>
            <a:spLocks noGrp="1"/>
          </p:cNvSpPr>
          <p:nvPr>
            <p:ph type="ctrTitle"/>
          </p:nvPr>
        </p:nvSpPr>
        <p:spPr>
          <a:xfrm>
            <a:off x="1257300" y="2686057"/>
            <a:ext cx="6686550" cy="1314449"/>
          </a:xfrm>
          <a:ln>
            <a:miter lim="800000"/>
            <a:headEnd/>
            <a:tailEnd/>
          </a:ln>
          <a:extLst/>
        </p:spPr>
        <p:txBody>
          <a:bodyPr rtlCol="0">
            <a:normAutofit fontScale="90000"/>
            <a:scene3d>
              <a:camera prst="orthographicFront"/>
              <a:lightRig rig="flat" dir="tl">
                <a:rot lat="0" lon="0" rev="6600000"/>
              </a:lightRig>
            </a:scene3d>
            <a:sp3d extrusionH="25400" contourW="8890">
              <a:bevelT w="38100" h="31750"/>
              <a:contourClr>
                <a:schemeClr val="accent2">
                  <a:shade val="75000"/>
                </a:schemeClr>
              </a:contourClr>
            </a:sp3d>
          </a:bodyPr>
          <a:lstStyle/>
          <a:p>
            <a:pPr eaLnBrk="1" fontAlgn="auto" hangingPunct="1">
              <a:spcAft>
                <a:spcPts val="0"/>
              </a:spcAft>
              <a:defRPr/>
            </a:pPr>
            <a:r>
              <a:rPr lang="en-US" err="1" smtClean="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reflection blurRad="6350" stA="55000" endA="300" endPos="45500" dir="5400000" sy="-100000" algn="bl" rotWithShape="0"/>
                </a:effectLst>
              </a:rPr>
              <a:t>Chương</a:t>
            </a:r>
            <a:r>
              <a:rPr lang="en-US" smtClean="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reflection blurRad="6350" stA="55000" endA="300" endPos="45500" dir="5400000" sy="-100000" algn="bl" rotWithShape="0"/>
                </a:effectLst>
              </a:rPr>
              <a:t> 1</a:t>
            </a:r>
            <a:br>
              <a:rPr lang="en-US" smtClean="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reflection blurRad="6350" stA="55000" endA="300" endPos="45500" dir="5400000" sy="-100000" algn="bl" rotWithShape="0"/>
                </a:effectLst>
              </a:rPr>
            </a:br>
            <a:r>
              <a:rPr lang="en-US" smtClean="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reflection blurRad="6350" stA="55000" endA="300" endPos="45500" dir="5400000" sy="-100000" algn="bl" rotWithShape="0"/>
                </a:effectLst>
              </a:rPr>
              <a:t>Căn bản về Ngôn ngữ lập trình Java</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8202" y="971550"/>
            <a:ext cx="6738505" cy="857250"/>
          </a:xfrm>
        </p:spPr>
        <p:txBody>
          <a:bodyPr/>
          <a:lstStyle/>
          <a:p>
            <a:r>
              <a:rPr lang="en-US" sz="2250"/>
              <a:t>The top 10 programming languages of TIOBE</a:t>
            </a:r>
          </a:p>
        </p:txBody>
      </p:sp>
      <p:sp>
        <p:nvSpPr>
          <p:cNvPr id="4" name="Slide Number Placeholder 3"/>
          <p:cNvSpPr>
            <a:spLocks noGrp="1"/>
          </p:cNvSpPr>
          <p:nvPr>
            <p:ph type="sldNum" sz="quarter" idx="12"/>
          </p:nvPr>
        </p:nvSpPr>
        <p:spPr/>
        <p:txBody>
          <a:bodyPr/>
          <a:lstStyle/>
          <a:p>
            <a:fld id="{E3E8E051-591C-4566-9813-B4BB16D377BD}" type="slidenum">
              <a:rPr lang="en-US" smtClean="0"/>
              <a:pPr/>
              <a:t>2</a:t>
            </a:fld>
            <a:endParaRPr lang="en-US"/>
          </a:p>
        </p:txBody>
      </p:sp>
      <p:pic>
        <p:nvPicPr>
          <p:cNvPr id="6" name="Picture 5"/>
          <p:cNvPicPr>
            <a:picLocks noChangeAspect="1"/>
          </p:cNvPicPr>
          <p:nvPr/>
        </p:nvPicPr>
        <p:blipFill>
          <a:blip r:embed="rId2"/>
          <a:stretch>
            <a:fillRect/>
          </a:stretch>
        </p:blipFill>
        <p:spPr>
          <a:xfrm>
            <a:off x="1148202" y="1943107"/>
            <a:ext cx="6749935" cy="2948327"/>
          </a:xfrm>
          <a:prstGeom prst="rect">
            <a:avLst/>
          </a:prstGeom>
        </p:spPr>
      </p:pic>
    </p:spTree>
    <p:extLst>
      <p:ext uri="{BB962C8B-B14F-4D97-AF65-F5344CB8AC3E}">
        <p14:creationId xmlns:p14="http://schemas.microsoft.com/office/powerpoint/2010/main" val="4984452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8202" y="971550"/>
            <a:ext cx="6738505" cy="857250"/>
          </a:xfrm>
        </p:spPr>
        <p:txBody>
          <a:bodyPr/>
          <a:lstStyle/>
          <a:p>
            <a:r>
              <a:rPr lang="en-US" sz="2400" b="0">
                <a:effectLst/>
              </a:rPr>
              <a:t>The PYPL PopularitY of Programming Language Index</a:t>
            </a:r>
            <a:endParaRPr lang="en-US" sz="2100"/>
          </a:p>
        </p:txBody>
      </p:sp>
      <p:sp>
        <p:nvSpPr>
          <p:cNvPr id="4" name="Slide Number Placeholder 3"/>
          <p:cNvSpPr>
            <a:spLocks noGrp="1"/>
          </p:cNvSpPr>
          <p:nvPr>
            <p:ph type="sldNum" sz="quarter" idx="12"/>
          </p:nvPr>
        </p:nvSpPr>
        <p:spPr/>
        <p:txBody>
          <a:bodyPr/>
          <a:lstStyle/>
          <a:p>
            <a:fld id="{E3E8E051-591C-4566-9813-B4BB16D377BD}" type="slidenum">
              <a:rPr lang="en-US" smtClean="0"/>
              <a:pPr/>
              <a:t>3</a:t>
            </a:fld>
            <a:endParaRPr lang="en-US"/>
          </a:p>
        </p:txBody>
      </p:sp>
      <p:pic>
        <p:nvPicPr>
          <p:cNvPr id="3" name="Picture 2"/>
          <p:cNvPicPr>
            <a:picLocks noChangeAspect="1"/>
          </p:cNvPicPr>
          <p:nvPr/>
        </p:nvPicPr>
        <p:blipFill>
          <a:blip r:embed="rId2"/>
          <a:stretch>
            <a:fillRect/>
          </a:stretch>
        </p:blipFill>
        <p:spPr>
          <a:xfrm>
            <a:off x="2343153" y="1910120"/>
            <a:ext cx="3912178" cy="3851321"/>
          </a:xfrm>
          <a:prstGeom prst="rect">
            <a:avLst/>
          </a:prstGeom>
        </p:spPr>
      </p:pic>
    </p:spTree>
    <p:extLst>
      <p:ext uri="{BB962C8B-B14F-4D97-AF65-F5344CB8AC3E}">
        <p14:creationId xmlns:p14="http://schemas.microsoft.com/office/powerpoint/2010/main" val="15568759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Nội</a:t>
            </a:r>
            <a:r>
              <a:rPr lang="en-US" smtClean="0"/>
              <a:t> dung</a:t>
            </a:r>
            <a:endParaRPr lang="en-US"/>
          </a:p>
        </p:txBody>
      </p:sp>
      <p:sp>
        <p:nvSpPr>
          <p:cNvPr id="3" name="Content Placeholder 2"/>
          <p:cNvSpPr>
            <a:spLocks noGrp="1"/>
          </p:cNvSpPr>
          <p:nvPr>
            <p:ph idx="1"/>
          </p:nvPr>
        </p:nvSpPr>
        <p:spPr/>
        <p:txBody>
          <a:bodyPr/>
          <a:lstStyle/>
          <a:p>
            <a:pPr marL="385763" indent="-385763">
              <a:spcAft>
                <a:spcPts val="450"/>
              </a:spcAft>
              <a:buFont typeface="+mj-lt"/>
              <a:buAutoNum type="arabicPeriod"/>
            </a:pPr>
            <a:r>
              <a:rPr lang="en-US" smtClean="0"/>
              <a:t>Tổng quan về NNLT Java</a:t>
            </a:r>
          </a:p>
          <a:p>
            <a:pPr marL="385763" indent="-385763">
              <a:spcAft>
                <a:spcPts val="450"/>
              </a:spcAft>
              <a:buFont typeface="+mj-lt"/>
              <a:buAutoNum type="arabicPeriod"/>
            </a:pPr>
            <a:r>
              <a:rPr lang="en-US" smtClean="0"/>
              <a:t>Các thành phần cơ bản của NNLT Java</a:t>
            </a:r>
          </a:p>
          <a:p>
            <a:pPr marL="385763" indent="-385763">
              <a:spcAft>
                <a:spcPts val="450"/>
              </a:spcAft>
              <a:buFont typeface="+mj-lt"/>
              <a:buAutoNum type="arabicPeriod"/>
            </a:pPr>
            <a:r>
              <a:rPr lang="en-US" smtClean="0"/>
              <a:t>Các cấu trúc điều khiển</a:t>
            </a:r>
          </a:p>
          <a:p>
            <a:pPr marL="385763" indent="-385763">
              <a:spcAft>
                <a:spcPts val="450"/>
              </a:spcAft>
              <a:buFont typeface="+mj-lt"/>
              <a:buAutoNum type="arabicPeriod"/>
            </a:pPr>
            <a:r>
              <a:rPr lang="en-US" smtClean="0"/>
              <a:t>Mảng và chuỗi</a:t>
            </a:r>
          </a:p>
          <a:p>
            <a:pPr marL="385763" indent="-385763">
              <a:spcAft>
                <a:spcPts val="450"/>
              </a:spcAft>
              <a:buFont typeface="+mj-lt"/>
              <a:buAutoNum type="arabicPeriod"/>
            </a:pPr>
            <a:r>
              <a:rPr lang="en-US"/>
              <a:t>Nhập xuất dữ liệu đơn giản</a:t>
            </a:r>
          </a:p>
          <a:p>
            <a:pPr marL="385763" indent="-385763">
              <a:spcAft>
                <a:spcPts val="450"/>
              </a:spcAft>
              <a:buFont typeface="+mj-lt"/>
              <a:buAutoNum type="arabicPeriod"/>
            </a:pPr>
            <a:r>
              <a:rPr lang="en-US" smtClean="0"/>
              <a:t>Ngoại lệ (Exception) và xử lý ngoại lệ</a:t>
            </a:r>
          </a:p>
          <a:p>
            <a:pPr marL="385763" indent="-385763">
              <a:spcAft>
                <a:spcPts val="450"/>
              </a:spcAft>
              <a:buFont typeface="+mj-lt"/>
              <a:buAutoNum type="arabicPeriod"/>
            </a:pPr>
            <a:r>
              <a:rPr lang="en-US" smtClean="0"/>
              <a:t>Lập trình hướng đối tượng trong Java</a:t>
            </a:r>
            <a:endParaRPr lang="en-US"/>
          </a:p>
        </p:txBody>
      </p:sp>
      <p:sp>
        <p:nvSpPr>
          <p:cNvPr id="4" name="Slide Number Placeholder 3"/>
          <p:cNvSpPr>
            <a:spLocks noGrp="1"/>
          </p:cNvSpPr>
          <p:nvPr>
            <p:ph type="sldNum" sz="quarter" idx="12"/>
          </p:nvPr>
        </p:nvSpPr>
        <p:spPr/>
        <p:txBody>
          <a:bodyPr/>
          <a:lstStyle/>
          <a:p>
            <a:fld id="{04E14541-87DE-422E-93EA-11027DDA40BD}" type="slidenum">
              <a:rPr lang="en-US" altLang="en-US" smtClean="0"/>
              <a:pPr/>
              <a:t>4</a:t>
            </a:fld>
            <a:endParaRPr lang="en-US" altLang="en-US"/>
          </a:p>
        </p:txBody>
      </p:sp>
    </p:spTree>
    <p:extLst>
      <p:ext uri="{BB962C8B-B14F-4D97-AF65-F5344CB8AC3E}">
        <p14:creationId xmlns:p14="http://schemas.microsoft.com/office/powerpoint/2010/main" val="24974430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 Tổng quan về NNLT Java</a:t>
            </a:r>
            <a:endParaRPr lang="en-US"/>
          </a:p>
        </p:txBody>
      </p:sp>
      <p:sp>
        <p:nvSpPr>
          <p:cNvPr id="3" name="Content Placeholder 2"/>
          <p:cNvSpPr>
            <a:spLocks noGrp="1"/>
          </p:cNvSpPr>
          <p:nvPr>
            <p:ph idx="1"/>
          </p:nvPr>
        </p:nvSpPr>
        <p:spPr/>
        <p:txBody>
          <a:bodyPr/>
          <a:lstStyle/>
          <a:p>
            <a:pPr marL="0" indent="0">
              <a:spcAft>
                <a:spcPts val="450"/>
              </a:spcAft>
              <a:buNone/>
            </a:pPr>
            <a:r>
              <a:rPr lang="en-US" smtClean="0"/>
              <a:t>1.1. Lịch sử phát triển</a:t>
            </a:r>
          </a:p>
          <a:p>
            <a:pPr marL="0" indent="0">
              <a:spcAft>
                <a:spcPts val="450"/>
              </a:spcAft>
              <a:buNone/>
            </a:pPr>
            <a:r>
              <a:rPr lang="en-US" smtClean="0"/>
              <a:t>1.2. Đặc điểm</a:t>
            </a:r>
          </a:p>
          <a:p>
            <a:pPr marL="0" indent="0">
              <a:spcAft>
                <a:spcPts val="450"/>
              </a:spcAft>
              <a:buNone/>
            </a:pPr>
            <a:r>
              <a:rPr lang="en-US" smtClean="0"/>
              <a:t>1.3. Các công nghệ Java</a:t>
            </a:r>
          </a:p>
          <a:p>
            <a:pPr marL="0" indent="0">
              <a:spcAft>
                <a:spcPts val="450"/>
              </a:spcAft>
              <a:buNone/>
            </a:pPr>
            <a:r>
              <a:rPr lang="en-US" smtClean="0"/>
              <a:t>1.4. Môi trường lập trình Java</a:t>
            </a:r>
          </a:p>
          <a:p>
            <a:pPr marL="0" indent="0">
              <a:spcAft>
                <a:spcPts val="450"/>
              </a:spcAft>
              <a:buNone/>
            </a:pPr>
            <a:r>
              <a:rPr lang="en-US" smtClean="0"/>
              <a:t>1.5. Chương </a:t>
            </a:r>
            <a:r>
              <a:rPr lang="en-US"/>
              <a:t>trình Java đơn giản</a:t>
            </a:r>
          </a:p>
          <a:p>
            <a:pPr marL="0" indent="0">
              <a:spcAft>
                <a:spcPts val="450"/>
              </a:spcAft>
              <a:buNone/>
            </a:pPr>
            <a:r>
              <a:rPr lang="en-US" smtClean="0"/>
              <a:t>1.6. Quá trình phát triển một chương trình Java</a:t>
            </a:r>
          </a:p>
          <a:p>
            <a:pPr marL="0" indent="0">
              <a:spcAft>
                <a:spcPts val="450"/>
              </a:spcAft>
              <a:buNone/>
            </a:pPr>
            <a:r>
              <a:rPr lang="en-US" smtClean="0"/>
              <a:t>1.7. IDE hỗ trợ lập trình Java</a:t>
            </a:r>
          </a:p>
          <a:p>
            <a:pPr marL="385763" indent="-385763">
              <a:spcAft>
                <a:spcPts val="450"/>
              </a:spcAft>
              <a:buFont typeface="+mj-lt"/>
              <a:buAutoNum type="arabicPeriod"/>
            </a:pPr>
            <a:endParaRPr lang="en-US"/>
          </a:p>
        </p:txBody>
      </p:sp>
      <p:sp>
        <p:nvSpPr>
          <p:cNvPr id="4" name="Slide Number Placeholder 3"/>
          <p:cNvSpPr>
            <a:spLocks noGrp="1"/>
          </p:cNvSpPr>
          <p:nvPr>
            <p:ph type="sldNum" sz="quarter" idx="12"/>
          </p:nvPr>
        </p:nvSpPr>
        <p:spPr/>
        <p:txBody>
          <a:bodyPr/>
          <a:lstStyle/>
          <a:p>
            <a:fld id="{04E14541-87DE-422E-93EA-11027DDA40BD}" type="slidenum">
              <a:rPr lang="en-US" altLang="en-US" smtClean="0"/>
              <a:pPr/>
              <a:t>5</a:t>
            </a:fld>
            <a:endParaRPr lang="en-US" altLang="en-US"/>
          </a:p>
        </p:txBody>
      </p:sp>
    </p:spTree>
    <p:extLst>
      <p:ext uri="{BB962C8B-B14F-4D97-AF65-F5344CB8AC3E}">
        <p14:creationId xmlns:p14="http://schemas.microsoft.com/office/powerpoint/2010/main" val="39184798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1.1. Lịch sử phát triển</a:t>
            </a:r>
            <a:endParaRPr lang="en-US"/>
          </a:p>
        </p:txBody>
      </p:sp>
      <p:sp>
        <p:nvSpPr>
          <p:cNvPr id="3" name="Content Placeholder 2"/>
          <p:cNvSpPr>
            <a:spLocks noGrp="1"/>
          </p:cNvSpPr>
          <p:nvPr>
            <p:ph idx="1"/>
          </p:nvPr>
        </p:nvSpPr>
        <p:spPr/>
        <p:txBody>
          <a:bodyPr>
            <a:normAutofit/>
          </a:bodyPr>
          <a:lstStyle/>
          <a:p>
            <a:pPr latinLnBrk="0"/>
            <a:r>
              <a:rPr lang="en-US"/>
              <a:t>Lịch sử của Java bắt đầu từ tháng 4/1991, khi một nhóm những nhà lập trình của hãng Sun Microsystems được chuyển đến đại lộ Sand Hill để thực hiện đề án với tên gọi là </a:t>
            </a:r>
            <a:r>
              <a:rPr lang="en-US" smtClean="0"/>
              <a:t>Green.</a:t>
            </a:r>
          </a:p>
          <a:p>
            <a:pPr latinLnBrk="0"/>
            <a:r>
              <a:rPr lang="en-US" smtClean="0"/>
              <a:t>Đề </a:t>
            </a:r>
            <a:r>
              <a:rPr lang="en-US"/>
              <a:t>án này nhằm đưa các kỹ thuật tin học </a:t>
            </a:r>
            <a:r>
              <a:rPr lang="en-US" smtClean="0"/>
              <a:t>vào </a:t>
            </a:r>
            <a:r>
              <a:rPr lang="en-US"/>
              <a:t>những thiết bị điện tử thương mại như một cuộc đột phá về kỹ thuật, qua đó duy trì tốc độ phát triển cũng như lợi </a:t>
            </a:r>
            <a:r>
              <a:rPr lang="en-US" smtClean="0"/>
              <a:t>nhuận.</a:t>
            </a:r>
          </a:p>
          <a:p>
            <a:pPr latinLnBrk="0"/>
            <a:r>
              <a:rPr lang="en-US" smtClean="0"/>
              <a:t>Lãnh </a:t>
            </a:r>
            <a:r>
              <a:rPr lang="en-US"/>
              <a:t>đạo đề án Green là James Gosling quyết định cần phải có một ngôn ngữ lập trình mới thỏa tính uyển chuyển (portability).</a:t>
            </a:r>
          </a:p>
          <a:p>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6</a:t>
            </a:fld>
            <a:endParaRPr lang="en-US"/>
          </a:p>
        </p:txBody>
      </p:sp>
    </p:spTree>
    <p:extLst>
      <p:ext uri="{BB962C8B-B14F-4D97-AF65-F5344CB8AC3E}">
        <p14:creationId xmlns:p14="http://schemas.microsoft.com/office/powerpoint/2010/main" val="33827136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1.1. Lịch sử phát triển</a:t>
            </a:r>
            <a:endParaRPr lang="en-US"/>
          </a:p>
        </p:txBody>
      </p:sp>
      <p:sp>
        <p:nvSpPr>
          <p:cNvPr id="3" name="Content Placeholder 2"/>
          <p:cNvSpPr>
            <a:spLocks noGrp="1"/>
          </p:cNvSpPr>
          <p:nvPr>
            <p:ph idx="1"/>
          </p:nvPr>
        </p:nvSpPr>
        <p:spPr/>
        <p:txBody>
          <a:bodyPr>
            <a:normAutofit/>
          </a:bodyPr>
          <a:lstStyle/>
          <a:p>
            <a:pPr latinLnBrk="0"/>
            <a:r>
              <a:rPr lang="en-US"/>
              <a:t>Tính uyển chuyển phải thỏa mãn không những về phía mã nguồn chương trình mà còn cả với bộ xử lý</a:t>
            </a:r>
            <a:r>
              <a:rPr lang="en-US" smtClean="0"/>
              <a:t>.</a:t>
            </a:r>
          </a:p>
          <a:p>
            <a:pPr latinLnBrk="0"/>
            <a:r>
              <a:rPr lang="en-US"/>
              <a:t>Ngôn ngữ C++ tỏ ra khá uyển chuyển nhưng vẫn chưa đáp ứng được yêu cầu. Nếu sử dụng ngôn ngữ C++ thì khi gặp một bộ xử lý mới cần phải thay đổi chương trình dịch, rồi biên dịch lại chương trình</a:t>
            </a:r>
            <a:r>
              <a:rPr lang="en-US" smtClean="0"/>
              <a:t>.</a:t>
            </a:r>
          </a:p>
          <a:p>
            <a:pPr latinLnBrk="0"/>
            <a:r>
              <a:rPr lang="en-US"/>
              <a:t>Tháng 8/1991, J.Gosling thiết kế ngôn ngữ mới và đặt tên là Oak (cây sồi).</a:t>
            </a:r>
          </a:p>
        </p:txBody>
      </p:sp>
      <p:sp>
        <p:nvSpPr>
          <p:cNvPr id="4" name="Slide Number Placeholder 3"/>
          <p:cNvSpPr>
            <a:spLocks noGrp="1"/>
          </p:cNvSpPr>
          <p:nvPr>
            <p:ph type="sldNum" sz="quarter" idx="12"/>
          </p:nvPr>
        </p:nvSpPr>
        <p:spPr/>
        <p:txBody>
          <a:bodyPr/>
          <a:lstStyle/>
          <a:p>
            <a:fld id="{E3E8E051-591C-4566-9813-B4BB16D377BD}" type="slidenum">
              <a:rPr lang="en-US" smtClean="0"/>
              <a:pPr/>
              <a:t>7</a:t>
            </a:fld>
            <a:endParaRPr lang="en-US"/>
          </a:p>
        </p:txBody>
      </p:sp>
    </p:spTree>
    <p:extLst>
      <p:ext uri="{BB962C8B-B14F-4D97-AF65-F5344CB8AC3E}">
        <p14:creationId xmlns:p14="http://schemas.microsoft.com/office/powerpoint/2010/main" val="3426273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1.1. Lịch sử phát triển</a:t>
            </a:r>
            <a:endParaRPr lang="en-US"/>
          </a:p>
        </p:txBody>
      </p:sp>
      <p:sp>
        <p:nvSpPr>
          <p:cNvPr id="3" name="Content Placeholder 2"/>
          <p:cNvSpPr>
            <a:spLocks noGrp="1"/>
          </p:cNvSpPr>
          <p:nvPr>
            <p:ph idx="1"/>
          </p:nvPr>
        </p:nvSpPr>
        <p:spPr/>
        <p:txBody>
          <a:bodyPr>
            <a:normAutofit/>
          </a:bodyPr>
          <a:lstStyle/>
          <a:p>
            <a:pPr latinLnBrk="0"/>
            <a:r>
              <a:rPr lang="en-US" smtClean="0"/>
              <a:t>Tháng </a:t>
            </a:r>
            <a:r>
              <a:rPr lang="en-US"/>
              <a:t>01/1995, Oak được đổi tên thành Java, tên một xứ sở ở Indonesia có giống cà phê nỗi tiếng mà những người trong Green Team thường hay uống. Hơn nữa, Oak cũng trùng với tên một sản phẩm thương mại đã đăng </a:t>
            </a:r>
            <a:r>
              <a:rPr lang="en-US" smtClean="0"/>
              <a:t>ký.</a:t>
            </a:r>
          </a:p>
          <a:p>
            <a:pPr latinLnBrk="0"/>
            <a:r>
              <a:rPr lang="en-US" smtClean="0"/>
              <a:t>Ngày </a:t>
            </a:r>
            <a:r>
              <a:rPr lang="en-US">
                <a:solidFill>
                  <a:srgbClr val="FF0000"/>
                </a:solidFill>
              </a:rPr>
              <a:t>23/05/1995</a:t>
            </a:r>
            <a:r>
              <a:rPr lang="en-US"/>
              <a:t>, Java được công bố chính thức ở Sun Word’95.</a:t>
            </a:r>
          </a:p>
        </p:txBody>
      </p:sp>
      <p:sp>
        <p:nvSpPr>
          <p:cNvPr id="4" name="Slide Number Placeholder 3"/>
          <p:cNvSpPr>
            <a:spLocks noGrp="1"/>
          </p:cNvSpPr>
          <p:nvPr>
            <p:ph type="sldNum" sz="quarter" idx="12"/>
          </p:nvPr>
        </p:nvSpPr>
        <p:spPr/>
        <p:txBody>
          <a:bodyPr/>
          <a:lstStyle/>
          <a:p>
            <a:fld id="{E3E8E051-591C-4566-9813-B4BB16D377BD}" type="slidenum">
              <a:rPr lang="en-US" smtClean="0"/>
              <a:pPr/>
              <a:t>8</a:t>
            </a:fld>
            <a:endParaRPr lang="en-US"/>
          </a:p>
        </p:txBody>
      </p:sp>
    </p:spTree>
    <p:extLst>
      <p:ext uri="{BB962C8B-B14F-4D97-AF65-F5344CB8AC3E}">
        <p14:creationId xmlns:p14="http://schemas.microsoft.com/office/powerpoint/2010/main" val="2649564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1.2. Đặc điểm</a:t>
            </a:r>
            <a:endParaRPr lang="en-US"/>
          </a:p>
        </p:txBody>
      </p:sp>
      <p:sp>
        <p:nvSpPr>
          <p:cNvPr id="3" name="Content Placeholder 2"/>
          <p:cNvSpPr>
            <a:spLocks noGrp="1"/>
          </p:cNvSpPr>
          <p:nvPr>
            <p:ph idx="1"/>
          </p:nvPr>
        </p:nvSpPr>
        <p:spPr>
          <a:xfrm>
            <a:off x="1376799" y="2453472"/>
            <a:ext cx="6400731" cy="3028951"/>
          </a:xfrm>
        </p:spPr>
        <p:txBody>
          <a:bodyPr numCol="2"/>
          <a:lstStyle/>
          <a:p>
            <a:pPr marL="385763" indent="-385763">
              <a:buFont typeface="+mj-lt"/>
              <a:buAutoNum type="arabicParenR"/>
            </a:pPr>
            <a:r>
              <a:rPr lang="en-US" sz="2400"/>
              <a:t>Simple</a:t>
            </a:r>
          </a:p>
          <a:p>
            <a:pPr marL="385763" indent="-385763">
              <a:buFont typeface="+mj-lt"/>
              <a:buAutoNum type="arabicParenR"/>
            </a:pPr>
            <a:r>
              <a:rPr lang="en-US" sz="2400"/>
              <a:t>Object-Oriented</a:t>
            </a:r>
          </a:p>
          <a:p>
            <a:pPr marL="385763" indent="-385763">
              <a:buFont typeface="+mj-lt"/>
              <a:buAutoNum type="arabicParenR"/>
            </a:pPr>
            <a:r>
              <a:rPr lang="en-US" sz="2400"/>
              <a:t>Distributed</a:t>
            </a:r>
          </a:p>
          <a:p>
            <a:pPr marL="385763" indent="-385763">
              <a:buFont typeface="+mj-lt"/>
              <a:buAutoNum type="arabicParenR"/>
            </a:pPr>
            <a:r>
              <a:rPr lang="en-US" sz="2400"/>
              <a:t>Robust</a:t>
            </a:r>
          </a:p>
          <a:p>
            <a:pPr marL="385763" indent="-385763">
              <a:buFont typeface="+mj-lt"/>
              <a:buAutoNum type="arabicParenR"/>
            </a:pPr>
            <a:r>
              <a:rPr lang="en-US" sz="2400"/>
              <a:t>Secure</a:t>
            </a:r>
          </a:p>
          <a:p>
            <a:pPr marL="385763" indent="-385763">
              <a:buFont typeface="+mj-lt"/>
              <a:buAutoNum type="arabicParenR"/>
            </a:pPr>
            <a:r>
              <a:rPr lang="en-US" sz="2400"/>
              <a:t>Architecture-Neutral</a:t>
            </a:r>
          </a:p>
          <a:p>
            <a:pPr marL="385763" indent="-385763">
              <a:buFont typeface="+mj-lt"/>
              <a:buAutoNum type="arabicParenR"/>
            </a:pPr>
            <a:r>
              <a:rPr lang="en-US" sz="2400"/>
              <a:t>Portable</a:t>
            </a:r>
          </a:p>
          <a:p>
            <a:pPr marL="385763" indent="-385763">
              <a:buFont typeface="+mj-lt"/>
              <a:buAutoNum type="arabicParenR"/>
            </a:pPr>
            <a:r>
              <a:rPr lang="en-US" sz="2400"/>
              <a:t>Interpreted</a:t>
            </a:r>
          </a:p>
          <a:p>
            <a:pPr marL="385763" indent="-385763">
              <a:buFont typeface="+mj-lt"/>
              <a:buAutoNum type="arabicParenR"/>
            </a:pPr>
            <a:r>
              <a:rPr lang="en-US" sz="2400"/>
              <a:t>Hight-Performance</a:t>
            </a:r>
          </a:p>
          <a:p>
            <a:pPr marL="385763" indent="-385763">
              <a:buFont typeface="+mj-lt"/>
              <a:buAutoNum type="arabicParenR"/>
            </a:pPr>
            <a:r>
              <a:rPr lang="en-US" sz="2400"/>
              <a:t>Multithreaded</a:t>
            </a:r>
          </a:p>
          <a:p>
            <a:pPr marL="385763" indent="-385763">
              <a:buFont typeface="+mj-lt"/>
              <a:buAutoNum type="arabicParenR"/>
            </a:pPr>
            <a:r>
              <a:rPr lang="en-US" sz="2400"/>
              <a:t>Dynamic</a:t>
            </a:r>
            <a:endParaRPr lang="en-US" sz="2400"/>
          </a:p>
        </p:txBody>
      </p:sp>
      <p:sp>
        <p:nvSpPr>
          <p:cNvPr id="4" name="Slide Number Placeholder 3"/>
          <p:cNvSpPr>
            <a:spLocks noGrp="1"/>
          </p:cNvSpPr>
          <p:nvPr>
            <p:ph type="sldNum" sz="quarter" idx="12"/>
          </p:nvPr>
        </p:nvSpPr>
        <p:spPr/>
        <p:txBody>
          <a:bodyPr/>
          <a:lstStyle/>
          <a:p>
            <a:fld id="{E3E8E051-591C-4566-9813-B4BB16D377BD}" type="slidenum">
              <a:rPr lang="en-US" smtClean="0"/>
              <a:pPr/>
              <a:t>9</a:t>
            </a:fld>
            <a:endParaRPr lang="en-US"/>
          </a:p>
        </p:txBody>
      </p:sp>
      <p:sp>
        <p:nvSpPr>
          <p:cNvPr id="6" name="Content Placeholder 2"/>
          <p:cNvSpPr txBox="1">
            <a:spLocks/>
          </p:cNvSpPr>
          <p:nvPr/>
        </p:nvSpPr>
        <p:spPr bwMode="auto">
          <a:xfrm>
            <a:off x="1371604" y="1885958"/>
            <a:ext cx="6400731" cy="54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normAutofit/>
          </a:bodyPr>
          <a:lstStyle>
            <a:lvl1pPr marL="342900" indent="-342900" algn="just" rtl="0" eaLnBrk="0" fontAlgn="base" hangingPunct="0">
              <a:spcBef>
                <a:spcPct val="20000"/>
              </a:spcBef>
              <a:spcAft>
                <a:spcPct val="0"/>
              </a:spcAft>
              <a:buFont typeface="Wingdings" pitchFamily="2" charset="2"/>
              <a:buChar char="Ø"/>
              <a:defRPr sz="3000" kern="1200">
                <a:solidFill>
                  <a:schemeClr val="tx1"/>
                </a:solidFill>
                <a:latin typeface="Tahoma" pitchFamily="34" charset="0"/>
                <a:ea typeface="Tahoma" pitchFamily="34" charset="0"/>
                <a:cs typeface="Tahoma" pitchFamily="34" charset="0"/>
              </a:defRPr>
            </a:lvl1pPr>
            <a:lvl2pPr marL="742950" indent="-285750" algn="just" rtl="0" eaLnBrk="0" fontAlgn="base" hangingPunct="0">
              <a:spcBef>
                <a:spcPct val="20000"/>
              </a:spcBef>
              <a:spcAft>
                <a:spcPct val="0"/>
              </a:spcAft>
              <a:buFont typeface="Arial" pitchFamily="34" charset="0"/>
              <a:buChar char="–"/>
              <a:defRPr sz="2800" kern="1200">
                <a:solidFill>
                  <a:schemeClr val="tx1"/>
                </a:solidFill>
                <a:latin typeface="Tahoma" pitchFamily="34" charset="0"/>
                <a:ea typeface="Tahoma" pitchFamily="34" charset="0"/>
                <a:cs typeface="Tahoma" pitchFamily="34" charset="0"/>
              </a:defRPr>
            </a:lvl2pPr>
            <a:lvl3pPr marL="1143000" indent="-228600" algn="just" rtl="0" eaLnBrk="0" fontAlgn="base" hangingPunct="0">
              <a:spcBef>
                <a:spcPct val="20000"/>
              </a:spcBef>
              <a:spcAft>
                <a:spcPct val="0"/>
              </a:spcAft>
              <a:buFont typeface="Arial" pitchFamily="34" charset="0"/>
              <a:buChar char="•"/>
              <a:defRPr sz="2400" kern="1200">
                <a:solidFill>
                  <a:schemeClr val="tx1"/>
                </a:solidFill>
                <a:latin typeface="Tahoma" pitchFamily="34" charset="0"/>
                <a:ea typeface="Tahoma" pitchFamily="34" charset="0"/>
                <a:cs typeface="Tahoma" pitchFamily="34"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Tahoma" pitchFamily="34" charset="0"/>
                <a:ea typeface="Tahoma" pitchFamily="34" charset="0"/>
                <a:cs typeface="Tahoma" pitchFamily="34"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Tahoma" pitchFamily="34" charset="0"/>
                <a:ea typeface="Tahoma" pitchFamily="34" charset="0"/>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a:solidFill>
                  <a:srgbClr val="FF0000"/>
                </a:solidFill>
              </a:rPr>
              <a:t>The Java “White Paper” Buzzwords</a:t>
            </a:r>
          </a:p>
        </p:txBody>
      </p:sp>
    </p:spTree>
    <p:extLst>
      <p:ext uri="{BB962C8B-B14F-4D97-AF65-F5344CB8AC3E}">
        <p14:creationId xmlns:p14="http://schemas.microsoft.com/office/powerpoint/2010/main" val="1790999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1.2. Đặc điểm</a:t>
            </a:r>
            <a:endParaRPr lang="en-US"/>
          </a:p>
        </p:txBody>
      </p:sp>
      <p:sp>
        <p:nvSpPr>
          <p:cNvPr id="3" name="Content Placeholder 2"/>
          <p:cNvSpPr>
            <a:spLocks noGrp="1"/>
          </p:cNvSpPr>
          <p:nvPr>
            <p:ph idx="1"/>
          </p:nvPr>
        </p:nvSpPr>
        <p:spPr/>
        <p:txBody>
          <a:bodyPr/>
          <a:lstStyle/>
          <a:p>
            <a:pPr>
              <a:spcAft>
                <a:spcPts val="450"/>
              </a:spcAft>
            </a:pPr>
            <a:r>
              <a:rPr lang="en-US" smtClean="0"/>
              <a:t>Máy ảo Java (Java Virtual Machine)</a:t>
            </a:r>
          </a:p>
          <a:p>
            <a:pPr>
              <a:spcAft>
                <a:spcPts val="450"/>
              </a:spcAft>
            </a:pPr>
            <a:r>
              <a:rPr lang="en-US" smtClean="0"/>
              <a:t>Vừa biên dịch và thông dịch</a:t>
            </a:r>
          </a:p>
          <a:p>
            <a:pPr>
              <a:spcAft>
                <a:spcPts val="450"/>
              </a:spcAft>
            </a:pPr>
            <a:r>
              <a:rPr lang="en-US" smtClean="0"/>
              <a:t>Độc lập nền tảng</a:t>
            </a:r>
          </a:p>
          <a:p>
            <a:pPr>
              <a:spcAft>
                <a:spcPts val="450"/>
              </a:spcAft>
            </a:pPr>
            <a:r>
              <a:rPr lang="en-US" smtClean="0"/>
              <a:t>Hướng đối tượng</a:t>
            </a:r>
          </a:p>
          <a:p>
            <a:pPr>
              <a:spcAft>
                <a:spcPts val="450"/>
              </a:spcAft>
            </a:pPr>
            <a:r>
              <a:rPr lang="en-US" smtClean="0"/>
              <a:t>Đa luồng</a:t>
            </a:r>
          </a:p>
          <a:p>
            <a:pPr>
              <a:spcAft>
                <a:spcPts val="450"/>
              </a:spcAft>
            </a:pPr>
            <a:r>
              <a:rPr lang="en-US" smtClean="0"/>
              <a:t>Khả chuyển</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10</a:t>
            </a:fld>
            <a:endParaRPr lang="en-US"/>
          </a:p>
        </p:txBody>
      </p:sp>
    </p:spTree>
    <p:extLst>
      <p:ext uri="{BB962C8B-B14F-4D97-AF65-F5344CB8AC3E}">
        <p14:creationId xmlns:p14="http://schemas.microsoft.com/office/powerpoint/2010/main" val="1937990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1.2. Đặc điểm</a:t>
            </a:r>
            <a:endParaRPr lang="en-US"/>
          </a:p>
        </p:txBody>
      </p:sp>
      <p:sp>
        <p:nvSpPr>
          <p:cNvPr id="3" name="Content Placeholder 2"/>
          <p:cNvSpPr>
            <a:spLocks noGrp="1"/>
          </p:cNvSpPr>
          <p:nvPr>
            <p:ph idx="1"/>
          </p:nvPr>
        </p:nvSpPr>
        <p:spPr/>
        <p:txBody>
          <a:bodyPr/>
          <a:lstStyle/>
          <a:p>
            <a:r>
              <a:rPr lang="en-US" b="1" smtClean="0">
                <a:solidFill>
                  <a:srgbClr val="FF0000"/>
                </a:solidFill>
              </a:rPr>
              <a:t>Máy ảo Java (Java Virtual Machine)</a:t>
            </a:r>
          </a:p>
          <a:p>
            <a:pPr lvl="1"/>
            <a:r>
              <a:rPr lang="en-US"/>
              <a:t>Tất cả các chương trình muốn thực thi được </a:t>
            </a:r>
            <a:r>
              <a:rPr lang="en-US" smtClean="0"/>
              <a:t>phải </a:t>
            </a:r>
            <a:r>
              <a:rPr lang="en-US"/>
              <a:t>được biên dịch ra mã máy</a:t>
            </a:r>
            <a:r>
              <a:rPr lang="en-US" smtClean="0"/>
              <a:t>.</a:t>
            </a:r>
          </a:p>
          <a:p>
            <a:pPr lvl="1"/>
            <a:r>
              <a:rPr lang="en-US" smtClean="0"/>
              <a:t>Một </a:t>
            </a:r>
            <a:r>
              <a:rPr lang="en-US"/>
              <a:t>chương trình viết bằng ngôn ngữ lập trình Java sẽ được biên dịch ra mã của máy ảo Java (mã Java bytecode). Sau đó máy ảo Java </a:t>
            </a:r>
            <a:r>
              <a:rPr lang="en-US" smtClean="0"/>
              <a:t>chuyển </a:t>
            </a:r>
            <a:r>
              <a:rPr lang="en-US"/>
              <a:t>mã Java bytecode thành mã máy tương </a:t>
            </a:r>
            <a:r>
              <a:rPr lang="en-US" smtClean="0"/>
              <a:t>ứng.</a:t>
            </a:r>
          </a:p>
          <a:p>
            <a:pPr lvl="1"/>
            <a:r>
              <a:rPr lang="en-US" smtClean="0"/>
              <a:t>Sun </a:t>
            </a:r>
            <a:r>
              <a:rPr lang="en-US"/>
              <a:t>Microsystem chịu trách nhiệm phát triển các máy ảo Java chạy trên các hệ điều hành và trên các kiến trúc CPU khác nhau.</a:t>
            </a:r>
          </a:p>
          <a:p>
            <a:pPr lvl="1"/>
            <a:endParaRPr lang="en-US" smtClean="0"/>
          </a:p>
        </p:txBody>
      </p:sp>
      <p:sp>
        <p:nvSpPr>
          <p:cNvPr id="4" name="Slide Number Placeholder 3"/>
          <p:cNvSpPr>
            <a:spLocks noGrp="1"/>
          </p:cNvSpPr>
          <p:nvPr>
            <p:ph type="sldNum" sz="quarter" idx="12"/>
          </p:nvPr>
        </p:nvSpPr>
        <p:spPr/>
        <p:txBody>
          <a:bodyPr/>
          <a:lstStyle/>
          <a:p>
            <a:fld id="{E3E8E051-591C-4566-9813-B4BB16D377BD}" type="slidenum">
              <a:rPr lang="en-US" smtClean="0"/>
              <a:pPr/>
              <a:t>11</a:t>
            </a:fld>
            <a:endParaRPr lang="en-US"/>
          </a:p>
        </p:txBody>
      </p:sp>
    </p:spTree>
    <p:extLst>
      <p:ext uri="{BB962C8B-B14F-4D97-AF65-F5344CB8AC3E}">
        <p14:creationId xmlns:p14="http://schemas.microsoft.com/office/powerpoint/2010/main" val="3142283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1.2. Đặc điểm</a:t>
            </a:r>
            <a:endParaRPr lang="en-US"/>
          </a:p>
        </p:txBody>
      </p:sp>
      <p:sp>
        <p:nvSpPr>
          <p:cNvPr id="3" name="Content Placeholder 2"/>
          <p:cNvSpPr>
            <a:spLocks noGrp="1"/>
          </p:cNvSpPr>
          <p:nvPr>
            <p:ph idx="1"/>
          </p:nvPr>
        </p:nvSpPr>
        <p:spPr/>
        <p:txBody>
          <a:bodyPr>
            <a:normAutofit/>
          </a:bodyPr>
          <a:lstStyle/>
          <a:p>
            <a:r>
              <a:rPr lang="en-US" b="1" smtClean="0">
                <a:solidFill>
                  <a:srgbClr val="FF0000"/>
                </a:solidFill>
              </a:rPr>
              <a:t>Máy ảo Java (Java Virtual Machine)</a:t>
            </a:r>
          </a:p>
        </p:txBody>
      </p:sp>
      <p:sp>
        <p:nvSpPr>
          <p:cNvPr id="4" name="Slide Number Placeholder 3"/>
          <p:cNvSpPr>
            <a:spLocks noGrp="1"/>
          </p:cNvSpPr>
          <p:nvPr>
            <p:ph type="sldNum" sz="quarter" idx="12"/>
          </p:nvPr>
        </p:nvSpPr>
        <p:spPr/>
        <p:txBody>
          <a:bodyPr/>
          <a:lstStyle/>
          <a:p>
            <a:fld id="{E3E8E051-591C-4566-9813-B4BB16D377BD}" type="slidenum">
              <a:rPr lang="en-US" smtClean="0"/>
              <a:pPr/>
              <a:t>12</a:t>
            </a:fld>
            <a:endParaRPr lang="en-US"/>
          </a:p>
        </p:txBody>
      </p:sp>
      <p:pic>
        <p:nvPicPr>
          <p:cNvPr id="5" name="Picture 4"/>
          <p:cNvPicPr/>
          <p:nvPr/>
        </p:nvPicPr>
        <p:blipFill>
          <a:blip r:embed="rId2"/>
          <a:stretch>
            <a:fillRect/>
          </a:stretch>
        </p:blipFill>
        <p:spPr>
          <a:xfrm>
            <a:off x="3383868" y="2343150"/>
            <a:ext cx="2430270" cy="3348372"/>
          </a:xfrm>
          <a:prstGeom prst="rect">
            <a:avLst/>
          </a:prstGeom>
        </p:spPr>
      </p:pic>
    </p:spTree>
    <p:extLst>
      <p:ext uri="{BB962C8B-B14F-4D97-AF65-F5344CB8AC3E}">
        <p14:creationId xmlns:p14="http://schemas.microsoft.com/office/powerpoint/2010/main" val="2763742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1.2. Đặc điểm</a:t>
            </a:r>
            <a:endParaRPr lang="en-US"/>
          </a:p>
        </p:txBody>
      </p:sp>
      <p:sp>
        <p:nvSpPr>
          <p:cNvPr id="3" name="Content Placeholder 2"/>
          <p:cNvSpPr>
            <a:spLocks noGrp="1"/>
          </p:cNvSpPr>
          <p:nvPr>
            <p:ph idx="1"/>
          </p:nvPr>
        </p:nvSpPr>
        <p:spPr/>
        <p:txBody>
          <a:bodyPr>
            <a:normAutofit/>
          </a:bodyPr>
          <a:lstStyle/>
          <a:p>
            <a:r>
              <a:rPr lang="en-US" b="1" smtClean="0">
                <a:solidFill>
                  <a:srgbClr val="FF0000"/>
                </a:solidFill>
              </a:rPr>
              <a:t>Vừa biên dịch vừa thông dịch</a:t>
            </a:r>
          </a:p>
          <a:p>
            <a:pPr lvl="1">
              <a:spcAft>
                <a:spcPts val="450"/>
              </a:spcAft>
            </a:pPr>
            <a:r>
              <a:rPr lang="en-US" sz="2400"/>
              <a:t>Java là một ngôn ngữ lập trình vừa biên dịch vừa thông </a:t>
            </a:r>
            <a:r>
              <a:rPr lang="en-US" sz="2400"/>
              <a:t>dịch.</a:t>
            </a:r>
          </a:p>
          <a:p>
            <a:pPr lvl="1">
              <a:spcAft>
                <a:spcPts val="450"/>
              </a:spcAft>
            </a:pPr>
            <a:r>
              <a:rPr lang="en-US" sz="2400"/>
              <a:t>Chương </a:t>
            </a:r>
            <a:r>
              <a:rPr lang="en-US" sz="2400"/>
              <a:t>trình nguồn viết bằng ngôn ngữ lập trình Java có đuôi *.java đầu tiên được biên dịch thành tập tin có đuôi *.</a:t>
            </a:r>
            <a:r>
              <a:rPr lang="en-US" sz="2400"/>
              <a:t>class</a:t>
            </a:r>
          </a:p>
          <a:p>
            <a:pPr lvl="1">
              <a:spcAft>
                <a:spcPts val="450"/>
              </a:spcAft>
            </a:pPr>
            <a:r>
              <a:rPr lang="en-US" sz="2400"/>
              <a:t>Sau </a:t>
            </a:r>
            <a:r>
              <a:rPr lang="en-US" sz="2400"/>
              <a:t>đó </a:t>
            </a:r>
            <a:r>
              <a:rPr lang="en-US" sz="2400"/>
              <a:t>file *.class sẽ </a:t>
            </a:r>
            <a:r>
              <a:rPr lang="en-US" sz="2400"/>
              <a:t>được trình thông dịch thông dịch thành mã máy.</a:t>
            </a:r>
          </a:p>
        </p:txBody>
      </p:sp>
      <p:sp>
        <p:nvSpPr>
          <p:cNvPr id="4" name="Slide Number Placeholder 3"/>
          <p:cNvSpPr>
            <a:spLocks noGrp="1"/>
          </p:cNvSpPr>
          <p:nvPr>
            <p:ph type="sldNum" sz="quarter" idx="12"/>
          </p:nvPr>
        </p:nvSpPr>
        <p:spPr/>
        <p:txBody>
          <a:bodyPr/>
          <a:lstStyle/>
          <a:p>
            <a:fld id="{E3E8E051-591C-4566-9813-B4BB16D377BD}" type="slidenum">
              <a:rPr lang="en-US" smtClean="0"/>
              <a:pPr/>
              <a:t>13</a:t>
            </a:fld>
            <a:endParaRPr lang="en-US"/>
          </a:p>
        </p:txBody>
      </p:sp>
    </p:spTree>
    <p:extLst>
      <p:ext uri="{BB962C8B-B14F-4D97-AF65-F5344CB8AC3E}">
        <p14:creationId xmlns:p14="http://schemas.microsoft.com/office/powerpoint/2010/main" val="3457935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1.2. Đặc điểm</a:t>
            </a:r>
            <a:endParaRPr lang="en-US"/>
          </a:p>
        </p:txBody>
      </p:sp>
      <p:sp>
        <p:nvSpPr>
          <p:cNvPr id="3" name="Content Placeholder 2"/>
          <p:cNvSpPr>
            <a:spLocks noGrp="1"/>
          </p:cNvSpPr>
          <p:nvPr>
            <p:ph idx="1"/>
          </p:nvPr>
        </p:nvSpPr>
        <p:spPr/>
        <p:txBody>
          <a:bodyPr>
            <a:normAutofit/>
          </a:bodyPr>
          <a:lstStyle/>
          <a:p>
            <a:r>
              <a:rPr lang="en-US" sz="2400" b="1">
                <a:solidFill>
                  <a:srgbClr val="FF0000"/>
                </a:solidFill>
              </a:rPr>
              <a:t>Độc lập nền tảng</a:t>
            </a:r>
          </a:p>
          <a:p>
            <a:pPr lvl="1">
              <a:spcAft>
                <a:spcPts val="450"/>
              </a:spcAft>
            </a:pPr>
            <a:r>
              <a:rPr lang="en-US" sz="2400"/>
              <a:t>Một chương trình viết bằng ngôn ngữ Java có thể chạy trên nhiều máy tính có hệ điều hành khác nhau (Windows, Unix, Linux…) miễn sao ở đó có cài đặt máy ảo Java (Java Virtual Machine</a:t>
            </a:r>
            <a:r>
              <a:rPr lang="en-US" sz="2400"/>
              <a:t>).</a:t>
            </a:r>
          </a:p>
          <a:p>
            <a:pPr lvl="1">
              <a:spcAft>
                <a:spcPts val="450"/>
              </a:spcAft>
            </a:pPr>
            <a:r>
              <a:rPr lang="en-US" sz="2400" b="1"/>
              <a:t>Viết </a:t>
            </a:r>
            <a:r>
              <a:rPr lang="en-US" sz="2400" b="1"/>
              <a:t>một lần chạy mọi nơi </a:t>
            </a:r>
            <a:r>
              <a:rPr lang="en-US" sz="2400"/>
              <a:t>(write once run anywhere).</a:t>
            </a:r>
          </a:p>
        </p:txBody>
      </p:sp>
      <p:sp>
        <p:nvSpPr>
          <p:cNvPr id="4" name="Slide Number Placeholder 3"/>
          <p:cNvSpPr>
            <a:spLocks noGrp="1"/>
          </p:cNvSpPr>
          <p:nvPr>
            <p:ph type="sldNum" sz="quarter" idx="12"/>
          </p:nvPr>
        </p:nvSpPr>
        <p:spPr/>
        <p:txBody>
          <a:bodyPr/>
          <a:lstStyle/>
          <a:p>
            <a:fld id="{E3E8E051-591C-4566-9813-B4BB16D377BD}" type="slidenum">
              <a:rPr lang="en-US" smtClean="0"/>
              <a:pPr/>
              <a:t>14</a:t>
            </a:fld>
            <a:endParaRPr lang="en-US"/>
          </a:p>
        </p:txBody>
      </p:sp>
    </p:spTree>
    <p:extLst>
      <p:ext uri="{BB962C8B-B14F-4D97-AF65-F5344CB8AC3E}">
        <p14:creationId xmlns:p14="http://schemas.microsoft.com/office/powerpoint/2010/main" val="539777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1.2. Đặc điểm</a:t>
            </a:r>
            <a:endParaRPr lang="en-US"/>
          </a:p>
        </p:txBody>
      </p:sp>
      <p:sp>
        <p:nvSpPr>
          <p:cNvPr id="3" name="Content Placeholder 2"/>
          <p:cNvSpPr>
            <a:spLocks noGrp="1"/>
          </p:cNvSpPr>
          <p:nvPr>
            <p:ph idx="1"/>
          </p:nvPr>
        </p:nvSpPr>
        <p:spPr/>
        <p:txBody>
          <a:bodyPr>
            <a:normAutofit/>
          </a:bodyPr>
          <a:lstStyle/>
          <a:p>
            <a:r>
              <a:rPr lang="en-US" b="1" smtClean="0">
                <a:solidFill>
                  <a:srgbClr val="FF0000"/>
                </a:solidFill>
              </a:rPr>
              <a:t>Hướng đối tượng</a:t>
            </a:r>
          </a:p>
          <a:p>
            <a:pPr lvl="1">
              <a:spcAft>
                <a:spcPts val="450"/>
              </a:spcAft>
            </a:pPr>
            <a:r>
              <a:rPr lang="en-US" sz="2400"/>
              <a:t>Java là một ngôn ngữ hướng đối tượng hoàn </a:t>
            </a:r>
            <a:r>
              <a:rPr lang="en-US" sz="2400"/>
              <a:t>toàn.</a:t>
            </a:r>
          </a:p>
          <a:p>
            <a:pPr lvl="1">
              <a:spcAft>
                <a:spcPts val="450"/>
              </a:spcAft>
            </a:pPr>
            <a:r>
              <a:rPr lang="en-US" sz="2400"/>
              <a:t>Tất </a:t>
            </a:r>
            <a:r>
              <a:rPr lang="en-US" sz="2400"/>
              <a:t>cả mọi thứ </a:t>
            </a:r>
            <a:r>
              <a:rPr lang="en-US" sz="2400"/>
              <a:t>đề </a:t>
            </a:r>
            <a:r>
              <a:rPr lang="en-US" sz="2400"/>
              <a:t>cập trong Java đều liên quan đến các đối tượng được định nghĩa trước, thậm chí hàm chính của một chương trình viết bằng Java (</a:t>
            </a:r>
            <a:r>
              <a:rPr lang="en-US" sz="2400"/>
              <a:t>hàm </a:t>
            </a:r>
            <a:r>
              <a:rPr lang="en-US" sz="2400" b="1"/>
              <a:t>main</a:t>
            </a:r>
            <a:r>
              <a:rPr lang="en-US" sz="2400"/>
              <a:t>) cũng phải đặt bên trong một lớp.</a:t>
            </a:r>
          </a:p>
        </p:txBody>
      </p:sp>
      <p:sp>
        <p:nvSpPr>
          <p:cNvPr id="4" name="Slide Number Placeholder 3"/>
          <p:cNvSpPr>
            <a:spLocks noGrp="1"/>
          </p:cNvSpPr>
          <p:nvPr>
            <p:ph type="sldNum" sz="quarter" idx="12"/>
          </p:nvPr>
        </p:nvSpPr>
        <p:spPr/>
        <p:txBody>
          <a:bodyPr/>
          <a:lstStyle/>
          <a:p>
            <a:fld id="{E3E8E051-591C-4566-9813-B4BB16D377BD}" type="slidenum">
              <a:rPr lang="en-US" smtClean="0"/>
              <a:pPr/>
              <a:t>15</a:t>
            </a:fld>
            <a:endParaRPr lang="en-US"/>
          </a:p>
        </p:txBody>
      </p:sp>
    </p:spTree>
    <p:extLst>
      <p:ext uri="{BB962C8B-B14F-4D97-AF65-F5344CB8AC3E}">
        <p14:creationId xmlns:p14="http://schemas.microsoft.com/office/powerpoint/2010/main" val="3270296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1.2. Đặc điểm</a:t>
            </a:r>
            <a:endParaRPr lang="en-US"/>
          </a:p>
        </p:txBody>
      </p:sp>
      <p:sp>
        <p:nvSpPr>
          <p:cNvPr id="3" name="Content Placeholder 2"/>
          <p:cNvSpPr>
            <a:spLocks noGrp="1"/>
          </p:cNvSpPr>
          <p:nvPr>
            <p:ph idx="1"/>
          </p:nvPr>
        </p:nvSpPr>
        <p:spPr>
          <a:xfrm>
            <a:off x="1371604" y="1828807"/>
            <a:ext cx="6400731" cy="3795713"/>
          </a:xfrm>
        </p:spPr>
        <p:txBody>
          <a:bodyPr>
            <a:normAutofit fontScale="92500"/>
          </a:bodyPr>
          <a:lstStyle/>
          <a:p>
            <a:pPr>
              <a:lnSpc>
                <a:spcPct val="110000"/>
              </a:lnSpc>
              <a:spcBef>
                <a:spcPts val="0"/>
              </a:spcBef>
              <a:spcAft>
                <a:spcPts val="0"/>
              </a:spcAft>
            </a:pPr>
            <a:r>
              <a:rPr lang="en-US" b="1" smtClean="0">
                <a:solidFill>
                  <a:srgbClr val="FF0000"/>
                </a:solidFill>
              </a:rPr>
              <a:t>Đa luồng</a:t>
            </a:r>
          </a:p>
          <a:p>
            <a:pPr lvl="1">
              <a:lnSpc>
                <a:spcPct val="110000"/>
              </a:lnSpc>
              <a:spcBef>
                <a:spcPts val="0"/>
              </a:spcBef>
              <a:spcAft>
                <a:spcPts val="0"/>
              </a:spcAft>
            </a:pPr>
            <a:r>
              <a:rPr lang="en-US" sz="2400"/>
              <a:t>Java hỗ trợ lập trình </a:t>
            </a:r>
            <a:r>
              <a:rPr lang="en-US" sz="2400"/>
              <a:t>đa </a:t>
            </a:r>
            <a:r>
              <a:rPr lang="en-US" sz="2400"/>
              <a:t>luồng cho phép nhiều tiến trình, tiểu trình có thể chạy song song cùng một thời điểm và tương tác với nhau</a:t>
            </a:r>
            <a:r>
              <a:rPr lang="en-US" sz="2400"/>
              <a:t>.</a:t>
            </a:r>
          </a:p>
          <a:p>
            <a:pPr>
              <a:lnSpc>
                <a:spcPct val="110000"/>
              </a:lnSpc>
              <a:spcBef>
                <a:spcPts val="0"/>
              </a:spcBef>
              <a:spcAft>
                <a:spcPts val="0"/>
              </a:spcAft>
            </a:pPr>
            <a:r>
              <a:rPr lang="en-US" b="1">
                <a:solidFill>
                  <a:srgbClr val="FF0000"/>
                </a:solidFill>
              </a:rPr>
              <a:t>Hỗ trợ mạnh cho việc phát triển ứng dụng</a:t>
            </a:r>
          </a:p>
          <a:p>
            <a:pPr lvl="1">
              <a:lnSpc>
                <a:spcPct val="110000"/>
              </a:lnSpc>
              <a:spcBef>
                <a:spcPts val="0"/>
              </a:spcBef>
              <a:spcAft>
                <a:spcPts val="0"/>
              </a:spcAft>
            </a:pPr>
            <a:r>
              <a:rPr lang="en-US" sz="2400"/>
              <a:t>Công nghệ Java phát triển mạnh mẽ nhờ vào Sun Mirosystem cung cấp nhiều công cụ, thư viện lập trình phong phú hỗ trợ cho việc phát triển nhiều loại ứng dụng khác nhau như: </a:t>
            </a:r>
            <a:r>
              <a:rPr lang="en-US" sz="2400"/>
              <a:t>J2SE, </a:t>
            </a:r>
            <a:r>
              <a:rPr lang="en-US" sz="2400"/>
              <a:t>J2EE </a:t>
            </a:r>
            <a:r>
              <a:rPr lang="en-US" sz="2400"/>
              <a:t>J2ME.</a:t>
            </a:r>
            <a:endParaRPr lang="en-US" sz="2400"/>
          </a:p>
        </p:txBody>
      </p:sp>
      <p:sp>
        <p:nvSpPr>
          <p:cNvPr id="4" name="Slide Number Placeholder 3"/>
          <p:cNvSpPr>
            <a:spLocks noGrp="1"/>
          </p:cNvSpPr>
          <p:nvPr>
            <p:ph type="sldNum" sz="quarter" idx="12"/>
          </p:nvPr>
        </p:nvSpPr>
        <p:spPr/>
        <p:txBody>
          <a:bodyPr/>
          <a:lstStyle/>
          <a:p>
            <a:fld id="{E3E8E051-591C-4566-9813-B4BB16D377BD}" type="slidenum">
              <a:rPr lang="en-US" smtClean="0"/>
              <a:pPr/>
              <a:t>16</a:t>
            </a:fld>
            <a:endParaRPr lang="en-US"/>
          </a:p>
        </p:txBody>
      </p:sp>
    </p:spTree>
    <p:extLst>
      <p:ext uri="{BB962C8B-B14F-4D97-AF65-F5344CB8AC3E}">
        <p14:creationId xmlns:p14="http://schemas.microsoft.com/office/powerpoint/2010/main" val="3498099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1.3. Các công nghệ Java</a:t>
            </a:r>
            <a:endParaRPr lang="en-US"/>
          </a:p>
        </p:txBody>
      </p:sp>
      <p:sp>
        <p:nvSpPr>
          <p:cNvPr id="3" name="Content Placeholder 2"/>
          <p:cNvSpPr>
            <a:spLocks noGrp="1"/>
          </p:cNvSpPr>
          <p:nvPr>
            <p:ph idx="1"/>
          </p:nvPr>
        </p:nvSpPr>
        <p:spPr/>
        <p:txBody>
          <a:bodyPr/>
          <a:lstStyle/>
          <a:p>
            <a:pPr marL="257175" lvl="2" indent="-257175">
              <a:spcAft>
                <a:spcPts val="450"/>
              </a:spcAft>
              <a:buFont typeface="Wingdings" pitchFamily="2" charset="2"/>
              <a:buChar char="v"/>
            </a:pPr>
            <a:r>
              <a:rPr lang="en-US" sz="2250">
                <a:effectLst>
                  <a:glow>
                    <a:srgbClr val="000000"/>
                  </a:glow>
                  <a:reflection stA="0" endPos="0" fadeDir="0" sx="0" sy="0"/>
                </a:effectLst>
              </a:rPr>
              <a:t>J2SE (Java 2 Platform Standard Edition)</a:t>
            </a:r>
          </a:p>
          <a:p>
            <a:pPr marL="257175" lvl="2" indent="-257175">
              <a:spcAft>
                <a:spcPts val="450"/>
              </a:spcAft>
              <a:buFont typeface="Wingdings" pitchFamily="2" charset="2"/>
              <a:buChar char="v"/>
            </a:pPr>
            <a:r>
              <a:rPr lang="en-US" sz="2250">
                <a:effectLst>
                  <a:glow>
                    <a:srgbClr val="000000"/>
                  </a:glow>
                  <a:reflection stA="0" endPos="0" fadeDir="0" sx="0" sy="0"/>
                </a:effectLst>
              </a:rPr>
              <a:t>J2EE (Java 2 Platform Enterprise Edition)</a:t>
            </a:r>
          </a:p>
          <a:p>
            <a:pPr marL="257175" lvl="2" indent="-257175">
              <a:spcAft>
                <a:spcPts val="450"/>
              </a:spcAft>
              <a:buFont typeface="Wingdings" pitchFamily="2" charset="2"/>
              <a:buChar char="v"/>
            </a:pPr>
            <a:r>
              <a:rPr lang="en-US" sz="2250">
                <a:effectLst>
                  <a:glow>
                    <a:srgbClr val="000000"/>
                  </a:glow>
                  <a:reflection stA="0" endPos="0" fadeDir="0" sx="0" sy="0"/>
                </a:effectLst>
              </a:rPr>
              <a:t>J2ME (Java 2 Platform Micro Edition)</a:t>
            </a:r>
          </a:p>
          <a:p>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17</a:t>
            </a:fld>
            <a:endParaRPr lang="en-US"/>
          </a:p>
        </p:txBody>
      </p:sp>
      <p:pic>
        <p:nvPicPr>
          <p:cNvPr id="5" name="Picture 4"/>
          <p:cNvPicPr/>
          <p:nvPr/>
        </p:nvPicPr>
        <p:blipFill>
          <a:blip r:embed="rId2"/>
          <a:stretch>
            <a:fillRect/>
          </a:stretch>
        </p:blipFill>
        <p:spPr>
          <a:xfrm>
            <a:off x="2573778" y="3332633"/>
            <a:ext cx="3726414" cy="2553820"/>
          </a:xfrm>
          <a:prstGeom prst="rect">
            <a:avLst/>
          </a:prstGeom>
        </p:spPr>
      </p:pic>
    </p:spTree>
    <p:extLst>
      <p:ext uri="{BB962C8B-B14F-4D97-AF65-F5344CB8AC3E}">
        <p14:creationId xmlns:p14="http://schemas.microsoft.com/office/powerpoint/2010/main" val="1224420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1.3. Các công nghệ Java</a:t>
            </a:r>
            <a:endParaRPr lang="en-US"/>
          </a:p>
        </p:txBody>
      </p:sp>
      <p:sp>
        <p:nvSpPr>
          <p:cNvPr id="3" name="Content Placeholder 2"/>
          <p:cNvSpPr>
            <a:spLocks noGrp="1"/>
          </p:cNvSpPr>
          <p:nvPr>
            <p:ph idx="1"/>
          </p:nvPr>
        </p:nvSpPr>
        <p:spPr>
          <a:xfrm>
            <a:off x="1371604" y="1885957"/>
            <a:ext cx="6400731" cy="3886199"/>
          </a:xfrm>
        </p:spPr>
        <p:txBody>
          <a:bodyPr>
            <a:normAutofit fontScale="92500"/>
          </a:bodyPr>
          <a:lstStyle/>
          <a:p>
            <a:pPr marL="257175" lvl="2" indent="-257175">
              <a:buFont typeface="Wingdings" pitchFamily="2" charset="2"/>
              <a:buChar char="v"/>
            </a:pPr>
            <a:r>
              <a:rPr lang="en-US" sz="2400" b="1">
                <a:solidFill>
                  <a:srgbClr val="FF0000"/>
                </a:solidFill>
                <a:effectLst>
                  <a:glow>
                    <a:srgbClr val="000000"/>
                  </a:glow>
                  <a:reflection stA="0" endPos="0" fadeDir="0" sx="0" sy="0"/>
                </a:effectLst>
              </a:rPr>
              <a:t>J2SE (Java 2 Platform Standard Edition)</a:t>
            </a:r>
          </a:p>
          <a:p>
            <a:pPr lvl="1" latinLnBrk="0"/>
            <a:r>
              <a:rPr lang="en-US" sz="2400"/>
              <a:t>Là </a:t>
            </a:r>
            <a:r>
              <a:rPr lang="en-US" sz="2400"/>
              <a:t>một nền tảng thực thi (bao gồm cả phát triển và triển khai) cho các ứng dụng Java. Nó cung cấp các API, các kiến trúc chuẩn, các thư viện lớp và các công cụ cốt lõi nhất để xây các ứng dụng Java.</a:t>
            </a:r>
          </a:p>
          <a:p>
            <a:pPr lvl="1" latinLnBrk="0"/>
            <a:r>
              <a:rPr lang="en-US" sz="2400"/>
              <a:t>Là </a:t>
            </a:r>
            <a:r>
              <a:rPr lang="en-US" sz="2400"/>
              <a:t>phiên bản chuẩn, là nền tảng thiên về phát triển các sản phẩm chạy trên máy tính để bàn (desktop-based), các ứng dụng dạng khách chủ (client server – based).</a:t>
            </a:r>
          </a:p>
          <a:p>
            <a:pPr lvl="2"/>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18</a:t>
            </a:fld>
            <a:endParaRPr lang="en-US"/>
          </a:p>
        </p:txBody>
      </p:sp>
    </p:spTree>
    <p:extLst>
      <p:ext uri="{BB962C8B-B14F-4D97-AF65-F5344CB8AC3E}">
        <p14:creationId xmlns:p14="http://schemas.microsoft.com/office/powerpoint/2010/main" val="3286347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1.3. Các công nghệ Java</a:t>
            </a:r>
            <a:endParaRPr lang="en-US"/>
          </a:p>
        </p:txBody>
      </p:sp>
      <p:sp>
        <p:nvSpPr>
          <p:cNvPr id="3" name="Content Placeholder 2"/>
          <p:cNvSpPr>
            <a:spLocks noGrp="1"/>
          </p:cNvSpPr>
          <p:nvPr>
            <p:ph idx="1"/>
          </p:nvPr>
        </p:nvSpPr>
        <p:spPr>
          <a:xfrm>
            <a:off x="1371604" y="1885957"/>
            <a:ext cx="6400731" cy="3886199"/>
          </a:xfrm>
        </p:spPr>
        <p:txBody>
          <a:bodyPr>
            <a:normAutofit/>
          </a:bodyPr>
          <a:lstStyle/>
          <a:p>
            <a:pPr latinLnBrk="0">
              <a:lnSpc>
                <a:spcPct val="110000"/>
              </a:lnSpc>
            </a:pPr>
            <a:r>
              <a:rPr lang="en-US" b="1">
                <a:solidFill>
                  <a:srgbClr val="FF0000"/>
                </a:solidFill>
                <a:effectLst>
                  <a:glow>
                    <a:srgbClr val="000000"/>
                  </a:glow>
                  <a:outerShdw sx="0" sy="0">
                    <a:srgbClr val="000000"/>
                  </a:outerShdw>
                  <a:reflection stA="0" endPos="0" fadeDir="0" sx="0" sy="0"/>
                </a:effectLst>
              </a:rPr>
              <a:t>J2EE (Java 2 Platform Enterprise Edition)</a:t>
            </a:r>
          </a:p>
          <a:p>
            <a:pPr lvl="1" latinLnBrk="0">
              <a:lnSpc>
                <a:spcPct val="110000"/>
              </a:lnSpc>
            </a:pPr>
            <a:r>
              <a:rPr lang="en-US" sz="2250"/>
              <a:t>Đ</a:t>
            </a:r>
            <a:r>
              <a:rPr lang="en-US" sz="2250"/>
              <a:t>ịnh </a:t>
            </a:r>
            <a:r>
              <a:rPr lang="en-US" sz="2250"/>
              <a:t>nghĩa một chuẩn để phát triển những ứng dụng thương mại đa tầng (multitier enterprise applications). Các công nghệ trong J2EE bao gồm</a:t>
            </a:r>
            <a:r>
              <a:rPr lang="en-US" sz="2250"/>
              <a:t>:</a:t>
            </a:r>
          </a:p>
          <a:p>
            <a:pPr lvl="2" latinLnBrk="0">
              <a:lnSpc>
                <a:spcPct val="110000"/>
              </a:lnSpc>
            </a:pPr>
            <a:r>
              <a:rPr lang="en-US" sz="2250"/>
              <a:t>Java Database Connectivity (JDBC) </a:t>
            </a:r>
            <a:r>
              <a:rPr lang="en-US" sz="2250"/>
              <a:t>API</a:t>
            </a:r>
          </a:p>
          <a:p>
            <a:pPr lvl="2" latinLnBrk="0">
              <a:lnSpc>
                <a:spcPct val="110000"/>
              </a:lnSpc>
            </a:pPr>
            <a:r>
              <a:rPr lang="en-US" sz="2250"/>
              <a:t>Remote Method Invocation (RMI</a:t>
            </a:r>
            <a:r>
              <a:rPr lang="en-US" sz="2250"/>
              <a:t>)</a:t>
            </a:r>
          </a:p>
          <a:p>
            <a:pPr lvl="2" latinLnBrk="0">
              <a:lnSpc>
                <a:spcPct val="110000"/>
              </a:lnSpc>
            </a:pPr>
            <a:r>
              <a:rPr lang="en-US" sz="2250"/>
              <a:t>Servlets và Java Server Pages (JSP</a:t>
            </a:r>
            <a:r>
              <a:rPr lang="en-US" sz="2250"/>
              <a:t>)</a:t>
            </a:r>
          </a:p>
          <a:p>
            <a:pPr lvl="2" latinLnBrk="0">
              <a:lnSpc>
                <a:spcPct val="110000"/>
              </a:lnSpc>
            </a:pPr>
            <a:r>
              <a:rPr lang="en-US" sz="2250"/>
              <a:t>Java Transaction API (JTA</a:t>
            </a:r>
            <a:r>
              <a:rPr lang="en-US" sz="2250"/>
              <a:t>)…</a:t>
            </a:r>
          </a:p>
        </p:txBody>
      </p:sp>
      <p:sp>
        <p:nvSpPr>
          <p:cNvPr id="4" name="Slide Number Placeholder 3"/>
          <p:cNvSpPr>
            <a:spLocks noGrp="1"/>
          </p:cNvSpPr>
          <p:nvPr>
            <p:ph type="sldNum" sz="quarter" idx="12"/>
          </p:nvPr>
        </p:nvSpPr>
        <p:spPr/>
        <p:txBody>
          <a:bodyPr/>
          <a:lstStyle/>
          <a:p>
            <a:fld id="{E3E8E051-591C-4566-9813-B4BB16D377BD}" type="slidenum">
              <a:rPr lang="en-US" smtClean="0"/>
              <a:pPr/>
              <a:t>19</a:t>
            </a:fld>
            <a:endParaRPr lang="en-US"/>
          </a:p>
        </p:txBody>
      </p:sp>
    </p:spTree>
    <p:extLst>
      <p:ext uri="{BB962C8B-B14F-4D97-AF65-F5344CB8AC3E}">
        <p14:creationId xmlns:p14="http://schemas.microsoft.com/office/powerpoint/2010/main" val="3845048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640" y="1106742"/>
            <a:ext cx="6372708" cy="651560"/>
          </a:xfrm>
        </p:spPr>
        <p:txBody>
          <a:bodyPr/>
          <a:lstStyle/>
          <a:p>
            <a:r>
              <a:rPr lang="en-US" smtClean="0"/>
              <a:t>1.3. Các công nghệ Java</a:t>
            </a:r>
            <a:endParaRPr lang="en-US"/>
          </a:p>
        </p:txBody>
      </p:sp>
      <p:sp>
        <p:nvSpPr>
          <p:cNvPr id="3" name="Content Placeholder 2"/>
          <p:cNvSpPr>
            <a:spLocks noGrp="1"/>
          </p:cNvSpPr>
          <p:nvPr>
            <p:ph idx="1"/>
          </p:nvPr>
        </p:nvSpPr>
        <p:spPr/>
        <p:txBody>
          <a:bodyPr>
            <a:normAutofit/>
          </a:bodyPr>
          <a:lstStyle/>
          <a:p>
            <a:r>
              <a:rPr lang="en-US" sz="2400" b="1">
                <a:solidFill>
                  <a:srgbClr val="FF0000"/>
                </a:solidFill>
                <a:effectLst>
                  <a:glow>
                    <a:srgbClr val="000000"/>
                  </a:glow>
                  <a:outerShdw sx="0" sy="0">
                    <a:srgbClr val="000000"/>
                  </a:outerShdw>
                  <a:reflection stA="0" endPos="0" fadeDir="0" sx="0" sy="0"/>
                </a:effectLst>
              </a:rPr>
              <a:t>J2ME (Java 2 Platform Micro Edition)</a:t>
            </a:r>
          </a:p>
          <a:p>
            <a:pPr lvl="1" latinLnBrk="0">
              <a:lnSpc>
                <a:spcPct val="120000"/>
              </a:lnSpc>
            </a:pPr>
            <a:r>
              <a:rPr lang="en-US" sz="2400"/>
              <a:t>Là </a:t>
            </a:r>
            <a:r>
              <a:rPr lang="en-US" sz="2400"/>
              <a:t>một nhánh của </a:t>
            </a:r>
            <a:r>
              <a:rPr lang="en-US" sz="2400"/>
              <a:t>NNLT </a:t>
            </a:r>
            <a:r>
              <a:rPr lang="en-US" sz="2400"/>
              <a:t>Java để phát triển các ứng dụng trên điện thoại di động, </a:t>
            </a:r>
            <a:r>
              <a:rPr lang="en-US" sz="2400"/>
              <a:t>thiết </a:t>
            </a:r>
            <a:r>
              <a:rPr lang="en-US" sz="2400"/>
              <a:t>bị cầm tay nhỏ gọn khác hay các thiết bị tiêu dùng với công suất hạn chế (TV, máy in, thiết bị điện tử</a:t>
            </a:r>
            <a:r>
              <a:rPr lang="en-US" sz="2400"/>
              <a:t>,...).</a:t>
            </a:r>
          </a:p>
          <a:p>
            <a:pPr lvl="1" latinLnBrk="0">
              <a:lnSpc>
                <a:spcPct val="120000"/>
              </a:lnSpc>
            </a:pPr>
            <a:r>
              <a:rPr lang="en-US" sz="2400"/>
              <a:t>Đ</a:t>
            </a:r>
            <a:r>
              <a:rPr lang="en-US" sz="2400"/>
              <a:t>ược </a:t>
            </a:r>
            <a:r>
              <a:rPr lang="en-US" sz="2400"/>
              <a:t>phát triển trên phiên bản </a:t>
            </a:r>
            <a:r>
              <a:rPr lang="en-US" sz="2400"/>
              <a:t>J2SE, nhưng </a:t>
            </a:r>
            <a:r>
              <a:rPr lang="en-US" sz="2400"/>
              <a:t>nó lược bỏ đi khá nhiều các framework cũng như API để phù hợp với bộ nhớ cũng như tốc độ xử lý của các thiết bị di động</a:t>
            </a:r>
            <a:r>
              <a:rPr lang="en-US" sz="2400"/>
              <a:t>.</a:t>
            </a:r>
            <a:endParaRPr lang="en-US" sz="2400"/>
          </a:p>
        </p:txBody>
      </p:sp>
      <p:sp>
        <p:nvSpPr>
          <p:cNvPr id="4" name="Slide Number Placeholder 3"/>
          <p:cNvSpPr>
            <a:spLocks noGrp="1"/>
          </p:cNvSpPr>
          <p:nvPr>
            <p:ph type="sldNum" sz="quarter" idx="12"/>
          </p:nvPr>
        </p:nvSpPr>
        <p:spPr/>
        <p:txBody>
          <a:bodyPr/>
          <a:lstStyle/>
          <a:p>
            <a:fld id="{E3E8E051-591C-4566-9813-B4BB16D377BD}" type="slidenum">
              <a:rPr lang="en-US" smtClean="0"/>
              <a:pPr/>
              <a:t>20</a:t>
            </a:fld>
            <a:endParaRPr lang="en-US"/>
          </a:p>
        </p:txBody>
      </p:sp>
    </p:spTree>
    <p:extLst>
      <p:ext uri="{BB962C8B-B14F-4D97-AF65-F5344CB8AC3E}">
        <p14:creationId xmlns:p14="http://schemas.microsoft.com/office/powerpoint/2010/main" val="3853062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640" y="1106742"/>
            <a:ext cx="6372708" cy="651560"/>
          </a:xfrm>
        </p:spPr>
        <p:txBody>
          <a:bodyPr/>
          <a:lstStyle/>
          <a:p>
            <a:r>
              <a:rPr lang="en-US" smtClean="0"/>
              <a:t>1.4. Môi trường lập trình Java</a:t>
            </a:r>
            <a:endParaRPr lang="en-US"/>
          </a:p>
        </p:txBody>
      </p:sp>
      <p:sp>
        <p:nvSpPr>
          <p:cNvPr id="3" name="Content Placeholder 2"/>
          <p:cNvSpPr>
            <a:spLocks noGrp="1"/>
          </p:cNvSpPr>
          <p:nvPr>
            <p:ph idx="1"/>
          </p:nvPr>
        </p:nvSpPr>
        <p:spPr/>
        <p:txBody>
          <a:bodyPr>
            <a:normAutofit/>
          </a:bodyPr>
          <a:lstStyle/>
          <a:p>
            <a:pPr>
              <a:spcAft>
                <a:spcPts val="450"/>
              </a:spcAft>
            </a:pPr>
            <a:r>
              <a:rPr lang="en-US"/>
              <a:t>Hãng SUN Microsystems cung cấp bộ công cụ </a:t>
            </a:r>
            <a:r>
              <a:rPr lang="en-US">
                <a:solidFill>
                  <a:srgbClr val="FF0000"/>
                </a:solidFill>
              </a:rPr>
              <a:t>JDK</a:t>
            </a:r>
            <a:r>
              <a:rPr lang="en-US"/>
              <a:t> (Java Development Kit) và </a:t>
            </a:r>
            <a:r>
              <a:rPr lang="en-US">
                <a:solidFill>
                  <a:srgbClr val="FF0000"/>
                </a:solidFill>
              </a:rPr>
              <a:t>JRE</a:t>
            </a:r>
            <a:r>
              <a:rPr lang="en-US"/>
              <a:t> (Java Runtime Environment) giúp thực thi chương trình Java</a:t>
            </a:r>
            <a:r>
              <a:rPr lang="en-US" smtClean="0"/>
              <a:t>.</a:t>
            </a:r>
          </a:p>
          <a:p>
            <a:pPr>
              <a:spcAft>
                <a:spcPts val="450"/>
              </a:spcAft>
            </a:pPr>
            <a:r>
              <a:rPr lang="en-US"/>
              <a:t>JDK còn được gọi là SDK (Java SDK – Software Development Kit) là bộ công cụ phát triển ứng dụng Java bao gồm 4 thành phần: Classes, Compiler, Debugger, Java Runtime Environment. </a:t>
            </a:r>
          </a:p>
        </p:txBody>
      </p:sp>
      <p:sp>
        <p:nvSpPr>
          <p:cNvPr id="4" name="Slide Number Placeholder 3"/>
          <p:cNvSpPr>
            <a:spLocks noGrp="1"/>
          </p:cNvSpPr>
          <p:nvPr>
            <p:ph type="sldNum" sz="quarter" idx="12"/>
          </p:nvPr>
        </p:nvSpPr>
        <p:spPr/>
        <p:txBody>
          <a:bodyPr/>
          <a:lstStyle/>
          <a:p>
            <a:fld id="{E3E8E051-591C-4566-9813-B4BB16D377BD}" type="slidenum">
              <a:rPr lang="en-US" smtClean="0"/>
              <a:pPr/>
              <a:t>21</a:t>
            </a:fld>
            <a:endParaRPr lang="en-US"/>
          </a:p>
        </p:txBody>
      </p:sp>
    </p:spTree>
    <p:extLst>
      <p:ext uri="{BB962C8B-B14F-4D97-AF65-F5344CB8AC3E}">
        <p14:creationId xmlns:p14="http://schemas.microsoft.com/office/powerpoint/2010/main" val="29977082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1.5. Chương trình Java đơn giản</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22</a:t>
            </a:fld>
            <a:endParaRPr lang="en-US"/>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0" y="1828803"/>
            <a:ext cx="6357030" cy="3390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09754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1.5. Chương trình Java đơn giản</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23</a:t>
            </a:fld>
            <a:endParaRPr 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885950"/>
            <a:ext cx="6858000"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23102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1.5. Chương trình Java đơn giản</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24</a:t>
            </a:fld>
            <a:endParaRPr lang="en-US"/>
          </a:p>
        </p:txBody>
      </p:sp>
      <p:sp>
        <p:nvSpPr>
          <p:cNvPr id="6" name="TextBox 1"/>
          <p:cNvSpPr txBox="1">
            <a:spLocks noChangeArrowheads="1"/>
          </p:cNvSpPr>
          <p:nvPr/>
        </p:nvSpPr>
        <p:spPr bwMode="auto">
          <a:xfrm>
            <a:off x="1314454" y="1828807"/>
            <a:ext cx="648691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ts val="225"/>
              </a:spcBef>
              <a:spcAft>
                <a:spcPts val="225"/>
              </a:spcAft>
            </a:pPr>
            <a:r>
              <a:rPr lang="en-US" altLang="en-US" sz="1650" b="1">
                <a:solidFill>
                  <a:srgbClr val="000099"/>
                </a:solidFill>
              </a:rPr>
              <a:t>Mở Notepad để soạn thảo </a:t>
            </a:r>
            <a:r>
              <a:rPr lang="en-US" altLang="en-US" sz="1650" b="1">
                <a:solidFill>
                  <a:srgbClr val="000099"/>
                </a:solidFill>
              </a:rPr>
              <a:t>chương trình:</a:t>
            </a:r>
            <a:endParaRPr lang="en-US" altLang="en-US" sz="1650" b="1">
              <a:solidFill>
                <a:srgbClr val="000099"/>
              </a:solidFill>
            </a:endParaRP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2791" y="2155559"/>
            <a:ext cx="4761309" cy="1424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p:cNvPicPr>
            <a:picLocks noChangeAspect="1" noChangeArrowheads="1"/>
          </p:cNvPicPr>
          <p:nvPr/>
        </p:nvPicPr>
        <p:blipFill rotWithShape="1">
          <a:blip r:embed="rId4">
            <a:extLst>
              <a:ext uri="{28A0092B-C50C-407E-A947-70E740481C1C}">
                <a14:useLocalDpi xmlns:a14="http://schemas.microsoft.com/office/drawing/2010/main" val="0"/>
              </a:ext>
            </a:extLst>
          </a:blip>
          <a:srcRect t="53360"/>
          <a:stretch/>
        </p:blipFill>
        <p:spPr bwMode="auto">
          <a:xfrm>
            <a:off x="1771650" y="5042529"/>
            <a:ext cx="5029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1"/>
          <p:cNvSpPr txBox="1">
            <a:spLocks noChangeArrowheads="1"/>
          </p:cNvSpPr>
          <p:nvPr/>
        </p:nvSpPr>
        <p:spPr bwMode="auto">
          <a:xfrm>
            <a:off x="1314454" y="3680461"/>
            <a:ext cx="6486917"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eaLnBrk="1" hangingPunct="1">
              <a:spcBef>
                <a:spcPts val="225"/>
              </a:spcBef>
              <a:spcAft>
                <a:spcPts val="225"/>
              </a:spcAft>
            </a:pPr>
            <a:r>
              <a:rPr lang="en-US" altLang="en-US" sz="1650" b="1">
                <a:solidFill>
                  <a:srgbClr val="000099"/>
                </a:solidFill>
              </a:rPr>
              <a:t>Lưu </a:t>
            </a:r>
            <a:r>
              <a:rPr lang="en-US" altLang="en-US" sz="1650" b="1">
                <a:solidFill>
                  <a:srgbClr val="000099"/>
                </a:solidFill>
              </a:rPr>
              <a:t>lại với tập tin: </a:t>
            </a:r>
            <a:r>
              <a:rPr lang="en-US" altLang="en-US" sz="1650">
                <a:solidFill>
                  <a:srgbClr val="000099"/>
                </a:solidFill>
              </a:rPr>
              <a:t>MyFirstJavaProgram.java</a:t>
            </a:r>
          </a:p>
          <a:p>
            <a:pPr algn="just" eaLnBrk="1" hangingPunct="1">
              <a:spcBef>
                <a:spcPts val="225"/>
              </a:spcBef>
              <a:spcAft>
                <a:spcPts val="225"/>
              </a:spcAft>
            </a:pPr>
            <a:r>
              <a:rPr lang="en-US" altLang="en-US" sz="1650" b="1">
                <a:solidFill>
                  <a:srgbClr val="000099"/>
                </a:solidFill>
              </a:rPr>
              <a:t>Mở command prompt: </a:t>
            </a:r>
            <a:r>
              <a:rPr lang="en-US" altLang="en-US" sz="1650">
                <a:solidFill>
                  <a:srgbClr val="000099"/>
                </a:solidFill>
              </a:rPr>
              <a:t>di chuyển đến thư mục đã lưu.</a:t>
            </a:r>
          </a:p>
          <a:p>
            <a:pPr algn="just" eaLnBrk="1" hangingPunct="1">
              <a:spcBef>
                <a:spcPts val="225"/>
              </a:spcBef>
              <a:spcAft>
                <a:spcPts val="225"/>
              </a:spcAft>
            </a:pPr>
            <a:r>
              <a:rPr lang="en-US" altLang="en-US" sz="1650" b="1">
                <a:solidFill>
                  <a:srgbClr val="000099"/>
                </a:solidFill>
              </a:rPr>
              <a:t>Gõ lệnh biên dịch:</a:t>
            </a:r>
            <a:r>
              <a:rPr lang="en-US" altLang="en-US" sz="1650">
                <a:solidFill>
                  <a:srgbClr val="000099"/>
                </a:solidFill>
              </a:rPr>
              <a:t> javac MyFirstJavaProgram.java</a:t>
            </a:r>
          </a:p>
          <a:p>
            <a:pPr algn="just" eaLnBrk="1" hangingPunct="1">
              <a:spcBef>
                <a:spcPts val="225"/>
              </a:spcBef>
              <a:spcAft>
                <a:spcPts val="225"/>
              </a:spcAft>
            </a:pPr>
            <a:r>
              <a:rPr lang="en-US" altLang="en-US" sz="1650" b="1">
                <a:solidFill>
                  <a:srgbClr val="000099"/>
                </a:solidFill>
              </a:rPr>
              <a:t>Gõ lệnh thực thi: </a:t>
            </a:r>
            <a:r>
              <a:rPr lang="en-US" altLang="en-US" sz="1650">
                <a:solidFill>
                  <a:srgbClr val="000099"/>
                </a:solidFill>
              </a:rPr>
              <a:t>java MyFirstJavaProgram</a:t>
            </a:r>
          </a:p>
        </p:txBody>
      </p:sp>
    </p:spTree>
    <p:extLst>
      <p:ext uri="{BB962C8B-B14F-4D97-AF65-F5344CB8AC3E}">
        <p14:creationId xmlns:p14="http://schemas.microsoft.com/office/powerpoint/2010/main" val="164057684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640" y="1106742"/>
            <a:ext cx="6372708" cy="651560"/>
          </a:xfrm>
        </p:spPr>
        <p:txBody>
          <a:bodyPr/>
          <a:lstStyle/>
          <a:p>
            <a:r>
              <a:rPr lang="en-US" smtClean="0"/>
              <a:t>1.6. Quá trình phát triển một chương trình Java</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25</a:t>
            </a:fld>
            <a:endParaRPr lang="en-US"/>
          </a:p>
        </p:txBody>
      </p:sp>
      <p:pic>
        <p:nvPicPr>
          <p:cNvPr id="6" name="Picture 5"/>
          <p:cNvPicPr>
            <a:picLocks noChangeAspect="1"/>
          </p:cNvPicPr>
          <p:nvPr/>
        </p:nvPicPr>
        <p:blipFill>
          <a:blip r:embed="rId2"/>
          <a:stretch>
            <a:fillRect/>
          </a:stretch>
        </p:blipFill>
        <p:spPr>
          <a:xfrm>
            <a:off x="1534764" y="2000256"/>
            <a:ext cx="6172200" cy="2858951"/>
          </a:xfrm>
          <a:prstGeom prst="rect">
            <a:avLst/>
          </a:prstGeom>
        </p:spPr>
      </p:pic>
    </p:spTree>
    <p:extLst>
      <p:ext uri="{BB962C8B-B14F-4D97-AF65-F5344CB8AC3E}">
        <p14:creationId xmlns:p14="http://schemas.microsoft.com/office/powerpoint/2010/main" val="23199605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640" y="1106742"/>
            <a:ext cx="6372708" cy="651560"/>
          </a:xfrm>
        </p:spPr>
        <p:txBody>
          <a:bodyPr/>
          <a:lstStyle/>
          <a:p>
            <a:r>
              <a:rPr lang="en-US" smtClean="0"/>
              <a:t>1.6. </a:t>
            </a:r>
            <a:r>
              <a:rPr lang="en-US"/>
              <a:t>Quá trình phát triển một chương trình Java</a:t>
            </a:r>
          </a:p>
        </p:txBody>
      </p:sp>
      <p:sp>
        <p:nvSpPr>
          <p:cNvPr id="3" name="Content Placeholder 2"/>
          <p:cNvSpPr>
            <a:spLocks noGrp="1"/>
          </p:cNvSpPr>
          <p:nvPr>
            <p:ph idx="1"/>
          </p:nvPr>
        </p:nvSpPr>
        <p:spPr/>
        <p:txBody>
          <a:bodyPr>
            <a:normAutofit/>
          </a:bodyPr>
          <a:lstStyle/>
          <a:p>
            <a:pPr latinLnBrk="0"/>
            <a:r>
              <a:rPr lang="en-US" b="1" smtClean="0">
                <a:effectLst>
                  <a:glow>
                    <a:srgbClr val="000000"/>
                  </a:glow>
                  <a:outerShdw sx="0" sy="0">
                    <a:srgbClr val="000000"/>
                  </a:outerShdw>
                  <a:reflection stA="0" endPos="0" fadeDir="0" sx="0" sy="0"/>
                </a:effectLst>
              </a:rPr>
              <a:t>Viết </a:t>
            </a:r>
            <a:r>
              <a:rPr lang="en-US" b="1">
                <a:effectLst>
                  <a:glow>
                    <a:srgbClr val="000000"/>
                  </a:glow>
                  <a:outerShdw sx="0" sy="0">
                    <a:srgbClr val="000000"/>
                  </a:outerShdw>
                  <a:reflection stA="0" endPos="0" fadeDir="0" sx="0" sy="0"/>
                </a:effectLst>
              </a:rPr>
              <a:t>mã nguồn</a:t>
            </a:r>
            <a:r>
              <a:rPr lang="en-US">
                <a:effectLst>
                  <a:glow>
                    <a:srgbClr val="000000"/>
                  </a:glow>
                  <a:outerShdw sx="0" sy="0">
                    <a:srgbClr val="000000"/>
                  </a:outerShdw>
                  <a:reflection stA="0" endPos="0" fadeDir="0" sx="0" sy="0"/>
                </a:effectLst>
              </a:rPr>
              <a:t>: dùng một chương trình soạn thảo văn bản, chẳng hạn như NotePad để viết mã nguồn  và lưu lại thành tập tin có phần mở rộng “.java”.</a:t>
            </a:r>
          </a:p>
          <a:p>
            <a:pPr latinLnBrk="0"/>
            <a:r>
              <a:rPr lang="en-US" b="1">
                <a:effectLst>
                  <a:glow>
                    <a:srgbClr val="000000"/>
                  </a:glow>
                  <a:outerShdw sx="0" sy="0">
                    <a:srgbClr val="000000"/>
                  </a:outerShdw>
                  <a:reflection stA="0" endPos="0" fadeDir="0" sx="0" sy="0"/>
                </a:effectLst>
              </a:rPr>
              <a:t>Biên dịch ra mã bytecode</a:t>
            </a:r>
            <a:r>
              <a:rPr lang="en-US">
                <a:effectLst>
                  <a:glow>
                    <a:srgbClr val="000000"/>
                  </a:glow>
                  <a:outerShdw sx="0" sy="0">
                    <a:srgbClr val="000000"/>
                  </a:outerShdw>
                  <a:reflection stA="0" endPos="0" fadeDir="0" sx="0" sy="0"/>
                </a:effectLst>
              </a:rPr>
              <a:t>: dùng trình biên dịch Java (lệnh javac) để biên dịch mã nguồn “.java” thành mã bytecode java có phần mở rộng “.class”.</a:t>
            </a:r>
          </a:p>
          <a:p>
            <a:pPr latinLnBrk="0"/>
            <a:r>
              <a:rPr lang="en-US" b="1"/>
              <a:t>Thông dịch và thực thi</a:t>
            </a:r>
            <a:r>
              <a:rPr lang="en-US"/>
              <a:t>: Dùng trình thông dịch Java (lệnh java) để thông dịch và thực thi.</a:t>
            </a:r>
          </a:p>
        </p:txBody>
      </p:sp>
      <p:sp>
        <p:nvSpPr>
          <p:cNvPr id="4" name="Slide Number Placeholder 3"/>
          <p:cNvSpPr>
            <a:spLocks noGrp="1"/>
          </p:cNvSpPr>
          <p:nvPr>
            <p:ph type="sldNum" sz="quarter" idx="12"/>
          </p:nvPr>
        </p:nvSpPr>
        <p:spPr/>
        <p:txBody>
          <a:bodyPr/>
          <a:lstStyle/>
          <a:p>
            <a:fld id="{E3E8E051-591C-4566-9813-B4BB16D377BD}" type="slidenum">
              <a:rPr lang="en-US" smtClean="0"/>
              <a:pPr/>
              <a:t>26</a:t>
            </a:fld>
            <a:endParaRPr lang="en-US"/>
          </a:p>
        </p:txBody>
      </p:sp>
    </p:spTree>
    <p:extLst>
      <p:ext uri="{BB962C8B-B14F-4D97-AF65-F5344CB8AC3E}">
        <p14:creationId xmlns:p14="http://schemas.microsoft.com/office/powerpoint/2010/main" val="4019302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640" y="1106742"/>
            <a:ext cx="6372708" cy="651560"/>
          </a:xfrm>
        </p:spPr>
        <p:txBody>
          <a:bodyPr/>
          <a:lstStyle/>
          <a:p>
            <a:r>
              <a:rPr lang="en-US" smtClean="0"/>
              <a:t>1.7. IDE hỗ trợ lập trình Java</a:t>
            </a:r>
            <a:endParaRPr lang="en-US"/>
          </a:p>
        </p:txBody>
      </p:sp>
      <p:sp>
        <p:nvSpPr>
          <p:cNvPr id="3" name="Content Placeholder 2"/>
          <p:cNvSpPr>
            <a:spLocks noGrp="1"/>
          </p:cNvSpPr>
          <p:nvPr>
            <p:ph idx="1"/>
          </p:nvPr>
        </p:nvSpPr>
        <p:spPr/>
        <p:txBody>
          <a:bodyPr>
            <a:normAutofit/>
          </a:bodyPr>
          <a:lstStyle/>
          <a:p>
            <a:pPr latinLnBrk="0"/>
            <a:r>
              <a:rPr lang="en-US" smtClean="0"/>
              <a:t>Một số IDE (</a:t>
            </a:r>
            <a:r>
              <a:rPr lang="en-US" i="1" smtClean="0"/>
              <a:t>Integrated Development Environment</a:t>
            </a:r>
            <a:r>
              <a:rPr lang="en-US" smtClean="0"/>
              <a:t>) hỗ trợ lập trình Java được sử dụng phổ biến:</a:t>
            </a:r>
          </a:p>
          <a:p>
            <a:pPr lvl="1" latinLnBrk="0"/>
            <a:r>
              <a:rPr lang="en-US" sz="2400"/>
              <a:t>Eclipse</a:t>
            </a:r>
          </a:p>
          <a:p>
            <a:pPr lvl="1" latinLnBrk="0"/>
            <a:r>
              <a:rPr lang="en-US" sz="2400"/>
              <a:t>NetBean</a:t>
            </a:r>
            <a:endParaRPr lang="en-US" sz="2400"/>
          </a:p>
          <a:p>
            <a:pPr lvl="1" latinLnBrk="0"/>
            <a:r>
              <a:rPr lang="en-US"/>
              <a:t>IntelliJ IDEA</a:t>
            </a:r>
            <a:endParaRPr lang="en-US" sz="2400"/>
          </a:p>
          <a:p>
            <a:pPr latinLnBrk="0"/>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27</a:t>
            </a:fld>
            <a:endParaRPr lang="en-US"/>
          </a:p>
        </p:txBody>
      </p:sp>
      <p:pic>
        <p:nvPicPr>
          <p:cNvPr id="5" name="Picture 4" descr="eclipse.png"/>
          <p:cNvPicPr>
            <a:picLocks noChangeAspect="1"/>
          </p:cNvPicPr>
          <p:nvPr/>
        </p:nvPicPr>
        <p:blipFill>
          <a:blip r:embed="rId2" cstate="print"/>
          <a:stretch>
            <a:fillRect/>
          </a:stretch>
        </p:blipFill>
        <p:spPr>
          <a:xfrm>
            <a:off x="2141730" y="4421533"/>
            <a:ext cx="960120" cy="960120"/>
          </a:xfrm>
          <a:prstGeom prst="rect">
            <a:avLst/>
          </a:prstGeom>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9892" y="4305092"/>
            <a:ext cx="1085850" cy="1193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spect="1"/>
          </p:cNvPicPr>
          <p:nvPr/>
        </p:nvPicPr>
        <p:blipFill>
          <a:blip r:embed="rId4"/>
          <a:stretch>
            <a:fillRect/>
          </a:stretch>
        </p:blipFill>
        <p:spPr>
          <a:xfrm>
            <a:off x="5490106" y="4202941"/>
            <a:ext cx="1114425" cy="1178719"/>
          </a:xfrm>
          <a:prstGeom prst="rect">
            <a:avLst/>
          </a:prstGeom>
        </p:spPr>
      </p:pic>
    </p:spTree>
    <p:extLst>
      <p:ext uri="{BB962C8B-B14F-4D97-AF65-F5344CB8AC3E}">
        <p14:creationId xmlns:p14="http://schemas.microsoft.com/office/powerpoint/2010/main" val="163000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2. Các thành phần cơ bản của NNLT Java</a:t>
            </a:r>
            <a:endParaRPr lang="en-US" sz="2400"/>
          </a:p>
        </p:txBody>
      </p:sp>
      <p:sp>
        <p:nvSpPr>
          <p:cNvPr id="3" name="Content Placeholder 2"/>
          <p:cNvSpPr>
            <a:spLocks noGrp="1"/>
          </p:cNvSpPr>
          <p:nvPr>
            <p:ph idx="1"/>
          </p:nvPr>
        </p:nvSpPr>
        <p:spPr>
          <a:xfrm>
            <a:off x="1385646" y="1808820"/>
            <a:ext cx="6372708" cy="3726414"/>
          </a:xfrm>
        </p:spPr>
        <p:txBody>
          <a:bodyPr wrap="square">
            <a:noAutofit/>
          </a:bodyPr>
          <a:lstStyle/>
          <a:p>
            <a:pPr marL="0" indent="0">
              <a:buNone/>
            </a:pPr>
            <a:r>
              <a:rPr lang="en-US" smtClean="0">
                <a:effectLst>
                  <a:glow>
                    <a:srgbClr val="000000"/>
                  </a:glow>
                  <a:outerShdw sx="0" sy="0">
                    <a:srgbClr val="000000"/>
                  </a:outerShdw>
                  <a:reflection stA="0" endPos="0" fadeDir="0" sx="0" sy="0"/>
                </a:effectLst>
              </a:rPr>
              <a:t>2.1. Từ khóa và định danh</a:t>
            </a:r>
          </a:p>
          <a:p>
            <a:pPr marL="0" indent="0">
              <a:buNone/>
            </a:pPr>
            <a:r>
              <a:rPr lang="en-US" smtClean="0">
                <a:effectLst>
                  <a:glow>
                    <a:srgbClr val="000000"/>
                  </a:glow>
                  <a:outerShdw sx="0" sy="0">
                    <a:srgbClr val="000000"/>
                  </a:outerShdw>
                  <a:reflection stA="0" endPos="0" fadeDir="0" sx="0" sy="0"/>
                </a:effectLst>
              </a:rPr>
              <a:t>2.2. Kiểu dữ liệu</a:t>
            </a:r>
          </a:p>
          <a:p>
            <a:pPr marL="0" indent="0">
              <a:buNone/>
            </a:pPr>
            <a:r>
              <a:rPr lang="en-US" smtClean="0">
                <a:effectLst>
                  <a:glow>
                    <a:srgbClr val="000000"/>
                  </a:glow>
                  <a:outerShdw sx="0" sy="0">
                    <a:srgbClr val="000000"/>
                  </a:outerShdw>
                  <a:reflection stA="0" endPos="0" fadeDir="0" sx="0" sy="0"/>
                </a:effectLst>
              </a:rPr>
              <a:t>2.3. Toán tử</a:t>
            </a:r>
          </a:p>
          <a:p>
            <a:pPr marL="0" indent="0">
              <a:buNone/>
            </a:pPr>
            <a:r>
              <a:rPr lang="en-US" smtClean="0">
                <a:effectLst>
                  <a:glow>
                    <a:srgbClr val="000000"/>
                  </a:glow>
                  <a:outerShdw sx="0" sy="0">
                    <a:srgbClr val="000000"/>
                  </a:outerShdw>
                  <a:reflection stA="0" endPos="0" fadeDir="0" sx="0" sy="0"/>
                </a:effectLst>
              </a:rPr>
              <a:t>2.4. Biến và hằng</a:t>
            </a:r>
          </a:p>
          <a:p>
            <a:pPr marL="0" indent="0">
              <a:buNone/>
            </a:pPr>
            <a:r>
              <a:rPr lang="en-US" smtClean="0">
                <a:effectLst>
                  <a:glow>
                    <a:srgbClr val="000000"/>
                  </a:glow>
                  <a:outerShdw sx="0" sy="0">
                    <a:srgbClr val="000000"/>
                  </a:outerShdw>
                  <a:reflection stA="0" endPos="0" fadeDir="0" sx="0" sy="0"/>
                </a:effectLst>
              </a:rPr>
              <a:t>2.5.Câu lệnh và khối lệnh</a:t>
            </a:r>
          </a:p>
          <a:p>
            <a:pPr marL="0" indent="0">
              <a:buNone/>
            </a:pPr>
            <a:r>
              <a:rPr lang="en-US" smtClean="0">
                <a:effectLst>
                  <a:glow>
                    <a:srgbClr val="000000"/>
                  </a:glow>
                  <a:outerShdw sx="0" sy="0">
                    <a:srgbClr val="000000"/>
                  </a:outerShdw>
                  <a:reflection stA="0" endPos="0" fadeDir="0" sx="0" sy="0"/>
                </a:effectLst>
              </a:rPr>
              <a:t>2.6. Chú thích</a:t>
            </a:r>
          </a:p>
          <a:p>
            <a:pPr marL="0" indent="0">
              <a:buNone/>
            </a:pPr>
            <a:r>
              <a:rPr lang="en-US" smtClean="0">
                <a:effectLst>
                  <a:glow>
                    <a:srgbClr val="000000"/>
                  </a:glow>
                  <a:outerShdw sx="0" sy="0">
                    <a:srgbClr val="000000"/>
                  </a:outerShdw>
                  <a:reflection stA="0" endPos="0" fadeDir="0" sx="0" sy="0"/>
                </a:effectLst>
              </a:rPr>
              <a:t>2.7. Nhập xuất dữ liệu đơn giản</a:t>
            </a:r>
            <a:endParaRPr lang="en-US">
              <a:effectLst>
                <a:glow>
                  <a:srgbClr val="000000"/>
                </a:glow>
                <a:outerShdw sx="0" sy="0">
                  <a:srgbClr val="000000"/>
                </a:outerShdw>
                <a:reflection stA="0" endPos="0" fadeDir="0" sx="0" sy="0"/>
              </a:effectLst>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28</a:t>
            </a:fld>
            <a:endParaRPr lang="en-US"/>
          </a:p>
        </p:txBody>
      </p:sp>
    </p:spTree>
    <p:extLst>
      <p:ext uri="{BB962C8B-B14F-4D97-AF65-F5344CB8AC3E}">
        <p14:creationId xmlns:p14="http://schemas.microsoft.com/office/powerpoint/2010/main" val="299987105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2.1. Từ khóa và định danh</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r>
              <a:rPr lang="en-US" b="1" smtClean="0">
                <a:solidFill>
                  <a:srgbClr val="FF0000"/>
                </a:solidFill>
              </a:rPr>
              <a:t>Từ khóa</a:t>
            </a:r>
          </a:p>
          <a:p>
            <a:pPr lvl="1" latinLnBrk="0"/>
            <a:r>
              <a:rPr lang="en-US" sz="2250"/>
              <a:t>Từ khóa của một ngôn ngữ lập trình là những định danh được định nghĩa trước của ngôn ngữ và không được phép sử dụng cho các thực thể </a:t>
            </a:r>
            <a:r>
              <a:rPr lang="en-US" sz="2250"/>
              <a:t>khác.</a:t>
            </a:r>
          </a:p>
          <a:p>
            <a:pPr lvl="1" latinLnBrk="0"/>
            <a:r>
              <a:rPr lang="en-US" sz="2250"/>
              <a:t>Các </a:t>
            </a:r>
            <a:r>
              <a:rPr lang="en-US" sz="2250"/>
              <a:t>từ khóa của Java có thể chia thành </a:t>
            </a:r>
            <a:r>
              <a:rPr lang="en-US" sz="2250" b="1"/>
              <a:t>9</a:t>
            </a:r>
            <a:r>
              <a:rPr lang="en-US" sz="2250"/>
              <a:t> </a:t>
            </a:r>
            <a:r>
              <a:rPr lang="en-US" sz="2250"/>
              <a:t>nhóm.</a:t>
            </a:r>
          </a:p>
          <a:p>
            <a:pPr lvl="2" latinLnBrk="0"/>
            <a:endParaRPr lang="vi-VN"/>
          </a:p>
        </p:txBody>
      </p:sp>
      <p:sp>
        <p:nvSpPr>
          <p:cNvPr id="4" name="Slide Number Placeholder 3"/>
          <p:cNvSpPr>
            <a:spLocks noGrp="1"/>
          </p:cNvSpPr>
          <p:nvPr>
            <p:ph type="sldNum" sz="quarter" idx="12"/>
          </p:nvPr>
        </p:nvSpPr>
        <p:spPr/>
        <p:txBody>
          <a:bodyPr/>
          <a:lstStyle/>
          <a:p>
            <a:fld id="{E3E8E051-591C-4566-9813-B4BB16D377BD}" type="slidenum">
              <a:rPr lang="en-US" smtClean="0"/>
              <a:pPr/>
              <a:t>29</a:t>
            </a:fld>
            <a:endParaRPr lang="en-US"/>
          </a:p>
        </p:txBody>
      </p:sp>
    </p:spTree>
    <p:extLst>
      <p:ext uri="{BB962C8B-B14F-4D97-AF65-F5344CB8AC3E}">
        <p14:creationId xmlns:p14="http://schemas.microsoft.com/office/powerpoint/2010/main" val="40808283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2.1. Từ khóa và định danh</a:t>
            </a:r>
            <a:endParaRPr lang="en-US"/>
          </a:p>
        </p:txBody>
      </p:sp>
      <p:sp>
        <p:nvSpPr>
          <p:cNvPr id="3" name="Content Placeholder 2"/>
          <p:cNvSpPr>
            <a:spLocks noGrp="1"/>
          </p:cNvSpPr>
          <p:nvPr>
            <p:ph idx="1"/>
          </p:nvPr>
        </p:nvSpPr>
        <p:spPr>
          <a:xfrm>
            <a:off x="1385646" y="1714500"/>
            <a:ext cx="6372708" cy="3726414"/>
          </a:xfrm>
        </p:spPr>
        <p:txBody>
          <a:bodyPr wrap="square">
            <a:noAutofit/>
          </a:bodyPr>
          <a:lstStyle/>
          <a:p>
            <a:r>
              <a:rPr lang="en-US" b="1" smtClean="0">
                <a:solidFill>
                  <a:srgbClr val="FF0000"/>
                </a:solidFill>
              </a:rPr>
              <a:t>Từ khóa</a:t>
            </a:r>
          </a:p>
          <a:p>
            <a:pPr lvl="1">
              <a:spcBef>
                <a:spcPts val="450"/>
              </a:spcBef>
              <a:spcAft>
                <a:spcPts val="0"/>
              </a:spcAft>
            </a:pPr>
            <a:r>
              <a:rPr lang="en-US" sz="2250">
                <a:effectLst>
                  <a:glow>
                    <a:srgbClr val="000000"/>
                  </a:glow>
                  <a:outerShdw sx="0" sy="0">
                    <a:srgbClr val="000000"/>
                  </a:outerShdw>
                  <a:reflection stA="0" endPos="0" fadeDir="0" sx="0" sy="0"/>
                </a:effectLst>
              </a:rPr>
              <a:t>Tổ chức các lớp: package, import</a:t>
            </a:r>
          </a:p>
          <a:p>
            <a:pPr lvl="1">
              <a:spcBef>
                <a:spcPts val="450"/>
              </a:spcBef>
              <a:spcAft>
                <a:spcPts val="0"/>
              </a:spcAft>
            </a:pPr>
            <a:r>
              <a:rPr lang="en-US" sz="2250">
                <a:effectLst>
                  <a:glow>
                    <a:srgbClr val="000000"/>
                  </a:glow>
                  <a:outerShdw sx="0" sy="0">
                    <a:srgbClr val="000000"/>
                  </a:outerShdw>
                  <a:reflection stA="0" endPos="0" fadeDir="0" sx="0" sy="0"/>
                </a:effectLst>
              </a:rPr>
              <a:t>Định nghĩa các lớp: interface, class, extends, </a:t>
            </a:r>
            <a:r>
              <a:rPr lang="en-US" sz="2250">
                <a:effectLst>
                  <a:glow>
                    <a:srgbClr val="000000"/>
                  </a:glow>
                  <a:outerShdw sx="0" sy="0">
                    <a:srgbClr val="000000"/>
                  </a:outerShdw>
                  <a:reflection stA="0" endPos="0" fadeDir="0" sx="0" sy="0"/>
                </a:effectLst>
              </a:rPr>
              <a:t>implements.</a:t>
            </a:r>
            <a:endParaRPr lang="en-US" sz="2250">
              <a:effectLst>
                <a:glow>
                  <a:srgbClr val="000000"/>
                </a:glow>
                <a:outerShdw sx="0" sy="0">
                  <a:srgbClr val="000000"/>
                </a:outerShdw>
                <a:reflection stA="0" endPos="0" fadeDir="0" sx="0" sy="0"/>
              </a:effectLst>
            </a:endParaRPr>
          </a:p>
          <a:p>
            <a:pPr lvl="1">
              <a:spcBef>
                <a:spcPts val="450"/>
              </a:spcBef>
              <a:spcAft>
                <a:spcPts val="0"/>
              </a:spcAft>
            </a:pPr>
            <a:r>
              <a:rPr lang="en-US" sz="2250">
                <a:effectLst>
                  <a:glow>
                    <a:srgbClr val="000000"/>
                  </a:glow>
                  <a:outerShdw sx="0" sy="0">
                    <a:srgbClr val="000000"/>
                  </a:outerShdw>
                  <a:reflection stA="0" endPos="0" fadeDir="0" sx="0" sy="0"/>
                </a:effectLst>
              </a:rPr>
              <a:t>Các từ khóa cho các biến và các lớp: abstract, public, private, protected, static, synchronized, volatile, final, </a:t>
            </a:r>
            <a:r>
              <a:rPr lang="en-US" sz="2250">
                <a:effectLst>
                  <a:glow>
                    <a:srgbClr val="000000"/>
                  </a:glow>
                  <a:outerShdw sx="0" sy="0">
                    <a:srgbClr val="000000"/>
                  </a:outerShdw>
                  <a:reflection stA="0" endPos="0" fadeDir="0" sx="0" sy="0"/>
                </a:effectLst>
              </a:rPr>
              <a:t>native.</a:t>
            </a:r>
            <a:endParaRPr lang="en-US" sz="2250">
              <a:effectLst>
                <a:glow>
                  <a:srgbClr val="000000"/>
                </a:glow>
                <a:outerShdw sx="0" sy="0">
                  <a:srgbClr val="000000"/>
                </a:outerShdw>
                <a:reflection stA="0" endPos="0" fadeDir="0" sx="0" sy="0"/>
              </a:effectLst>
            </a:endParaRPr>
          </a:p>
          <a:p>
            <a:pPr lvl="1">
              <a:spcBef>
                <a:spcPts val="450"/>
              </a:spcBef>
              <a:spcAft>
                <a:spcPts val="0"/>
              </a:spcAft>
            </a:pPr>
            <a:r>
              <a:rPr lang="en-US" sz="2250">
                <a:effectLst>
                  <a:glow>
                    <a:srgbClr val="000000"/>
                  </a:glow>
                  <a:outerShdw sx="0" sy="0">
                    <a:srgbClr val="000000"/>
                  </a:outerShdw>
                  <a:reflection stA="0" endPos="0" fadeDir="0" sx="0" sy="0"/>
                </a:effectLst>
              </a:rPr>
              <a:t>Các kiểu dữ liệu cơ sở: long, int, short, byte, char, float, double, boolean, </a:t>
            </a:r>
            <a:r>
              <a:rPr lang="en-US" sz="2250">
                <a:effectLst>
                  <a:glow>
                    <a:srgbClr val="000000"/>
                  </a:glow>
                  <a:outerShdw sx="0" sy="0">
                    <a:srgbClr val="000000"/>
                  </a:outerShdw>
                  <a:reflection stA="0" endPos="0" fadeDir="0" sx="0" sy="0"/>
                </a:effectLst>
              </a:rPr>
              <a:t>void.</a:t>
            </a:r>
          </a:p>
          <a:p>
            <a:pPr lvl="1">
              <a:spcBef>
                <a:spcPts val="450"/>
              </a:spcBef>
              <a:spcAft>
                <a:spcPts val="0"/>
              </a:spcAft>
            </a:pPr>
            <a:r>
              <a:rPr lang="en-US" sz="2250">
                <a:effectLst>
                  <a:glow>
                    <a:srgbClr val="000000"/>
                  </a:glow>
                  <a:outerShdw sx="0" sy="0">
                    <a:srgbClr val="000000"/>
                  </a:outerShdw>
                  <a:reflection stA="0" endPos="0" fadeDir="0" sx="0" sy="0"/>
                </a:effectLst>
              </a:rPr>
              <a:t>Các từ khóa cho các giá trị và các biến: false, true, this, super, null.</a:t>
            </a:r>
          </a:p>
          <a:p>
            <a:pPr marL="342900" lvl="1" indent="0">
              <a:spcBef>
                <a:spcPts val="450"/>
              </a:spcBef>
              <a:spcAft>
                <a:spcPts val="0"/>
              </a:spcAft>
              <a:buNone/>
            </a:pPr>
            <a:endParaRPr lang="en-US" sz="2250">
              <a:effectLst>
                <a:glow>
                  <a:srgbClr val="000000"/>
                </a:glow>
                <a:outerShdw sx="0" sy="0">
                  <a:srgbClr val="000000"/>
                </a:outerShdw>
                <a:reflection stA="0" endPos="0" fadeDir="0" sx="0" sy="0"/>
              </a:effectLst>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30</a:t>
            </a:fld>
            <a:endParaRPr lang="en-US"/>
          </a:p>
        </p:txBody>
      </p:sp>
    </p:spTree>
    <p:extLst>
      <p:ext uri="{BB962C8B-B14F-4D97-AF65-F5344CB8AC3E}">
        <p14:creationId xmlns:p14="http://schemas.microsoft.com/office/powerpoint/2010/main" val="147190274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2.1. Từ khóa và định danh</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r>
              <a:rPr lang="en-US" b="1" smtClean="0">
                <a:solidFill>
                  <a:srgbClr val="FF0000"/>
                </a:solidFill>
              </a:rPr>
              <a:t>Từ khóa</a:t>
            </a:r>
          </a:p>
          <a:p>
            <a:pPr lvl="1">
              <a:spcBef>
                <a:spcPts val="450"/>
              </a:spcBef>
              <a:spcAft>
                <a:spcPts val="0"/>
              </a:spcAft>
            </a:pPr>
            <a:r>
              <a:rPr lang="en-US" sz="2250">
                <a:effectLst>
                  <a:glow>
                    <a:srgbClr val="000000"/>
                  </a:glow>
                  <a:outerShdw sx="0" sy="0">
                    <a:srgbClr val="000000"/>
                  </a:outerShdw>
                  <a:reflection stA="0" endPos="0" fadeDir="0" sx="0" sy="0"/>
                </a:effectLst>
              </a:rPr>
              <a:t>Xử </a:t>
            </a:r>
            <a:r>
              <a:rPr lang="en-US" sz="2250">
                <a:effectLst>
                  <a:glow>
                    <a:srgbClr val="000000"/>
                  </a:glow>
                  <a:outerShdw sx="0" sy="0">
                    <a:srgbClr val="000000"/>
                  </a:outerShdw>
                  <a:reflection stA="0" endPos="0" fadeDir="0" sx="0" sy="0"/>
                </a:effectLst>
              </a:rPr>
              <a:t>lý ngoại lệ: throw, throws, try, catch, </a:t>
            </a:r>
            <a:r>
              <a:rPr lang="en-US" sz="2250">
                <a:effectLst>
                  <a:glow>
                    <a:srgbClr val="000000"/>
                  </a:glow>
                  <a:outerShdw sx="0" sy="0">
                    <a:srgbClr val="000000"/>
                  </a:outerShdw>
                  <a:reflection stA="0" endPos="0" fadeDir="0" sx="0" sy="0"/>
                </a:effectLst>
              </a:rPr>
              <a:t>finally.</a:t>
            </a:r>
            <a:endParaRPr lang="en-US" sz="2250">
              <a:effectLst>
                <a:glow>
                  <a:srgbClr val="000000"/>
                </a:glow>
                <a:outerShdw sx="0" sy="0">
                  <a:srgbClr val="000000"/>
                </a:outerShdw>
                <a:reflection stA="0" endPos="0" fadeDir="0" sx="0" sy="0"/>
              </a:effectLst>
            </a:endParaRPr>
          </a:p>
          <a:p>
            <a:pPr lvl="1">
              <a:spcBef>
                <a:spcPts val="450"/>
              </a:spcBef>
              <a:spcAft>
                <a:spcPts val="0"/>
              </a:spcAft>
            </a:pPr>
            <a:r>
              <a:rPr lang="en-US" sz="2250">
                <a:effectLst>
                  <a:glow>
                    <a:srgbClr val="000000"/>
                  </a:glow>
                  <a:outerShdw sx="0" sy="0">
                    <a:srgbClr val="000000"/>
                  </a:outerShdw>
                  <a:reflection stA="0" endPos="0" fadeDir="0" sx="0" sy="0"/>
                </a:effectLst>
              </a:rPr>
              <a:t>Tạo lập và kiểm tra các đối tượng: new, </a:t>
            </a:r>
            <a:r>
              <a:rPr lang="en-US" sz="2250">
                <a:effectLst>
                  <a:glow>
                    <a:srgbClr val="000000"/>
                  </a:glow>
                  <a:outerShdw sx="0" sy="0">
                    <a:srgbClr val="000000"/>
                  </a:outerShdw>
                  <a:reflection stA="0" endPos="0" fadeDir="0" sx="0" sy="0"/>
                </a:effectLst>
              </a:rPr>
              <a:t>instanceof.</a:t>
            </a:r>
            <a:endParaRPr lang="en-US" sz="2250">
              <a:effectLst>
                <a:glow>
                  <a:srgbClr val="000000"/>
                </a:glow>
                <a:outerShdw sx="0" sy="0">
                  <a:srgbClr val="000000"/>
                </a:outerShdw>
                <a:reflection stA="0" endPos="0" fadeDir="0" sx="0" sy="0"/>
              </a:effectLst>
            </a:endParaRPr>
          </a:p>
          <a:p>
            <a:pPr lvl="1">
              <a:spcBef>
                <a:spcPts val="450"/>
              </a:spcBef>
              <a:spcAft>
                <a:spcPts val="0"/>
              </a:spcAft>
            </a:pPr>
            <a:r>
              <a:rPr lang="en-US" sz="2250">
                <a:effectLst>
                  <a:glow>
                    <a:srgbClr val="000000"/>
                  </a:glow>
                  <a:outerShdw sx="0" sy="0">
                    <a:srgbClr val="000000"/>
                  </a:outerShdw>
                  <a:reflection stA="0" endPos="0" fadeDir="0" sx="0" sy="0"/>
                </a:effectLst>
              </a:rPr>
              <a:t>Dòng điều khiển chương trình: if, else, switch, case, default, break, continue, return, do, while, </a:t>
            </a:r>
            <a:r>
              <a:rPr lang="en-US" sz="2250">
                <a:effectLst>
                  <a:glow>
                    <a:srgbClr val="000000"/>
                  </a:glow>
                  <a:outerShdw sx="0" sy="0">
                    <a:srgbClr val="000000"/>
                  </a:outerShdw>
                  <a:reflection stA="0" endPos="0" fadeDir="0" sx="0" sy="0"/>
                </a:effectLst>
              </a:rPr>
              <a:t>for.</a:t>
            </a:r>
          </a:p>
          <a:p>
            <a:pPr lvl="1">
              <a:spcBef>
                <a:spcPts val="450"/>
              </a:spcBef>
              <a:spcAft>
                <a:spcPts val="0"/>
              </a:spcAft>
            </a:pPr>
            <a:r>
              <a:rPr lang="en-US" sz="2250">
                <a:effectLst>
                  <a:glow>
                    <a:srgbClr val="000000"/>
                  </a:glow>
                  <a:outerShdw sx="0" sy="0">
                    <a:srgbClr val="000000"/>
                  </a:outerShdw>
                  <a:reflection stA="0" endPos="0" fadeDir="0" sx="0" sy="0"/>
                </a:effectLst>
              </a:rPr>
              <a:t>Một số từ khóa khác: byvalue, future, outer, const, genetic, rest, goto, inner, var, cast, operator.</a:t>
            </a:r>
          </a:p>
          <a:p>
            <a:pPr marL="342900" lvl="1" indent="0">
              <a:spcAft>
                <a:spcPts val="450"/>
              </a:spcAft>
              <a:buNone/>
            </a:pPr>
            <a:endParaRPr lang="en-US" sz="2250">
              <a:effectLst>
                <a:glow>
                  <a:srgbClr val="000000"/>
                </a:glow>
                <a:outerShdw sx="0" sy="0">
                  <a:srgbClr val="000000"/>
                </a:outerShdw>
                <a:reflection stA="0" endPos="0" fadeDir="0" sx="0" sy="0"/>
              </a:effectLst>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31</a:t>
            </a:fld>
            <a:endParaRPr lang="en-US"/>
          </a:p>
        </p:txBody>
      </p:sp>
    </p:spTree>
    <p:extLst>
      <p:ext uri="{BB962C8B-B14F-4D97-AF65-F5344CB8AC3E}">
        <p14:creationId xmlns:p14="http://schemas.microsoft.com/office/powerpoint/2010/main" val="329992909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2.1. Từ khóa và định danh</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r>
              <a:rPr lang="en-US" b="1" smtClean="0">
                <a:solidFill>
                  <a:srgbClr val="FF0000"/>
                </a:solidFill>
              </a:rPr>
              <a:t>Định danh (</a:t>
            </a:r>
            <a:r>
              <a:rPr lang="en-US" b="1">
                <a:solidFill>
                  <a:srgbClr val="FF0000"/>
                </a:solidFill>
              </a:rPr>
              <a:t>Identifier)</a:t>
            </a:r>
          </a:p>
          <a:p>
            <a:pPr lvl="1" latinLnBrk="0"/>
            <a:r>
              <a:rPr lang="en-US" sz="2250"/>
              <a:t>Là tên gọi của các thành phần trong chương trình. Định danh </a:t>
            </a:r>
            <a:r>
              <a:rPr lang="en-US" sz="2250"/>
              <a:t>được</a:t>
            </a:r>
            <a:r>
              <a:rPr lang="en-US" sz="2250"/>
              <a:t> sử dụng để xác định các phần tử như biến, phương thức (method), đối tượng, lớp,…</a:t>
            </a:r>
          </a:p>
          <a:p>
            <a:pPr lvl="1"/>
            <a:r>
              <a:rPr lang="en-US" sz="2250"/>
              <a:t>Trong Java, định danh là một dãy các ký tự gồm các chữ cái, chữ số, ký hiệu gạch nối “_”, các ký hiệu tiền tệ như $, £,… không được bắt đầu bằng chữ số và không được trùng với từ khóa và các từ dành riêng của Java</a:t>
            </a:r>
            <a:r>
              <a:rPr lang="en-US" sz="2250"/>
              <a:t>.</a:t>
            </a:r>
            <a:endParaRPr lang="en-US" sz="2250"/>
          </a:p>
        </p:txBody>
      </p:sp>
      <p:sp>
        <p:nvSpPr>
          <p:cNvPr id="4" name="Slide Number Placeholder 3"/>
          <p:cNvSpPr>
            <a:spLocks noGrp="1"/>
          </p:cNvSpPr>
          <p:nvPr>
            <p:ph type="sldNum" sz="quarter" idx="12"/>
          </p:nvPr>
        </p:nvSpPr>
        <p:spPr/>
        <p:txBody>
          <a:bodyPr/>
          <a:lstStyle/>
          <a:p>
            <a:fld id="{E3E8E051-591C-4566-9813-B4BB16D377BD}" type="slidenum">
              <a:rPr lang="en-US" smtClean="0"/>
              <a:pPr/>
              <a:t>32</a:t>
            </a:fld>
            <a:endParaRPr lang="en-US"/>
          </a:p>
        </p:txBody>
      </p:sp>
    </p:spTree>
    <p:extLst>
      <p:ext uri="{BB962C8B-B14F-4D97-AF65-F5344CB8AC3E}">
        <p14:creationId xmlns:p14="http://schemas.microsoft.com/office/powerpoint/2010/main" val="133412745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2.2. Kiểu dữ liệu</a:t>
            </a:r>
            <a:endParaRPr lang="en-US" sz="2400"/>
          </a:p>
        </p:txBody>
      </p:sp>
      <p:sp>
        <p:nvSpPr>
          <p:cNvPr id="3" name="Content Placeholder 2"/>
          <p:cNvSpPr>
            <a:spLocks noGrp="1"/>
          </p:cNvSpPr>
          <p:nvPr>
            <p:ph idx="1"/>
          </p:nvPr>
        </p:nvSpPr>
        <p:spPr>
          <a:xfrm>
            <a:off x="1385646" y="1808820"/>
            <a:ext cx="6372708" cy="3726414"/>
          </a:xfrm>
        </p:spPr>
        <p:txBody>
          <a:bodyPr wrap="square">
            <a:noAutofit/>
          </a:bodyPr>
          <a:lstStyle/>
          <a:p>
            <a:pPr marL="385763" indent="-385763">
              <a:buFont typeface="+mj-lt"/>
              <a:buAutoNum type="arabicPeriod"/>
            </a:pPr>
            <a:r>
              <a:rPr lang="en-US" smtClean="0">
                <a:effectLst>
                  <a:glow>
                    <a:srgbClr val="000000"/>
                  </a:glow>
                  <a:outerShdw sx="0" sy="0">
                    <a:srgbClr val="000000"/>
                  </a:outerShdw>
                  <a:reflection stA="0" endPos="0" fadeDir="0" sx="0" sy="0"/>
                </a:effectLst>
              </a:rPr>
              <a:t>Kiểu dữ liệu cơ sở</a:t>
            </a:r>
          </a:p>
          <a:p>
            <a:pPr marL="385763" indent="-385763">
              <a:buFont typeface="+mj-lt"/>
              <a:buAutoNum type="arabicPeriod"/>
            </a:pPr>
            <a:r>
              <a:rPr lang="en-US" smtClean="0">
                <a:effectLst>
                  <a:glow>
                    <a:srgbClr val="000000"/>
                  </a:glow>
                  <a:outerShdw sx="0" sy="0">
                    <a:srgbClr val="000000"/>
                  </a:outerShdw>
                  <a:reflection stA="0" endPos="0" fadeDir="0" sx="0" sy="0"/>
                </a:effectLst>
              </a:rPr>
              <a:t>Kiểu dữ liệu tham chiếu</a:t>
            </a:r>
            <a:endParaRPr lang="en-US">
              <a:effectLst>
                <a:glow>
                  <a:srgbClr val="000000"/>
                </a:glow>
                <a:outerShdw sx="0" sy="0">
                  <a:srgbClr val="000000"/>
                </a:outerShdw>
                <a:reflection stA="0" endPos="0" fadeDir="0" sx="0" sy="0"/>
              </a:effectLst>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33</a:t>
            </a:fld>
            <a:endParaRPr lang="en-US"/>
          </a:p>
        </p:txBody>
      </p:sp>
    </p:spTree>
    <p:extLst>
      <p:ext uri="{BB962C8B-B14F-4D97-AF65-F5344CB8AC3E}">
        <p14:creationId xmlns:p14="http://schemas.microsoft.com/office/powerpoint/2010/main" val="419131635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2.2.1. Các kiểu dữ liệu cơ sở</a:t>
            </a:r>
            <a:endParaRPr lang="en-US"/>
          </a:p>
        </p:txBody>
      </p:sp>
      <p:graphicFrame>
        <p:nvGraphicFramePr>
          <p:cNvPr id="5" name="Content Placeholder 4"/>
          <p:cNvGraphicFramePr>
            <a:graphicFrameLocks noGrp="1"/>
          </p:cNvGraphicFramePr>
          <p:nvPr>
            <p:ph idx="1"/>
            <p:extLst/>
          </p:nvPr>
        </p:nvGraphicFramePr>
        <p:xfrm>
          <a:off x="1385892" y="1808560"/>
          <a:ext cx="6372226" cy="4538472"/>
        </p:xfrm>
        <a:graphic>
          <a:graphicData uri="http://schemas.openxmlformats.org/drawingml/2006/table">
            <a:tbl>
              <a:tblPr firstRow="1" bandRow="1">
                <a:tableStyleId>{5C22544A-7EE6-4342-B048-85BDC9FD1C3A}</a:tableStyleId>
              </a:tblPr>
              <a:tblGrid>
                <a:gridCol w="1274445">
                  <a:extLst>
                    <a:ext uri="{9D8B030D-6E8A-4147-A177-3AD203B41FA5}">
                      <a16:colId xmlns:a16="http://schemas.microsoft.com/office/drawing/2014/main" xmlns="" val="20000"/>
                    </a:ext>
                  </a:extLst>
                </a:gridCol>
                <a:gridCol w="1101578">
                  <a:extLst>
                    <a:ext uri="{9D8B030D-6E8A-4147-A177-3AD203B41FA5}">
                      <a16:colId xmlns:a16="http://schemas.microsoft.com/office/drawing/2014/main" xmlns="" val="20001"/>
                    </a:ext>
                  </a:extLst>
                </a:gridCol>
                <a:gridCol w="1188132">
                  <a:extLst>
                    <a:ext uri="{9D8B030D-6E8A-4147-A177-3AD203B41FA5}">
                      <a16:colId xmlns:a16="http://schemas.microsoft.com/office/drawing/2014/main" xmlns="" val="20002"/>
                    </a:ext>
                  </a:extLst>
                </a:gridCol>
                <a:gridCol w="2808071">
                  <a:extLst>
                    <a:ext uri="{9D8B030D-6E8A-4147-A177-3AD203B41FA5}">
                      <a16:colId xmlns:a16="http://schemas.microsoft.com/office/drawing/2014/main" xmlns="" val="20003"/>
                    </a:ext>
                  </a:extLst>
                </a:gridCol>
              </a:tblGrid>
              <a:tr h="514350">
                <a:tc>
                  <a:txBody>
                    <a:bodyPr/>
                    <a:lstStyle/>
                    <a:p>
                      <a:pPr algn="ctr">
                        <a:spcBef>
                          <a:spcPts val="600"/>
                        </a:spcBef>
                        <a:spcAft>
                          <a:spcPts val="600"/>
                        </a:spcAft>
                      </a:pPr>
                      <a:r>
                        <a:rPr lang="en-US" sz="1500">
                          <a:effectLst/>
                          <a:latin typeface="Times New Roman"/>
                          <a:ea typeface="Calibri"/>
                          <a:cs typeface="Times New Roman"/>
                        </a:rPr>
                        <a:t>Kiểu dữ liệu</a:t>
                      </a:r>
                    </a:p>
                  </a:txBody>
                  <a:tcPr marL="51435" marR="51435" marT="0" marB="0" anchor="ctr"/>
                </a:tc>
                <a:tc>
                  <a:txBody>
                    <a:bodyPr/>
                    <a:lstStyle/>
                    <a:p>
                      <a:pPr algn="ctr">
                        <a:spcBef>
                          <a:spcPts val="600"/>
                        </a:spcBef>
                        <a:spcAft>
                          <a:spcPts val="0"/>
                        </a:spcAft>
                      </a:pPr>
                      <a:r>
                        <a:rPr lang="en-US" sz="1500">
                          <a:effectLst/>
                          <a:latin typeface="Times New Roman"/>
                          <a:ea typeface="Calibri"/>
                          <a:cs typeface="Times New Roman"/>
                        </a:rPr>
                        <a:t>Kích thước</a:t>
                      </a:r>
                    </a:p>
                    <a:p>
                      <a:pPr algn="ctr">
                        <a:spcBef>
                          <a:spcPts val="600"/>
                        </a:spcBef>
                        <a:spcAft>
                          <a:spcPts val="600"/>
                        </a:spcAft>
                      </a:pPr>
                      <a:r>
                        <a:rPr lang="en-US" sz="1500" smtClean="0">
                          <a:effectLst/>
                          <a:latin typeface="Times New Roman"/>
                          <a:ea typeface="Calibri"/>
                          <a:cs typeface="Times New Roman"/>
                        </a:rPr>
                        <a:t>(bit)</a:t>
                      </a:r>
                      <a:endParaRPr lang="en-US" sz="15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1500">
                          <a:effectLst/>
                          <a:latin typeface="Times New Roman"/>
                          <a:ea typeface="Calibri"/>
                          <a:cs typeface="Times New Roman"/>
                        </a:rPr>
                        <a:t>Giá trị mặc định</a:t>
                      </a:r>
                    </a:p>
                  </a:txBody>
                  <a:tcPr marL="51435" marR="51435" marT="0" marB="0" anchor="ctr"/>
                </a:tc>
                <a:tc>
                  <a:txBody>
                    <a:bodyPr/>
                    <a:lstStyle/>
                    <a:p>
                      <a:pPr algn="ctr">
                        <a:spcBef>
                          <a:spcPts val="600"/>
                        </a:spcBef>
                        <a:spcAft>
                          <a:spcPts val="600"/>
                        </a:spcAft>
                      </a:pPr>
                      <a:r>
                        <a:rPr lang="en-US" sz="1500" smtClean="0">
                          <a:effectLst/>
                          <a:latin typeface="Times New Roman"/>
                          <a:ea typeface="Calibri"/>
                          <a:cs typeface="Times New Roman"/>
                        </a:rPr>
                        <a:t>Miền</a:t>
                      </a:r>
                      <a:r>
                        <a:rPr lang="en-US" sz="1500" baseline="0" smtClean="0">
                          <a:effectLst/>
                          <a:latin typeface="Times New Roman"/>
                          <a:ea typeface="Calibri"/>
                          <a:cs typeface="Times New Roman"/>
                        </a:rPr>
                        <a:t> giá trị</a:t>
                      </a:r>
                      <a:endParaRPr lang="en-US" sz="1500">
                        <a:effectLst/>
                        <a:latin typeface="Times New Roman"/>
                        <a:ea typeface="Calibri"/>
                        <a:cs typeface="Times New Roman"/>
                      </a:endParaRPr>
                    </a:p>
                  </a:txBody>
                  <a:tcPr marL="51435" marR="51435" marT="0" marB="0" anchor="ctr"/>
                </a:tc>
                <a:extLst>
                  <a:ext uri="{0D108BD9-81ED-4DB2-BD59-A6C34878D82A}">
                    <a16:rowId xmlns:a16="http://schemas.microsoft.com/office/drawing/2014/main" xmlns="" val="10000"/>
                  </a:ext>
                </a:extLst>
              </a:tr>
              <a:tr h="301752">
                <a:tc>
                  <a:txBody>
                    <a:bodyPr/>
                    <a:lstStyle/>
                    <a:p>
                      <a:pPr algn="just">
                        <a:lnSpc>
                          <a:spcPct val="120000"/>
                        </a:lnSpc>
                        <a:spcBef>
                          <a:spcPts val="300"/>
                        </a:spcBef>
                        <a:spcAft>
                          <a:spcPts val="300"/>
                        </a:spcAft>
                      </a:pPr>
                      <a:r>
                        <a:rPr lang="en-US" sz="1700">
                          <a:effectLst/>
                          <a:latin typeface="Times New Roman"/>
                          <a:ea typeface="Calibri"/>
                          <a:cs typeface="Times New Roman"/>
                        </a:rPr>
                        <a:t>byte</a:t>
                      </a:r>
                    </a:p>
                  </a:txBody>
                  <a:tcPr marL="51435" marR="51435" marT="0" marB="0"/>
                </a:tc>
                <a:tc>
                  <a:txBody>
                    <a:bodyPr/>
                    <a:lstStyle/>
                    <a:p>
                      <a:pPr algn="ctr">
                        <a:lnSpc>
                          <a:spcPct val="120000"/>
                        </a:lnSpc>
                        <a:spcBef>
                          <a:spcPts val="300"/>
                        </a:spcBef>
                        <a:spcAft>
                          <a:spcPts val="300"/>
                        </a:spcAft>
                      </a:pPr>
                      <a:r>
                        <a:rPr lang="en-US" sz="1700" smtClean="0">
                          <a:effectLst/>
                          <a:latin typeface="Times New Roman"/>
                          <a:ea typeface="Calibri"/>
                          <a:cs typeface="Times New Roman"/>
                        </a:rPr>
                        <a:t>8</a:t>
                      </a:r>
                      <a:endParaRPr lang="en-US" sz="1700">
                        <a:effectLst/>
                        <a:latin typeface="Times New Roman"/>
                        <a:ea typeface="Calibri"/>
                        <a:cs typeface="Times New Roman"/>
                      </a:endParaRPr>
                    </a:p>
                  </a:txBody>
                  <a:tcPr marL="51435" marR="51435" marT="0" marB="0"/>
                </a:tc>
                <a:tc>
                  <a:txBody>
                    <a:bodyPr/>
                    <a:lstStyle/>
                    <a:p>
                      <a:pPr algn="ctr">
                        <a:lnSpc>
                          <a:spcPct val="120000"/>
                        </a:lnSpc>
                        <a:spcBef>
                          <a:spcPts val="300"/>
                        </a:spcBef>
                        <a:spcAft>
                          <a:spcPts val="300"/>
                        </a:spcAft>
                      </a:pPr>
                      <a:r>
                        <a:rPr lang="en-US" sz="1700">
                          <a:effectLst/>
                          <a:latin typeface="Times New Roman"/>
                          <a:ea typeface="Calibri"/>
                          <a:cs typeface="Times New Roman"/>
                        </a:rPr>
                        <a:t>0</a:t>
                      </a:r>
                    </a:p>
                  </a:txBody>
                  <a:tcPr marL="51435" marR="51435" marT="0" marB="0"/>
                </a:tc>
                <a:tc>
                  <a:txBody>
                    <a:bodyPr/>
                    <a:lstStyle/>
                    <a:p>
                      <a:pPr algn="ctr">
                        <a:lnSpc>
                          <a:spcPct val="120000"/>
                        </a:lnSpc>
                        <a:spcBef>
                          <a:spcPts val="300"/>
                        </a:spcBef>
                        <a:spcAft>
                          <a:spcPts val="300"/>
                        </a:spcAft>
                      </a:pPr>
                      <a:r>
                        <a:rPr lang="vi-VN" sz="1700" kern="1200" smtClean="0">
                          <a:solidFill>
                            <a:schemeClr val="dk1"/>
                          </a:solidFill>
                          <a:effectLst/>
                          <a:latin typeface="Times New Roman"/>
                          <a:ea typeface="Calibri"/>
                          <a:cs typeface="Times New Roman"/>
                        </a:rPr>
                        <a:t>-128 đến 127</a:t>
                      </a:r>
                      <a:endParaRPr lang="en-US" sz="1700" kern="1200">
                        <a:solidFill>
                          <a:schemeClr val="dk1"/>
                        </a:solidFill>
                        <a:effectLst/>
                        <a:latin typeface="Times New Roman"/>
                        <a:ea typeface="Calibri"/>
                        <a:cs typeface="Times New Roman"/>
                      </a:endParaRPr>
                    </a:p>
                  </a:txBody>
                  <a:tcPr marL="51435" marR="51435" marT="0" marB="0"/>
                </a:tc>
                <a:extLst>
                  <a:ext uri="{0D108BD9-81ED-4DB2-BD59-A6C34878D82A}">
                    <a16:rowId xmlns:a16="http://schemas.microsoft.com/office/drawing/2014/main" xmlns="" val="10001"/>
                  </a:ext>
                </a:extLst>
              </a:tr>
              <a:tr h="301752">
                <a:tc>
                  <a:txBody>
                    <a:bodyPr/>
                    <a:lstStyle/>
                    <a:p>
                      <a:pPr algn="just">
                        <a:lnSpc>
                          <a:spcPct val="120000"/>
                        </a:lnSpc>
                        <a:spcBef>
                          <a:spcPts val="300"/>
                        </a:spcBef>
                        <a:spcAft>
                          <a:spcPts val="300"/>
                        </a:spcAft>
                      </a:pPr>
                      <a:r>
                        <a:rPr lang="en-US" sz="1700">
                          <a:effectLst/>
                          <a:latin typeface="Times New Roman"/>
                          <a:ea typeface="Calibri"/>
                          <a:cs typeface="Times New Roman"/>
                        </a:rPr>
                        <a:t>short</a:t>
                      </a:r>
                    </a:p>
                  </a:txBody>
                  <a:tcPr marL="51435" marR="51435" marT="0" marB="0"/>
                </a:tc>
                <a:tc>
                  <a:txBody>
                    <a:bodyPr/>
                    <a:lstStyle/>
                    <a:p>
                      <a:pPr algn="ctr">
                        <a:lnSpc>
                          <a:spcPct val="120000"/>
                        </a:lnSpc>
                        <a:spcBef>
                          <a:spcPts val="300"/>
                        </a:spcBef>
                        <a:spcAft>
                          <a:spcPts val="300"/>
                        </a:spcAft>
                      </a:pPr>
                      <a:r>
                        <a:rPr lang="en-US" sz="1700" smtClean="0">
                          <a:effectLst/>
                          <a:latin typeface="Times New Roman"/>
                          <a:ea typeface="Calibri"/>
                          <a:cs typeface="Times New Roman"/>
                        </a:rPr>
                        <a:t>16</a:t>
                      </a:r>
                      <a:endParaRPr lang="en-US" sz="1700">
                        <a:effectLst/>
                        <a:latin typeface="Times New Roman"/>
                        <a:ea typeface="Calibri"/>
                        <a:cs typeface="Times New Roman"/>
                      </a:endParaRPr>
                    </a:p>
                  </a:txBody>
                  <a:tcPr marL="51435" marR="51435" marT="0" marB="0"/>
                </a:tc>
                <a:tc>
                  <a:txBody>
                    <a:bodyPr/>
                    <a:lstStyle/>
                    <a:p>
                      <a:pPr algn="ctr">
                        <a:lnSpc>
                          <a:spcPct val="120000"/>
                        </a:lnSpc>
                        <a:spcBef>
                          <a:spcPts val="300"/>
                        </a:spcBef>
                        <a:spcAft>
                          <a:spcPts val="300"/>
                        </a:spcAft>
                      </a:pPr>
                      <a:r>
                        <a:rPr lang="en-US" sz="1700">
                          <a:effectLst/>
                          <a:latin typeface="Times New Roman"/>
                          <a:ea typeface="Calibri"/>
                          <a:cs typeface="Times New Roman"/>
                        </a:rPr>
                        <a:t>0</a:t>
                      </a:r>
                    </a:p>
                  </a:txBody>
                  <a:tcPr marL="51435" marR="51435" marT="0" marB="0"/>
                </a:tc>
                <a:tc>
                  <a:txBody>
                    <a:bodyPr/>
                    <a:lstStyle/>
                    <a:p>
                      <a:pPr algn="ctr">
                        <a:lnSpc>
                          <a:spcPct val="120000"/>
                        </a:lnSpc>
                        <a:spcBef>
                          <a:spcPts val="300"/>
                        </a:spcBef>
                        <a:spcAft>
                          <a:spcPts val="300"/>
                        </a:spcAft>
                      </a:pPr>
                      <a:r>
                        <a:rPr lang="vi-VN" sz="1700" kern="1200" smtClean="0">
                          <a:solidFill>
                            <a:schemeClr val="dk1"/>
                          </a:solidFill>
                          <a:effectLst/>
                          <a:latin typeface="Times New Roman"/>
                          <a:ea typeface="Calibri"/>
                          <a:cs typeface="Times New Roman"/>
                        </a:rPr>
                        <a:t>-32768 đến 32767</a:t>
                      </a:r>
                      <a:endParaRPr lang="en-US" sz="1700" kern="1200">
                        <a:solidFill>
                          <a:schemeClr val="dk1"/>
                        </a:solidFill>
                        <a:effectLst/>
                        <a:latin typeface="Times New Roman"/>
                        <a:ea typeface="Calibri"/>
                        <a:cs typeface="Times New Roman"/>
                      </a:endParaRPr>
                    </a:p>
                  </a:txBody>
                  <a:tcPr marL="51435" marR="51435" marT="0" marB="0"/>
                </a:tc>
                <a:extLst>
                  <a:ext uri="{0D108BD9-81ED-4DB2-BD59-A6C34878D82A}">
                    <a16:rowId xmlns:a16="http://schemas.microsoft.com/office/drawing/2014/main" xmlns="" val="10002"/>
                  </a:ext>
                </a:extLst>
              </a:tr>
              <a:tr h="301752">
                <a:tc>
                  <a:txBody>
                    <a:bodyPr/>
                    <a:lstStyle/>
                    <a:p>
                      <a:pPr algn="just">
                        <a:lnSpc>
                          <a:spcPct val="120000"/>
                        </a:lnSpc>
                        <a:spcBef>
                          <a:spcPts val="300"/>
                        </a:spcBef>
                        <a:spcAft>
                          <a:spcPts val="300"/>
                        </a:spcAft>
                      </a:pPr>
                      <a:r>
                        <a:rPr lang="en-US" sz="1700">
                          <a:effectLst/>
                          <a:latin typeface="Times New Roman"/>
                          <a:ea typeface="Calibri"/>
                          <a:cs typeface="Times New Roman"/>
                        </a:rPr>
                        <a:t>int</a:t>
                      </a:r>
                    </a:p>
                  </a:txBody>
                  <a:tcPr marL="51435" marR="51435" marT="0" marB="0"/>
                </a:tc>
                <a:tc>
                  <a:txBody>
                    <a:bodyPr/>
                    <a:lstStyle/>
                    <a:p>
                      <a:pPr algn="ctr">
                        <a:lnSpc>
                          <a:spcPct val="120000"/>
                        </a:lnSpc>
                        <a:spcBef>
                          <a:spcPts val="300"/>
                        </a:spcBef>
                        <a:spcAft>
                          <a:spcPts val="300"/>
                        </a:spcAft>
                      </a:pPr>
                      <a:r>
                        <a:rPr lang="en-US" sz="1700" smtClean="0">
                          <a:effectLst/>
                          <a:latin typeface="Times New Roman"/>
                          <a:ea typeface="Calibri"/>
                          <a:cs typeface="Times New Roman"/>
                        </a:rPr>
                        <a:t>32</a:t>
                      </a:r>
                      <a:endParaRPr lang="en-US" sz="1700">
                        <a:effectLst/>
                        <a:latin typeface="Times New Roman"/>
                        <a:ea typeface="Calibri"/>
                        <a:cs typeface="Times New Roman"/>
                      </a:endParaRPr>
                    </a:p>
                  </a:txBody>
                  <a:tcPr marL="51435" marR="51435" marT="0" marB="0"/>
                </a:tc>
                <a:tc>
                  <a:txBody>
                    <a:bodyPr/>
                    <a:lstStyle/>
                    <a:p>
                      <a:pPr algn="ctr">
                        <a:lnSpc>
                          <a:spcPct val="120000"/>
                        </a:lnSpc>
                        <a:spcBef>
                          <a:spcPts val="300"/>
                        </a:spcBef>
                        <a:spcAft>
                          <a:spcPts val="300"/>
                        </a:spcAft>
                      </a:pPr>
                      <a:r>
                        <a:rPr lang="en-US" sz="1700">
                          <a:effectLst/>
                          <a:latin typeface="Times New Roman"/>
                          <a:ea typeface="Calibri"/>
                          <a:cs typeface="Times New Roman"/>
                        </a:rPr>
                        <a:t>0</a:t>
                      </a:r>
                    </a:p>
                  </a:txBody>
                  <a:tcPr marL="51435" marR="51435" marT="0" marB="0"/>
                </a:tc>
                <a:tc>
                  <a:txBody>
                    <a:bodyPr/>
                    <a:lstStyle/>
                    <a:p>
                      <a:pPr algn="ctr">
                        <a:lnSpc>
                          <a:spcPct val="120000"/>
                        </a:lnSpc>
                        <a:spcBef>
                          <a:spcPts val="300"/>
                        </a:spcBef>
                        <a:spcAft>
                          <a:spcPts val="300"/>
                        </a:spcAft>
                      </a:pPr>
                      <a:r>
                        <a:rPr lang="en-US" sz="1700" kern="1200" smtClean="0">
                          <a:solidFill>
                            <a:schemeClr val="dk1"/>
                          </a:solidFill>
                          <a:effectLst/>
                          <a:latin typeface="Times New Roman"/>
                          <a:ea typeface="Calibri"/>
                          <a:cs typeface="Times New Roman"/>
                        </a:rPr>
                        <a:t>- 2</a:t>
                      </a:r>
                      <a:r>
                        <a:rPr lang="en-US" sz="1700" kern="1200" baseline="30000" smtClean="0">
                          <a:solidFill>
                            <a:schemeClr val="dk1"/>
                          </a:solidFill>
                          <a:effectLst/>
                          <a:latin typeface="Times New Roman"/>
                          <a:ea typeface="Calibri"/>
                          <a:cs typeface="Times New Roman"/>
                        </a:rPr>
                        <a:t>31</a:t>
                      </a:r>
                      <a:r>
                        <a:rPr lang="en-US" sz="1700" kern="1200" smtClean="0">
                          <a:solidFill>
                            <a:schemeClr val="dk1"/>
                          </a:solidFill>
                          <a:effectLst/>
                          <a:latin typeface="Times New Roman"/>
                          <a:ea typeface="Calibri"/>
                          <a:cs typeface="Times New Roman"/>
                        </a:rPr>
                        <a:t> đến 2</a:t>
                      </a:r>
                      <a:r>
                        <a:rPr lang="en-US" sz="1700" kern="1200" baseline="30000" smtClean="0">
                          <a:solidFill>
                            <a:schemeClr val="dk1"/>
                          </a:solidFill>
                          <a:effectLst/>
                          <a:latin typeface="Times New Roman"/>
                          <a:ea typeface="Calibri"/>
                          <a:cs typeface="Times New Roman"/>
                        </a:rPr>
                        <a:t>31</a:t>
                      </a:r>
                      <a:r>
                        <a:rPr lang="en-US" sz="1700" kern="1200" baseline="0" smtClean="0">
                          <a:solidFill>
                            <a:schemeClr val="dk1"/>
                          </a:solidFill>
                          <a:effectLst/>
                          <a:latin typeface="Times New Roman"/>
                          <a:ea typeface="Calibri"/>
                          <a:cs typeface="Times New Roman"/>
                        </a:rPr>
                        <a:t>-1</a:t>
                      </a:r>
                      <a:endParaRPr lang="en-US" sz="1700" kern="1200" baseline="0">
                        <a:solidFill>
                          <a:schemeClr val="dk1"/>
                        </a:solidFill>
                        <a:effectLst/>
                        <a:latin typeface="Times New Roman"/>
                        <a:ea typeface="Calibri"/>
                        <a:cs typeface="Times New Roman"/>
                      </a:endParaRPr>
                    </a:p>
                  </a:txBody>
                  <a:tcPr marL="51435" marR="51435" marT="0" marB="0"/>
                </a:tc>
                <a:extLst>
                  <a:ext uri="{0D108BD9-81ED-4DB2-BD59-A6C34878D82A}">
                    <a16:rowId xmlns:a16="http://schemas.microsoft.com/office/drawing/2014/main" xmlns="" val="10003"/>
                  </a:ext>
                </a:extLst>
              </a:tr>
              <a:tr h="301752">
                <a:tc>
                  <a:txBody>
                    <a:bodyPr/>
                    <a:lstStyle/>
                    <a:p>
                      <a:pPr algn="just">
                        <a:lnSpc>
                          <a:spcPct val="120000"/>
                        </a:lnSpc>
                        <a:spcBef>
                          <a:spcPts val="300"/>
                        </a:spcBef>
                        <a:spcAft>
                          <a:spcPts val="300"/>
                        </a:spcAft>
                      </a:pPr>
                      <a:r>
                        <a:rPr lang="en-US" sz="1700">
                          <a:effectLst/>
                          <a:latin typeface="Times New Roman"/>
                          <a:ea typeface="Calibri"/>
                          <a:cs typeface="Times New Roman"/>
                        </a:rPr>
                        <a:t>long</a:t>
                      </a:r>
                    </a:p>
                  </a:txBody>
                  <a:tcPr marL="51435" marR="51435" marT="0" marB="0"/>
                </a:tc>
                <a:tc>
                  <a:txBody>
                    <a:bodyPr/>
                    <a:lstStyle/>
                    <a:p>
                      <a:pPr algn="ctr">
                        <a:lnSpc>
                          <a:spcPct val="120000"/>
                        </a:lnSpc>
                        <a:spcBef>
                          <a:spcPts val="300"/>
                        </a:spcBef>
                        <a:spcAft>
                          <a:spcPts val="300"/>
                        </a:spcAft>
                      </a:pPr>
                      <a:r>
                        <a:rPr lang="en-US" sz="1700" smtClean="0">
                          <a:effectLst/>
                          <a:latin typeface="Times New Roman"/>
                          <a:ea typeface="Calibri"/>
                          <a:cs typeface="Times New Roman"/>
                        </a:rPr>
                        <a:t>64</a:t>
                      </a:r>
                      <a:endParaRPr lang="en-US" sz="1700">
                        <a:effectLst/>
                        <a:latin typeface="Times New Roman"/>
                        <a:ea typeface="Calibri"/>
                        <a:cs typeface="Times New Roman"/>
                      </a:endParaRPr>
                    </a:p>
                  </a:txBody>
                  <a:tcPr marL="51435" marR="51435" marT="0" marB="0"/>
                </a:tc>
                <a:tc>
                  <a:txBody>
                    <a:bodyPr/>
                    <a:lstStyle/>
                    <a:p>
                      <a:pPr algn="ctr">
                        <a:lnSpc>
                          <a:spcPct val="120000"/>
                        </a:lnSpc>
                        <a:spcBef>
                          <a:spcPts val="300"/>
                        </a:spcBef>
                        <a:spcAft>
                          <a:spcPts val="300"/>
                        </a:spcAft>
                      </a:pPr>
                      <a:r>
                        <a:rPr lang="en-US" sz="1700">
                          <a:effectLst/>
                          <a:latin typeface="Times New Roman"/>
                          <a:ea typeface="Calibri"/>
                          <a:cs typeface="Times New Roman"/>
                        </a:rPr>
                        <a:t>0L</a:t>
                      </a:r>
                    </a:p>
                  </a:txBody>
                  <a:tcPr marL="51435" marR="51435" marT="0" marB="0"/>
                </a:tc>
                <a:tc>
                  <a:txBody>
                    <a:bodyPr/>
                    <a:lstStyle/>
                    <a:p>
                      <a:pPr marL="0" marR="0" indent="0" algn="ctr" defTabSz="914400" rtl="0" eaLnBrk="1" fontAlgn="auto" latinLnBrk="0" hangingPunct="1">
                        <a:lnSpc>
                          <a:spcPct val="120000"/>
                        </a:lnSpc>
                        <a:spcBef>
                          <a:spcPts val="300"/>
                        </a:spcBef>
                        <a:spcAft>
                          <a:spcPts val="300"/>
                        </a:spcAft>
                        <a:buClrTx/>
                        <a:buSzTx/>
                        <a:buFontTx/>
                        <a:buNone/>
                        <a:tabLst/>
                        <a:defRPr/>
                      </a:pPr>
                      <a:r>
                        <a:rPr lang="en-US" sz="1700" kern="1200" smtClean="0">
                          <a:solidFill>
                            <a:schemeClr val="dk1"/>
                          </a:solidFill>
                          <a:effectLst/>
                          <a:latin typeface="Times New Roman"/>
                          <a:ea typeface="Calibri"/>
                          <a:cs typeface="Times New Roman"/>
                        </a:rPr>
                        <a:t>- 2</a:t>
                      </a:r>
                      <a:r>
                        <a:rPr lang="en-US" sz="1700" kern="1200" baseline="30000" smtClean="0">
                          <a:solidFill>
                            <a:schemeClr val="dk1"/>
                          </a:solidFill>
                          <a:effectLst/>
                          <a:latin typeface="Times New Roman"/>
                          <a:ea typeface="Calibri"/>
                          <a:cs typeface="Times New Roman"/>
                        </a:rPr>
                        <a:t>63</a:t>
                      </a:r>
                      <a:r>
                        <a:rPr lang="en-US" sz="1700" kern="1200" smtClean="0">
                          <a:solidFill>
                            <a:schemeClr val="dk1"/>
                          </a:solidFill>
                          <a:effectLst/>
                          <a:latin typeface="Times New Roman"/>
                          <a:ea typeface="Calibri"/>
                          <a:cs typeface="Times New Roman"/>
                        </a:rPr>
                        <a:t> đến 2</a:t>
                      </a:r>
                      <a:r>
                        <a:rPr lang="en-US" sz="1700" kern="1200" baseline="30000" smtClean="0">
                          <a:solidFill>
                            <a:schemeClr val="dk1"/>
                          </a:solidFill>
                          <a:effectLst/>
                          <a:latin typeface="Times New Roman"/>
                          <a:ea typeface="Calibri"/>
                          <a:cs typeface="Times New Roman"/>
                        </a:rPr>
                        <a:t>631</a:t>
                      </a:r>
                      <a:r>
                        <a:rPr lang="en-US" sz="1700" kern="1200" baseline="0" smtClean="0">
                          <a:solidFill>
                            <a:schemeClr val="dk1"/>
                          </a:solidFill>
                          <a:effectLst/>
                          <a:latin typeface="Times New Roman"/>
                          <a:ea typeface="Calibri"/>
                          <a:cs typeface="Times New Roman"/>
                        </a:rPr>
                        <a:t>-1</a:t>
                      </a:r>
                    </a:p>
                  </a:txBody>
                  <a:tcPr marL="51435" marR="51435" marT="0" marB="0"/>
                </a:tc>
                <a:extLst>
                  <a:ext uri="{0D108BD9-81ED-4DB2-BD59-A6C34878D82A}">
                    <a16:rowId xmlns:a16="http://schemas.microsoft.com/office/drawing/2014/main" xmlns="" val="10004"/>
                  </a:ext>
                </a:extLst>
              </a:tr>
              <a:tr h="672084">
                <a:tc>
                  <a:txBody>
                    <a:bodyPr/>
                    <a:lstStyle/>
                    <a:p>
                      <a:pPr algn="just">
                        <a:lnSpc>
                          <a:spcPct val="120000"/>
                        </a:lnSpc>
                        <a:spcBef>
                          <a:spcPts val="300"/>
                        </a:spcBef>
                        <a:spcAft>
                          <a:spcPts val="300"/>
                        </a:spcAft>
                      </a:pPr>
                      <a:r>
                        <a:rPr lang="en-US" sz="1700">
                          <a:effectLst/>
                          <a:latin typeface="Times New Roman"/>
                          <a:ea typeface="Calibri"/>
                          <a:cs typeface="Times New Roman"/>
                        </a:rPr>
                        <a:t>float</a:t>
                      </a:r>
                    </a:p>
                  </a:txBody>
                  <a:tcPr marL="51435" marR="51435" marT="0" marB="0"/>
                </a:tc>
                <a:tc>
                  <a:txBody>
                    <a:bodyPr/>
                    <a:lstStyle/>
                    <a:p>
                      <a:pPr algn="ctr">
                        <a:lnSpc>
                          <a:spcPct val="120000"/>
                        </a:lnSpc>
                        <a:spcBef>
                          <a:spcPts val="300"/>
                        </a:spcBef>
                        <a:spcAft>
                          <a:spcPts val="300"/>
                        </a:spcAft>
                      </a:pPr>
                      <a:r>
                        <a:rPr lang="en-US" sz="1700" smtClean="0">
                          <a:effectLst/>
                          <a:latin typeface="Times New Roman"/>
                          <a:ea typeface="Calibri"/>
                          <a:cs typeface="Times New Roman"/>
                        </a:rPr>
                        <a:t>32</a:t>
                      </a:r>
                      <a:endParaRPr lang="en-US" sz="1700">
                        <a:effectLst/>
                        <a:latin typeface="Times New Roman"/>
                        <a:ea typeface="Calibri"/>
                        <a:cs typeface="Times New Roman"/>
                      </a:endParaRPr>
                    </a:p>
                  </a:txBody>
                  <a:tcPr marL="51435" marR="51435" marT="0" marB="0"/>
                </a:tc>
                <a:tc>
                  <a:txBody>
                    <a:bodyPr/>
                    <a:lstStyle/>
                    <a:p>
                      <a:pPr algn="ctr">
                        <a:lnSpc>
                          <a:spcPct val="120000"/>
                        </a:lnSpc>
                        <a:spcBef>
                          <a:spcPts val="300"/>
                        </a:spcBef>
                        <a:spcAft>
                          <a:spcPts val="300"/>
                        </a:spcAft>
                      </a:pPr>
                      <a:r>
                        <a:rPr lang="en-US" sz="1700">
                          <a:effectLst/>
                          <a:latin typeface="Times New Roman"/>
                          <a:ea typeface="Calibri"/>
                          <a:cs typeface="Times New Roman"/>
                        </a:rPr>
                        <a:t>0.0f</a:t>
                      </a:r>
                    </a:p>
                  </a:txBody>
                  <a:tcPr marL="51435" marR="51435" marT="0" marB="0"/>
                </a:tc>
                <a:tc>
                  <a:txBody>
                    <a:bodyPr/>
                    <a:lstStyle/>
                    <a:p>
                      <a:pPr>
                        <a:lnSpc>
                          <a:spcPct val="120000"/>
                        </a:lnSpc>
                        <a:spcBef>
                          <a:spcPts val="300"/>
                        </a:spcBef>
                        <a:spcAft>
                          <a:spcPts val="300"/>
                        </a:spcAft>
                      </a:pPr>
                      <a:r>
                        <a:rPr lang="vi-VN" sz="1700" kern="1200" smtClean="0">
                          <a:solidFill>
                            <a:schemeClr val="dk1"/>
                          </a:solidFill>
                          <a:effectLst/>
                          <a:latin typeface="Times New Roman"/>
                          <a:ea typeface="Calibri"/>
                          <a:cs typeface="Times New Roman"/>
                        </a:rPr>
                        <a:t>-3.40292347E+38 đến</a:t>
                      </a:r>
                      <a:br>
                        <a:rPr lang="vi-VN" sz="1700" kern="1200" smtClean="0">
                          <a:solidFill>
                            <a:schemeClr val="dk1"/>
                          </a:solidFill>
                          <a:effectLst/>
                          <a:latin typeface="Times New Roman"/>
                          <a:ea typeface="Calibri"/>
                          <a:cs typeface="Times New Roman"/>
                        </a:rPr>
                      </a:br>
                      <a:r>
                        <a:rPr lang="vi-VN" sz="1700" kern="1200" smtClean="0">
                          <a:solidFill>
                            <a:schemeClr val="dk1"/>
                          </a:solidFill>
                          <a:effectLst/>
                          <a:latin typeface="Times New Roman"/>
                          <a:ea typeface="Calibri"/>
                          <a:cs typeface="Times New Roman"/>
                        </a:rPr>
                        <a:t>+3.40292347E+38</a:t>
                      </a:r>
                      <a:endParaRPr lang="en-US" sz="1700" kern="1200">
                        <a:solidFill>
                          <a:schemeClr val="dk1"/>
                        </a:solidFill>
                        <a:effectLst/>
                        <a:latin typeface="Times New Roman"/>
                        <a:ea typeface="Calibri"/>
                        <a:cs typeface="Times New Roman"/>
                      </a:endParaRPr>
                    </a:p>
                  </a:txBody>
                  <a:tcPr marL="68580" marR="68580" marT="34290" marB="34290"/>
                </a:tc>
                <a:extLst>
                  <a:ext uri="{0D108BD9-81ED-4DB2-BD59-A6C34878D82A}">
                    <a16:rowId xmlns:a16="http://schemas.microsoft.com/office/drawing/2014/main" xmlns="" val="10005"/>
                  </a:ext>
                </a:extLst>
              </a:tr>
              <a:tr h="973836">
                <a:tc>
                  <a:txBody>
                    <a:bodyPr/>
                    <a:lstStyle/>
                    <a:p>
                      <a:pPr algn="just">
                        <a:lnSpc>
                          <a:spcPct val="120000"/>
                        </a:lnSpc>
                        <a:spcBef>
                          <a:spcPts val="300"/>
                        </a:spcBef>
                        <a:spcAft>
                          <a:spcPts val="300"/>
                        </a:spcAft>
                      </a:pPr>
                      <a:r>
                        <a:rPr lang="en-US" sz="1700">
                          <a:effectLst/>
                          <a:latin typeface="Times New Roman"/>
                          <a:ea typeface="Calibri"/>
                          <a:cs typeface="Times New Roman"/>
                        </a:rPr>
                        <a:t>double</a:t>
                      </a:r>
                    </a:p>
                  </a:txBody>
                  <a:tcPr marL="51435" marR="51435" marT="0" marB="0"/>
                </a:tc>
                <a:tc>
                  <a:txBody>
                    <a:bodyPr/>
                    <a:lstStyle/>
                    <a:p>
                      <a:pPr algn="ctr">
                        <a:lnSpc>
                          <a:spcPct val="120000"/>
                        </a:lnSpc>
                        <a:spcBef>
                          <a:spcPts val="300"/>
                        </a:spcBef>
                        <a:spcAft>
                          <a:spcPts val="300"/>
                        </a:spcAft>
                      </a:pPr>
                      <a:r>
                        <a:rPr lang="en-US" sz="1700" smtClean="0">
                          <a:effectLst/>
                          <a:latin typeface="Times New Roman"/>
                          <a:ea typeface="Calibri"/>
                          <a:cs typeface="Times New Roman"/>
                        </a:rPr>
                        <a:t>64</a:t>
                      </a:r>
                      <a:endParaRPr lang="en-US" sz="1700">
                        <a:effectLst/>
                        <a:latin typeface="Times New Roman"/>
                        <a:ea typeface="Calibri"/>
                        <a:cs typeface="Times New Roman"/>
                      </a:endParaRPr>
                    </a:p>
                  </a:txBody>
                  <a:tcPr marL="51435" marR="51435" marT="0" marB="0"/>
                </a:tc>
                <a:tc>
                  <a:txBody>
                    <a:bodyPr/>
                    <a:lstStyle/>
                    <a:p>
                      <a:pPr algn="ctr">
                        <a:lnSpc>
                          <a:spcPct val="120000"/>
                        </a:lnSpc>
                        <a:spcBef>
                          <a:spcPts val="300"/>
                        </a:spcBef>
                        <a:spcAft>
                          <a:spcPts val="300"/>
                        </a:spcAft>
                      </a:pPr>
                      <a:r>
                        <a:rPr lang="en-US" sz="1700">
                          <a:effectLst/>
                          <a:latin typeface="Times New Roman"/>
                          <a:ea typeface="Calibri"/>
                          <a:cs typeface="Times New Roman"/>
                        </a:rPr>
                        <a:t>0.0d</a:t>
                      </a:r>
                    </a:p>
                  </a:txBody>
                  <a:tcPr marL="51435" marR="51435" marT="0" marB="0"/>
                </a:tc>
                <a:tc>
                  <a:txBody>
                    <a:bodyPr/>
                    <a:lstStyle/>
                    <a:p>
                      <a:pPr>
                        <a:lnSpc>
                          <a:spcPct val="120000"/>
                        </a:lnSpc>
                        <a:spcBef>
                          <a:spcPts val="300"/>
                        </a:spcBef>
                        <a:spcAft>
                          <a:spcPts val="300"/>
                        </a:spcAft>
                      </a:pPr>
                      <a:r>
                        <a:rPr lang="vi-VN" sz="1700" kern="1200" smtClean="0">
                          <a:solidFill>
                            <a:schemeClr val="dk1"/>
                          </a:solidFill>
                          <a:effectLst/>
                          <a:latin typeface="Times New Roman"/>
                          <a:ea typeface="Calibri"/>
                          <a:cs typeface="Times New Roman"/>
                        </a:rPr>
                        <a:t>-1,79769313486231570E+308 đến</a:t>
                      </a:r>
                      <a:br>
                        <a:rPr lang="vi-VN" sz="1700" kern="1200" smtClean="0">
                          <a:solidFill>
                            <a:schemeClr val="dk1"/>
                          </a:solidFill>
                          <a:effectLst/>
                          <a:latin typeface="Times New Roman"/>
                          <a:ea typeface="Calibri"/>
                          <a:cs typeface="Times New Roman"/>
                        </a:rPr>
                      </a:br>
                      <a:r>
                        <a:rPr lang="vi-VN" sz="1700" kern="1200" smtClean="0">
                          <a:solidFill>
                            <a:schemeClr val="dk1"/>
                          </a:solidFill>
                          <a:effectLst/>
                          <a:latin typeface="Times New Roman"/>
                          <a:ea typeface="Calibri"/>
                          <a:cs typeface="Times New Roman"/>
                        </a:rPr>
                        <a:t>+1,79769313486231570E+308</a:t>
                      </a:r>
                      <a:endParaRPr lang="en-US" sz="1700" kern="1200">
                        <a:solidFill>
                          <a:schemeClr val="dk1"/>
                        </a:solidFill>
                        <a:effectLst/>
                        <a:latin typeface="Times New Roman"/>
                        <a:ea typeface="Calibri"/>
                        <a:cs typeface="Times New Roman"/>
                      </a:endParaRPr>
                    </a:p>
                  </a:txBody>
                  <a:tcPr marL="68580" marR="68580" marT="34290" marB="34290"/>
                </a:tc>
                <a:extLst>
                  <a:ext uri="{0D108BD9-81ED-4DB2-BD59-A6C34878D82A}">
                    <a16:rowId xmlns:a16="http://schemas.microsoft.com/office/drawing/2014/main" xmlns="" val="10006"/>
                  </a:ext>
                </a:extLst>
              </a:tr>
              <a:tr h="370332">
                <a:tc>
                  <a:txBody>
                    <a:bodyPr/>
                    <a:lstStyle/>
                    <a:p>
                      <a:pPr algn="just">
                        <a:lnSpc>
                          <a:spcPct val="120000"/>
                        </a:lnSpc>
                        <a:spcBef>
                          <a:spcPts val="300"/>
                        </a:spcBef>
                        <a:spcAft>
                          <a:spcPts val="300"/>
                        </a:spcAft>
                      </a:pPr>
                      <a:r>
                        <a:rPr lang="en-US" sz="1700">
                          <a:effectLst/>
                          <a:latin typeface="Times New Roman"/>
                          <a:ea typeface="Calibri"/>
                          <a:cs typeface="Times New Roman"/>
                        </a:rPr>
                        <a:t>boolean</a:t>
                      </a:r>
                    </a:p>
                  </a:txBody>
                  <a:tcPr marL="51435" marR="51435" marT="0" marB="0"/>
                </a:tc>
                <a:tc>
                  <a:txBody>
                    <a:bodyPr/>
                    <a:lstStyle/>
                    <a:p>
                      <a:pPr algn="ctr">
                        <a:lnSpc>
                          <a:spcPct val="120000"/>
                        </a:lnSpc>
                        <a:spcBef>
                          <a:spcPts val="300"/>
                        </a:spcBef>
                        <a:spcAft>
                          <a:spcPts val="300"/>
                        </a:spcAft>
                      </a:pPr>
                      <a:r>
                        <a:rPr lang="en-US" sz="1700">
                          <a:effectLst/>
                          <a:latin typeface="Times New Roman"/>
                          <a:ea typeface="Calibri"/>
                          <a:cs typeface="Times New Roman"/>
                        </a:rPr>
                        <a:t> </a:t>
                      </a:r>
                      <a:r>
                        <a:rPr lang="en-US" sz="1700" smtClean="0">
                          <a:effectLst/>
                          <a:latin typeface="Times New Roman"/>
                          <a:ea typeface="Calibri"/>
                          <a:cs typeface="Times New Roman"/>
                        </a:rPr>
                        <a:t>1</a:t>
                      </a:r>
                      <a:endParaRPr lang="en-US" sz="1700">
                        <a:effectLst/>
                        <a:latin typeface="Times New Roman"/>
                        <a:ea typeface="Calibri"/>
                        <a:cs typeface="Times New Roman"/>
                      </a:endParaRPr>
                    </a:p>
                  </a:txBody>
                  <a:tcPr marL="51435" marR="51435" marT="0" marB="0"/>
                </a:tc>
                <a:tc>
                  <a:txBody>
                    <a:bodyPr/>
                    <a:lstStyle/>
                    <a:p>
                      <a:pPr algn="ctr">
                        <a:lnSpc>
                          <a:spcPct val="120000"/>
                        </a:lnSpc>
                        <a:spcBef>
                          <a:spcPts val="300"/>
                        </a:spcBef>
                        <a:spcAft>
                          <a:spcPts val="300"/>
                        </a:spcAft>
                      </a:pPr>
                      <a:r>
                        <a:rPr lang="en-US" sz="1700">
                          <a:effectLst/>
                          <a:latin typeface="Times New Roman"/>
                          <a:ea typeface="Calibri"/>
                          <a:cs typeface="Times New Roman"/>
                        </a:rPr>
                        <a:t>false</a:t>
                      </a:r>
                    </a:p>
                  </a:txBody>
                  <a:tcPr marL="51435" marR="51435" marT="0" marB="0"/>
                </a:tc>
                <a:tc>
                  <a:txBody>
                    <a:bodyPr/>
                    <a:lstStyle/>
                    <a:p>
                      <a:pPr>
                        <a:lnSpc>
                          <a:spcPct val="120000"/>
                        </a:lnSpc>
                        <a:spcBef>
                          <a:spcPts val="300"/>
                        </a:spcBef>
                        <a:spcAft>
                          <a:spcPts val="300"/>
                        </a:spcAft>
                      </a:pPr>
                      <a:r>
                        <a:rPr lang="en-US" sz="1700" smtClean="0"/>
                        <a:t>true hoặc</a:t>
                      </a:r>
                      <a:r>
                        <a:rPr lang="en-US" sz="1700" baseline="0" smtClean="0"/>
                        <a:t> false</a:t>
                      </a:r>
                      <a:endParaRPr lang="en-US" sz="1700"/>
                    </a:p>
                  </a:txBody>
                  <a:tcPr marL="68580" marR="68580" marT="34290" marB="34290"/>
                </a:tc>
                <a:extLst>
                  <a:ext uri="{0D108BD9-81ED-4DB2-BD59-A6C34878D82A}">
                    <a16:rowId xmlns:a16="http://schemas.microsoft.com/office/drawing/2014/main" xmlns="" val="10007"/>
                  </a:ext>
                </a:extLst>
              </a:tr>
              <a:tr h="370332">
                <a:tc>
                  <a:txBody>
                    <a:bodyPr/>
                    <a:lstStyle/>
                    <a:p>
                      <a:pPr algn="just">
                        <a:lnSpc>
                          <a:spcPct val="120000"/>
                        </a:lnSpc>
                        <a:spcBef>
                          <a:spcPts val="300"/>
                        </a:spcBef>
                        <a:spcAft>
                          <a:spcPts val="300"/>
                        </a:spcAft>
                      </a:pPr>
                      <a:r>
                        <a:rPr lang="en-US" sz="1700">
                          <a:effectLst/>
                          <a:latin typeface="Times New Roman"/>
                          <a:ea typeface="Calibri"/>
                          <a:cs typeface="Times New Roman"/>
                        </a:rPr>
                        <a:t>char</a:t>
                      </a:r>
                    </a:p>
                  </a:txBody>
                  <a:tcPr marL="51435" marR="51435" marT="0" marB="0"/>
                </a:tc>
                <a:tc>
                  <a:txBody>
                    <a:bodyPr/>
                    <a:lstStyle/>
                    <a:p>
                      <a:pPr algn="ctr">
                        <a:lnSpc>
                          <a:spcPct val="120000"/>
                        </a:lnSpc>
                        <a:spcBef>
                          <a:spcPts val="300"/>
                        </a:spcBef>
                        <a:spcAft>
                          <a:spcPts val="300"/>
                        </a:spcAft>
                      </a:pPr>
                      <a:r>
                        <a:rPr lang="en-US" sz="1700" smtClean="0">
                          <a:effectLst/>
                          <a:latin typeface="Times New Roman"/>
                          <a:ea typeface="Calibri"/>
                          <a:cs typeface="Times New Roman"/>
                        </a:rPr>
                        <a:t>16</a:t>
                      </a:r>
                      <a:endParaRPr lang="en-US" sz="1700">
                        <a:effectLst/>
                        <a:latin typeface="Times New Roman"/>
                        <a:ea typeface="Calibri"/>
                        <a:cs typeface="Times New Roman"/>
                      </a:endParaRPr>
                    </a:p>
                  </a:txBody>
                  <a:tcPr marL="51435" marR="51435" marT="0" marB="0"/>
                </a:tc>
                <a:tc>
                  <a:txBody>
                    <a:bodyPr/>
                    <a:lstStyle/>
                    <a:p>
                      <a:pPr algn="ctr">
                        <a:lnSpc>
                          <a:spcPct val="120000"/>
                        </a:lnSpc>
                        <a:spcBef>
                          <a:spcPts val="300"/>
                        </a:spcBef>
                        <a:spcAft>
                          <a:spcPts val="300"/>
                        </a:spcAft>
                      </a:pPr>
                      <a:r>
                        <a:rPr lang="en-US" sz="1700">
                          <a:effectLst/>
                          <a:latin typeface="Times New Roman"/>
                          <a:ea typeface="Calibri"/>
                          <a:cs typeface="Times New Roman"/>
                        </a:rPr>
                        <a:t>\u0000</a:t>
                      </a:r>
                    </a:p>
                  </a:txBody>
                  <a:tcPr marL="51435" marR="51435" marT="0" marB="0"/>
                </a:tc>
                <a:tc>
                  <a:txBody>
                    <a:bodyPr/>
                    <a:lstStyle/>
                    <a:p>
                      <a:pPr>
                        <a:lnSpc>
                          <a:spcPct val="120000"/>
                        </a:lnSpc>
                        <a:spcBef>
                          <a:spcPts val="300"/>
                        </a:spcBef>
                        <a:spcAft>
                          <a:spcPts val="300"/>
                        </a:spcAft>
                      </a:pPr>
                      <a:r>
                        <a:rPr lang="en-US" sz="1700" i="0" kern="1200" smtClean="0">
                          <a:solidFill>
                            <a:schemeClr val="dk1"/>
                          </a:solidFill>
                          <a:effectLst/>
                          <a:latin typeface="Arial" pitchFamily="34" charset="0"/>
                          <a:ea typeface="+mn-ea"/>
                          <a:cs typeface="Arial" pitchFamily="34" charset="0"/>
                        </a:rPr>
                        <a:t>‘\u0000’ to ‘u\ffff’</a:t>
                      </a:r>
                      <a:endParaRPr lang="en-US" sz="1700">
                        <a:latin typeface="Arial" pitchFamily="34" charset="0"/>
                        <a:cs typeface="Arial" pitchFamily="34" charset="0"/>
                      </a:endParaRPr>
                    </a:p>
                  </a:txBody>
                  <a:tcPr marL="68580" marR="68580" marT="34290" marB="34290"/>
                </a:tc>
                <a:extLst>
                  <a:ext uri="{0D108BD9-81ED-4DB2-BD59-A6C34878D82A}">
                    <a16:rowId xmlns:a16="http://schemas.microsoft.com/office/drawing/2014/main" xmlns="" val="10008"/>
                  </a:ext>
                </a:extLst>
              </a:tr>
            </a:tbl>
          </a:graphicData>
        </a:graphic>
      </p:graphicFrame>
      <p:sp>
        <p:nvSpPr>
          <p:cNvPr id="4" name="Slide Number Placeholder 3"/>
          <p:cNvSpPr>
            <a:spLocks noGrp="1"/>
          </p:cNvSpPr>
          <p:nvPr>
            <p:ph type="sldNum" sz="quarter" idx="12"/>
          </p:nvPr>
        </p:nvSpPr>
        <p:spPr/>
        <p:txBody>
          <a:bodyPr/>
          <a:lstStyle/>
          <a:p>
            <a:fld id="{E3E8E051-591C-4566-9813-B4BB16D377BD}" type="slidenum">
              <a:rPr lang="en-US" smtClean="0"/>
              <a:pPr/>
              <a:t>34</a:t>
            </a:fld>
            <a:endParaRPr lang="en-US"/>
          </a:p>
        </p:txBody>
      </p:sp>
    </p:spTree>
    <p:extLst>
      <p:ext uri="{BB962C8B-B14F-4D97-AF65-F5344CB8AC3E}">
        <p14:creationId xmlns:p14="http://schemas.microsoft.com/office/powerpoint/2010/main" val="244469495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2.2.2. Kiểu dữ liệu tham chiếu</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a:spcAft>
                <a:spcPts val="450"/>
              </a:spcAft>
            </a:pPr>
            <a:r>
              <a:rPr lang="en-US" sz="2400"/>
              <a:t>Array</a:t>
            </a:r>
          </a:p>
          <a:p>
            <a:pPr>
              <a:spcAft>
                <a:spcPts val="450"/>
              </a:spcAft>
            </a:pPr>
            <a:r>
              <a:rPr lang="en-US" sz="2400"/>
              <a:t>Class</a:t>
            </a:r>
          </a:p>
          <a:p>
            <a:pPr>
              <a:spcAft>
                <a:spcPts val="450"/>
              </a:spcAft>
            </a:pPr>
            <a:r>
              <a:rPr lang="en-US" sz="2400"/>
              <a:t>Interface</a:t>
            </a:r>
          </a:p>
          <a:p>
            <a:endParaRPr lang="en-US" smtClean="0"/>
          </a:p>
        </p:txBody>
      </p:sp>
      <p:sp>
        <p:nvSpPr>
          <p:cNvPr id="4" name="Slide Number Placeholder 3"/>
          <p:cNvSpPr>
            <a:spLocks noGrp="1"/>
          </p:cNvSpPr>
          <p:nvPr>
            <p:ph type="sldNum" sz="quarter" idx="12"/>
          </p:nvPr>
        </p:nvSpPr>
        <p:spPr/>
        <p:txBody>
          <a:bodyPr/>
          <a:lstStyle/>
          <a:p>
            <a:fld id="{E3E8E051-591C-4566-9813-B4BB16D377BD}" type="slidenum">
              <a:rPr lang="en-US" smtClean="0"/>
              <a:pPr/>
              <a:t>35</a:t>
            </a:fld>
            <a:endParaRPr lang="en-US"/>
          </a:p>
        </p:txBody>
      </p:sp>
    </p:spTree>
    <p:extLst>
      <p:ext uri="{BB962C8B-B14F-4D97-AF65-F5344CB8AC3E}">
        <p14:creationId xmlns:p14="http://schemas.microsoft.com/office/powerpoint/2010/main" val="13723784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2.3. Toán tử</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a:spcAft>
                <a:spcPts val="450"/>
              </a:spcAft>
            </a:pPr>
            <a:r>
              <a:rPr lang="en-US" sz="2400"/>
              <a:t>Toán tử số học</a:t>
            </a:r>
          </a:p>
          <a:p>
            <a:pPr>
              <a:spcAft>
                <a:spcPts val="450"/>
              </a:spcAft>
            </a:pPr>
            <a:r>
              <a:rPr lang="en-US" sz="2400"/>
              <a:t>Toán tử nhị phân</a:t>
            </a:r>
          </a:p>
          <a:p>
            <a:pPr>
              <a:spcAft>
                <a:spcPts val="450"/>
              </a:spcAft>
            </a:pPr>
            <a:r>
              <a:rPr lang="en-US" sz="2400"/>
              <a:t>Toán tử quan hệ</a:t>
            </a:r>
          </a:p>
          <a:p>
            <a:pPr>
              <a:spcAft>
                <a:spcPts val="450"/>
              </a:spcAft>
            </a:pPr>
            <a:r>
              <a:rPr lang="en-US" sz="2400"/>
              <a:t>Toán tử luận lý (logic)</a:t>
            </a:r>
          </a:p>
          <a:p>
            <a:pPr>
              <a:spcAft>
                <a:spcPts val="450"/>
              </a:spcAft>
            </a:pPr>
            <a:r>
              <a:rPr lang="en-US" sz="2400"/>
              <a:t>Một số toán tử khác</a:t>
            </a:r>
          </a:p>
          <a:p>
            <a:endParaRPr lang="en-US" smtClean="0"/>
          </a:p>
        </p:txBody>
      </p:sp>
      <p:sp>
        <p:nvSpPr>
          <p:cNvPr id="4" name="Slide Number Placeholder 3"/>
          <p:cNvSpPr>
            <a:spLocks noGrp="1"/>
          </p:cNvSpPr>
          <p:nvPr>
            <p:ph type="sldNum" sz="quarter" idx="12"/>
          </p:nvPr>
        </p:nvSpPr>
        <p:spPr/>
        <p:txBody>
          <a:bodyPr/>
          <a:lstStyle/>
          <a:p>
            <a:fld id="{E3E8E051-591C-4566-9813-B4BB16D377BD}" type="slidenum">
              <a:rPr lang="en-US" smtClean="0"/>
              <a:pPr/>
              <a:t>36</a:t>
            </a:fld>
            <a:endParaRPr lang="en-US"/>
          </a:p>
        </p:txBody>
      </p:sp>
    </p:spTree>
    <p:extLst>
      <p:ext uri="{BB962C8B-B14F-4D97-AF65-F5344CB8AC3E}">
        <p14:creationId xmlns:p14="http://schemas.microsoft.com/office/powerpoint/2010/main" val="10297987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2.3.1. Toán tử số học</a:t>
            </a:r>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29063638"/>
              </p:ext>
            </p:extLst>
          </p:nvPr>
        </p:nvGraphicFramePr>
        <p:xfrm>
          <a:off x="1385892" y="1954530"/>
          <a:ext cx="6372226" cy="3474720"/>
        </p:xfrm>
        <a:graphic>
          <a:graphicData uri="http://schemas.openxmlformats.org/drawingml/2006/table">
            <a:tbl>
              <a:tblPr firstRow="1" bandRow="1">
                <a:tableStyleId>{5C22544A-7EE6-4342-B048-85BDC9FD1C3A}</a:tableStyleId>
              </a:tblPr>
              <a:tblGrid>
                <a:gridCol w="701837">
                  <a:extLst>
                    <a:ext uri="{9D8B030D-6E8A-4147-A177-3AD203B41FA5}">
                      <a16:colId xmlns:a16="http://schemas.microsoft.com/office/drawing/2014/main" xmlns="" val="20000"/>
                    </a:ext>
                  </a:extLst>
                </a:gridCol>
                <a:gridCol w="1620180">
                  <a:extLst>
                    <a:ext uri="{9D8B030D-6E8A-4147-A177-3AD203B41FA5}">
                      <a16:colId xmlns:a16="http://schemas.microsoft.com/office/drawing/2014/main" xmlns="" val="20001"/>
                    </a:ext>
                  </a:extLst>
                </a:gridCol>
                <a:gridCol w="1998222">
                  <a:extLst>
                    <a:ext uri="{9D8B030D-6E8A-4147-A177-3AD203B41FA5}">
                      <a16:colId xmlns:a16="http://schemas.microsoft.com/office/drawing/2014/main" xmlns="" val="20002"/>
                    </a:ext>
                  </a:extLst>
                </a:gridCol>
                <a:gridCol w="2051987">
                  <a:extLst>
                    <a:ext uri="{9D8B030D-6E8A-4147-A177-3AD203B41FA5}">
                      <a16:colId xmlns:a16="http://schemas.microsoft.com/office/drawing/2014/main" xmlns="" val="20003"/>
                    </a:ext>
                  </a:extLst>
                </a:gridCol>
              </a:tblGrid>
              <a:tr h="548640">
                <a:tc>
                  <a:txBody>
                    <a:bodyPr/>
                    <a:lstStyle/>
                    <a:p>
                      <a:pPr algn="ctr">
                        <a:spcBef>
                          <a:spcPts val="600"/>
                        </a:spcBef>
                        <a:spcAft>
                          <a:spcPts val="600"/>
                        </a:spcAft>
                      </a:pPr>
                      <a:r>
                        <a:rPr lang="en-US" sz="1800" b="1">
                          <a:effectLst/>
                          <a:latin typeface="Times New Roman"/>
                          <a:ea typeface="Calibri"/>
                          <a:cs typeface="Times New Roman"/>
                        </a:rPr>
                        <a:t>Toán tử</a:t>
                      </a:r>
                      <a:endParaRPr lang="en-US" sz="18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1800" b="1">
                          <a:effectLst/>
                          <a:latin typeface="Times New Roman"/>
                          <a:ea typeface="Calibri"/>
                          <a:cs typeface="Times New Roman"/>
                        </a:rPr>
                        <a:t>Ý nghĩa</a:t>
                      </a:r>
                      <a:endParaRPr lang="en-US" sz="18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1800" b="1">
                          <a:effectLst/>
                          <a:latin typeface="Times New Roman"/>
                          <a:ea typeface="Calibri"/>
                          <a:cs typeface="Times New Roman"/>
                        </a:rPr>
                        <a:t>Kiểu dữ liệu của toán hạng</a:t>
                      </a:r>
                      <a:endParaRPr lang="en-US" sz="18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1800" b="1">
                          <a:effectLst/>
                          <a:latin typeface="Times New Roman"/>
                          <a:ea typeface="Calibri"/>
                          <a:cs typeface="Times New Roman"/>
                        </a:rPr>
                        <a:t>Ví dụ</a:t>
                      </a:r>
                      <a:endParaRPr lang="en-US" sz="1800">
                        <a:effectLst/>
                        <a:latin typeface="Times New Roman"/>
                        <a:ea typeface="Calibri"/>
                        <a:cs typeface="Times New Roman"/>
                      </a:endParaRPr>
                    </a:p>
                  </a:txBody>
                  <a:tcPr marL="51435" marR="51435" marT="0" marB="0" anchor="ctr"/>
                </a:tc>
                <a:extLst>
                  <a:ext uri="{0D108BD9-81ED-4DB2-BD59-A6C34878D82A}">
                    <a16:rowId xmlns:a16="http://schemas.microsoft.com/office/drawing/2014/main" xmlns="" val="10000"/>
                  </a:ext>
                </a:extLst>
              </a:tr>
              <a:tr h="1325880">
                <a:tc>
                  <a:txBody>
                    <a:bodyPr/>
                    <a:lstStyle/>
                    <a:p>
                      <a:pPr algn="ctr">
                        <a:spcBef>
                          <a:spcPts val="600"/>
                        </a:spcBef>
                        <a:spcAft>
                          <a:spcPts val="600"/>
                        </a:spcAft>
                      </a:pPr>
                      <a:r>
                        <a:rPr lang="en-US" sz="1800">
                          <a:effectLst/>
                          <a:latin typeface="Times New Roman"/>
                          <a:ea typeface="Calibri"/>
                          <a:cs typeface="Times New Roman"/>
                        </a:rPr>
                        <a:t>-</a:t>
                      </a:r>
                    </a:p>
                  </a:txBody>
                  <a:tcPr marL="51435" marR="51435" marT="0" marB="0"/>
                </a:tc>
                <a:tc>
                  <a:txBody>
                    <a:bodyPr/>
                    <a:lstStyle/>
                    <a:p>
                      <a:pPr algn="just">
                        <a:spcBef>
                          <a:spcPts val="600"/>
                        </a:spcBef>
                        <a:spcAft>
                          <a:spcPts val="600"/>
                        </a:spcAft>
                      </a:pPr>
                      <a:r>
                        <a:rPr lang="en-US" sz="1800">
                          <a:effectLst/>
                          <a:latin typeface="Times New Roman"/>
                          <a:ea typeface="Calibri"/>
                          <a:cs typeface="Times New Roman"/>
                        </a:rPr>
                        <a:t>Phép toán trừ</a:t>
                      </a:r>
                    </a:p>
                  </a:txBody>
                  <a:tcPr marL="51435" marR="51435" marT="0" marB="0"/>
                </a:tc>
                <a:tc>
                  <a:txBody>
                    <a:bodyPr/>
                    <a:lstStyle/>
                    <a:p>
                      <a:pPr algn="just">
                        <a:spcBef>
                          <a:spcPts val="600"/>
                        </a:spcBef>
                        <a:spcAft>
                          <a:spcPts val="600"/>
                        </a:spcAft>
                      </a:pPr>
                      <a:r>
                        <a:rPr lang="en-US" sz="1800">
                          <a:effectLst/>
                          <a:latin typeface="Times New Roman"/>
                          <a:ea typeface="Calibri"/>
                          <a:cs typeface="Times New Roman"/>
                        </a:rPr>
                        <a:t>Số thực hoặc số nguyên</a:t>
                      </a:r>
                    </a:p>
                  </a:txBody>
                  <a:tcPr marL="51435" marR="51435" marT="0" marB="0"/>
                </a:tc>
                <a:tc>
                  <a:txBody>
                    <a:bodyPr/>
                    <a:lstStyle/>
                    <a:p>
                      <a:pPr algn="l">
                        <a:spcBef>
                          <a:spcPts val="600"/>
                        </a:spcBef>
                        <a:spcAft>
                          <a:spcPts val="600"/>
                        </a:spcAft>
                      </a:pPr>
                      <a:r>
                        <a:rPr lang="en-US" sz="1800">
                          <a:effectLst/>
                          <a:latin typeface="Courier New"/>
                          <a:ea typeface="Calibri"/>
                          <a:cs typeface="Times New Roman"/>
                        </a:rPr>
                        <a:t>int a, b;</a:t>
                      </a:r>
                      <a:endParaRPr lang="en-US" sz="1800">
                        <a:effectLst/>
                        <a:latin typeface="Times New Roman"/>
                        <a:ea typeface="Calibri"/>
                        <a:cs typeface="Times New Roman"/>
                      </a:endParaRPr>
                    </a:p>
                    <a:p>
                      <a:pPr algn="l">
                        <a:spcBef>
                          <a:spcPts val="600"/>
                        </a:spcBef>
                        <a:spcAft>
                          <a:spcPts val="600"/>
                        </a:spcAft>
                      </a:pPr>
                      <a:r>
                        <a:rPr lang="en-US" sz="1800">
                          <a:effectLst/>
                          <a:latin typeface="Courier New"/>
                          <a:ea typeface="Calibri"/>
                          <a:cs typeface="Times New Roman"/>
                        </a:rPr>
                        <a:t>float x, y;</a:t>
                      </a:r>
                      <a:endParaRPr lang="en-US" sz="1800">
                        <a:effectLst/>
                        <a:latin typeface="Times New Roman"/>
                        <a:ea typeface="Calibri"/>
                        <a:cs typeface="Times New Roman"/>
                      </a:endParaRPr>
                    </a:p>
                    <a:p>
                      <a:pPr algn="l">
                        <a:spcBef>
                          <a:spcPts val="600"/>
                        </a:spcBef>
                        <a:spcAft>
                          <a:spcPts val="600"/>
                        </a:spcAft>
                      </a:pPr>
                      <a:r>
                        <a:rPr lang="en-US" sz="1800">
                          <a:effectLst/>
                          <a:latin typeface="Courier New"/>
                          <a:ea typeface="Calibri"/>
                          <a:cs typeface="Times New Roman"/>
                        </a:rPr>
                        <a:t>5 – 2.6; a – 3;</a:t>
                      </a:r>
                      <a:endParaRPr lang="en-US" sz="1800">
                        <a:effectLst/>
                        <a:latin typeface="Times New Roman"/>
                        <a:ea typeface="Calibri"/>
                        <a:cs typeface="Times New Roman"/>
                      </a:endParaRPr>
                    </a:p>
                  </a:txBody>
                  <a:tcPr marL="51435" marR="51435" marT="0" marB="0"/>
                </a:tc>
                <a:extLst>
                  <a:ext uri="{0D108BD9-81ED-4DB2-BD59-A6C34878D82A}">
                    <a16:rowId xmlns:a16="http://schemas.microsoft.com/office/drawing/2014/main" xmlns="" val="10001"/>
                  </a:ext>
                </a:extLst>
              </a:tr>
              <a:tr h="937260">
                <a:tc>
                  <a:txBody>
                    <a:bodyPr/>
                    <a:lstStyle/>
                    <a:p>
                      <a:pPr algn="ctr">
                        <a:spcBef>
                          <a:spcPts val="600"/>
                        </a:spcBef>
                        <a:spcAft>
                          <a:spcPts val="600"/>
                        </a:spcAft>
                      </a:pPr>
                      <a:r>
                        <a:rPr lang="en-US" sz="1800">
                          <a:effectLst/>
                          <a:latin typeface="Times New Roman"/>
                          <a:ea typeface="Calibri"/>
                          <a:cs typeface="Times New Roman"/>
                        </a:rPr>
                        <a:t>+</a:t>
                      </a:r>
                    </a:p>
                  </a:txBody>
                  <a:tcPr marL="51435" marR="51435" marT="0" marB="0"/>
                </a:tc>
                <a:tc>
                  <a:txBody>
                    <a:bodyPr/>
                    <a:lstStyle/>
                    <a:p>
                      <a:pPr algn="just">
                        <a:spcBef>
                          <a:spcPts val="600"/>
                        </a:spcBef>
                        <a:spcAft>
                          <a:spcPts val="600"/>
                        </a:spcAft>
                      </a:pPr>
                      <a:r>
                        <a:rPr lang="en-US" sz="1800">
                          <a:effectLst/>
                          <a:latin typeface="Times New Roman"/>
                          <a:ea typeface="Calibri"/>
                          <a:cs typeface="Times New Roman"/>
                        </a:rPr>
                        <a:t>Phép toán cộng</a:t>
                      </a:r>
                    </a:p>
                  </a:txBody>
                  <a:tcPr marL="51435" marR="51435" marT="0" marB="0"/>
                </a:tc>
                <a:tc>
                  <a:txBody>
                    <a:bodyPr/>
                    <a:lstStyle/>
                    <a:p>
                      <a:pPr algn="just">
                        <a:spcBef>
                          <a:spcPts val="600"/>
                        </a:spcBef>
                        <a:spcAft>
                          <a:spcPts val="600"/>
                        </a:spcAft>
                      </a:pPr>
                      <a:r>
                        <a:rPr lang="en-US" sz="1800">
                          <a:effectLst/>
                          <a:latin typeface="Times New Roman"/>
                          <a:ea typeface="Calibri"/>
                          <a:cs typeface="Times New Roman"/>
                        </a:rPr>
                        <a:t>Số thực hoặc số nguyên</a:t>
                      </a:r>
                    </a:p>
                  </a:txBody>
                  <a:tcPr marL="51435" marR="51435" marT="0" marB="0"/>
                </a:tc>
                <a:tc>
                  <a:txBody>
                    <a:bodyPr/>
                    <a:lstStyle/>
                    <a:p>
                      <a:pPr algn="l">
                        <a:spcBef>
                          <a:spcPts val="600"/>
                        </a:spcBef>
                        <a:spcAft>
                          <a:spcPts val="600"/>
                        </a:spcAft>
                      </a:pPr>
                      <a:r>
                        <a:rPr lang="en-US" sz="1800">
                          <a:effectLst/>
                          <a:latin typeface="Courier New"/>
                          <a:ea typeface="Calibri"/>
                          <a:cs typeface="Times New Roman"/>
                        </a:rPr>
                        <a:t>6 + 5; a + y;</a:t>
                      </a:r>
                      <a:endParaRPr lang="en-US" sz="1800">
                        <a:effectLst/>
                        <a:latin typeface="Times New Roman"/>
                        <a:ea typeface="Calibri"/>
                        <a:cs typeface="Times New Roman"/>
                      </a:endParaRPr>
                    </a:p>
                    <a:p>
                      <a:pPr algn="l">
                        <a:spcBef>
                          <a:spcPts val="600"/>
                        </a:spcBef>
                        <a:spcAft>
                          <a:spcPts val="600"/>
                        </a:spcAft>
                      </a:pPr>
                      <a:r>
                        <a:rPr lang="en-US" sz="1800">
                          <a:effectLst/>
                          <a:latin typeface="Courier New"/>
                          <a:ea typeface="Calibri"/>
                          <a:cs typeface="Times New Roman"/>
                        </a:rPr>
                        <a:t>5.6 + 2.3; 5– 1.2;</a:t>
                      </a:r>
                      <a:endParaRPr lang="en-US" sz="1800">
                        <a:effectLst/>
                        <a:latin typeface="Times New Roman"/>
                        <a:ea typeface="Calibri"/>
                        <a:cs typeface="Times New Roman"/>
                      </a:endParaRPr>
                    </a:p>
                  </a:txBody>
                  <a:tcPr marL="51435" marR="51435" marT="0" marB="0"/>
                </a:tc>
                <a:extLst>
                  <a:ext uri="{0D108BD9-81ED-4DB2-BD59-A6C34878D82A}">
                    <a16:rowId xmlns:a16="http://schemas.microsoft.com/office/drawing/2014/main" xmlns="" val="10002"/>
                  </a:ext>
                </a:extLst>
              </a:tr>
              <a:tr h="548640">
                <a:tc>
                  <a:txBody>
                    <a:bodyPr/>
                    <a:lstStyle/>
                    <a:p>
                      <a:pPr algn="ctr">
                        <a:spcBef>
                          <a:spcPts val="600"/>
                        </a:spcBef>
                        <a:spcAft>
                          <a:spcPts val="600"/>
                        </a:spcAft>
                      </a:pPr>
                      <a:r>
                        <a:rPr lang="en-US" sz="1800">
                          <a:effectLst/>
                          <a:latin typeface="Times New Roman"/>
                          <a:ea typeface="Calibri"/>
                          <a:cs typeface="Times New Roman"/>
                        </a:rPr>
                        <a:t>*</a:t>
                      </a:r>
                    </a:p>
                  </a:txBody>
                  <a:tcPr marL="51435" marR="51435" marT="0" marB="0"/>
                </a:tc>
                <a:tc>
                  <a:txBody>
                    <a:bodyPr/>
                    <a:lstStyle/>
                    <a:p>
                      <a:pPr algn="just">
                        <a:spcBef>
                          <a:spcPts val="600"/>
                        </a:spcBef>
                        <a:spcAft>
                          <a:spcPts val="600"/>
                        </a:spcAft>
                      </a:pPr>
                      <a:r>
                        <a:rPr lang="en-US" sz="1800">
                          <a:effectLst/>
                          <a:latin typeface="Times New Roman"/>
                          <a:ea typeface="Calibri"/>
                          <a:cs typeface="Times New Roman"/>
                        </a:rPr>
                        <a:t>Phép toán nhân</a:t>
                      </a:r>
                    </a:p>
                  </a:txBody>
                  <a:tcPr marL="51435" marR="51435" marT="0" marB="0"/>
                </a:tc>
                <a:tc>
                  <a:txBody>
                    <a:bodyPr/>
                    <a:lstStyle/>
                    <a:p>
                      <a:pPr algn="just">
                        <a:spcBef>
                          <a:spcPts val="600"/>
                        </a:spcBef>
                        <a:spcAft>
                          <a:spcPts val="600"/>
                        </a:spcAft>
                      </a:pPr>
                      <a:r>
                        <a:rPr lang="en-US" sz="1800">
                          <a:effectLst/>
                          <a:latin typeface="Times New Roman"/>
                          <a:ea typeface="Calibri"/>
                          <a:cs typeface="Times New Roman"/>
                        </a:rPr>
                        <a:t>Số thực hoặc số nguyên</a:t>
                      </a:r>
                    </a:p>
                  </a:txBody>
                  <a:tcPr marL="51435" marR="51435" marT="0" marB="0"/>
                </a:tc>
                <a:tc>
                  <a:txBody>
                    <a:bodyPr/>
                    <a:lstStyle/>
                    <a:p>
                      <a:pPr algn="l">
                        <a:spcBef>
                          <a:spcPts val="600"/>
                        </a:spcBef>
                        <a:spcAft>
                          <a:spcPts val="600"/>
                        </a:spcAft>
                      </a:pPr>
                      <a:r>
                        <a:rPr lang="en-US" sz="1800">
                          <a:effectLst/>
                          <a:latin typeface="Courier New"/>
                          <a:ea typeface="Calibri"/>
                          <a:cs typeface="Times New Roman"/>
                        </a:rPr>
                        <a:t>a * x; b * y; 2.5 * 6.3;</a:t>
                      </a:r>
                      <a:endParaRPr lang="en-US" sz="1800">
                        <a:effectLst/>
                        <a:latin typeface="Times New Roman"/>
                        <a:ea typeface="Calibri"/>
                        <a:cs typeface="Times New Roman"/>
                      </a:endParaRPr>
                    </a:p>
                  </a:txBody>
                  <a:tcPr marL="51435" marR="51435" marT="0" marB="0"/>
                </a:tc>
                <a:extLst>
                  <a:ext uri="{0D108BD9-81ED-4DB2-BD59-A6C34878D82A}">
                    <a16:rowId xmlns:a16="http://schemas.microsoft.com/office/drawing/2014/main" xmlns="" val="10003"/>
                  </a:ext>
                </a:extLst>
              </a:tr>
            </a:tbl>
          </a:graphicData>
        </a:graphic>
      </p:graphicFrame>
      <p:sp>
        <p:nvSpPr>
          <p:cNvPr id="4" name="Slide Number Placeholder 3"/>
          <p:cNvSpPr>
            <a:spLocks noGrp="1"/>
          </p:cNvSpPr>
          <p:nvPr>
            <p:ph type="sldNum" sz="quarter" idx="12"/>
          </p:nvPr>
        </p:nvSpPr>
        <p:spPr/>
        <p:txBody>
          <a:bodyPr/>
          <a:lstStyle/>
          <a:p>
            <a:fld id="{E3E8E051-591C-4566-9813-B4BB16D377BD}" type="slidenum">
              <a:rPr lang="en-US" smtClean="0"/>
              <a:pPr/>
              <a:t>37</a:t>
            </a:fld>
            <a:endParaRPr lang="en-US"/>
          </a:p>
        </p:txBody>
      </p:sp>
    </p:spTree>
    <p:extLst>
      <p:ext uri="{BB962C8B-B14F-4D97-AF65-F5344CB8AC3E}">
        <p14:creationId xmlns:p14="http://schemas.microsoft.com/office/powerpoint/2010/main" val="23548776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2.3.1. Toán tử số học (2)</a:t>
            </a:r>
            <a:endParaRPr lang="en-US"/>
          </a:p>
        </p:txBody>
      </p:sp>
      <p:graphicFrame>
        <p:nvGraphicFramePr>
          <p:cNvPr id="5" name="Content Placeholder 4"/>
          <p:cNvGraphicFramePr>
            <a:graphicFrameLocks noGrp="1"/>
          </p:cNvGraphicFramePr>
          <p:nvPr>
            <p:ph idx="1"/>
            <p:extLst/>
          </p:nvPr>
        </p:nvGraphicFramePr>
        <p:xfrm>
          <a:off x="1385892" y="1808560"/>
          <a:ext cx="6372226" cy="3962400"/>
        </p:xfrm>
        <a:graphic>
          <a:graphicData uri="http://schemas.openxmlformats.org/drawingml/2006/table">
            <a:tbl>
              <a:tblPr firstRow="1" bandRow="1">
                <a:tableStyleId>{5C22544A-7EE6-4342-B048-85BDC9FD1C3A}</a:tableStyleId>
              </a:tblPr>
              <a:tblGrid>
                <a:gridCol w="701837">
                  <a:extLst>
                    <a:ext uri="{9D8B030D-6E8A-4147-A177-3AD203B41FA5}">
                      <a16:colId xmlns:a16="http://schemas.microsoft.com/office/drawing/2014/main" xmlns="" val="20000"/>
                    </a:ext>
                  </a:extLst>
                </a:gridCol>
                <a:gridCol w="1620180">
                  <a:extLst>
                    <a:ext uri="{9D8B030D-6E8A-4147-A177-3AD203B41FA5}">
                      <a16:colId xmlns:a16="http://schemas.microsoft.com/office/drawing/2014/main" xmlns="" val="20001"/>
                    </a:ext>
                  </a:extLst>
                </a:gridCol>
                <a:gridCol w="1998222">
                  <a:extLst>
                    <a:ext uri="{9D8B030D-6E8A-4147-A177-3AD203B41FA5}">
                      <a16:colId xmlns:a16="http://schemas.microsoft.com/office/drawing/2014/main" xmlns="" val="20002"/>
                    </a:ext>
                  </a:extLst>
                </a:gridCol>
                <a:gridCol w="2051987">
                  <a:extLst>
                    <a:ext uri="{9D8B030D-6E8A-4147-A177-3AD203B41FA5}">
                      <a16:colId xmlns:a16="http://schemas.microsoft.com/office/drawing/2014/main" xmlns="" val="20003"/>
                    </a:ext>
                  </a:extLst>
                </a:gridCol>
              </a:tblGrid>
              <a:tr h="594360">
                <a:tc>
                  <a:txBody>
                    <a:bodyPr/>
                    <a:lstStyle/>
                    <a:p>
                      <a:pPr algn="ctr">
                        <a:spcBef>
                          <a:spcPts val="600"/>
                        </a:spcBef>
                        <a:spcAft>
                          <a:spcPts val="600"/>
                        </a:spcAft>
                      </a:pPr>
                      <a:r>
                        <a:rPr lang="en-US" sz="2000" b="1">
                          <a:effectLst/>
                          <a:latin typeface="Times New Roman"/>
                          <a:ea typeface="Calibri"/>
                          <a:cs typeface="Times New Roman"/>
                        </a:rPr>
                        <a:t>Toán tử</a:t>
                      </a:r>
                      <a:endParaRPr lang="en-US" sz="20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2000" b="1">
                          <a:effectLst/>
                          <a:latin typeface="Times New Roman"/>
                          <a:ea typeface="Calibri"/>
                          <a:cs typeface="Times New Roman"/>
                        </a:rPr>
                        <a:t>Ý nghĩa</a:t>
                      </a:r>
                      <a:endParaRPr lang="en-US" sz="20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2000" b="1">
                          <a:effectLst/>
                          <a:latin typeface="Times New Roman"/>
                          <a:ea typeface="Calibri"/>
                          <a:cs typeface="Times New Roman"/>
                        </a:rPr>
                        <a:t>Kiểu dữ liệu của toán hạng</a:t>
                      </a:r>
                      <a:endParaRPr lang="en-US" sz="20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2000" b="1">
                          <a:effectLst/>
                          <a:latin typeface="Times New Roman"/>
                          <a:ea typeface="Calibri"/>
                          <a:cs typeface="Times New Roman"/>
                        </a:rPr>
                        <a:t>Ví dụ</a:t>
                      </a:r>
                      <a:endParaRPr lang="en-US" sz="2000">
                        <a:effectLst/>
                        <a:latin typeface="Times New Roman"/>
                        <a:ea typeface="Calibri"/>
                        <a:cs typeface="Times New Roman"/>
                      </a:endParaRPr>
                    </a:p>
                  </a:txBody>
                  <a:tcPr marL="51435" marR="51435" marT="0" marB="0" anchor="ctr"/>
                </a:tc>
                <a:extLst>
                  <a:ext uri="{0D108BD9-81ED-4DB2-BD59-A6C34878D82A}">
                    <a16:rowId xmlns:a16="http://schemas.microsoft.com/office/drawing/2014/main" xmlns="" val="10000"/>
                  </a:ext>
                </a:extLst>
              </a:tr>
              <a:tr h="2011680">
                <a:tc>
                  <a:txBody>
                    <a:bodyPr/>
                    <a:lstStyle/>
                    <a:p>
                      <a:pPr algn="ctr">
                        <a:spcBef>
                          <a:spcPts val="600"/>
                        </a:spcBef>
                        <a:spcAft>
                          <a:spcPts val="600"/>
                        </a:spcAft>
                      </a:pPr>
                      <a:r>
                        <a:rPr lang="en-US" sz="2000">
                          <a:effectLst/>
                          <a:latin typeface="Times New Roman"/>
                          <a:ea typeface="Calibri"/>
                          <a:cs typeface="Times New Roman"/>
                        </a:rPr>
                        <a:t>/</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Phép toán chia</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Số thực hoặc số nguyên</a:t>
                      </a:r>
                    </a:p>
                  </a:txBody>
                  <a:tcPr marL="51435" marR="51435" marT="0" marB="0"/>
                </a:tc>
                <a:tc>
                  <a:txBody>
                    <a:bodyPr/>
                    <a:lstStyle/>
                    <a:p>
                      <a:pPr algn="l">
                        <a:spcBef>
                          <a:spcPts val="600"/>
                        </a:spcBef>
                        <a:spcAft>
                          <a:spcPts val="600"/>
                        </a:spcAft>
                      </a:pPr>
                      <a:r>
                        <a:rPr lang="en-US" sz="2000">
                          <a:effectLst/>
                          <a:latin typeface="Courier New"/>
                          <a:ea typeface="Calibri"/>
                          <a:cs typeface="Times New Roman"/>
                        </a:rPr>
                        <a:t>10.0/3.0</a:t>
                      </a:r>
                      <a:r>
                        <a:rPr lang="en-US" sz="2000">
                          <a:effectLst/>
                          <a:latin typeface="Courier New"/>
                          <a:ea typeface="Calibri"/>
                          <a:cs typeface="Courier New"/>
                          <a:sym typeface="Wingdings"/>
                        </a:rPr>
                        <a:t></a:t>
                      </a:r>
                      <a:r>
                        <a:rPr lang="en-US" sz="2000">
                          <a:effectLst/>
                          <a:latin typeface="Courier New"/>
                          <a:ea typeface="Calibri"/>
                          <a:cs typeface="Times New Roman"/>
                        </a:rPr>
                        <a:t> 3.33</a:t>
                      </a:r>
                      <a:endParaRPr lang="en-US" sz="2000">
                        <a:effectLst/>
                        <a:latin typeface="Times New Roman"/>
                        <a:ea typeface="Calibri"/>
                        <a:cs typeface="Times New Roman"/>
                      </a:endParaRPr>
                    </a:p>
                    <a:p>
                      <a:pPr algn="l">
                        <a:spcBef>
                          <a:spcPts val="600"/>
                        </a:spcBef>
                        <a:spcAft>
                          <a:spcPts val="600"/>
                        </a:spcAft>
                      </a:pPr>
                      <a:r>
                        <a:rPr lang="en-US" sz="2000">
                          <a:effectLst/>
                          <a:latin typeface="Courier New"/>
                          <a:ea typeface="Calibri"/>
                          <a:cs typeface="Times New Roman"/>
                        </a:rPr>
                        <a:t>10.0/3 </a:t>
                      </a:r>
                      <a:r>
                        <a:rPr lang="en-US" sz="2000">
                          <a:effectLst/>
                          <a:latin typeface="Courier New"/>
                          <a:ea typeface="Calibri"/>
                          <a:cs typeface="Courier New"/>
                          <a:sym typeface="Wingdings"/>
                        </a:rPr>
                        <a:t></a:t>
                      </a:r>
                      <a:r>
                        <a:rPr lang="en-US" sz="2000">
                          <a:effectLst/>
                          <a:latin typeface="Courier New"/>
                          <a:ea typeface="Calibri"/>
                          <a:cs typeface="Times New Roman"/>
                        </a:rPr>
                        <a:t> 3.33</a:t>
                      </a:r>
                      <a:endParaRPr lang="en-US" sz="2000">
                        <a:effectLst/>
                        <a:latin typeface="Times New Roman"/>
                        <a:ea typeface="Calibri"/>
                        <a:cs typeface="Times New Roman"/>
                      </a:endParaRPr>
                    </a:p>
                    <a:p>
                      <a:pPr algn="l">
                        <a:spcBef>
                          <a:spcPts val="600"/>
                        </a:spcBef>
                        <a:spcAft>
                          <a:spcPts val="600"/>
                        </a:spcAft>
                      </a:pPr>
                      <a:r>
                        <a:rPr lang="en-US" sz="2000">
                          <a:effectLst/>
                          <a:latin typeface="Courier New"/>
                          <a:ea typeface="Calibri"/>
                          <a:cs typeface="Times New Roman"/>
                        </a:rPr>
                        <a:t>10/3.0 </a:t>
                      </a:r>
                      <a:r>
                        <a:rPr lang="en-US" sz="2000">
                          <a:effectLst/>
                          <a:latin typeface="Courier New"/>
                          <a:ea typeface="Calibri"/>
                          <a:cs typeface="Courier New"/>
                          <a:sym typeface="Wingdings"/>
                        </a:rPr>
                        <a:t></a:t>
                      </a:r>
                      <a:r>
                        <a:rPr lang="en-US" sz="2000">
                          <a:effectLst/>
                          <a:latin typeface="Courier New"/>
                          <a:ea typeface="Calibri"/>
                          <a:cs typeface="Times New Roman"/>
                        </a:rPr>
                        <a:t> 3.33</a:t>
                      </a:r>
                      <a:endParaRPr lang="en-US" sz="2000">
                        <a:effectLst/>
                        <a:latin typeface="Times New Roman"/>
                        <a:ea typeface="Calibri"/>
                        <a:cs typeface="Times New Roman"/>
                      </a:endParaRPr>
                    </a:p>
                  </a:txBody>
                  <a:tcPr marL="51435" marR="51435" marT="0" marB="0"/>
                </a:tc>
                <a:extLst>
                  <a:ext uri="{0D108BD9-81ED-4DB2-BD59-A6C34878D82A}">
                    <a16:rowId xmlns:a16="http://schemas.microsoft.com/office/drawing/2014/main" xmlns="" val="10001"/>
                  </a:ext>
                </a:extLst>
              </a:tr>
              <a:tr h="594360">
                <a:tc>
                  <a:txBody>
                    <a:bodyPr/>
                    <a:lstStyle/>
                    <a:p>
                      <a:pPr algn="ctr">
                        <a:spcBef>
                          <a:spcPts val="600"/>
                        </a:spcBef>
                        <a:spcAft>
                          <a:spcPts val="600"/>
                        </a:spcAft>
                      </a:pPr>
                      <a:r>
                        <a:rPr lang="en-US" sz="2000">
                          <a:effectLst/>
                          <a:latin typeface="Times New Roman"/>
                          <a:ea typeface="Calibri"/>
                          <a:cs typeface="Times New Roman"/>
                        </a:rPr>
                        <a:t>/</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Phép chia lấy phần nguyên</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Giữa 2 số nguyên</a:t>
                      </a:r>
                    </a:p>
                  </a:txBody>
                  <a:tcPr marL="51435" marR="51435" marT="0" marB="0"/>
                </a:tc>
                <a:tc>
                  <a:txBody>
                    <a:bodyPr/>
                    <a:lstStyle/>
                    <a:p>
                      <a:pPr algn="l">
                        <a:spcBef>
                          <a:spcPts val="600"/>
                        </a:spcBef>
                        <a:spcAft>
                          <a:spcPts val="600"/>
                        </a:spcAft>
                      </a:pPr>
                      <a:r>
                        <a:rPr lang="en-US" sz="2000">
                          <a:effectLst/>
                          <a:latin typeface="Courier New"/>
                          <a:ea typeface="Calibri"/>
                          <a:cs typeface="Times New Roman"/>
                        </a:rPr>
                        <a:t>10/3 </a:t>
                      </a:r>
                      <a:r>
                        <a:rPr lang="en-US" sz="2000">
                          <a:effectLst/>
                          <a:latin typeface="Courier New"/>
                          <a:ea typeface="Calibri"/>
                          <a:cs typeface="Courier New"/>
                          <a:sym typeface="Wingdings"/>
                        </a:rPr>
                        <a:t></a:t>
                      </a:r>
                      <a:r>
                        <a:rPr lang="en-US" sz="2000">
                          <a:effectLst/>
                          <a:latin typeface="Courier New"/>
                          <a:ea typeface="Calibri"/>
                          <a:cs typeface="Times New Roman"/>
                        </a:rPr>
                        <a:t> 3</a:t>
                      </a:r>
                      <a:endParaRPr lang="en-US" sz="2000">
                        <a:effectLst/>
                        <a:latin typeface="Times New Roman"/>
                        <a:ea typeface="Calibri"/>
                        <a:cs typeface="Times New Roman"/>
                      </a:endParaRPr>
                    </a:p>
                  </a:txBody>
                  <a:tcPr marL="51435" marR="51435" marT="0" marB="0"/>
                </a:tc>
                <a:extLst>
                  <a:ext uri="{0D108BD9-81ED-4DB2-BD59-A6C34878D82A}">
                    <a16:rowId xmlns:a16="http://schemas.microsoft.com/office/drawing/2014/main" xmlns="" val="10002"/>
                  </a:ext>
                </a:extLst>
              </a:tr>
              <a:tr h="594360">
                <a:tc>
                  <a:txBody>
                    <a:bodyPr/>
                    <a:lstStyle/>
                    <a:p>
                      <a:pPr algn="ctr">
                        <a:spcBef>
                          <a:spcPts val="600"/>
                        </a:spcBef>
                        <a:spcAft>
                          <a:spcPts val="600"/>
                        </a:spcAft>
                      </a:pPr>
                      <a:r>
                        <a:rPr lang="en-US" sz="2000">
                          <a:effectLst/>
                          <a:latin typeface="Times New Roman"/>
                          <a:ea typeface="Calibri"/>
                          <a:cs typeface="Times New Roman"/>
                        </a:rPr>
                        <a:t>%</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Phép chia lấy phần dư</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Giữa 2 số nguyên</a:t>
                      </a:r>
                    </a:p>
                  </a:txBody>
                  <a:tcPr marL="51435" marR="51435" marT="0" marB="0"/>
                </a:tc>
                <a:tc>
                  <a:txBody>
                    <a:bodyPr/>
                    <a:lstStyle/>
                    <a:p>
                      <a:pPr algn="just">
                        <a:spcBef>
                          <a:spcPts val="600"/>
                        </a:spcBef>
                        <a:spcAft>
                          <a:spcPts val="600"/>
                        </a:spcAft>
                      </a:pPr>
                      <a:r>
                        <a:rPr lang="en-US" sz="2000">
                          <a:effectLst/>
                          <a:latin typeface="Courier New"/>
                          <a:ea typeface="Calibri"/>
                          <a:cs typeface="Times New Roman"/>
                        </a:rPr>
                        <a:t>10%3 </a:t>
                      </a:r>
                      <a:r>
                        <a:rPr lang="en-US" sz="2000">
                          <a:effectLst/>
                          <a:latin typeface="Courier New"/>
                          <a:ea typeface="Calibri"/>
                          <a:cs typeface="Courier New"/>
                          <a:sym typeface="Wingdings"/>
                        </a:rPr>
                        <a:t></a:t>
                      </a:r>
                      <a:r>
                        <a:rPr lang="en-US" sz="2000">
                          <a:effectLst/>
                          <a:latin typeface="Courier New"/>
                          <a:ea typeface="Calibri"/>
                          <a:cs typeface="Times New Roman"/>
                        </a:rPr>
                        <a:t> 1</a:t>
                      </a:r>
                      <a:endParaRPr lang="en-US" sz="2000">
                        <a:effectLst/>
                        <a:latin typeface="Times New Roman"/>
                        <a:ea typeface="Calibri"/>
                        <a:cs typeface="Times New Roman"/>
                      </a:endParaRPr>
                    </a:p>
                  </a:txBody>
                  <a:tcPr marL="51435" marR="51435" marT="0" marB="0"/>
                </a:tc>
                <a:extLst>
                  <a:ext uri="{0D108BD9-81ED-4DB2-BD59-A6C34878D82A}">
                    <a16:rowId xmlns:a16="http://schemas.microsoft.com/office/drawing/2014/main" xmlns="" val="10003"/>
                  </a:ext>
                </a:extLst>
              </a:tr>
            </a:tbl>
          </a:graphicData>
        </a:graphic>
      </p:graphicFrame>
      <p:sp>
        <p:nvSpPr>
          <p:cNvPr id="4" name="Slide Number Placeholder 3"/>
          <p:cNvSpPr>
            <a:spLocks noGrp="1"/>
          </p:cNvSpPr>
          <p:nvPr>
            <p:ph type="sldNum" sz="quarter" idx="12"/>
          </p:nvPr>
        </p:nvSpPr>
        <p:spPr/>
        <p:txBody>
          <a:bodyPr/>
          <a:lstStyle/>
          <a:p>
            <a:fld id="{E3E8E051-591C-4566-9813-B4BB16D377BD}" type="slidenum">
              <a:rPr lang="en-US" smtClean="0"/>
              <a:pPr/>
              <a:t>38</a:t>
            </a:fld>
            <a:endParaRPr lang="en-US"/>
          </a:p>
        </p:txBody>
      </p:sp>
    </p:spTree>
    <p:extLst>
      <p:ext uri="{BB962C8B-B14F-4D97-AF65-F5344CB8AC3E}">
        <p14:creationId xmlns:p14="http://schemas.microsoft.com/office/powerpoint/2010/main" val="102437557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2.3.2. Toán tử nhị phân</a:t>
            </a:r>
            <a:endParaRPr lang="en-US"/>
          </a:p>
        </p:txBody>
      </p:sp>
      <p:graphicFrame>
        <p:nvGraphicFramePr>
          <p:cNvPr id="5" name="Content Placeholder 4"/>
          <p:cNvGraphicFramePr>
            <a:graphicFrameLocks noGrp="1"/>
          </p:cNvGraphicFramePr>
          <p:nvPr>
            <p:ph idx="1"/>
            <p:extLst/>
          </p:nvPr>
        </p:nvGraphicFramePr>
        <p:xfrm>
          <a:off x="1385892" y="1808560"/>
          <a:ext cx="6372226" cy="3962400"/>
        </p:xfrm>
        <a:graphic>
          <a:graphicData uri="http://schemas.openxmlformats.org/drawingml/2006/table">
            <a:tbl>
              <a:tblPr firstRow="1" bandRow="1">
                <a:tableStyleId>{5C22544A-7EE6-4342-B048-85BDC9FD1C3A}</a:tableStyleId>
              </a:tblPr>
              <a:tblGrid>
                <a:gridCol w="701837">
                  <a:extLst>
                    <a:ext uri="{9D8B030D-6E8A-4147-A177-3AD203B41FA5}">
                      <a16:colId xmlns:a16="http://schemas.microsoft.com/office/drawing/2014/main" xmlns="" val="20000"/>
                    </a:ext>
                  </a:extLst>
                </a:gridCol>
                <a:gridCol w="1620180">
                  <a:extLst>
                    <a:ext uri="{9D8B030D-6E8A-4147-A177-3AD203B41FA5}">
                      <a16:colId xmlns:a16="http://schemas.microsoft.com/office/drawing/2014/main" xmlns="" val="20001"/>
                    </a:ext>
                  </a:extLst>
                </a:gridCol>
                <a:gridCol w="1998222">
                  <a:extLst>
                    <a:ext uri="{9D8B030D-6E8A-4147-A177-3AD203B41FA5}">
                      <a16:colId xmlns:a16="http://schemas.microsoft.com/office/drawing/2014/main" xmlns="" val="20002"/>
                    </a:ext>
                  </a:extLst>
                </a:gridCol>
                <a:gridCol w="2051987">
                  <a:extLst>
                    <a:ext uri="{9D8B030D-6E8A-4147-A177-3AD203B41FA5}">
                      <a16:colId xmlns:a16="http://schemas.microsoft.com/office/drawing/2014/main" xmlns="" val="20003"/>
                    </a:ext>
                  </a:extLst>
                </a:gridCol>
              </a:tblGrid>
              <a:tr h="594360">
                <a:tc>
                  <a:txBody>
                    <a:bodyPr/>
                    <a:lstStyle/>
                    <a:p>
                      <a:pPr algn="ctr">
                        <a:spcBef>
                          <a:spcPts val="600"/>
                        </a:spcBef>
                        <a:spcAft>
                          <a:spcPts val="600"/>
                        </a:spcAft>
                      </a:pPr>
                      <a:r>
                        <a:rPr lang="en-US" sz="2000" b="1">
                          <a:effectLst/>
                          <a:latin typeface="Times New Roman"/>
                          <a:ea typeface="Calibri"/>
                          <a:cs typeface="Times New Roman"/>
                        </a:rPr>
                        <a:t>Toán tử</a:t>
                      </a:r>
                      <a:endParaRPr lang="en-US" sz="20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2000" b="1">
                          <a:effectLst/>
                          <a:latin typeface="Times New Roman"/>
                          <a:ea typeface="Calibri"/>
                          <a:cs typeface="Times New Roman"/>
                        </a:rPr>
                        <a:t>Ý nghĩa</a:t>
                      </a:r>
                      <a:endParaRPr lang="en-US" sz="20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2000" b="1">
                          <a:effectLst/>
                          <a:latin typeface="Times New Roman"/>
                          <a:ea typeface="Calibri"/>
                          <a:cs typeface="Times New Roman"/>
                        </a:rPr>
                        <a:t>Kiểu dữ liệu của toán hạng</a:t>
                      </a:r>
                      <a:endParaRPr lang="en-US" sz="20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2000" b="1">
                          <a:effectLst/>
                          <a:latin typeface="Times New Roman"/>
                          <a:ea typeface="Calibri"/>
                          <a:cs typeface="Times New Roman"/>
                        </a:rPr>
                        <a:t>Ví dụ</a:t>
                      </a:r>
                      <a:endParaRPr lang="en-US" sz="2000">
                        <a:effectLst/>
                        <a:latin typeface="Times New Roman"/>
                        <a:ea typeface="Calibri"/>
                        <a:cs typeface="Times New Roman"/>
                      </a:endParaRPr>
                    </a:p>
                  </a:txBody>
                  <a:tcPr marL="51435" marR="51435" marT="0" marB="0" anchor="ctr"/>
                </a:tc>
                <a:extLst>
                  <a:ext uri="{0D108BD9-81ED-4DB2-BD59-A6C34878D82A}">
                    <a16:rowId xmlns:a16="http://schemas.microsoft.com/office/drawing/2014/main" xmlns="" val="10000"/>
                  </a:ext>
                </a:extLst>
              </a:tr>
              <a:tr h="1531620">
                <a:tc>
                  <a:txBody>
                    <a:bodyPr/>
                    <a:lstStyle/>
                    <a:p>
                      <a:pPr algn="just">
                        <a:spcBef>
                          <a:spcPts val="600"/>
                        </a:spcBef>
                        <a:spcAft>
                          <a:spcPts val="600"/>
                        </a:spcAft>
                      </a:pPr>
                      <a:r>
                        <a:rPr lang="en-US" sz="2000">
                          <a:effectLst/>
                          <a:latin typeface="Times New Roman"/>
                          <a:ea typeface="Calibri"/>
                          <a:cs typeface="Times New Roman"/>
                        </a:rPr>
                        <a:t>&amp;</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Phép và nhị phân</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2 số nhị phân</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0 &amp; 0 </a:t>
                      </a:r>
                      <a:r>
                        <a:rPr lang="en-US" sz="2000">
                          <a:effectLst/>
                          <a:latin typeface="Times New Roman"/>
                          <a:ea typeface="Calibri"/>
                          <a:cs typeface="Times New Roman"/>
                          <a:sym typeface="Wingdings"/>
                        </a:rPr>
                        <a:t></a:t>
                      </a:r>
                      <a:r>
                        <a:rPr lang="en-US" sz="2000">
                          <a:effectLst/>
                          <a:latin typeface="Times New Roman"/>
                          <a:ea typeface="Calibri"/>
                          <a:cs typeface="Times New Roman"/>
                        </a:rPr>
                        <a:t> 0</a:t>
                      </a:r>
                    </a:p>
                    <a:p>
                      <a:pPr algn="just">
                        <a:spcBef>
                          <a:spcPts val="600"/>
                        </a:spcBef>
                        <a:spcAft>
                          <a:spcPts val="600"/>
                        </a:spcAft>
                      </a:pPr>
                      <a:r>
                        <a:rPr lang="en-US" sz="2000">
                          <a:effectLst/>
                          <a:latin typeface="Times New Roman"/>
                          <a:ea typeface="Calibri"/>
                          <a:cs typeface="Times New Roman"/>
                        </a:rPr>
                        <a:t>0 &amp; 1 </a:t>
                      </a:r>
                      <a:r>
                        <a:rPr lang="en-US" sz="2000">
                          <a:effectLst/>
                          <a:latin typeface="Times New Roman"/>
                          <a:ea typeface="Calibri"/>
                          <a:cs typeface="Times New Roman"/>
                          <a:sym typeface="Wingdings"/>
                        </a:rPr>
                        <a:t></a:t>
                      </a:r>
                      <a:r>
                        <a:rPr lang="en-US" sz="2000">
                          <a:effectLst/>
                          <a:latin typeface="Times New Roman"/>
                          <a:ea typeface="Calibri"/>
                          <a:cs typeface="Times New Roman"/>
                        </a:rPr>
                        <a:t> 0</a:t>
                      </a:r>
                    </a:p>
                    <a:p>
                      <a:pPr algn="just">
                        <a:spcBef>
                          <a:spcPts val="600"/>
                        </a:spcBef>
                        <a:spcAft>
                          <a:spcPts val="600"/>
                        </a:spcAft>
                      </a:pPr>
                      <a:r>
                        <a:rPr lang="en-US" sz="2000">
                          <a:effectLst/>
                          <a:latin typeface="Times New Roman"/>
                          <a:ea typeface="Calibri"/>
                          <a:cs typeface="Times New Roman"/>
                        </a:rPr>
                        <a:t>1 &amp; 0 </a:t>
                      </a:r>
                      <a:r>
                        <a:rPr lang="en-US" sz="2000">
                          <a:effectLst/>
                          <a:latin typeface="Times New Roman"/>
                          <a:ea typeface="Calibri"/>
                          <a:cs typeface="Times New Roman"/>
                          <a:sym typeface="Wingdings"/>
                        </a:rPr>
                        <a:t></a:t>
                      </a:r>
                      <a:r>
                        <a:rPr lang="en-US" sz="2000">
                          <a:effectLst/>
                          <a:latin typeface="Times New Roman"/>
                          <a:ea typeface="Calibri"/>
                          <a:cs typeface="Times New Roman"/>
                        </a:rPr>
                        <a:t> 0</a:t>
                      </a:r>
                    </a:p>
                    <a:p>
                      <a:pPr algn="just">
                        <a:spcBef>
                          <a:spcPts val="600"/>
                        </a:spcBef>
                        <a:spcAft>
                          <a:spcPts val="600"/>
                        </a:spcAft>
                      </a:pPr>
                      <a:r>
                        <a:rPr lang="en-US" sz="2000">
                          <a:effectLst/>
                          <a:latin typeface="Times New Roman"/>
                          <a:ea typeface="Calibri"/>
                          <a:cs typeface="Times New Roman"/>
                        </a:rPr>
                        <a:t>1 &amp; 1 </a:t>
                      </a:r>
                      <a:r>
                        <a:rPr lang="en-US" sz="2000">
                          <a:effectLst/>
                          <a:latin typeface="Times New Roman"/>
                          <a:ea typeface="Calibri"/>
                          <a:cs typeface="Times New Roman"/>
                          <a:sym typeface="Wingdings"/>
                        </a:rPr>
                        <a:t></a:t>
                      </a:r>
                      <a:r>
                        <a:rPr lang="en-US" sz="2000">
                          <a:effectLst/>
                          <a:latin typeface="Times New Roman"/>
                          <a:ea typeface="Calibri"/>
                          <a:cs typeface="Times New Roman"/>
                        </a:rPr>
                        <a:t> 1</a:t>
                      </a:r>
                    </a:p>
                  </a:txBody>
                  <a:tcPr marL="51435" marR="51435" marT="0" marB="0"/>
                </a:tc>
                <a:extLst>
                  <a:ext uri="{0D108BD9-81ED-4DB2-BD59-A6C34878D82A}">
                    <a16:rowId xmlns:a16="http://schemas.microsoft.com/office/drawing/2014/main" xmlns="" val="10001"/>
                  </a:ext>
                </a:extLst>
              </a:tr>
              <a:tr h="1531620">
                <a:tc>
                  <a:txBody>
                    <a:bodyPr/>
                    <a:lstStyle/>
                    <a:p>
                      <a:pPr algn="just">
                        <a:spcBef>
                          <a:spcPts val="600"/>
                        </a:spcBef>
                        <a:spcAft>
                          <a:spcPts val="600"/>
                        </a:spcAft>
                      </a:pPr>
                      <a:r>
                        <a:rPr lang="en-US" sz="2000">
                          <a:effectLst/>
                          <a:latin typeface="Times New Roman"/>
                          <a:ea typeface="Calibri"/>
                          <a:cs typeface="Times New Roman"/>
                        </a:rPr>
                        <a:t>|</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Phép hoặc nhị phân</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2 số nhị phân</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0 | 0 </a:t>
                      </a:r>
                      <a:r>
                        <a:rPr lang="en-US" sz="2000">
                          <a:effectLst/>
                          <a:latin typeface="Times New Roman"/>
                          <a:ea typeface="Calibri"/>
                          <a:cs typeface="Times New Roman"/>
                          <a:sym typeface="Wingdings"/>
                        </a:rPr>
                        <a:t></a:t>
                      </a:r>
                      <a:r>
                        <a:rPr lang="en-US" sz="2000">
                          <a:effectLst/>
                          <a:latin typeface="Times New Roman"/>
                          <a:ea typeface="Calibri"/>
                          <a:cs typeface="Times New Roman"/>
                        </a:rPr>
                        <a:t> 0</a:t>
                      </a:r>
                    </a:p>
                    <a:p>
                      <a:pPr algn="just">
                        <a:spcBef>
                          <a:spcPts val="600"/>
                        </a:spcBef>
                        <a:spcAft>
                          <a:spcPts val="600"/>
                        </a:spcAft>
                      </a:pPr>
                      <a:r>
                        <a:rPr lang="en-US" sz="2000">
                          <a:effectLst/>
                          <a:latin typeface="Times New Roman"/>
                          <a:ea typeface="Calibri"/>
                          <a:cs typeface="Times New Roman"/>
                        </a:rPr>
                        <a:t>0 | 1 </a:t>
                      </a:r>
                      <a:r>
                        <a:rPr lang="en-US" sz="2000">
                          <a:effectLst/>
                          <a:latin typeface="Times New Roman"/>
                          <a:ea typeface="Calibri"/>
                          <a:cs typeface="Times New Roman"/>
                          <a:sym typeface="Wingdings"/>
                        </a:rPr>
                        <a:t></a:t>
                      </a:r>
                      <a:r>
                        <a:rPr lang="en-US" sz="2000">
                          <a:effectLst/>
                          <a:latin typeface="Times New Roman"/>
                          <a:ea typeface="Calibri"/>
                          <a:cs typeface="Times New Roman"/>
                        </a:rPr>
                        <a:t> 1</a:t>
                      </a:r>
                    </a:p>
                    <a:p>
                      <a:pPr algn="just">
                        <a:spcBef>
                          <a:spcPts val="600"/>
                        </a:spcBef>
                        <a:spcAft>
                          <a:spcPts val="600"/>
                        </a:spcAft>
                      </a:pPr>
                      <a:r>
                        <a:rPr lang="en-US" sz="2000">
                          <a:effectLst/>
                          <a:latin typeface="Times New Roman"/>
                          <a:ea typeface="Calibri"/>
                          <a:cs typeface="Times New Roman"/>
                        </a:rPr>
                        <a:t>1 | 0 </a:t>
                      </a:r>
                      <a:r>
                        <a:rPr lang="en-US" sz="2000">
                          <a:effectLst/>
                          <a:latin typeface="Times New Roman"/>
                          <a:ea typeface="Calibri"/>
                          <a:cs typeface="Times New Roman"/>
                          <a:sym typeface="Wingdings"/>
                        </a:rPr>
                        <a:t></a:t>
                      </a:r>
                      <a:r>
                        <a:rPr lang="en-US" sz="2000">
                          <a:effectLst/>
                          <a:latin typeface="Times New Roman"/>
                          <a:ea typeface="Calibri"/>
                          <a:cs typeface="Times New Roman"/>
                        </a:rPr>
                        <a:t> 1</a:t>
                      </a:r>
                    </a:p>
                    <a:p>
                      <a:pPr algn="just">
                        <a:spcBef>
                          <a:spcPts val="600"/>
                        </a:spcBef>
                        <a:spcAft>
                          <a:spcPts val="600"/>
                        </a:spcAft>
                      </a:pPr>
                      <a:r>
                        <a:rPr lang="en-US" sz="2000">
                          <a:effectLst/>
                          <a:latin typeface="Times New Roman"/>
                          <a:ea typeface="Calibri"/>
                          <a:cs typeface="Times New Roman"/>
                        </a:rPr>
                        <a:t>1 | 1 </a:t>
                      </a:r>
                      <a:r>
                        <a:rPr lang="en-US" sz="2000">
                          <a:effectLst/>
                          <a:latin typeface="Times New Roman"/>
                          <a:ea typeface="Calibri"/>
                          <a:cs typeface="Times New Roman"/>
                          <a:sym typeface="Wingdings"/>
                        </a:rPr>
                        <a:t></a:t>
                      </a:r>
                      <a:r>
                        <a:rPr lang="en-US" sz="2000">
                          <a:effectLst/>
                          <a:latin typeface="Times New Roman"/>
                          <a:ea typeface="Calibri"/>
                          <a:cs typeface="Times New Roman"/>
                        </a:rPr>
                        <a:t> 1</a:t>
                      </a:r>
                    </a:p>
                  </a:txBody>
                  <a:tcPr marL="51435" marR="51435" marT="0" marB="0"/>
                </a:tc>
                <a:extLst>
                  <a:ext uri="{0D108BD9-81ED-4DB2-BD59-A6C34878D82A}">
                    <a16:rowId xmlns:a16="http://schemas.microsoft.com/office/drawing/2014/main" xmlns="" val="10002"/>
                  </a:ext>
                </a:extLst>
              </a:tr>
            </a:tbl>
          </a:graphicData>
        </a:graphic>
      </p:graphicFrame>
      <p:sp>
        <p:nvSpPr>
          <p:cNvPr id="4" name="Slide Number Placeholder 3"/>
          <p:cNvSpPr>
            <a:spLocks noGrp="1"/>
          </p:cNvSpPr>
          <p:nvPr>
            <p:ph type="sldNum" sz="quarter" idx="12"/>
          </p:nvPr>
        </p:nvSpPr>
        <p:spPr/>
        <p:txBody>
          <a:bodyPr/>
          <a:lstStyle/>
          <a:p>
            <a:fld id="{E3E8E051-591C-4566-9813-B4BB16D377BD}" type="slidenum">
              <a:rPr lang="en-US" smtClean="0"/>
              <a:pPr/>
              <a:t>39</a:t>
            </a:fld>
            <a:endParaRPr lang="en-US"/>
          </a:p>
        </p:txBody>
      </p:sp>
    </p:spTree>
    <p:extLst>
      <p:ext uri="{BB962C8B-B14F-4D97-AF65-F5344CB8AC3E}">
        <p14:creationId xmlns:p14="http://schemas.microsoft.com/office/powerpoint/2010/main" val="254761759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2.3.2. Toán tử nhị phân (2)</a:t>
            </a:r>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042553505"/>
              </p:ext>
            </p:extLst>
          </p:nvPr>
        </p:nvGraphicFramePr>
        <p:xfrm>
          <a:off x="1385892" y="1808560"/>
          <a:ext cx="6372226" cy="4267200"/>
        </p:xfrm>
        <a:graphic>
          <a:graphicData uri="http://schemas.openxmlformats.org/drawingml/2006/table">
            <a:tbl>
              <a:tblPr firstRow="1" bandRow="1">
                <a:tableStyleId>{5C22544A-7EE6-4342-B048-85BDC9FD1C3A}</a:tableStyleId>
              </a:tblPr>
              <a:tblGrid>
                <a:gridCol w="701837">
                  <a:extLst>
                    <a:ext uri="{9D8B030D-6E8A-4147-A177-3AD203B41FA5}">
                      <a16:colId xmlns:a16="http://schemas.microsoft.com/office/drawing/2014/main" xmlns="" val="20000"/>
                    </a:ext>
                  </a:extLst>
                </a:gridCol>
                <a:gridCol w="1620180">
                  <a:extLst>
                    <a:ext uri="{9D8B030D-6E8A-4147-A177-3AD203B41FA5}">
                      <a16:colId xmlns:a16="http://schemas.microsoft.com/office/drawing/2014/main" xmlns="" val="20001"/>
                    </a:ext>
                  </a:extLst>
                </a:gridCol>
                <a:gridCol w="1998222">
                  <a:extLst>
                    <a:ext uri="{9D8B030D-6E8A-4147-A177-3AD203B41FA5}">
                      <a16:colId xmlns:a16="http://schemas.microsoft.com/office/drawing/2014/main" xmlns="" val="20002"/>
                    </a:ext>
                  </a:extLst>
                </a:gridCol>
                <a:gridCol w="2051987">
                  <a:extLst>
                    <a:ext uri="{9D8B030D-6E8A-4147-A177-3AD203B41FA5}">
                      <a16:colId xmlns:a16="http://schemas.microsoft.com/office/drawing/2014/main" xmlns="" val="20003"/>
                    </a:ext>
                  </a:extLst>
                </a:gridCol>
              </a:tblGrid>
              <a:tr h="594360">
                <a:tc>
                  <a:txBody>
                    <a:bodyPr/>
                    <a:lstStyle/>
                    <a:p>
                      <a:pPr algn="ctr">
                        <a:spcBef>
                          <a:spcPts val="600"/>
                        </a:spcBef>
                        <a:spcAft>
                          <a:spcPts val="600"/>
                        </a:spcAft>
                      </a:pPr>
                      <a:r>
                        <a:rPr lang="en-US" sz="2000" b="1">
                          <a:effectLst/>
                          <a:latin typeface="Times New Roman"/>
                          <a:ea typeface="Calibri"/>
                          <a:cs typeface="Times New Roman"/>
                        </a:rPr>
                        <a:t>Toán tử</a:t>
                      </a:r>
                      <a:endParaRPr lang="en-US" sz="20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2000" b="1">
                          <a:effectLst/>
                          <a:latin typeface="Times New Roman"/>
                          <a:ea typeface="Calibri"/>
                          <a:cs typeface="Times New Roman"/>
                        </a:rPr>
                        <a:t>Ý nghĩa</a:t>
                      </a:r>
                      <a:endParaRPr lang="en-US" sz="20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2000" b="1">
                          <a:effectLst/>
                          <a:latin typeface="Times New Roman"/>
                          <a:ea typeface="Calibri"/>
                          <a:cs typeface="Times New Roman"/>
                        </a:rPr>
                        <a:t>Kiểu dữ liệu của toán hạng</a:t>
                      </a:r>
                      <a:endParaRPr lang="en-US" sz="20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2000" b="1">
                          <a:effectLst/>
                          <a:latin typeface="Times New Roman"/>
                          <a:ea typeface="Calibri"/>
                          <a:cs typeface="Times New Roman"/>
                        </a:rPr>
                        <a:t>Ví dụ</a:t>
                      </a:r>
                      <a:endParaRPr lang="en-US" sz="2000">
                        <a:effectLst/>
                        <a:latin typeface="Times New Roman"/>
                        <a:ea typeface="Calibri"/>
                        <a:cs typeface="Times New Roman"/>
                      </a:endParaRPr>
                    </a:p>
                  </a:txBody>
                  <a:tcPr marL="51435" marR="51435" marT="0" marB="0" anchor="ctr"/>
                </a:tc>
                <a:extLst>
                  <a:ext uri="{0D108BD9-81ED-4DB2-BD59-A6C34878D82A}">
                    <a16:rowId xmlns:a16="http://schemas.microsoft.com/office/drawing/2014/main" xmlns="" val="10000"/>
                  </a:ext>
                </a:extLst>
              </a:tr>
              <a:tr h="1360170">
                <a:tc>
                  <a:txBody>
                    <a:bodyPr/>
                    <a:lstStyle/>
                    <a:p>
                      <a:pPr algn="ctr">
                        <a:spcBef>
                          <a:spcPts val="600"/>
                        </a:spcBef>
                        <a:spcAft>
                          <a:spcPts val="600"/>
                        </a:spcAft>
                      </a:pPr>
                      <a:r>
                        <a:rPr lang="en-US" sz="2000">
                          <a:effectLst/>
                          <a:latin typeface="Times New Roman"/>
                          <a:ea typeface="Calibri"/>
                          <a:cs typeface="Times New Roman"/>
                        </a:rPr>
                        <a:t>^</a:t>
                      </a:r>
                    </a:p>
                  </a:txBody>
                  <a:tcPr marL="51435" marR="51435" marT="0" marB="0" anchor="ctr"/>
                </a:tc>
                <a:tc>
                  <a:txBody>
                    <a:bodyPr/>
                    <a:lstStyle/>
                    <a:p>
                      <a:pPr algn="just">
                        <a:spcBef>
                          <a:spcPts val="600"/>
                        </a:spcBef>
                        <a:spcAft>
                          <a:spcPts val="600"/>
                        </a:spcAft>
                      </a:pPr>
                      <a:r>
                        <a:rPr lang="en-US" sz="2000">
                          <a:effectLst/>
                          <a:latin typeface="Times New Roman"/>
                          <a:ea typeface="Calibri"/>
                          <a:cs typeface="Times New Roman"/>
                        </a:rPr>
                        <a:t>Phép HOẶC có loại trừ</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2 số nhị phân</a:t>
                      </a:r>
                    </a:p>
                  </a:txBody>
                  <a:tcPr marL="51435" marR="51435" marT="0" marB="0"/>
                </a:tc>
                <a:tc>
                  <a:txBody>
                    <a:bodyPr/>
                    <a:lstStyle/>
                    <a:p>
                      <a:pPr algn="just">
                        <a:spcBef>
                          <a:spcPts val="600"/>
                        </a:spcBef>
                        <a:spcAft>
                          <a:spcPts val="0"/>
                        </a:spcAft>
                      </a:pPr>
                      <a:r>
                        <a:rPr lang="en-US" sz="2000">
                          <a:effectLst/>
                          <a:latin typeface="Times New Roman"/>
                          <a:ea typeface="Calibri"/>
                          <a:cs typeface="Times New Roman"/>
                        </a:rPr>
                        <a:t>0 | 0 </a:t>
                      </a:r>
                      <a:r>
                        <a:rPr lang="en-US" sz="2000">
                          <a:effectLst/>
                          <a:latin typeface="Times New Roman"/>
                          <a:ea typeface="Calibri"/>
                          <a:cs typeface="Times New Roman"/>
                          <a:sym typeface="Wingdings"/>
                        </a:rPr>
                        <a:t></a:t>
                      </a:r>
                      <a:r>
                        <a:rPr lang="en-US" sz="2000">
                          <a:effectLst/>
                          <a:latin typeface="Times New Roman"/>
                          <a:ea typeface="Calibri"/>
                          <a:cs typeface="Times New Roman"/>
                        </a:rPr>
                        <a:t> 0</a:t>
                      </a:r>
                    </a:p>
                    <a:p>
                      <a:pPr algn="just">
                        <a:spcBef>
                          <a:spcPts val="600"/>
                        </a:spcBef>
                        <a:spcAft>
                          <a:spcPts val="0"/>
                        </a:spcAft>
                      </a:pPr>
                      <a:r>
                        <a:rPr lang="en-US" sz="2000">
                          <a:effectLst/>
                          <a:latin typeface="Times New Roman"/>
                          <a:ea typeface="Calibri"/>
                          <a:cs typeface="Times New Roman"/>
                        </a:rPr>
                        <a:t>0 | 1 </a:t>
                      </a:r>
                      <a:r>
                        <a:rPr lang="en-US" sz="2000">
                          <a:effectLst/>
                          <a:latin typeface="Times New Roman"/>
                          <a:ea typeface="Calibri"/>
                          <a:cs typeface="Times New Roman"/>
                          <a:sym typeface="Wingdings"/>
                        </a:rPr>
                        <a:t></a:t>
                      </a:r>
                      <a:r>
                        <a:rPr lang="en-US" sz="2000">
                          <a:effectLst/>
                          <a:latin typeface="Times New Roman"/>
                          <a:ea typeface="Calibri"/>
                          <a:cs typeface="Times New Roman"/>
                        </a:rPr>
                        <a:t> 1</a:t>
                      </a:r>
                    </a:p>
                    <a:p>
                      <a:pPr algn="just">
                        <a:spcBef>
                          <a:spcPts val="600"/>
                        </a:spcBef>
                        <a:spcAft>
                          <a:spcPts val="0"/>
                        </a:spcAft>
                      </a:pPr>
                      <a:r>
                        <a:rPr lang="en-US" sz="2000">
                          <a:effectLst/>
                          <a:latin typeface="Times New Roman"/>
                          <a:ea typeface="Calibri"/>
                          <a:cs typeface="Times New Roman"/>
                        </a:rPr>
                        <a:t>1 | 0 </a:t>
                      </a:r>
                      <a:r>
                        <a:rPr lang="en-US" sz="2000">
                          <a:effectLst/>
                          <a:latin typeface="Times New Roman"/>
                          <a:ea typeface="Calibri"/>
                          <a:cs typeface="Times New Roman"/>
                          <a:sym typeface="Wingdings"/>
                        </a:rPr>
                        <a:t></a:t>
                      </a:r>
                      <a:r>
                        <a:rPr lang="en-US" sz="2000">
                          <a:effectLst/>
                          <a:latin typeface="Times New Roman"/>
                          <a:ea typeface="Calibri"/>
                          <a:cs typeface="Times New Roman"/>
                        </a:rPr>
                        <a:t> 1</a:t>
                      </a:r>
                    </a:p>
                    <a:p>
                      <a:pPr algn="just">
                        <a:spcBef>
                          <a:spcPts val="600"/>
                        </a:spcBef>
                        <a:spcAft>
                          <a:spcPts val="0"/>
                        </a:spcAft>
                      </a:pPr>
                      <a:r>
                        <a:rPr lang="en-US" sz="2000">
                          <a:effectLst/>
                          <a:latin typeface="Times New Roman"/>
                          <a:ea typeface="Calibri"/>
                          <a:cs typeface="Times New Roman"/>
                        </a:rPr>
                        <a:t>1 | 1 </a:t>
                      </a:r>
                      <a:r>
                        <a:rPr lang="en-US" sz="2000">
                          <a:effectLst/>
                          <a:latin typeface="Times New Roman"/>
                          <a:ea typeface="Calibri"/>
                          <a:cs typeface="Times New Roman"/>
                          <a:sym typeface="Wingdings"/>
                        </a:rPr>
                        <a:t></a:t>
                      </a:r>
                      <a:r>
                        <a:rPr lang="en-US" sz="2000">
                          <a:effectLst/>
                          <a:latin typeface="Times New Roman"/>
                          <a:ea typeface="Calibri"/>
                          <a:cs typeface="Times New Roman"/>
                        </a:rPr>
                        <a:t> 0</a:t>
                      </a:r>
                    </a:p>
                  </a:txBody>
                  <a:tcPr marL="51435" marR="51435" marT="0" marB="0"/>
                </a:tc>
                <a:extLst>
                  <a:ext uri="{0D108BD9-81ED-4DB2-BD59-A6C34878D82A}">
                    <a16:rowId xmlns:a16="http://schemas.microsoft.com/office/drawing/2014/main" xmlns="" val="10001"/>
                  </a:ext>
                </a:extLst>
              </a:tr>
              <a:tr h="651510">
                <a:tc>
                  <a:txBody>
                    <a:bodyPr/>
                    <a:lstStyle/>
                    <a:p>
                      <a:pPr algn="ctr">
                        <a:spcBef>
                          <a:spcPts val="600"/>
                        </a:spcBef>
                        <a:spcAft>
                          <a:spcPts val="0"/>
                        </a:spcAft>
                      </a:pPr>
                      <a:r>
                        <a:rPr lang="en-US" sz="2000">
                          <a:effectLst/>
                          <a:latin typeface="Times New Roman"/>
                          <a:ea typeface="Calibri"/>
                          <a:cs typeface="Times New Roman"/>
                        </a:rPr>
                        <a:t>&lt;&lt; </a:t>
                      </a:r>
                    </a:p>
                  </a:txBody>
                  <a:tcPr marL="51435" marR="51435" marT="0" marB="0" anchor="ctr"/>
                </a:tc>
                <a:tc>
                  <a:txBody>
                    <a:bodyPr/>
                    <a:lstStyle/>
                    <a:p>
                      <a:pPr algn="just">
                        <a:spcBef>
                          <a:spcPts val="600"/>
                        </a:spcBef>
                        <a:spcAft>
                          <a:spcPts val="0"/>
                        </a:spcAft>
                      </a:pPr>
                      <a:r>
                        <a:rPr lang="en-US" sz="2000">
                          <a:effectLst/>
                          <a:latin typeface="Times New Roman"/>
                          <a:ea typeface="Calibri"/>
                          <a:cs typeface="Times New Roman"/>
                        </a:rPr>
                        <a:t>Phép dịch trái nhị phân</a:t>
                      </a:r>
                    </a:p>
                  </a:txBody>
                  <a:tcPr marL="51435" marR="51435" marT="0" marB="0"/>
                </a:tc>
                <a:tc>
                  <a:txBody>
                    <a:bodyPr/>
                    <a:lstStyle/>
                    <a:p>
                      <a:pPr algn="just">
                        <a:spcBef>
                          <a:spcPts val="600"/>
                        </a:spcBef>
                        <a:spcAft>
                          <a:spcPts val="0"/>
                        </a:spcAft>
                      </a:pPr>
                      <a:r>
                        <a:rPr lang="en-US" sz="2000">
                          <a:effectLst/>
                          <a:latin typeface="Times New Roman"/>
                          <a:ea typeface="Calibri"/>
                          <a:cs typeface="Times New Roman"/>
                        </a:rPr>
                        <a:t>Số nhị phân</a:t>
                      </a:r>
                    </a:p>
                  </a:txBody>
                  <a:tcPr marL="51435" marR="51435" marT="0" marB="0"/>
                </a:tc>
                <a:tc>
                  <a:txBody>
                    <a:bodyPr/>
                    <a:lstStyle/>
                    <a:p>
                      <a:pPr algn="just">
                        <a:spcBef>
                          <a:spcPts val="600"/>
                        </a:spcBef>
                        <a:spcAft>
                          <a:spcPts val="0"/>
                        </a:spcAft>
                      </a:pPr>
                      <a:r>
                        <a:rPr lang="en-US" sz="2000">
                          <a:effectLst/>
                          <a:latin typeface="Times New Roman"/>
                          <a:ea typeface="Calibri"/>
                          <a:cs typeface="Times New Roman"/>
                        </a:rPr>
                        <a:t>a &lt;&lt; n </a:t>
                      </a:r>
                      <a:r>
                        <a:rPr lang="en-US" sz="2000">
                          <a:effectLst/>
                          <a:latin typeface="Times New Roman"/>
                          <a:ea typeface="Calibri"/>
                          <a:cs typeface="Times New Roman"/>
                          <a:sym typeface="Wingdings"/>
                        </a:rPr>
                        <a:t></a:t>
                      </a:r>
                      <a:r>
                        <a:rPr lang="en-US" sz="2000">
                          <a:effectLst/>
                          <a:latin typeface="Times New Roman"/>
                          <a:ea typeface="Calibri"/>
                          <a:cs typeface="Times New Roman"/>
                        </a:rPr>
                        <a:t> a*2</a:t>
                      </a:r>
                      <a:r>
                        <a:rPr lang="en-US" sz="2000" baseline="30000">
                          <a:effectLst/>
                          <a:latin typeface="Times New Roman"/>
                          <a:ea typeface="Calibri"/>
                          <a:cs typeface="Times New Roman"/>
                        </a:rPr>
                        <a:t>n</a:t>
                      </a:r>
                      <a:endParaRPr lang="en-US" sz="2000">
                        <a:effectLst/>
                        <a:latin typeface="Times New Roman"/>
                        <a:ea typeface="Calibri"/>
                        <a:cs typeface="Times New Roman"/>
                      </a:endParaRPr>
                    </a:p>
                    <a:p>
                      <a:pPr algn="just">
                        <a:spcBef>
                          <a:spcPts val="600"/>
                        </a:spcBef>
                        <a:spcAft>
                          <a:spcPts val="0"/>
                        </a:spcAft>
                      </a:pPr>
                      <a:r>
                        <a:rPr lang="en-US" sz="2000">
                          <a:effectLst/>
                          <a:latin typeface="Times New Roman"/>
                          <a:ea typeface="Calibri"/>
                          <a:cs typeface="Times New Roman"/>
                        </a:rPr>
                        <a:t>101 &lt;&lt; 2 </a:t>
                      </a:r>
                      <a:r>
                        <a:rPr lang="en-US" sz="2000">
                          <a:effectLst/>
                          <a:latin typeface="Times New Roman"/>
                          <a:ea typeface="Calibri"/>
                          <a:cs typeface="Times New Roman"/>
                          <a:sym typeface="Wingdings"/>
                        </a:rPr>
                        <a:t></a:t>
                      </a:r>
                      <a:r>
                        <a:rPr lang="en-US" sz="2000">
                          <a:effectLst/>
                          <a:latin typeface="Times New Roman"/>
                          <a:ea typeface="Calibri"/>
                          <a:cs typeface="Times New Roman"/>
                        </a:rPr>
                        <a:t> 10100</a:t>
                      </a:r>
                    </a:p>
                  </a:txBody>
                  <a:tcPr marL="51435" marR="51435" marT="0" marB="0"/>
                </a:tc>
                <a:extLst>
                  <a:ext uri="{0D108BD9-81ED-4DB2-BD59-A6C34878D82A}">
                    <a16:rowId xmlns:a16="http://schemas.microsoft.com/office/drawing/2014/main" xmlns="" val="10002"/>
                  </a:ext>
                </a:extLst>
              </a:tr>
              <a:tr h="708660">
                <a:tc>
                  <a:txBody>
                    <a:bodyPr/>
                    <a:lstStyle/>
                    <a:p>
                      <a:pPr algn="ctr">
                        <a:spcBef>
                          <a:spcPts val="600"/>
                        </a:spcBef>
                        <a:spcAft>
                          <a:spcPts val="600"/>
                        </a:spcAft>
                      </a:pPr>
                      <a:r>
                        <a:rPr lang="en-US" sz="2000">
                          <a:effectLst/>
                          <a:latin typeface="Times New Roman"/>
                          <a:ea typeface="Calibri"/>
                          <a:cs typeface="Times New Roman"/>
                        </a:rPr>
                        <a:t>&gt;&gt; </a:t>
                      </a:r>
                    </a:p>
                  </a:txBody>
                  <a:tcPr marL="51435" marR="51435" marT="0" marB="0" anchor="ctr"/>
                </a:tc>
                <a:tc>
                  <a:txBody>
                    <a:bodyPr/>
                    <a:lstStyle/>
                    <a:p>
                      <a:pPr algn="just">
                        <a:spcBef>
                          <a:spcPts val="600"/>
                        </a:spcBef>
                        <a:spcAft>
                          <a:spcPts val="600"/>
                        </a:spcAft>
                      </a:pPr>
                      <a:r>
                        <a:rPr lang="en-US" sz="2000">
                          <a:effectLst/>
                          <a:latin typeface="Times New Roman"/>
                          <a:ea typeface="Calibri"/>
                          <a:cs typeface="Times New Roman"/>
                        </a:rPr>
                        <a:t>Phép dịch phải nhị phân</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Số nhị phân</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a &gt;&gt; n </a:t>
                      </a:r>
                      <a:r>
                        <a:rPr lang="en-US" sz="2000">
                          <a:effectLst/>
                          <a:latin typeface="Times New Roman"/>
                          <a:ea typeface="Calibri"/>
                          <a:cs typeface="Times New Roman"/>
                          <a:sym typeface="Wingdings"/>
                        </a:rPr>
                        <a:t></a:t>
                      </a:r>
                      <a:r>
                        <a:rPr lang="en-US" sz="2000">
                          <a:effectLst/>
                          <a:latin typeface="Times New Roman"/>
                          <a:ea typeface="Calibri"/>
                          <a:cs typeface="Times New Roman"/>
                        </a:rPr>
                        <a:t> a/2</a:t>
                      </a:r>
                      <a:r>
                        <a:rPr lang="en-US" sz="2000" baseline="30000">
                          <a:effectLst/>
                          <a:latin typeface="Times New Roman"/>
                          <a:ea typeface="Calibri"/>
                          <a:cs typeface="Times New Roman"/>
                        </a:rPr>
                        <a:t>n</a:t>
                      </a:r>
                      <a:endParaRPr lang="en-US" sz="2000">
                        <a:effectLst/>
                        <a:latin typeface="Times New Roman"/>
                        <a:ea typeface="Calibri"/>
                        <a:cs typeface="Times New Roman"/>
                      </a:endParaRPr>
                    </a:p>
                    <a:p>
                      <a:pPr algn="just">
                        <a:spcBef>
                          <a:spcPts val="600"/>
                        </a:spcBef>
                        <a:spcAft>
                          <a:spcPts val="600"/>
                        </a:spcAft>
                      </a:pPr>
                      <a:r>
                        <a:rPr lang="en-US" sz="2000">
                          <a:effectLst/>
                          <a:latin typeface="Times New Roman"/>
                          <a:ea typeface="Calibri"/>
                          <a:cs typeface="Times New Roman"/>
                        </a:rPr>
                        <a:t>101 &gt;&gt; 2 </a:t>
                      </a:r>
                      <a:r>
                        <a:rPr lang="en-US" sz="2000">
                          <a:effectLst/>
                          <a:latin typeface="Times New Roman"/>
                          <a:ea typeface="Calibri"/>
                          <a:cs typeface="Times New Roman"/>
                          <a:sym typeface="Wingdings"/>
                        </a:rPr>
                        <a:t></a:t>
                      </a:r>
                      <a:r>
                        <a:rPr lang="en-US" sz="2000">
                          <a:effectLst/>
                          <a:latin typeface="Times New Roman"/>
                          <a:ea typeface="Calibri"/>
                          <a:cs typeface="Times New Roman"/>
                        </a:rPr>
                        <a:t>1</a:t>
                      </a:r>
                    </a:p>
                  </a:txBody>
                  <a:tcPr marL="51435" marR="51435" marT="0" marB="0"/>
                </a:tc>
                <a:extLst>
                  <a:ext uri="{0D108BD9-81ED-4DB2-BD59-A6C34878D82A}">
                    <a16:rowId xmlns:a16="http://schemas.microsoft.com/office/drawing/2014/main" xmlns="" val="2144945366"/>
                  </a:ext>
                </a:extLst>
              </a:tr>
              <a:tr h="708660">
                <a:tc>
                  <a:txBody>
                    <a:bodyPr/>
                    <a:lstStyle/>
                    <a:p>
                      <a:pPr algn="ctr">
                        <a:spcBef>
                          <a:spcPts val="600"/>
                        </a:spcBef>
                        <a:spcAft>
                          <a:spcPts val="600"/>
                        </a:spcAft>
                      </a:pPr>
                      <a:r>
                        <a:rPr lang="en-US" sz="2000">
                          <a:effectLst/>
                          <a:latin typeface="Times New Roman"/>
                          <a:ea typeface="Calibri"/>
                          <a:cs typeface="Times New Roman"/>
                        </a:rPr>
                        <a:t>~</a:t>
                      </a:r>
                    </a:p>
                  </a:txBody>
                  <a:tcPr marL="51435" marR="51435" marT="0" marB="0" anchor="ctr"/>
                </a:tc>
                <a:tc>
                  <a:txBody>
                    <a:bodyPr/>
                    <a:lstStyle/>
                    <a:p>
                      <a:pPr algn="just">
                        <a:spcBef>
                          <a:spcPts val="600"/>
                        </a:spcBef>
                        <a:spcAft>
                          <a:spcPts val="600"/>
                        </a:spcAft>
                      </a:pPr>
                      <a:r>
                        <a:rPr lang="en-US" sz="2000">
                          <a:effectLst/>
                          <a:latin typeface="Times New Roman"/>
                          <a:ea typeface="Calibri"/>
                          <a:cs typeface="Times New Roman"/>
                        </a:rPr>
                        <a:t>Phép đảo bit nhị phân</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Số nhị phân</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~0 </a:t>
                      </a:r>
                      <a:r>
                        <a:rPr lang="en-US" sz="2000">
                          <a:effectLst/>
                          <a:latin typeface="Times New Roman"/>
                          <a:ea typeface="Calibri"/>
                          <a:cs typeface="Times New Roman"/>
                          <a:sym typeface="Wingdings"/>
                        </a:rPr>
                        <a:t></a:t>
                      </a:r>
                      <a:r>
                        <a:rPr lang="en-US" sz="2000">
                          <a:effectLst/>
                          <a:latin typeface="Times New Roman"/>
                          <a:ea typeface="Calibri"/>
                          <a:cs typeface="Times New Roman"/>
                        </a:rPr>
                        <a:t> 1</a:t>
                      </a:r>
                    </a:p>
                    <a:p>
                      <a:pPr algn="just">
                        <a:spcBef>
                          <a:spcPts val="600"/>
                        </a:spcBef>
                        <a:spcAft>
                          <a:spcPts val="600"/>
                        </a:spcAft>
                      </a:pPr>
                      <a:r>
                        <a:rPr lang="en-US" sz="2000">
                          <a:effectLst/>
                          <a:latin typeface="Times New Roman"/>
                          <a:ea typeface="Calibri"/>
                          <a:cs typeface="Times New Roman"/>
                        </a:rPr>
                        <a:t>~1 </a:t>
                      </a:r>
                      <a:r>
                        <a:rPr lang="en-US" sz="2000">
                          <a:effectLst/>
                          <a:latin typeface="Times New Roman"/>
                          <a:ea typeface="Calibri"/>
                          <a:cs typeface="Times New Roman"/>
                          <a:sym typeface="Wingdings"/>
                        </a:rPr>
                        <a:t></a:t>
                      </a:r>
                      <a:r>
                        <a:rPr lang="en-US" sz="2000">
                          <a:effectLst/>
                          <a:latin typeface="Times New Roman"/>
                          <a:ea typeface="Calibri"/>
                          <a:cs typeface="Times New Roman"/>
                        </a:rPr>
                        <a:t> 0</a:t>
                      </a:r>
                    </a:p>
                  </a:txBody>
                  <a:tcPr marL="51435" marR="51435" marT="0" marB="0"/>
                </a:tc>
                <a:extLst>
                  <a:ext uri="{0D108BD9-81ED-4DB2-BD59-A6C34878D82A}">
                    <a16:rowId xmlns:a16="http://schemas.microsoft.com/office/drawing/2014/main" xmlns="" val="1653518126"/>
                  </a:ext>
                </a:extLst>
              </a:tr>
            </a:tbl>
          </a:graphicData>
        </a:graphic>
      </p:graphicFrame>
      <p:sp>
        <p:nvSpPr>
          <p:cNvPr id="4" name="Slide Number Placeholder 3"/>
          <p:cNvSpPr>
            <a:spLocks noGrp="1"/>
          </p:cNvSpPr>
          <p:nvPr>
            <p:ph type="sldNum" sz="quarter" idx="12"/>
          </p:nvPr>
        </p:nvSpPr>
        <p:spPr/>
        <p:txBody>
          <a:bodyPr/>
          <a:lstStyle/>
          <a:p>
            <a:fld id="{E3E8E051-591C-4566-9813-B4BB16D377BD}" type="slidenum">
              <a:rPr lang="en-US" smtClean="0"/>
              <a:pPr/>
              <a:t>40</a:t>
            </a:fld>
            <a:endParaRPr lang="en-US"/>
          </a:p>
        </p:txBody>
      </p:sp>
    </p:spTree>
    <p:extLst>
      <p:ext uri="{BB962C8B-B14F-4D97-AF65-F5344CB8AC3E}">
        <p14:creationId xmlns:p14="http://schemas.microsoft.com/office/powerpoint/2010/main" val="36677645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2.2.3. Toán tử nhị phân (3)</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41</a:t>
            </a:fld>
            <a:endParaRPr lang="en-US"/>
          </a:p>
        </p:txBody>
      </p:sp>
      <p:sp>
        <p:nvSpPr>
          <p:cNvPr id="3" name="Content Placeholder 2"/>
          <p:cNvSpPr>
            <a:spLocks noGrp="1"/>
          </p:cNvSpPr>
          <p:nvPr>
            <p:ph idx="1"/>
          </p:nvPr>
        </p:nvSpPr>
        <p:spPr>
          <a:xfrm>
            <a:off x="1385646" y="1853952"/>
            <a:ext cx="6372708" cy="432048"/>
          </a:xfrm>
        </p:spPr>
        <p:txBody>
          <a:bodyPr/>
          <a:lstStyle/>
          <a:p>
            <a:r>
              <a:rPr lang="en-US" smtClean="0"/>
              <a:t>Ví dụ:</a:t>
            </a:r>
            <a:endParaRPr lang="en-US"/>
          </a:p>
        </p:txBody>
      </p:sp>
      <p:sp>
        <p:nvSpPr>
          <p:cNvPr id="6" name="Rectangle 5"/>
          <p:cNvSpPr/>
          <p:nvPr/>
        </p:nvSpPr>
        <p:spPr>
          <a:xfrm>
            <a:off x="1601670" y="2313965"/>
            <a:ext cx="5940660" cy="3000821"/>
          </a:xfrm>
          <a:prstGeom prst="rect">
            <a:avLst/>
          </a:prstGeom>
        </p:spPr>
        <p:txBody>
          <a:bodyPr wrap="square">
            <a:spAutoFit/>
          </a:bodyPr>
          <a:lstStyle/>
          <a:p>
            <a:r>
              <a:rPr lang="en-US" sz="2100">
                <a:solidFill>
                  <a:srgbClr val="0000FF"/>
                </a:solidFill>
              </a:rPr>
              <a:t>int</a:t>
            </a:r>
            <a:r>
              <a:rPr lang="en-US" sz="2100"/>
              <a:t> </a:t>
            </a:r>
            <a:r>
              <a:rPr lang="en-US" sz="2100"/>
              <a:t>a = </a:t>
            </a:r>
            <a:r>
              <a:rPr lang="en-US" sz="2100"/>
              <a:t>27;		</a:t>
            </a:r>
            <a:r>
              <a:rPr lang="en-US" sz="2100">
                <a:solidFill>
                  <a:srgbClr val="00B050"/>
                </a:solidFill>
              </a:rPr>
              <a:t>// 0001 1011</a:t>
            </a:r>
            <a:endParaRPr lang="en-US" sz="2100">
              <a:solidFill>
                <a:srgbClr val="00B050"/>
              </a:solidFill>
            </a:endParaRPr>
          </a:p>
          <a:p>
            <a:r>
              <a:rPr lang="en-US" sz="2100">
                <a:solidFill>
                  <a:srgbClr val="0000FF"/>
                </a:solidFill>
              </a:rPr>
              <a:t>int</a:t>
            </a:r>
            <a:r>
              <a:rPr lang="en-US" sz="2100"/>
              <a:t> </a:t>
            </a:r>
            <a:r>
              <a:rPr lang="en-US" sz="2100"/>
              <a:t>b = </a:t>
            </a:r>
            <a:r>
              <a:rPr lang="en-US" sz="2100"/>
              <a:t>18;		</a:t>
            </a:r>
            <a:r>
              <a:rPr lang="en-US" sz="2100">
                <a:solidFill>
                  <a:srgbClr val="00B050"/>
                </a:solidFill>
              </a:rPr>
              <a:t>// 0001 0010</a:t>
            </a:r>
            <a:r>
              <a:rPr lang="en-US" sz="2100"/>
              <a:t>	</a:t>
            </a:r>
          </a:p>
          <a:p>
            <a:r>
              <a:rPr lang="en-US" sz="2100">
                <a:solidFill>
                  <a:srgbClr val="0000FF"/>
                </a:solidFill>
              </a:rPr>
              <a:t>int</a:t>
            </a:r>
            <a:r>
              <a:rPr lang="en-US" sz="2100"/>
              <a:t> </a:t>
            </a:r>
            <a:r>
              <a:rPr lang="en-US" sz="2100"/>
              <a:t>c1, c2, c3, c4, c5, c6;</a:t>
            </a:r>
          </a:p>
          <a:p>
            <a:r>
              <a:rPr lang="en-US" sz="2100"/>
              <a:t>c1 </a:t>
            </a:r>
            <a:r>
              <a:rPr lang="en-US" sz="2100"/>
              <a:t>= a </a:t>
            </a:r>
            <a:r>
              <a:rPr lang="en-US" sz="2100" b="1">
                <a:solidFill>
                  <a:srgbClr val="FF0000"/>
                </a:solidFill>
              </a:rPr>
              <a:t>&amp;</a:t>
            </a:r>
            <a:r>
              <a:rPr lang="en-US" sz="2100"/>
              <a:t> b;	</a:t>
            </a:r>
            <a:r>
              <a:rPr lang="en-US" sz="2100"/>
              <a:t>	</a:t>
            </a:r>
            <a:r>
              <a:rPr lang="en-US" sz="2100">
                <a:solidFill>
                  <a:srgbClr val="00B050"/>
                </a:solidFill>
              </a:rPr>
              <a:t>// 0001 0010</a:t>
            </a:r>
            <a:endParaRPr lang="en-US" sz="2100">
              <a:solidFill>
                <a:srgbClr val="00B050"/>
              </a:solidFill>
            </a:endParaRPr>
          </a:p>
          <a:p>
            <a:r>
              <a:rPr lang="en-US" sz="2100"/>
              <a:t>c2 </a:t>
            </a:r>
            <a:r>
              <a:rPr lang="en-US" sz="2100"/>
              <a:t>= a </a:t>
            </a:r>
            <a:r>
              <a:rPr lang="en-US" sz="2100" b="1">
                <a:solidFill>
                  <a:srgbClr val="FF0000"/>
                </a:solidFill>
              </a:rPr>
              <a:t>|</a:t>
            </a:r>
            <a:r>
              <a:rPr lang="en-US" sz="2100"/>
              <a:t> b;	</a:t>
            </a:r>
            <a:r>
              <a:rPr lang="en-US" sz="2100"/>
              <a:t>	</a:t>
            </a:r>
            <a:r>
              <a:rPr lang="en-US" sz="2100">
                <a:solidFill>
                  <a:srgbClr val="00B050"/>
                </a:solidFill>
              </a:rPr>
              <a:t>// 0001 1011</a:t>
            </a:r>
            <a:endParaRPr lang="en-US" sz="2100">
              <a:solidFill>
                <a:srgbClr val="00B050"/>
              </a:solidFill>
            </a:endParaRPr>
          </a:p>
          <a:p>
            <a:r>
              <a:rPr lang="en-US" sz="2100"/>
              <a:t>c3 </a:t>
            </a:r>
            <a:r>
              <a:rPr lang="en-US" sz="2100"/>
              <a:t>= a </a:t>
            </a:r>
            <a:r>
              <a:rPr lang="en-US" sz="2100" b="1">
                <a:solidFill>
                  <a:srgbClr val="FF0000"/>
                </a:solidFill>
              </a:rPr>
              <a:t>^</a:t>
            </a:r>
            <a:r>
              <a:rPr lang="en-US" sz="2100"/>
              <a:t> b;	</a:t>
            </a:r>
            <a:r>
              <a:rPr lang="en-US" sz="2100"/>
              <a:t>	</a:t>
            </a:r>
            <a:r>
              <a:rPr lang="en-US" sz="2100">
                <a:solidFill>
                  <a:srgbClr val="00B050"/>
                </a:solidFill>
              </a:rPr>
              <a:t>// 0000 1001</a:t>
            </a:r>
            <a:endParaRPr lang="en-US" sz="2100">
              <a:solidFill>
                <a:srgbClr val="00B050"/>
              </a:solidFill>
            </a:endParaRPr>
          </a:p>
          <a:p>
            <a:r>
              <a:rPr lang="en-US" sz="2100"/>
              <a:t>c4 </a:t>
            </a:r>
            <a:r>
              <a:rPr lang="en-US" sz="2100"/>
              <a:t>= </a:t>
            </a:r>
            <a:r>
              <a:rPr lang="en-US" sz="2100" b="1">
                <a:solidFill>
                  <a:srgbClr val="FF0000"/>
                </a:solidFill>
              </a:rPr>
              <a:t>~</a:t>
            </a:r>
            <a:r>
              <a:rPr lang="en-US" sz="2100"/>
              <a:t>a;	</a:t>
            </a:r>
            <a:r>
              <a:rPr lang="en-US" sz="2100"/>
              <a:t>	</a:t>
            </a:r>
            <a:r>
              <a:rPr lang="en-US" sz="2100">
                <a:solidFill>
                  <a:srgbClr val="00B050"/>
                </a:solidFill>
              </a:rPr>
              <a:t>// 1110 0100</a:t>
            </a:r>
            <a:endParaRPr lang="en-US" sz="2100">
              <a:solidFill>
                <a:srgbClr val="00B050"/>
              </a:solidFill>
            </a:endParaRPr>
          </a:p>
          <a:p>
            <a:r>
              <a:rPr lang="en-US" sz="2100"/>
              <a:t>c5 </a:t>
            </a:r>
            <a:r>
              <a:rPr lang="en-US" sz="2100"/>
              <a:t>= a </a:t>
            </a:r>
            <a:r>
              <a:rPr lang="en-US" sz="2100" b="1">
                <a:solidFill>
                  <a:srgbClr val="FF0000"/>
                </a:solidFill>
              </a:rPr>
              <a:t>&lt;&lt; </a:t>
            </a:r>
            <a:r>
              <a:rPr lang="en-US" sz="2100"/>
              <a:t>3;</a:t>
            </a:r>
            <a:r>
              <a:rPr lang="en-US" sz="2100"/>
              <a:t>	</a:t>
            </a:r>
            <a:r>
              <a:rPr lang="en-US" sz="2100">
                <a:solidFill>
                  <a:srgbClr val="00B050"/>
                </a:solidFill>
              </a:rPr>
              <a:t>// 1101 1000</a:t>
            </a:r>
            <a:endParaRPr lang="en-US" sz="2100">
              <a:solidFill>
                <a:srgbClr val="00B050"/>
              </a:solidFill>
            </a:endParaRPr>
          </a:p>
          <a:p>
            <a:r>
              <a:rPr lang="en-US" sz="2100"/>
              <a:t>c6 </a:t>
            </a:r>
            <a:r>
              <a:rPr lang="en-US" sz="2100"/>
              <a:t>= a </a:t>
            </a:r>
            <a:r>
              <a:rPr lang="en-US" sz="2100" b="1">
                <a:solidFill>
                  <a:srgbClr val="FF0000"/>
                </a:solidFill>
              </a:rPr>
              <a:t>&gt;&gt; </a:t>
            </a:r>
            <a:r>
              <a:rPr lang="en-US" sz="2100"/>
              <a:t>3;</a:t>
            </a:r>
            <a:r>
              <a:rPr lang="en-US" sz="2100"/>
              <a:t>	</a:t>
            </a:r>
            <a:r>
              <a:rPr lang="en-US" sz="2100">
                <a:solidFill>
                  <a:srgbClr val="00B050"/>
                </a:solidFill>
              </a:rPr>
              <a:t>// 0000 0011</a:t>
            </a:r>
            <a:endParaRPr lang="en-US" sz="2100"/>
          </a:p>
        </p:txBody>
      </p:sp>
    </p:spTree>
    <p:extLst>
      <p:ext uri="{BB962C8B-B14F-4D97-AF65-F5344CB8AC3E}">
        <p14:creationId xmlns:p14="http://schemas.microsoft.com/office/powerpoint/2010/main" val="31548238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2.2.4. Toán tử quan hệ</a:t>
            </a:r>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615175333"/>
              </p:ext>
            </p:extLst>
          </p:nvPr>
        </p:nvGraphicFramePr>
        <p:xfrm>
          <a:off x="1417324" y="1714500"/>
          <a:ext cx="6372226" cy="4114800"/>
        </p:xfrm>
        <a:graphic>
          <a:graphicData uri="http://schemas.openxmlformats.org/drawingml/2006/table">
            <a:tbl>
              <a:tblPr firstRow="1" bandRow="1">
                <a:tableStyleId>{5C22544A-7EE6-4342-B048-85BDC9FD1C3A}</a:tableStyleId>
              </a:tblPr>
              <a:tblGrid>
                <a:gridCol w="701837">
                  <a:extLst>
                    <a:ext uri="{9D8B030D-6E8A-4147-A177-3AD203B41FA5}">
                      <a16:colId xmlns:a16="http://schemas.microsoft.com/office/drawing/2014/main" xmlns="" val="20000"/>
                    </a:ext>
                  </a:extLst>
                </a:gridCol>
                <a:gridCol w="1620180">
                  <a:extLst>
                    <a:ext uri="{9D8B030D-6E8A-4147-A177-3AD203B41FA5}">
                      <a16:colId xmlns:a16="http://schemas.microsoft.com/office/drawing/2014/main" xmlns="" val="20001"/>
                    </a:ext>
                  </a:extLst>
                </a:gridCol>
                <a:gridCol w="1998222">
                  <a:extLst>
                    <a:ext uri="{9D8B030D-6E8A-4147-A177-3AD203B41FA5}">
                      <a16:colId xmlns:a16="http://schemas.microsoft.com/office/drawing/2014/main" xmlns="" val="20002"/>
                    </a:ext>
                  </a:extLst>
                </a:gridCol>
                <a:gridCol w="2051987">
                  <a:extLst>
                    <a:ext uri="{9D8B030D-6E8A-4147-A177-3AD203B41FA5}">
                      <a16:colId xmlns:a16="http://schemas.microsoft.com/office/drawing/2014/main" xmlns="" val="20003"/>
                    </a:ext>
                  </a:extLst>
                </a:gridCol>
              </a:tblGrid>
              <a:tr h="548640">
                <a:tc>
                  <a:txBody>
                    <a:bodyPr/>
                    <a:lstStyle/>
                    <a:p>
                      <a:pPr algn="ctr">
                        <a:spcBef>
                          <a:spcPts val="600"/>
                        </a:spcBef>
                        <a:spcAft>
                          <a:spcPts val="600"/>
                        </a:spcAft>
                      </a:pPr>
                      <a:r>
                        <a:rPr lang="en-US" sz="1800" b="1">
                          <a:effectLst/>
                          <a:latin typeface="Times New Roman"/>
                          <a:ea typeface="Calibri"/>
                          <a:cs typeface="Times New Roman"/>
                        </a:rPr>
                        <a:t>Toán tử</a:t>
                      </a:r>
                      <a:endParaRPr lang="en-US" sz="18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1800" b="1">
                          <a:effectLst/>
                          <a:latin typeface="Times New Roman"/>
                          <a:ea typeface="Calibri"/>
                          <a:cs typeface="Times New Roman"/>
                        </a:rPr>
                        <a:t>Ý nghĩa</a:t>
                      </a:r>
                      <a:endParaRPr lang="en-US" sz="18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1800" b="1">
                          <a:effectLst/>
                          <a:latin typeface="Times New Roman"/>
                          <a:ea typeface="Calibri"/>
                          <a:cs typeface="Times New Roman"/>
                        </a:rPr>
                        <a:t>Kiểu dữ liệu của toán hạng</a:t>
                      </a:r>
                      <a:endParaRPr lang="en-US" sz="18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1800" b="1">
                          <a:effectLst/>
                          <a:latin typeface="Times New Roman"/>
                          <a:ea typeface="Calibri"/>
                          <a:cs typeface="Times New Roman"/>
                        </a:rPr>
                        <a:t>Ví dụ</a:t>
                      </a:r>
                      <a:endParaRPr lang="en-US" sz="1800">
                        <a:effectLst/>
                        <a:latin typeface="Times New Roman"/>
                        <a:ea typeface="Calibri"/>
                        <a:cs typeface="Times New Roman"/>
                      </a:endParaRPr>
                    </a:p>
                  </a:txBody>
                  <a:tcPr marL="51435" marR="51435" marT="0" marB="0" anchor="ctr"/>
                </a:tc>
                <a:extLst>
                  <a:ext uri="{0D108BD9-81ED-4DB2-BD59-A6C34878D82A}">
                    <a16:rowId xmlns:a16="http://schemas.microsoft.com/office/drawing/2014/main" xmlns="" val="10000"/>
                  </a:ext>
                </a:extLst>
              </a:tr>
              <a:tr h="548640">
                <a:tc>
                  <a:txBody>
                    <a:bodyPr/>
                    <a:lstStyle/>
                    <a:p>
                      <a:pPr algn="ctr">
                        <a:spcBef>
                          <a:spcPts val="0"/>
                        </a:spcBef>
                        <a:spcAft>
                          <a:spcPts val="0"/>
                        </a:spcAft>
                      </a:pPr>
                      <a:r>
                        <a:rPr lang="en-US" sz="1800">
                          <a:effectLst/>
                          <a:latin typeface="Times New Roman"/>
                          <a:ea typeface="Calibri"/>
                          <a:cs typeface="Times New Roman"/>
                        </a:rPr>
                        <a:t>&gt; </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So sánh lớn hơn</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2 số nguyên hoặc số thực</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1 &gt; 2 </a:t>
                      </a:r>
                      <a:r>
                        <a:rPr lang="en-US" sz="1800">
                          <a:effectLst/>
                          <a:latin typeface="Times New Roman"/>
                          <a:ea typeface="Calibri"/>
                          <a:cs typeface="Times New Roman"/>
                          <a:sym typeface="Wingdings"/>
                        </a:rPr>
                        <a:t></a:t>
                      </a:r>
                      <a:r>
                        <a:rPr lang="en-US" sz="1800">
                          <a:effectLst/>
                          <a:latin typeface="Times New Roman"/>
                          <a:ea typeface="Calibri"/>
                          <a:cs typeface="Times New Roman"/>
                        </a:rPr>
                        <a:t> 0</a:t>
                      </a:r>
                    </a:p>
                    <a:p>
                      <a:pPr algn="just">
                        <a:spcBef>
                          <a:spcPts val="0"/>
                        </a:spcBef>
                        <a:spcAft>
                          <a:spcPts val="0"/>
                        </a:spcAft>
                      </a:pPr>
                      <a:r>
                        <a:rPr lang="en-US" sz="1800">
                          <a:effectLst/>
                          <a:latin typeface="Times New Roman"/>
                          <a:ea typeface="Calibri"/>
                          <a:cs typeface="Times New Roman"/>
                        </a:rPr>
                        <a:t>5 &gt; 4 </a:t>
                      </a:r>
                      <a:r>
                        <a:rPr lang="en-US" sz="1800">
                          <a:effectLst/>
                          <a:latin typeface="Times New Roman"/>
                          <a:ea typeface="Calibri"/>
                          <a:cs typeface="Times New Roman"/>
                          <a:sym typeface="Wingdings"/>
                        </a:rPr>
                        <a:t></a:t>
                      </a:r>
                      <a:r>
                        <a:rPr lang="en-US" sz="1800">
                          <a:effectLst/>
                          <a:latin typeface="Times New Roman"/>
                          <a:ea typeface="Calibri"/>
                          <a:cs typeface="Times New Roman"/>
                        </a:rPr>
                        <a:t> 1</a:t>
                      </a:r>
                    </a:p>
                  </a:txBody>
                  <a:tcPr marL="51435" marR="51435" marT="0" marB="0"/>
                </a:tc>
                <a:extLst>
                  <a:ext uri="{0D108BD9-81ED-4DB2-BD59-A6C34878D82A}">
                    <a16:rowId xmlns:a16="http://schemas.microsoft.com/office/drawing/2014/main" xmlns="" val="10001"/>
                  </a:ext>
                </a:extLst>
              </a:tr>
              <a:tr h="548640">
                <a:tc>
                  <a:txBody>
                    <a:bodyPr/>
                    <a:lstStyle/>
                    <a:p>
                      <a:pPr algn="ctr">
                        <a:spcBef>
                          <a:spcPts val="0"/>
                        </a:spcBef>
                        <a:spcAft>
                          <a:spcPts val="0"/>
                        </a:spcAft>
                      </a:pPr>
                      <a:r>
                        <a:rPr lang="en-US" sz="1800">
                          <a:effectLst/>
                          <a:latin typeface="Times New Roman"/>
                          <a:ea typeface="Calibri"/>
                          <a:cs typeface="Times New Roman"/>
                        </a:rPr>
                        <a:t>&gt;=</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So sánh lớn hơn hoặc bằng</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2 số nguyên hoặc số thực</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2 &gt;= 2 </a:t>
                      </a:r>
                      <a:r>
                        <a:rPr lang="en-US" sz="1800">
                          <a:effectLst/>
                          <a:latin typeface="Times New Roman"/>
                          <a:ea typeface="Calibri"/>
                          <a:cs typeface="Times New Roman"/>
                          <a:sym typeface="Wingdings"/>
                        </a:rPr>
                        <a:t></a:t>
                      </a:r>
                      <a:r>
                        <a:rPr lang="en-US" sz="1800">
                          <a:effectLst/>
                          <a:latin typeface="Times New Roman"/>
                          <a:ea typeface="Calibri"/>
                          <a:cs typeface="Times New Roman"/>
                        </a:rPr>
                        <a:t> 1</a:t>
                      </a:r>
                    </a:p>
                    <a:p>
                      <a:pPr algn="just">
                        <a:spcBef>
                          <a:spcPts val="0"/>
                        </a:spcBef>
                        <a:spcAft>
                          <a:spcPts val="0"/>
                        </a:spcAft>
                      </a:pPr>
                      <a:r>
                        <a:rPr lang="en-US" sz="1800">
                          <a:effectLst/>
                          <a:latin typeface="Times New Roman"/>
                          <a:ea typeface="Calibri"/>
                          <a:cs typeface="Times New Roman"/>
                        </a:rPr>
                        <a:t>3 &gt;= 4 </a:t>
                      </a:r>
                      <a:r>
                        <a:rPr lang="en-US" sz="1800">
                          <a:effectLst/>
                          <a:latin typeface="Times New Roman"/>
                          <a:ea typeface="Calibri"/>
                          <a:cs typeface="Times New Roman"/>
                          <a:sym typeface="Wingdings"/>
                        </a:rPr>
                        <a:t></a:t>
                      </a:r>
                      <a:r>
                        <a:rPr lang="en-US" sz="1800">
                          <a:effectLst/>
                          <a:latin typeface="Times New Roman"/>
                          <a:ea typeface="Calibri"/>
                          <a:cs typeface="Times New Roman"/>
                        </a:rPr>
                        <a:t> 0</a:t>
                      </a:r>
                    </a:p>
                  </a:txBody>
                  <a:tcPr marL="51435" marR="51435" marT="0" marB="0"/>
                </a:tc>
                <a:extLst>
                  <a:ext uri="{0D108BD9-81ED-4DB2-BD59-A6C34878D82A}">
                    <a16:rowId xmlns:a16="http://schemas.microsoft.com/office/drawing/2014/main" xmlns="" val="10002"/>
                  </a:ext>
                </a:extLst>
              </a:tr>
              <a:tr h="548640">
                <a:tc>
                  <a:txBody>
                    <a:bodyPr/>
                    <a:lstStyle/>
                    <a:p>
                      <a:pPr algn="ctr">
                        <a:spcBef>
                          <a:spcPts val="0"/>
                        </a:spcBef>
                        <a:spcAft>
                          <a:spcPts val="0"/>
                        </a:spcAft>
                      </a:pPr>
                      <a:r>
                        <a:rPr lang="en-US" sz="1800">
                          <a:effectLst/>
                          <a:latin typeface="Times New Roman"/>
                          <a:ea typeface="Calibri"/>
                          <a:cs typeface="Times New Roman"/>
                        </a:rPr>
                        <a:t>&lt; </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So sánh nhỏ hơn</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2 số nguyên hoặc số thực</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1 &lt; 2 </a:t>
                      </a:r>
                      <a:r>
                        <a:rPr lang="en-US" sz="1800">
                          <a:effectLst/>
                          <a:latin typeface="Times New Roman"/>
                          <a:ea typeface="Calibri"/>
                          <a:cs typeface="Times New Roman"/>
                          <a:sym typeface="Wingdings"/>
                        </a:rPr>
                        <a:t></a:t>
                      </a:r>
                      <a:r>
                        <a:rPr lang="en-US" sz="1800">
                          <a:effectLst/>
                          <a:latin typeface="Times New Roman"/>
                          <a:ea typeface="Calibri"/>
                          <a:cs typeface="Times New Roman"/>
                        </a:rPr>
                        <a:t> 1</a:t>
                      </a:r>
                    </a:p>
                    <a:p>
                      <a:pPr algn="just">
                        <a:spcBef>
                          <a:spcPts val="0"/>
                        </a:spcBef>
                        <a:spcAft>
                          <a:spcPts val="0"/>
                        </a:spcAft>
                      </a:pPr>
                      <a:r>
                        <a:rPr lang="en-US" sz="1800">
                          <a:effectLst/>
                          <a:latin typeface="Times New Roman"/>
                          <a:ea typeface="Calibri"/>
                          <a:cs typeface="Times New Roman"/>
                        </a:rPr>
                        <a:t>5 &lt; 4 </a:t>
                      </a:r>
                      <a:r>
                        <a:rPr lang="en-US" sz="1800">
                          <a:effectLst/>
                          <a:latin typeface="Times New Roman"/>
                          <a:ea typeface="Calibri"/>
                          <a:cs typeface="Times New Roman"/>
                          <a:sym typeface="Wingdings"/>
                        </a:rPr>
                        <a:t></a:t>
                      </a:r>
                      <a:r>
                        <a:rPr lang="en-US" sz="1800">
                          <a:effectLst/>
                          <a:latin typeface="Times New Roman"/>
                          <a:ea typeface="Calibri"/>
                          <a:cs typeface="Times New Roman"/>
                        </a:rPr>
                        <a:t> 0</a:t>
                      </a:r>
                    </a:p>
                  </a:txBody>
                  <a:tcPr marL="51435" marR="51435" marT="0" marB="0"/>
                </a:tc>
                <a:extLst>
                  <a:ext uri="{0D108BD9-81ED-4DB2-BD59-A6C34878D82A}">
                    <a16:rowId xmlns:a16="http://schemas.microsoft.com/office/drawing/2014/main" xmlns="" val="10003"/>
                  </a:ext>
                </a:extLst>
              </a:tr>
              <a:tr h="548640">
                <a:tc>
                  <a:txBody>
                    <a:bodyPr/>
                    <a:lstStyle/>
                    <a:p>
                      <a:pPr algn="ctr">
                        <a:spcBef>
                          <a:spcPts val="0"/>
                        </a:spcBef>
                        <a:spcAft>
                          <a:spcPts val="0"/>
                        </a:spcAft>
                      </a:pPr>
                      <a:r>
                        <a:rPr lang="en-US" sz="1800">
                          <a:effectLst/>
                          <a:latin typeface="Times New Roman"/>
                          <a:ea typeface="Calibri"/>
                          <a:cs typeface="Times New Roman"/>
                        </a:rPr>
                        <a:t>&lt;=</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So sánh nhỏ hơn hoặc bằng</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2 số nguyên hoặc số thực</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2 &lt;= 2 </a:t>
                      </a:r>
                      <a:r>
                        <a:rPr lang="en-US" sz="1800">
                          <a:effectLst/>
                          <a:latin typeface="Times New Roman"/>
                          <a:ea typeface="Calibri"/>
                          <a:cs typeface="Times New Roman"/>
                          <a:sym typeface="Wingdings"/>
                        </a:rPr>
                        <a:t></a:t>
                      </a:r>
                      <a:r>
                        <a:rPr lang="en-US" sz="1800">
                          <a:effectLst/>
                          <a:latin typeface="Times New Roman"/>
                          <a:ea typeface="Calibri"/>
                          <a:cs typeface="Times New Roman"/>
                        </a:rPr>
                        <a:t> 1</a:t>
                      </a:r>
                    </a:p>
                    <a:p>
                      <a:pPr algn="just">
                        <a:spcBef>
                          <a:spcPts val="0"/>
                        </a:spcBef>
                        <a:spcAft>
                          <a:spcPts val="0"/>
                        </a:spcAft>
                      </a:pPr>
                      <a:r>
                        <a:rPr lang="en-US" sz="1800">
                          <a:effectLst/>
                          <a:latin typeface="Times New Roman"/>
                          <a:ea typeface="Calibri"/>
                          <a:cs typeface="Times New Roman"/>
                        </a:rPr>
                        <a:t>4 &lt;= 3 </a:t>
                      </a:r>
                      <a:r>
                        <a:rPr lang="en-US" sz="1800">
                          <a:effectLst/>
                          <a:latin typeface="Times New Roman"/>
                          <a:ea typeface="Calibri"/>
                          <a:cs typeface="Times New Roman"/>
                          <a:sym typeface="Wingdings"/>
                        </a:rPr>
                        <a:t></a:t>
                      </a:r>
                      <a:r>
                        <a:rPr lang="en-US" sz="1800">
                          <a:effectLst/>
                          <a:latin typeface="Times New Roman"/>
                          <a:ea typeface="Calibri"/>
                          <a:cs typeface="Times New Roman"/>
                        </a:rPr>
                        <a:t> 0</a:t>
                      </a:r>
                    </a:p>
                  </a:txBody>
                  <a:tcPr marL="51435" marR="51435" marT="0" marB="0"/>
                </a:tc>
                <a:extLst>
                  <a:ext uri="{0D108BD9-81ED-4DB2-BD59-A6C34878D82A}">
                    <a16:rowId xmlns:a16="http://schemas.microsoft.com/office/drawing/2014/main" xmlns="" val="766889936"/>
                  </a:ext>
                </a:extLst>
              </a:tr>
              <a:tr h="548640">
                <a:tc>
                  <a:txBody>
                    <a:bodyPr/>
                    <a:lstStyle/>
                    <a:p>
                      <a:pPr algn="ctr">
                        <a:spcBef>
                          <a:spcPts val="0"/>
                        </a:spcBef>
                        <a:spcAft>
                          <a:spcPts val="0"/>
                        </a:spcAft>
                        <a:tabLst>
                          <a:tab pos="668655" algn="ctr"/>
                        </a:tabLst>
                      </a:pPr>
                      <a:r>
                        <a:rPr lang="en-US" sz="1800">
                          <a:effectLst/>
                          <a:latin typeface="Times New Roman"/>
                          <a:ea typeface="Calibri"/>
                          <a:cs typeface="Times New Roman"/>
                        </a:rPr>
                        <a:t>==</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So sánh bằng nhau</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2 số nguyên hoặc số thực</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4 == 5 </a:t>
                      </a:r>
                      <a:r>
                        <a:rPr lang="en-US" sz="1800">
                          <a:effectLst/>
                          <a:latin typeface="Times New Roman"/>
                          <a:ea typeface="Calibri"/>
                          <a:cs typeface="Times New Roman"/>
                          <a:sym typeface="Wingdings"/>
                        </a:rPr>
                        <a:t></a:t>
                      </a:r>
                      <a:r>
                        <a:rPr lang="en-US" sz="1800">
                          <a:effectLst/>
                          <a:latin typeface="Times New Roman"/>
                          <a:ea typeface="Calibri"/>
                          <a:cs typeface="Times New Roman"/>
                        </a:rPr>
                        <a:t>0</a:t>
                      </a:r>
                    </a:p>
                  </a:txBody>
                  <a:tcPr marL="51435" marR="51435" marT="0" marB="0"/>
                </a:tc>
                <a:extLst>
                  <a:ext uri="{0D108BD9-81ED-4DB2-BD59-A6C34878D82A}">
                    <a16:rowId xmlns:a16="http://schemas.microsoft.com/office/drawing/2014/main" xmlns="" val="3462570738"/>
                  </a:ext>
                </a:extLst>
              </a:tr>
              <a:tr h="822960">
                <a:tc>
                  <a:txBody>
                    <a:bodyPr/>
                    <a:lstStyle/>
                    <a:p>
                      <a:pPr algn="ctr">
                        <a:spcBef>
                          <a:spcPts val="0"/>
                        </a:spcBef>
                        <a:spcAft>
                          <a:spcPts val="0"/>
                        </a:spcAft>
                      </a:pPr>
                      <a:r>
                        <a:rPr lang="en-US" sz="1800">
                          <a:effectLst/>
                          <a:latin typeface="Times New Roman"/>
                          <a:ea typeface="Calibri"/>
                          <a:cs typeface="Times New Roman"/>
                        </a:rPr>
                        <a:t>!=</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So sánh không bằng nhau (khác)</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2 số nguyên hoặc số thực</a:t>
                      </a:r>
                    </a:p>
                  </a:txBody>
                  <a:tcPr marL="51435" marR="51435" marT="0" marB="0"/>
                </a:tc>
                <a:tc>
                  <a:txBody>
                    <a:bodyPr/>
                    <a:lstStyle/>
                    <a:p>
                      <a:pPr algn="just">
                        <a:spcBef>
                          <a:spcPts val="0"/>
                        </a:spcBef>
                        <a:spcAft>
                          <a:spcPts val="0"/>
                        </a:spcAft>
                      </a:pPr>
                      <a:r>
                        <a:rPr lang="en-US" sz="1800">
                          <a:effectLst/>
                          <a:latin typeface="Times New Roman"/>
                          <a:ea typeface="Calibri"/>
                          <a:cs typeface="Times New Roman"/>
                        </a:rPr>
                        <a:t>2 != 2 </a:t>
                      </a:r>
                      <a:r>
                        <a:rPr lang="en-US" sz="1800">
                          <a:effectLst/>
                          <a:latin typeface="Times New Roman"/>
                          <a:ea typeface="Calibri"/>
                          <a:cs typeface="Times New Roman"/>
                          <a:sym typeface="Wingdings"/>
                        </a:rPr>
                        <a:t></a:t>
                      </a:r>
                      <a:r>
                        <a:rPr lang="en-US" sz="1800">
                          <a:effectLst/>
                          <a:latin typeface="Times New Roman"/>
                          <a:ea typeface="Calibri"/>
                          <a:cs typeface="Times New Roman"/>
                        </a:rPr>
                        <a:t> 0</a:t>
                      </a:r>
                    </a:p>
                    <a:p>
                      <a:pPr algn="just">
                        <a:spcBef>
                          <a:spcPts val="0"/>
                        </a:spcBef>
                        <a:spcAft>
                          <a:spcPts val="0"/>
                        </a:spcAft>
                      </a:pPr>
                      <a:r>
                        <a:rPr lang="en-US" sz="1800">
                          <a:effectLst/>
                          <a:latin typeface="Times New Roman"/>
                          <a:ea typeface="Calibri"/>
                          <a:cs typeface="Times New Roman"/>
                        </a:rPr>
                        <a:t>1 != 2 </a:t>
                      </a:r>
                      <a:r>
                        <a:rPr lang="en-US" sz="1800">
                          <a:effectLst/>
                          <a:latin typeface="Times New Roman"/>
                          <a:ea typeface="Calibri"/>
                          <a:cs typeface="Times New Roman"/>
                          <a:sym typeface="Wingdings"/>
                        </a:rPr>
                        <a:t></a:t>
                      </a:r>
                      <a:r>
                        <a:rPr lang="en-US" sz="1800">
                          <a:effectLst/>
                          <a:latin typeface="Times New Roman"/>
                          <a:ea typeface="Calibri"/>
                          <a:cs typeface="Times New Roman"/>
                        </a:rPr>
                        <a:t> 1</a:t>
                      </a:r>
                    </a:p>
                  </a:txBody>
                  <a:tcPr marL="51435" marR="51435" marT="0" marB="0"/>
                </a:tc>
                <a:extLst>
                  <a:ext uri="{0D108BD9-81ED-4DB2-BD59-A6C34878D82A}">
                    <a16:rowId xmlns:a16="http://schemas.microsoft.com/office/drawing/2014/main" xmlns="" val="4065726960"/>
                  </a:ext>
                </a:extLst>
              </a:tr>
            </a:tbl>
          </a:graphicData>
        </a:graphic>
      </p:graphicFrame>
      <p:sp>
        <p:nvSpPr>
          <p:cNvPr id="4" name="Slide Number Placeholder 3"/>
          <p:cNvSpPr>
            <a:spLocks noGrp="1"/>
          </p:cNvSpPr>
          <p:nvPr>
            <p:ph type="sldNum" sz="quarter" idx="12"/>
          </p:nvPr>
        </p:nvSpPr>
        <p:spPr/>
        <p:txBody>
          <a:bodyPr/>
          <a:lstStyle/>
          <a:p>
            <a:fld id="{E3E8E051-591C-4566-9813-B4BB16D377BD}" type="slidenum">
              <a:rPr lang="en-US" smtClean="0"/>
              <a:pPr/>
              <a:t>42</a:t>
            </a:fld>
            <a:endParaRPr lang="en-US"/>
          </a:p>
        </p:txBody>
      </p:sp>
    </p:spTree>
    <p:extLst>
      <p:ext uri="{BB962C8B-B14F-4D97-AF65-F5344CB8AC3E}">
        <p14:creationId xmlns:p14="http://schemas.microsoft.com/office/powerpoint/2010/main" val="386148266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2.2.5. Toán tử logic</a:t>
            </a:r>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072344756"/>
              </p:ext>
            </p:extLst>
          </p:nvPr>
        </p:nvGraphicFramePr>
        <p:xfrm>
          <a:off x="1385892" y="1808560"/>
          <a:ext cx="6372226" cy="2895600"/>
        </p:xfrm>
        <a:graphic>
          <a:graphicData uri="http://schemas.openxmlformats.org/drawingml/2006/table">
            <a:tbl>
              <a:tblPr firstRow="1" bandRow="1">
                <a:tableStyleId>{5C22544A-7EE6-4342-B048-85BDC9FD1C3A}</a:tableStyleId>
              </a:tblPr>
              <a:tblGrid>
                <a:gridCol w="701837">
                  <a:extLst>
                    <a:ext uri="{9D8B030D-6E8A-4147-A177-3AD203B41FA5}">
                      <a16:colId xmlns:a16="http://schemas.microsoft.com/office/drawing/2014/main" xmlns="" val="20000"/>
                    </a:ext>
                  </a:extLst>
                </a:gridCol>
                <a:gridCol w="1620180">
                  <a:extLst>
                    <a:ext uri="{9D8B030D-6E8A-4147-A177-3AD203B41FA5}">
                      <a16:colId xmlns:a16="http://schemas.microsoft.com/office/drawing/2014/main" xmlns="" val="20001"/>
                    </a:ext>
                  </a:extLst>
                </a:gridCol>
                <a:gridCol w="1998222">
                  <a:extLst>
                    <a:ext uri="{9D8B030D-6E8A-4147-A177-3AD203B41FA5}">
                      <a16:colId xmlns:a16="http://schemas.microsoft.com/office/drawing/2014/main" xmlns="" val="20002"/>
                    </a:ext>
                  </a:extLst>
                </a:gridCol>
                <a:gridCol w="2051987">
                  <a:extLst>
                    <a:ext uri="{9D8B030D-6E8A-4147-A177-3AD203B41FA5}">
                      <a16:colId xmlns:a16="http://schemas.microsoft.com/office/drawing/2014/main" xmlns="" val="20003"/>
                    </a:ext>
                  </a:extLst>
                </a:gridCol>
              </a:tblGrid>
              <a:tr h="594360">
                <a:tc>
                  <a:txBody>
                    <a:bodyPr/>
                    <a:lstStyle/>
                    <a:p>
                      <a:pPr algn="ctr">
                        <a:spcBef>
                          <a:spcPts val="600"/>
                        </a:spcBef>
                        <a:spcAft>
                          <a:spcPts val="600"/>
                        </a:spcAft>
                      </a:pPr>
                      <a:r>
                        <a:rPr lang="en-US" sz="2000" b="1">
                          <a:effectLst/>
                          <a:latin typeface="Times New Roman"/>
                          <a:ea typeface="Calibri"/>
                          <a:cs typeface="Times New Roman"/>
                        </a:rPr>
                        <a:t>Toán tử</a:t>
                      </a:r>
                      <a:endParaRPr lang="en-US" sz="20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2000" b="1">
                          <a:effectLst/>
                          <a:latin typeface="Times New Roman"/>
                          <a:ea typeface="Calibri"/>
                          <a:cs typeface="Times New Roman"/>
                        </a:rPr>
                        <a:t>Ý nghĩa</a:t>
                      </a:r>
                      <a:endParaRPr lang="en-US" sz="20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2000" b="1">
                          <a:effectLst/>
                          <a:latin typeface="Times New Roman"/>
                          <a:ea typeface="Calibri"/>
                          <a:cs typeface="Times New Roman"/>
                        </a:rPr>
                        <a:t>Kiểu dữ liệu của toán hạng</a:t>
                      </a:r>
                      <a:endParaRPr lang="en-US" sz="2000">
                        <a:effectLst/>
                        <a:latin typeface="Times New Roman"/>
                        <a:ea typeface="Calibri"/>
                        <a:cs typeface="Times New Roman"/>
                      </a:endParaRPr>
                    </a:p>
                  </a:txBody>
                  <a:tcPr marL="51435" marR="51435" marT="0" marB="0" anchor="ctr"/>
                </a:tc>
                <a:tc>
                  <a:txBody>
                    <a:bodyPr/>
                    <a:lstStyle/>
                    <a:p>
                      <a:pPr algn="ctr">
                        <a:spcBef>
                          <a:spcPts val="600"/>
                        </a:spcBef>
                        <a:spcAft>
                          <a:spcPts val="600"/>
                        </a:spcAft>
                      </a:pPr>
                      <a:r>
                        <a:rPr lang="en-US" sz="2000" b="1">
                          <a:effectLst/>
                          <a:latin typeface="Times New Roman"/>
                          <a:ea typeface="Calibri"/>
                          <a:cs typeface="Times New Roman"/>
                        </a:rPr>
                        <a:t>Ví dụ</a:t>
                      </a:r>
                      <a:endParaRPr lang="en-US" sz="2000">
                        <a:effectLst/>
                        <a:latin typeface="Times New Roman"/>
                        <a:ea typeface="Calibri"/>
                        <a:cs typeface="Times New Roman"/>
                      </a:endParaRPr>
                    </a:p>
                  </a:txBody>
                  <a:tcPr marL="51435" marR="51435" marT="0" marB="0" anchor="ctr"/>
                </a:tc>
                <a:extLst>
                  <a:ext uri="{0D108BD9-81ED-4DB2-BD59-A6C34878D82A}">
                    <a16:rowId xmlns:a16="http://schemas.microsoft.com/office/drawing/2014/main" xmlns="" val="10000"/>
                  </a:ext>
                </a:extLst>
              </a:tr>
              <a:tr h="708660">
                <a:tc>
                  <a:txBody>
                    <a:bodyPr/>
                    <a:lstStyle/>
                    <a:p>
                      <a:pPr algn="just">
                        <a:spcBef>
                          <a:spcPts val="600"/>
                        </a:spcBef>
                        <a:spcAft>
                          <a:spcPts val="600"/>
                        </a:spcAft>
                      </a:pPr>
                      <a:r>
                        <a:rPr lang="en-US" sz="2000">
                          <a:effectLst/>
                          <a:latin typeface="Times New Roman"/>
                          <a:ea typeface="Calibri"/>
                          <a:cs typeface="Times New Roman"/>
                        </a:rPr>
                        <a:t>&amp;&amp;</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Phép và logic, </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Hai biểu thức logic</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2&lt; 3 &amp;&amp; 4&lt;5 </a:t>
                      </a:r>
                      <a:r>
                        <a:rPr lang="en-US" sz="2000">
                          <a:effectLst/>
                          <a:latin typeface="Times New Roman"/>
                          <a:ea typeface="Calibri"/>
                          <a:cs typeface="Times New Roman"/>
                          <a:sym typeface="Wingdings"/>
                        </a:rPr>
                        <a:t></a:t>
                      </a:r>
                      <a:r>
                        <a:rPr lang="en-US" sz="2000">
                          <a:effectLst/>
                          <a:latin typeface="Times New Roman"/>
                          <a:ea typeface="Calibri"/>
                          <a:cs typeface="Times New Roman"/>
                        </a:rPr>
                        <a:t> 1</a:t>
                      </a:r>
                    </a:p>
                    <a:p>
                      <a:pPr algn="just">
                        <a:spcBef>
                          <a:spcPts val="600"/>
                        </a:spcBef>
                        <a:spcAft>
                          <a:spcPts val="600"/>
                        </a:spcAft>
                      </a:pPr>
                      <a:r>
                        <a:rPr lang="en-US" sz="2000">
                          <a:effectLst/>
                          <a:latin typeface="Times New Roman"/>
                          <a:ea typeface="Calibri"/>
                          <a:cs typeface="Times New Roman"/>
                        </a:rPr>
                        <a:t>2&lt;1 &amp;&amp; 4&lt;5 </a:t>
                      </a:r>
                      <a:r>
                        <a:rPr lang="en-US" sz="2000">
                          <a:effectLst/>
                          <a:latin typeface="Times New Roman"/>
                          <a:ea typeface="Calibri"/>
                          <a:cs typeface="Times New Roman"/>
                          <a:sym typeface="Wingdings"/>
                        </a:rPr>
                        <a:t></a:t>
                      </a:r>
                      <a:r>
                        <a:rPr lang="en-US" sz="2000">
                          <a:effectLst/>
                          <a:latin typeface="Times New Roman"/>
                          <a:ea typeface="Calibri"/>
                          <a:cs typeface="Times New Roman"/>
                        </a:rPr>
                        <a:t> 0</a:t>
                      </a:r>
                    </a:p>
                  </a:txBody>
                  <a:tcPr marL="51435" marR="51435" marT="0" marB="0"/>
                </a:tc>
                <a:extLst>
                  <a:ext uri="{0D108BD9-81ED-4DB2-BD59-A6C34878D82A}">
                    <a16:rowId xmlns:a16="http://schemas.microsoft.com/office/drawing/2014/main" xmlns="" val="10001"/>
                  </a:ext>
                </a:extLst>
              </a:tr>
              <a:tr h="708660">
                <a:tc>
                  <a:txBody>
                    <a:bodyPr/>
                    <a:lstStyle/>
                    <a:p>
                      <a:pPr algn="just">
                        <a:spcBef>
                          <a:spcPts val="600"/>
                        </a:spcBef>
                        <a:spcAft>
                          <a:spcPts val="600"/>
                        </a:spcAft>
                      </a:pPr>
                      <a:r>
                        <a:rPr lang="en-US" sz="2000">
                          <a:effectLst/>
                          <a:latin typeface="Times New Roman"/>
                          <a:ea typeface="Calibri"/>
                          <a:cs typeface="Times New Roman"/>
                        </a:rPr>
                        <a:t>||</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Phép hoặc </a:t>
                      </a:r>
                      <a:r>
                        <a:rPr lang="en-US" sz="2000" smtClean="0">
                          <a:effectLst/>
                          <a:latin typeface="Times New Roman"/>
                          <a:ea typeface="Calibri"/>
                          <a:cs typeface="Times New Roman"/>
                        </a:rPr>
                        <a:t>logic</a:t>
                      </a:r>
                      <a:endParaRPr lang="en-US" sz="2000">
                        <a:effectLst/>
                        <a:latin typeface="Times New Roman"/>
                        <a:ea typeface="Calibri"/>
                        <a:cs typeface="Times New Roman"/>
                      </a:endParaRP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Hai biểu thức logic</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2&lt; 3 || 4&lt;5 </a:t>
                      </a:r>
                      <a:r>
                        <a:rPr lang="en-US" sz="2000">
                          <a:effectLst/>
                          <a:latin typeface="Times New Roman"/>
                          <a:ea typeface="Calibri"/>
                          <a:cs typeface="Times New Roman"/>
                          <a:sym typeface="Wingdings"/>
                        </a:rPr>
                        <a:t></a:t>
                      </a:r>
                      <a:r>
                        <a:rPr lang="en-US" sz="2000">
                          <a:effectLst/>
                          <a:latin typeface="Times New Roman"/>
                          <a:ea typeface="Calibri"/>
                          <a:cs typeface="Times New Roman"/>
                        </a:rPr>
                        <a:t> 1</a:t>
                      </a:r>
                    </a:p>
                    <a:p>
                      <a:pPr algn="just">
                        <a:spcBef>
                          <a:spcPts val="600"/>
                        </a:spcBef>
                        <a:spcAft>
                          <a:spcPts val="600"/>
                        </a:spcAft>
                      </a:pPr>
                      <a:r>
                        <a:rPr lang="en-US" sz="2000">
                          <a:effectLst/>
                          <a:latin typeface="Times New Roman"/>
                          <a:ea typeface="Calibri"/>
                          <a:cs typeface="Times New Roman"/>
                        </a:rPr>
                        <a:t>2&lt;1 || 5&lt;4 </a:t>
                      </a:r>
                      <a:r>
                        <a:rPr lang="en-US" sz="2000">
                          <a:effectLst/>
                          <a:latin typeface="Times New Roman"/>
                          <a:ea typeface="Calibri"/>
                          <a:cs typeface="Times New Roman"/>
                          <a:sym typeface="Wingdings"/>
                        </a:rPr>
                        <a:t></a:t>
                      </a:r>
                      <a:r>
                        <a:rPr lang="en-US" sz="2000">
                          <a:effectLst/>
                          <a:latin typeface="Times New Roman"/>
                          <a:ea typeface="Calibri"/>
                          <a:cs typeface="Times New Roman"/>
                        </a:rPr>
                        <a:t> 0</a:t>
                      </a:r>
                    </a:p>
                  </a:txBody>
                  <a:tcPr marL="51435" marR="51435" marT="0" marB="0"/>
                </a:tc>
                <a:extLst>
                  <a:ext uri="{0D108BD9-81ED-4DB2-BD59-A6C34878D82A}">
                    <a16:rowId xmlns:a16="http://schemas.microsoft.com/office/drawing/2014/main" xmlns="" val="10002"/>
                  </a:ext>
                </a:extLst>
              </a:tr>
              <a:tr h="708660">
                <a:tc>
                  <a:txBody>
                    <a:bodyPr/>
                    <a:lstStyle/>
                    <a:p>
                      <a:pPr algn="just">
                        <a:spcBef>
                          <a:spcPts val="600"/>
                        </a:spcBef>
                        <a:spcAft>
                          <a:spcPts val="600"/>
                        </a:spcAft>
                      </a:pPr>
                      <a:r>
                        <a:rPr lang="en-US" sz="2000">
                          <a:effectLst/>
                          <a:latin typeface="Times New Roman"/>
                          <a:ea typeface="Calibri"/>
                          <a:cs typeface="Times New Roman"/>
                        </a:rPr>
                        <a:t>!</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Phép phủ định </a:t>
                      </a:r>
                      <a:r>
                        <a:rPr lang="en-US" sz="2000" smtClean="0">
                          <a:effectLst/>
                          <a:latin typeface="Times New Roman"/>
                          <a:ea typeface="Calibri"/>
                          <a:cs typeface="Times New Roman"/>
                        </a:rPr>
                        <a:t>logic</a:t>
                      </a:r>
                      <a:endParaRPr lang="en-US" sz="2000">
                        <a:effectLst/>
                        <a:latin typeface="Times New Roman"/>
                        <a:ea typeface="Calibri"/>
                        <a:cs typeface="Times New Roman"/>
                      </a:endParaRP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Biểu thức logic</a:t>
                      </a:r>
                    </a:p>
                  </a:txBody>
                  <a:tcPr marL="51435" marR="51435" marT="0" marB="0"/>
                </a:tc>
                <a:tc>
                  <a:txBody>
                    <a:bodyPr/>
                    <a:lstStyle/>
                    <a:p>
                      <a:pPr algn="just">
                        <a:spcBef>
                          <a:spcPts val="600"/>
                        </a:spcBef>
                        <a:spcAft>
                          <a:spcPts val="600"/>
                        </a:spcAft>
                      </a:pPr>
                      <a:r>
                        <a:rPr lang="en-US" sz="2000">
                          <a:effectLst/>
                          <a:latin typeface="Times New Roman"/>
                          <a:ea typeface="Calibri"/>
                          <a:cs typeface="Times New Roman"/>
                        </a:rPr>
                        <a:t>!1 </a:t>
                      </a:r>
                      <a:r>
                        <a:rPr lang="en-US" sz="2000">
                          <a:effectLst/>
                          <a:latin typeface="Times New Roman"/>
                          <a:ea typeface="Calibri"/>
                          <a:cs typeface="Times New Roman"/>
                          <a:sym typeface="Wingdings"/>
                        </a:rPr>
                        <a:t></a:t>
                      </a:r>
                      <a:r>
                        <a:rPr lang="en-US" sz="2000">
                          <a:effectLst/>
                          <a:latin typeface="Times New Roman"/>
                          <a:ea typeface="Calibri"/>
                          <a:cs typeface="Times New Roman"/>
                        </a:rPr>
                        <a:t> 0</a:t>
                      </a:r>
                    </a:p>
                    <a:p>
                      <a:pPr algn="just">
                        <a:spcBef>
                          <a:spcPts val="600"/>
                        </a:spcBef>
                        <a:spcAft>
                          <a:spcPts val="600"/>
                        </a:spcAft>
                      </a:pPr>
                      <a:r>
                        <a:rPr lang="en-US" sz="2000">
                          <a:effectLst/>
                          <a:latin typeface="Times New Roman"/>
                          <a:ea typeface="Calibri"/>
                          <a:cs typeface="Times New Roman"/>
                        </a:rPr>
                        <a:t>! (2 &gt; 3) </a:t>
                      </a:r>
                      <a:r>
                        <a:rPr lang="en-US" sz="2000">
                          <a:effectLst/>
                          <a:latin typeface="Times New Roman"/>
                          <a:ea typeface="Calibri"/>
                          <a:cs typeface="Times New Roman"/>
                          <a:sym typeface="Wingdings"/>
                        </a:rPr>
                        <a:t></a:t>
                      </a:r>
                      <a:r>
                        <a:rPr lang="en-US" sz="2000">
                          <a:effectLst/>
                          <a:latin typeface="Times New Roman"/>
                          <a:ea typeface="Calibri"/>
                          <a:cs typeface="Times New Roman"/>
                        </a:rPr>
                        <a:t> 1</a:t>
                      </a:r>
                    </a:p>
                  </a:txBody>
                  <a:tcPr marL="51435" marR="51435" marT="0" marB="0"/>
                </a:tc>
                <a:extLst>
                  <a:ext uri="{0D108BD9-81ED-4DB2-BD59-A6C34878D82A}">
                    <a16:rowId xmlns:a16="http://schemas.microsoft.com/office/drawing/2014/main" xmlns="" val="3538855581"/>
                  </a:ext>
                </a:extLst>
              </a:tr>
            </a:tbl>
          </a:graphicData>
        </a:graphic>
      </p:graphicFrame>
      <p:sp>
        <p:nvSpPr>
          <p:cNvPr id="4" name="Slide Number Placeholder 3"/>
          <p:cNvSpPr>
            <a:spLocks noGrp="1"/>
          </p:cNvSpPr>
          <p:nvPr>
            <p:ph type="sldNum" sz="quarter" idx="12"/>
          </p:nvPr>
        </p:nvSpPr>
        <p:spPr/>
        <p:txBody>
          <a:bodyPr/>
          <a:lstStyle/>
          <a:p>
            <a:fld id="{E3E8E051-591C-4566-9813-B4BB16D377BD}" type="slidenum">
              <a:rPr lang="en-US" smtClean="0"/>
              <a:pPr/>
              <a:t>43</a:t>
            </a:fld>
            <a:endParaRPr lang="en-US"/>
          </a:p>
        </p:txBody>
      </p:sp>
    </p:spTree>
    <p:extLst>
      <p:ext uri="{BB962C8B-B14F-4D97-AF65-F5344CB8AC3E}">
        <p14:creationId xmlns:p14="http://schemas.microsoft.com/office/powerpoint/2010/main" val="408530113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2.2.6. Toán tử điều kiện</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lvl="0" latinLnBrk="0"/>
            <a:r>
              <a:rPr lang="en-US" smtClean="0">
                <a:effectLst>
                  <a:glow>
                    <a:srgbClr val="000000"/>
                  </a:glow>
                  <a:outerShdw sx="0" sy="0">
                    <a:srgbClr val="000000"/>
                  </a:outerShdw>
                  <a:reflection stA="0" endPos="0" fadeDir="0" sx="0" sy="0"/>
                </a:effectLst>
              </a:rPr>
              <a:t>Toán </a:t>
            </a:r>
            <a:r>
              <a:rPr lang="en-US">
                <a:effectLst>
                  <a:glow>
                    <a:srgbClr val="000000"/>
                  </a:glow>
                  <a:outerShdw sx="0" sy="0">
                    <a:srgbClr val="000000"/>
                  </a:outerShdw>
                  <a:reflection stA="0" endPos="0" fadeDir="0" sx="0" sy="0"/>
                </a:effectLst>
              </a:rPr>
              <a:t>tử điều kiện: </a:t>
            </a:r>
            <a:r>
              <a:rPr lang="en-US" smtClean="0">
                <a:solidFill>
                  <a:srgbClr val="FF0000"/>
                </a:solidFill>
                <a:effectLst>
                  <a:glow>
                    <a:srgbClr val="000000"/>
                  </a:glow>
                  <a:outerShdw sx="0" sy="0">
                    <a:srgbClr val="000000"/>
                  </a:outerShdw>
                  <a:reflection stA="0" endPos="0" fadeDir="0" sx="0" sy="0"/>
                </a:effectLst>
              </a:rPr>
              <a:t>? :</a:t>
            </a:r>
            <a:endParaRPr lang="en-US">
              <a:solidFill>
                <a:srgbClr val="FF0000"/>
              </a:solidFill>
              <a:effectLst>
                <a:glow>
                  <a:srgbClr val="000000"/>
                </a:glow>
                <a:outerShdw sx="0" sy="0">
                  <a:srgbClr val="000000"/>
                </a:outerShdw>
                <a:reflection stA="0" endPos="0" fadeDir="0" sx="0" sy="0"/>
              </a:effectLst>
            </a:endParaRPr>
          </a:p>
          <a:p>
            <a:pPr marL="0" indent="0" algn="ctr">
              <a:buNone/>
            </a:pPr>
            <a:r>
              <a:rPr lang="en-US" smtClean="0"/>
              <a:t>&lt;</a:t>
            </a:r>
            <a:r>
              <a:rPr lang="en-US"/>
              <a:t>Biểu thức logic&gt;</a:t>
            </a:r>
            <a:r>
              <a:rPr lang="en-US">
                <a:solidFill>
                  <a:srgbClr val="FF0000"/>
                </a:solidFill>
              </a:rPr>
              <a:t>?</a:t>
            </a:r>
            <a:r>
              <a:rPr lang="en-US"/>
              <a:t>&lt;Giá trị 1&gt;</a:t>
            </a:r>
            <a:r>
              <a:rPr lang="en-US">
                <a:solidFill>
                  <a:srgbClr val="FF0000"/>
                </a:solidFill>
              </a:rPr>
              <a:t>:</a:t>
            </a:r>
            <a:r>
              <a:rPr lang="en-US"/>
              <a:t>&lt;Giá trị 2&gt;	</a:t>
            </a:r>
            <a:endParaRPr lang="en-US" smtClean="0"/>
          </a:p>
          <a:p>
            <a:pPr lvl="1" latinLnBrk="0"/>
            <a:r>
              <a:rPr lang="en-US" smtClean="0"/>
              <a:t>Nếu </a:t>
            </a:r>
            <a:r>
              <a:rPr lang="en-US"/>
              <a:t>biểu thức logic đúng thì kết quả &lt;là giá trị 1&gt;, ngược lại kết quả là giá trị 2</a:t>
            </a:r>
            <a:r>
              <a:rPr lang="en-US" smtClean="0"/>
              <a:t>.</a:t>
            </a:r>
          </a:p>
          <a:p>
            <a:pPr lvl="1" latinLnBrk="0"/>
            <a:r>
              <a:rPr lang="en-US" smtClean="0"/>
              <a:t>Ví dụ:</a:t>
            </a:r>
          </a:p>
          <a:p>
            <a:pPr lvl="1" latinLnBrk="0"/>
            <a:endParaRPr lang="en-US"/>
          </a:p>
          <a:p>
            <a:endParaRPr lang="en-US" smtClean="0"/>
          </a:p>
        </p:txBody>
      </p:sp>
      <p:sp>
        <p:nvSpPr>
          <p:cNvPr id="4" name="Slide Number Placeholder 3"/>
          <p:cNvSpPr>
            <a:spLocks noGrp="1"/>
          </p:cNvSpPr>
          <p:nvPr>
            <p:ph type="sldNum" sz="quarter" idx="12"/>
          </p:nvPr>
        </p:nvSpPr>
        <p:spPr/>
        <p:txBody>
          <a:bodyPr/>
          <a:lstStyle/>
          <a:p>
            <a:fld id="{E3E8E051-591C-4566-9813-B4BB16D377BD}" type="slidenum">
              <a:rPr lang="en-US" smtClean="0"/>
              <a:pPr/>
              <a:t>44</a:t>
            </a:fld>
            <a:endParaRPr lang="en-US"/>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3718" y="3980682"/>
            <a:ext cx="2589254"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6040" y="4007685"/>
            <a:ext cx="2289981" cy="1026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674165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2.3. Biến và hằng</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r>
              <a:rPr lang="en-US" b="1" smtClean="0">
                <a:solidFill>
                  <a:srgbClr val="FF0000"/>
                </a:solidFill>
              </a:rPr>
              <a:t>Biến</a:t>
            </a:r>
          </a:p>
          <a:p>
            <a:pPr lvl="1"/>
            <a:r>
              <a:rPr lang="en-US" sz="2250"/>
              <a:t>Cú pháp khai báo biến:</a:t>
            </a:r>
          </a:p>
          <a:p>
            <a:pPr marL="342900" lvl="1" indent="0" algn="ctr">
              <a:buNone/>
            </a:pPr>
            <a:r>
              <a:rPr lang="en-US" sz="2250"/>
              <a:t>&lt;</a:t>
            </a:r>
            <a:r>
              <a:rPr lang="en-US" sz="2250"/>
              <a:t>Kiểu dữ liệu&gt; &lt;tên biến&gt;;</a:t>
            </a:r>
          </a:p>
          <a:p>
            <a:pPr lvl="1"/>
            <a:r>
              <a:rPr lang="en-US" sz="2250"/>
              <a:t>Ví </a:t>
            </a:r>
            <a:r>
              <a:rPr lang="en-US" sz="2250"/>
              <a:t>dụ:</a:t>
            </a:r>
          </a:p>
          <a:p>
            <a:pPr marL="342900" lvl="1" indent="0" algn="ctr">
              <a:buNone/>
            </a:pPr>
            <a:r>
              <a:rPr lang="en-US" sz="2250">
                <a:solidFill>
                  <a:srgbClr val="0000FF"/>
                </a:solidFill>
              </a:rPr>
              <a:t>int</a:t>
            </a:r>
            <a:r>
              <a:rPr lang="en-US" sz="2250"/>
              <a:t> a, b; </a:t>
            </a:r>
            <a:endParaRPr lang="en-US" sz="2250"/>
          </a:p>
          <a:p>
            <a:r>
              <a:rPr lang="en-US">
                <a:solidFill>
                  <a:srgbClr val="FF0000"/>
                </a:solidFill>
              </a:rPr>
              <a:t>Hằng</a:t>
            </a:r>
          </a:p>
          <a:p>
            <a:pPr lvl="1" latinLnBrk="0"/>
            <a:r>
              <a:rPr lang="en-US"/>
              <a:t>Cú pháp khai báo hằng:</a:t>
            </a:r>
          </a:p>
          <a:p>
            <a:pPr marL="48816" lvl="1" indent="0" algn="ctr">
              <a:buNone/>
            </a:pPr>
            <a:r>
              <a:rPr lang="en-US">
                <a:solidFill>
                  <a:srgbClr val="0000FF"/>
                </a:solidFill>
              </a:rPr>
              <a:t>final</a:t>
            </a:r>
            <a:r>
              <a:rPr lang="en-US"/>
              <a:t> &lt;Kiểu dữ liệu&gt; &lt;tên hằng&gt; = &lt;giá trị&gt;;</a:t>
            </a:r>
          </a:p>
          <a:p>
            <a:pPr lvl="1" latinLnBrk="0"/>
            <a:r>
              <a:rPr lang="en-US"/>
              <a:t>Ví dụ:</a:t>
            </a:r>
          </a:p>
          <a:p>
            <a:pPr marL="48816" lvl="1" indent="0" algn="ctr">
              <a:buNone/>
            </a:pPr>
            <a:r>
              <a:rPr lang="en-US">
                <a:solidFill>
                  <a:srgbClr val="0000FF"/>
                </a:solidFill>
              </a:rPr>
              <a:t>final</a:t>
            </a:r>
            <a:r>
              <a:rPr lang="en-US"/>
              <a:t> </a:t>
            </a:r>
            <a:r>
              <a:rPr lang="en-US">
                <a:solidFill>
                  <a:srgbClr val="0000FF"/>
                </a:solidFill>
              </a:rPr>
              <a:t>double</a:t>
            </a:r>
            <a:r>
              <a:rPr lang="en-US"/>
              <a:t> PI = </a:t>
            </a:r>
            <a:r>
              <a:rPr lang="en-US" smtClean="0"/>
              <a:t>3.1416;</a:t>
            </a:r>
          </a:p>
          <a:p>
            <a:pPr marL="342900" lvl="1" indent="0" algn="ctr">
              <a:buNone/>
            </a:pPr>
            <a:endParaRPr lang="en-US" smtClean="0"/>
          </a:p>
          <a:p>
            <a:pPr marL="342900" lvl="1" indent="0">
              <a:buNone/>
            </a:pPr>
            <a:endParaRPr lang="en-US" smtClean="0"/>
          </a:p>
          <a:p>
            <a:pPr lvl="1"/>
            <a:endParaRPr lang="en-US" smtClean="0"/>
          </a:p>
          <a:p>
            <a:endParaRPr lang="en-US" smtClean="0"/>
          </a:p>
        </p:txBody>
      </p:sp>
      <p:sp>
        <p:nvSpPr>
          <p:cNvPr id="4" name="Slide Number Placeholder 3"/>
          <p:cNvSpPr>
            <a:spLocks noGrp="1"/>
          </p:cNvSpPr>
          <p:nvPr>
            <p:ph type="sldNum" sz="quarter" idx="12"/>
          </p:nvPr>
        </p:nvSpPr>
        <p:spPr/>
        <p:txBody>
          <a:bodyPr/>
          <a:lstStyle/>
          <a:p>
            <a:fld id="{E3E8E051-591C-4566-9813-B4BB16D377BD}" type="slidenum">
              <a:rPr lang="en-US" smtClean="0"/>
              <a:pPr/>
              <a:t>45</a:t>
            </a:fld>
            <a:endParaRPr lang="en-US"/>
          </a:p>
        </p:txBody>
      </p:sp>
    </p:spTree>
    <p:extLst>
      <p:ext uri="{BB962C8B-B14F-4D97-AF65-F5344CB8AC3E}">
        <p14:creationId xmlns:p14="http://schemas.microsoft.com/office/powerpoint/2010/main" val="405742784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2.4. Câu lệnh và khối lệnh</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latinLnBrk="0"/>
            <a:r>
              <a:rPr lang="en-US"/>
              <a:t>Các câu lệnh trong java được kết thúc bằng dấu chấm phẩy (;)</a:t>
            </a:r>
          </a:p>
          <a:p>
            <a:pPr latinLnBrk="0"/>
            <a:r>
              <a:rPr lang="en-US"/>
              <a:t>Một khối lệnh là một nhóm từ hai lệnh trở lên, được bao bằng cặp dấu {} và được thực hiện tuần tự. Bên trong một khối lệnh có thể chứa một hay nhiều lệnh hoặc khối lệnh khác.</a:t>
            </a:r>
            <a:endParaRPr lang="en-US" smtClean="0"/>
          </a:p>
        </p:txBody>
      </p:sp>
      <p:sp>
        <p:nvSpPr>
          <p:cNvPr id="4" name="Slide Number Placeholder 3"/>
          <p:cNvSpPr>
            <a:spLocks noGrp="1"/>
          </p:cNvSpPr>
          <p:nvPr>
            <p:ph type="sldNum" sz="quarter" idx="12"/>
          </p:nvPr>
        </p:nvSpPr>
        <p:spPr/>
        <p:txBody>
          <a:bodyPr/>
          <a:lstStyle/>
          <a:p>
            <a:fld id="{E3E8E051-591C-4566-9813-B4BB16D377BD}" type="slidenum">
              <a:rPr lang="en-US" smtClean="0"/>
              <a:pPr/>
              <a:t>46</a:t>
            </a:fld>
            <a:endParaRPr lang="en-US"/>
          </a:p>
        </p:txBody>
      </p:sp>
    </p:spTree>
    <p:extLst>
      <p:ext uri="{BB962C8B-B14F-4D97-AF65-F5344CB8AC3E}">
        <p14:creationId xmlns:p14="http://schemas.microsoft.com/office/powerpoint/2010/main" val="67355575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2.4. Câu lệnh và khối lệnh</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47</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1899821"/>
            <a:ext cx="3429000" cy="3527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912131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2.5. Chú thích</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a:spcAft>
                <a:spcPts val="450"/>
              </a:spcAft>
            </a:pPr>
            <a:r>
              <a:rPr lang="en-US" smtClean="0"/>
              <a:t>Java </a:t>
            </a:r>
            <a:r>
              <a:rPr lang="en-US"/>
              <a:t>cung cấp 3 loại chú </a:t>
            </a:r>
            <a:r>
              <a:rPr lang="en-US" smtClean="0"/>
              <a:t>thích:</a:t>
            </a:r>
          </a:p>
          <a:p>
            <a:pPr lvl="1"/>
            <a:r>
              <a:rPr lang="en-US" sz="2250">
                <a:effectLst>
                  <a:glow>
                    <a:srgbClr val="000000"/>
                  </a:glow>
                  <a:outerShdw sx="0" sy="0">
                    <a:srgbClr val="000000"/>
                  </a:outerShdw>
                  <a:reflection stA="0" endPos="0" fadeDir="0" sx="0" sy="0"/>
                </a:effectLst>
              </a:rPr>
              <a:t>Chú </a:t>
            </a:r>
            <a:r>
              <a:rPr lang="en-US" sz="2250">
                <a:effectLst>
                  <a:glow>
                    <a:srgbClr val="000000"/>
                  </a:glow>
                  <a:outerShdw sx="0" sy="0">
                    <a:srgbClr val="000000"/>
                  </a:outerShdw>
                  <a:reflection stA="0" endPos="0" fadeDir="0" sx="0" sy="0"/>
                </a:effectLst>
              </a:rPr>
              <a:t>thích trên một dòng: ghi nội dung chú thích sau dấu //</a:t>
            </a:r>
          </a:p>
          <a:p>
            <a:pPr marL="390525" indent="0">
              <a:buNone/>
            </a:pPr>
            <a:r>
              <a:rPr lang="en-US">
                <a:latin typeface="Courier New" pitchFamily="49" charset="0"/>
                <a:cs typeface="Courier New" pitchFamily="49" charset="0"/>
              </a:rPr>
              <a:t>//Từ đây đến cuối dòng là chú thích</a:t>
            </a:r>
          </a:p>
          <a:p>
            <a:pPr lvl="1"/>
            <a:r>
              <a:rPr lang="en-US" sz="2250">
                <a:effectLst>
                  <a:glow>
                    <a:srgbClr val="000000"/>
                  </a:glow>
                  <a:outerShdw sx="0" sy="0">
                    <a:srgbClr val="000000"/>
                  </a:outerShdw>
                  <a:reflection stA="0" endPos="0" fadeDir="0" sx="0" sy="0"/>
                </a:effectLst>
              </a:rPr>
              <a:t>Chú thích trên nhiều dòng: ghi nội dung chú thích giữa dấu /* và */</a:t>
            </a:r>
          </a:p>
          <a:p>
            <a:pPr marL="600075" lvl="2" indent="0">
              <a:buNone/>
            </a:pPr>
            <a:r>
              <a:rPr lang="en-US" sz="2250">
                <a:latin typeface="Courier New" pitchFamily="49" charset="0"/>
                <a:cs typeface="Courier New" pitchFamily="49" charset="0"/>
              </a:rPr>
              <a:t>/* Chú </a:t>
            </a:r>
            <a:r>
              <a:rPr lang="en-US" sz="2250">
                <a:latin typeface="Courier New" pitchFamily="49" charset="0"/>
                <a:cs typeface="Courier New" pitchFamily="49" charset="0"/>
              </a:rPr>
              <a:t>thích được </a:t>
            </a:r>
            <a:r>
              <a:rPr lang="en-US" sz="2250">
                <a:latin typeface="Courier New" pitchFamily="49" charset="0"/>
                <a:cs typeface="Courier New" pitchFamily="49" charset="0"/>
              </a:rPr>
              <a:t>ghi</a:t>
            </a:r>
          </a:p>
          <a:p>
            <a:pPr marL="600075" lvl="2" indent="0">
              <a:buNone/>
            </a:pPr>
            <a:r>
              <a:rPr lang="en-US" sz="2250">
                <a:latin typeface="Courier New" pitchFamily="49" charset="0"/>
                <a:cs typeface="Courier New" pitchFamily="49" charset="0"/>
              </a:rPr>
              <a:t>trên nhiều dòng</a:t>
            </a:r>
          </a:p>
          <a:p>
            <a:pPr marL="600075" lvl="2" indent="0">
              <a:buNone/>
            </a:pPr>
            <a:r>
              <a:rPr lang="en-US" sz="2250">
                <a:latin typeface="Courier New" pitchFamily="49" charset="0"/>
                <a:cs typeface="Courier New" pitchFamily="49" charset="0"/>
              </a:rPr>
              <a:t>*/</a:t>
            </a:r>
            <a:endParaRPr lang="en-US" sz="2250">
              <a:latin typeface="Courier New" pitchFamily="49" charset="0"/>
              <a:cs typeface="Courier New" pitchFamily="49" charset="0"/>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48</a:t>
            </a:fld>
            <a:endParaRPr lang="en-US"/>
          </a:p>
        </p:txBody>
      </p:sp>
    </p:spTree>
    <p:extLst>
      <p:ext uri="{BB962C8B-B14F-4D97-AF65-F5344CB8AC3E}">
        <p14:creationId xmlns:p14="http://schemas.microsoft.com/office/powerpoint/2010/main" val="326839334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2.5. Chú thích (4)</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marL="342900" indent="-342900"/>
            <a:r>
              <a:rPr lang="en-US" smtClean="0">
                <a:effectLst>
                  <a:glow>
                    <a:srgbClr val="000000"/>
                  </a:glow>
                  <a:outerShdw sx="0" sy="0">
                    <a:srgbClr val="000000"/>
                  </a:outerShdw>
                  <a:reflection stA="0" endPos="0" fadeDir="0" sx="0" sy="0"/>
                </a:effectLst>
              </a:rPr>
              <a:t>Chú thích trong tư liệu (Javadoc)</a:t>
            </a:r>
            <a:endParaRPr lang="en-US">
              <a:latin typeface="Courier New" pitchFamily="49" charset="0"/>
              <a:cs typeface="Courier New" pitchFamily="49" charset="0"/>
            </a:endParaRPr>
          </a:p>
          <a:p>
            <a:pPr marL="300038" lvl="1" indent="0">
              <a:buNone/>
            </a:pPr>
            <a:r>
              <a:rPr lang="en-US">
                <a:latin typeface="Courier New" pitchFamily="49" charset="0"/>
                <a:cs typeface="Courier New" pitchFamily="49" charset="0"/>
              </a:rPr>
              <a:t>/**</a:t>
            </a:r>
            <a:endParaRPr lang="en-US">
              <a:latin typeface="Courier New" pitchFamily="49" charset="0"/>
              <a:cs typeface="Courier New" pitchFamily="49" charset="0"/>
            </a:endParaRPr>
          </a:p>
          <a:p>
            <a:pPr marL="300038" lvl="1" indent="0">
              <a:buNone/>
            </a:pPr>
            <a:r>
              <a:rPr lang="en-US">
                <a:latin typeface="Courier New" pitchFamily="49" charset="0"/>
                <a:cs typeface="Courier New" pitchFamily="49" charset="0"/>
              </a:rPr>
              <a:t>* Phương thức này dùng để cộng 2 số</a:t>
            </a:r>
          </a:p>
          <a:p>
            <a:pPr marL="300038" lvl="1" indent="0">
              <a:buNone/>
            </a:pPr>
            <a:r>
              <a:rPr lang="en-US">
                <a:latin typeface="Courier New" pitchFamily="49" charset="0"/>
                <a:cs typeface="Courier New" pitchFamily="49" charset="0"/>
              </a:rPr>
              <a:t>* Tác giả: NV A</a:t>
            </a:r>
          </a:p>
          <a:p>
            <a:pPr marL="300038" lvl="1" indent="0">
              <a:buNone/>
            </a:pPr>
            <a:r>
              <a:rPr lang="en-US">
                <a:latin typeface="Courier New" pitchFamily="49" charset="0"/>
                <a:cs typeface="Courier New" pitchFamily="49" charset="0"/>
              </a:rPr>
              <a:t>* Version 0.1</a:t>
            </a:r>
          </a:p>
          <a:p>
            <a:pPr marL="300038" lvl="1" indent="0">
              <a:buNone/>
            </a:pPr>
            <a:r>
              <a:rPr lang="en-US">
                <a:latin typeface="Courier New" pitchFamily="49" charset="0"/>
                <a:cs typeface="Courier New" pitchFamily="49" charset="0"/>
              </a:rPr>
              <a:t>*/</a:t>
            </a:r>
          </a:p>
          <a:p>
            <a:pPr marL="0" indent="0">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49</a:t>
            </a:fld>
            <a:endParaRPr lang="en-US"/>
          </a:p>
        </p:txBody>
      </p:sp>
    </p:spTree>
    <p:extLst>
      <p:ext uri="{BB962C8B-B14F-4D97-AF65-F5344CB8AC3E}">
        <p14:creationId xmlns:p14="http://schemas.microsoft.com/office/powerpoint/2010/main" val="159377308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2.5. Chú thích (3)</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a:lnSpc>
                <a:spcPct val="120000"/>
              </a:lnSpc>
              <a:spcAft>
                <a:spcPts val="450"/>
              </a:spcAft>
            </a:pPr>
            <a:r>
              <a:rPr lang="en-US"/>
              <a:t>Chú thích trong tư liệu (javadoc): là loại chú thích đặt biệt được đặt vào những chỗ thích hợp trong chương trình để javadoc có thể đọc và sử dụng tạo ra tư liệu dạng HTML cho chương trình. </a:t>
            </a:r>
            <a:endParaRPr lang="en-US" smtClean="0"/>
          </a:p>
          <a:p>
            <a:pPr>
              <a:lnSpc>
                <a:spcPct val="120000"/>
              </a:lnSpc>
              <a:spcAft>
                <a:spcPts val="450"/>
              </a:spcAft>
            </a:pPr>
            <a:r>
              <a:rPr lang="en-US" smtClean="0"/>
              <a:t>Thường </a:t>
            </a:r>
            <a:r>
              <a:rPr lang="en-US"/>
              <a:t>đặt vào trước phần định nghĩa các lớp, interface,  phương thức và biến. Phần chú thích trong tư liệu được bắt đầu bằng /** và kết thúc bằng */.</a:t>
            </a:r>
          </a:p>
        </p:txBody>
      </p:sp>
      <p:sp>
        <p:nvSpPr>
          <p:cNvPr id="4" name="Slide Number Placeholder 3"/>
          <p:cNvSpPr>
            <a:spLocks noGrp="1"/>
          </p:cNvSpPr>
          <p:nvPr>
            <p:ph type="sldNum" sz="quarter" idx="12"/>
          </p:nvPr>
        </p:nvSpPr>
        <p:spPr/>
        <p:txBody>
          <a:bodyPr/>
          <a:lstStyle/>
          <a:p>
            <a:fld id="{E3E8E051-591C-4566-9813-B4BB16D377BD}" type="slidenum">
              <a:rPr lang="en-US" smtClean="0"/>
              <a:pPr/>
              <a:t>50</a:t>
            </a:fld>
            <a:endParaRPr lang="en-US"/>
          </a:p>
        </p:txBody>
      </p:sp>
    </p:spTree>
    <p:extLst>
      <p:ext uri="{BB962C8B-B14F-4D97-AF65-F5344CB8AC3E}">
        <p14:creationId xmlns:p14="http://schemas.microsoft.com/office/powerpoint/2010/main" val="223773613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 Lệnh điều khiển</a:t>
            </a:r>
            <a:endParaRPr lang="en-US"/>
          </a:p>
        </p:txBody>
      </p:sp>
      <p:sp>
        <p:nvSpPr>
          <p:cNvPr id="3" name="Content Placeholder 2"/>
          <p:cNvSpPr>
            <a:spLocks noGrp="1"/>
          </p:cNvSpPr>
          <p:nvPr>
            <p:ph idx="1"/>
          </p:nvPr>
        </p:nvSpPr>
        <p:spPr/>
        <p:txBody>
          <a:bodyPr/>
          <a:lstStyle/>
          <a:p>
            <a:pPr marL="385763" indent="-385763">
              <a:lnSpc>
                <a:spcPct val="150000"/>
              </a:lnSpc>
              <a:buFont typeface="+mj-lt"/>
              <a:buAutoNum type="arabicPeriod"/>
            </a:pPr>
            <a:r>
              <a:rPr lang="en-US" smtClean="0"/>
              <a:t>Lệnh rẽ nhánh</a:t>
            </a:r>
          </a:p>
          <a:p>
            <a:pPr marL="385763" indent="-385763">
              <a:lnSpc>
                <a:spcPct val="150000"/>
              </a:lnSpc>
              <a:buFont typeface="+mj-lt"/>
              <a:buAutoNum type="arabicPeriod"/>
            </a:pPr>
            <a:r>
              <a:rPr lang="en-US" smtClean="0"/>
              <a:t>Lệnh lặp</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51</a:t>
            </a:fld>
            <a:endParaRPr lang="en-US"/>
          </a:p>
        </p:txBody>
      </p:sp>
    </p:spTree>
    <p:extLst>
      <p:ext uri="{BB962C8B-B14F-4D97-AF65-F5344CB8AC3E}">
        <p14:creationId xmlns:p14="http://schemas.microsoft.com/office/powerpoint/2010/main" val="38306490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3.1. Lệnh rẽ nhánh</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52</a:t>
            </a:fld>
            <a:endParaRPr 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80695944"/>
              </p:ext>
            </p:extLst>
          </p:nvPr>
        </p:nvGraphicFramePr>
        <p:xfrm>
          <a:off x="1547664" y="1970841"/>
          <a:ext cx="6156684" cy="35106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4413947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3.1.1. Lệnh if</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53</a:t>
            </a:fld>
            <a:endParaRPr lang="en-US"/>
          </a:p>
        </p:txBody>
      </p:sp>
      <p:pic>
        <p:nvPicPr>
          <p:cNvPr id="7" name="Picture 2" descr="If Stat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0184" y="1828800"/>
            <a:ext cx="2854977" cy="3608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descr="anatomy of an if statement"/>
          <p:cNvPicPr>
            <a:picLocks noChangeAspect="1" noChangeArrowheads="1"/>
          </p:cNvPicPr>
          <p:nvPr/>
        </p:nvPicPr>
        <p:blipFill>
          <a:blip r:embed="rId4">
            <a:extLst>
              <a:ext uri="{28A0092B-C50C-407E-A947-70E740481C1C}">
                <a14:useLocalDpi xmlns:a14="http://schemas.microsoft.com/office/drawing/2010/main" val="0"/>
              </a:ext>
            </a:extLst>
          </a:blip>
          <a:srcRect l="3154" r="6499" b="7143"/>
          <a:stretch>
            <a:fillRect/>
          </a:stretch>
        </p:blipFill>
        <p:spPr bwMode="auto">
          <a:xfrm>
            <a:off x="4446267" y="2171700"/>
            <a:ext cx="2955052" cy="239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140478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3.1.2. Lệnh if … else</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54</a:t>
            </a:fld>
            <a:endParaRPr lang="en-US"/>
          </a:p>
        </p:txBody>
      </p:sp>
      <p:pic>
        <p:nvPicPr>
          <p:cNvPr id="7" name="Picture 2" descr="If Else Stat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6075" y="1878666"/>
            <a:ext cx="3543300" cy="3894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60233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Lệnh if, if…else</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55</a:t>
            </a:fld>
            <a:endParaRPr lang="en-US"/>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7350" y="1705790"/>
            <a:ext cx="5543550" cy="3932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229954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3.1.3. Lệnh </a:t>
            </a:r>
            <a:r>
              <a:rPr lang="en-GB" smtClean="0"/>
              <a:t>if </a:t>
            </a:r>
            <a:r>
              <a:rPr lang="en-GB"/>
              <a:t>… else lồng nhau</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r>
              <a:rPr lang="en-US" b="1" smtClean="0">
                <a:solidFill>
                  <a:srgbClr val="FF0000"/>
                </a:solidFill>
              </a:rPr>
              <a:t>Cú pháp</a:t>
            </a:r>
          </a:p>
          <a:p>
            <a:pPr marL="0" indent="0">
              <a:spcBef>
                <a:spcPts val="0"/>
              </a:spcBef>
              <a:spcAft>
                <a:spcPts val="0"/>
              </a:spcAft>
              <a:buNone/>
            </a:pPr>
            <a:r>
              <a:rPr lang="en-US" sz="2400" b="1">
                <a:latin typeface="Courier New"/>
                <a:ea typeface="Calibri"/>
              </a:rPr>
              <a:t>		</a:t>
            </a:r>
            <a:r>
              <a:rPr lang="en-US" sz="1650" b="1">
                <a:latin typeface="Courier New"/>
                <a:ea typeface="Calibri"/>
              </a:rPr>
              <a:t>if</a:t>
            </a:r>
            <a:r>
              <a:rPr lang="en-US" sz="1650">
                <a:latin typeface="Courier New"/>
                <a:ea typeface="Calibri"/>
              </a:rPr>
              <a:t> </a:t>
            </a:r>
            <a:r>
              <a:rPr lang="en-US" sz="1650">
                <a:latin typeface="Courier New"/>
                <a:ea typeface="Calibri"/>
              </a:rPr>
              <a:t>(&lt;điều kiện 1&gt;){</a:t>
            </a:r>
            <a:endParaRPr lang="en-GB" sz="1650">
              <a:latin typeface="Times New Roman"/>
              <a:ea typeface="Calibri"/>
            </a:endParaRPr>
          </a:p>
          <a:p>
            <a:pPr marL="0" indent="0">
              <a:spcBef>
                <a:spcPts val="0"/>
              </a:spcBef>
              <a:spcAft>
                <a:spcPts val="0"/>
              </a:spcAft>
              <a:buNone/>
            </a:pPr>
            <a:r>
              <a:rPr lang="en-US" sz="1650">
                <a:latin typeface="Courier New"/>
                <a:ea typeface="Calibri"/>
              </a:rPr>
              <a:t>		  &lt;</a:t>
            </a:r>
            <a:r>
              <a:rPr lang="en-US" sz="1650">
                <a:latin typeface="Courier New"/>
                <a:ea typeface="Calibri"/>
              </a:rPr>
              <a:t>lệnh/khối lệnh 1&gt;;</a:t>
            </a:r>
            <a:endParaRPr lang="en-GB" sz="1650">
              <a:latin typeface="Times New Roman"/>
              <a:ea typeface="Calibri"/>
            </a:endParaRPr>
          </a:p>
          <a:p>
            <a:pPr marL="0" indent="0">
              <a:spcBef>
                <a:spcPts val="0"/>
              </a:spcBef>
              <a:spcAft>
                <a:spcPts val="0"/>
              </a:spcAft>
              <a:buNone/>
            </a:pPr>
            <a:r>
              <a:rPr lang="en-US" sz="1650">
                <a:latin typeface="Courier New"/>
                <a:ea typeface="Calibri"/>
              </a:rPr>
              <a:t>		}</a:t>
            </a:r>
            <a:endParaRPr lang="en-GB" sz="1650">
              <a:latin typeface="Times New Roman"/>
              <a:ea typeface="Calibri"/>
            </a:endParaRPr>
          </a:p>
          <a:p>
            <a:pPr marL="0" indent="0">
              <a:spcBef>
                <a:spcPts val="0"/>
              </a:spcBef>
              <a:spcAft>
                <a:spcPts val="0"/>
              </a:spcAft>
              <a:buNone/>
            </a:pPr>
            <a:r>
              <a:rPr lang="en-US" sz="1650" b="1">
                <a:latin typeface="Courier New"/>
                <a:ea typeface="Calibri"/>
              </a:rPr>
              <a:t>		else </a:t>
            </a:r>
            <a:r>
              <a:rPr lang="en-US" sz="1650" b="1">
                <a:latin typeface="Courier New"/>
                <a:ea typeface="Calibri"/>
              </a:rPr>
              <a:t>if </a:t>
            </a:r>
            <a:r>
              <a:rPr lang="en-US" sz="1650">
                <a:latin typeface="Courier New"/>
                <a:ea typeface="Calibri"/>
              </a:rPr>
              <a:t>(&lt;điều kiện 2&gt;){</a:t>
            </a:r>
            <a:endParaRPr lang="en-GB" sz="1650">
              <a:latin typeface="Times New Roman"/>
              <a:ea typeface="Calibri"/>
            </a:endParaRPr>
          </a:p>
          <a:p>
            <a:pPr marL="0" indent="0">
              <a:spcBef>
                <a:spcPts val="0"/>
              </a:spcBef>
              <a:spcAft>
                <a:spcPts val="0"/>
              </a:spcAft>
              <a:buNone/>
            </a:pPr>
            <a:r>
              <a:rPr lang="en-US" sz="1650">
                <a:latin typeface="Courier New"/>
                <a:ea typeface="Calibri"/>
              </a:rPr>
              <a:t>	</a:t>
            </a:r>
            <a:r>
              <a:rPr lang="en-US" sz="1650">
                <a:latin typeface="Courier New"/>
                <a:ea typeface="Calibri"/>
              </a:rPr>
              <a:t>	  &lt;</a:t>
            </a:r>
            <a:r>
              <a:rPr lang="en-US" sz="1650">
                <a:latin typeface="Courier New"/>
                <a:ea typeface="Calibri"/>
              </a:rPr>
              <a:t>lệnh/khối lệnh 2&gt;;</a:t>
            </a:r>
            <a:endParaRPr lang="en-GB" sz="1650">
              <a:latin typeface="Times New Roman"/>
              <a:ea typeface="Calibri"/>
            </a:endParaRPr>
          </a:p>
          <a:p>
            <a:pPr indent="0">
              <a:spcBef>
                <a:spcPts val="0"/>
              </a:spcBef>
              <a:spcAft>
                <a:spcPts val="0"/>
              </a:spcAft>
              <a:buNone/>
            </a:pPr>
            <a:r>
              <a:rPr lang="en-US" sz="1650">
                <a:latin typeface="Courier New"/>
                <a:ea typeface="Calibri"/>
              </a:rPr>
              <a:t>		}</a:t>
            </a:r>
            <a:endParaRPr lang="en-GB" sz="1650">
              <a:latin typeface="Times New Roman"/>
              <a:ea typeface="Calibri"/>
            </a:endParaRPr>
          </a:p>
          <a:p>
            <a:pPr marL="0" indent="0">
              <a:spcBef>
                <a:spcPts val="0"/>
              </a:spcBef>
              <a:spcAft>
                <a:spcPts val="0"/>
              </a:spcAft>
              <a:buNone/>
            </a:pPr>
            <a:r>
              <a:rPr lang="en-US" sz="1650">
                <a:latin typeface="Courier New"/>
                <a:ea typeface="Calibri"/>
              </a:rPr>
              <a:t>		...</a:t>
            </a:r>
            <a:endParaRPr lang="en-GB" sz="1650">
              <a:latin typeface="Times New Roman"/>
              <a:ea typeface="Calibri"/>
            </a:endParaRPr>
          </a:p>
          <a:p>
            <a:pPr marL="0" indent="0">
              <a:spcBef>
                <a:spcPts val="0"/>
              </a:spcBef>
              <a:spcAft>
                <a:spcPts val="0"/>
              </a:spcAft>
              <a:buNone/>
            </a:pPr>
            <a:r>
              <a:rPr lang="en-US" sz="1650" b="1">
                <a:latin typeface="Courier New"/>
                <a:ea typeface="Calibri"/>
              </a:rPr>
              <a:t>		else </a:t>
            </a:r>
            <a:r>
              <a:rPr lang="en-US" sz="1650" b="1">
                <a:latin typeface="Courier New"/>
                <a:ea typeface="Calibri"/>
              </a:rPr>
              <a:t>if</a:t>
            </a:r>
            <a:r>
              <a:rPr lang="en-US" sz="1650">
                <a:latin typeface="Courier New"/>
                <a:ea typeface="Calibri"/>
              </a:rPr>
              <a:t> </a:t>
            </a:r>
            <a:r>
              <a:rPr lang="en-US" sz="1650">
                <a:latin typeface="Courier New"/>
                <a:ea typeface="Calibri"/>
              </a:rPr>
              <a:t>(&lt;</a:t>
            </a:r>
            <a:r>
              <a:rPr lang="en-US" sz="1650">
                <a:latin typeface="Courier New"/>
                <a:ea typeface="Calibri"/>
              </a:rPr>
              <a:t>điều kiện n){</a:t>
            </a:r>
            <a:endParaRPr lang="en-GB" sz="1650">
              <a:latin typeface="Times New Roman"/>
              <a:ea typeface="Calibri"/>
            </a:endParaRPr>
          </a:p>
          <a:p>
            <a:pPr marL="0" indent="0">
              <a:spcBef>
                <a:spcPts val="0"/>
              </a:spcBef>
              <a:spcAft>
                <a:spcPts val="0"/>
              </a:spcAft>
              <a:buNone/>
            </a:pPr>
            <a:r>
              <a:rPr lang="en-US" sz="1650">
                <a:latin typeface="Courier New"/>
                <a:ea typeface="Calibri"/>
              </a:rPr>
              <a:t>		  &lt;</a:t>
            </a:r>
            <a:r>
              <a:rPr lang="en-US" sz="1650">
                <a:latin typeface="Courier New"/>
                <a:ea typeface="Calibri"/>
              </a:rPr>
              <a:t>lệnh/khối lệnh n</a:t>
            </a:r>
            <a:r>
              <a:rPr lang="en-US" sz="1650">
                <a:latin typeface="Courier New"/>
                <a:ea typeface="Calibri"/>
              </a:rPr>
              <a:t>&gt;;</a:t>
            </a:r>
            <a:endParaRPr lang="en-GB" sz="1650">
              <a:latin typeface="Times New Roman"/>
              <a:ea typeface="Calibri"/>
            </a:endParaRPr>
          </a:p>
          <a:p>
            <a:pPr marL="0" indent="0">
              <a:spcBef>
                <a:spcPts val="0"/>
              </a:spcBef>
              <a:spcAft>
                <a:spcPts val="0"/>
              </a:spcAft>
              <a:buNone/>
            </a:pPr>
            <a:r>
              <a:rPr lang="en-GB" sz="1650">
                <a:latin typeface="Times New Roman"/>
                <a:ea typeface="Calibri"/>
              </a:rPr>
              <a:t>	</a:t>
            </a:r>
            <a:r>
              <a:rPr lang="en-GB" sz="1650">
                <a:latin typeface="Times New Roman"/>
                <a:ea typeface="Calibri"/>
              </a:rPr>
              <a:t>	</a:t>
            </a:r>
            <a:r>
              <a:rPr lang="en-US" sz="1650">
                <a:latin typeface="Courier New"/>
                <a:ea typeface="Calibri"/>
              </a:rPr>
              <a:t>}</a:t>
            </a:r>
            <a:endParaRPr lang="en-GB" sz="1650">
              <a:latin typeface="Times New Roman"/>
              <a:ea typeface="Calibri"/>
            </a:endParaRPr>
          </a:p>
          <a:p>
            <a:pPr marL="0" indent="0">
              <a:spcBef>
                <a:spcPts val="0"/>
              </a:spcBef>
              <a:spcAft>
                <a:spcPts val="0"/>
              </a:spcAft>
              <a:buNone/>
            </a:pPr>
            <a:r>
              <a:rPr lang="en-US" sz="1650" b="1">
                <a:latin typeface="Courier New"/>
                <a:ea typeface="Calibri"/>
              </a:rPr>
              <a:t>		else</a:t>
            </a:r>
            <a:r>
              <a:rPr lang="en-US" sz="1650">
                <a:latin typeface="Courier New"/>
                <a:ea typeface="Calibri"/>
              </a:rPr>
              <a:t>{</a:t>
            </a:r>
            <a:endParaRPr lang="en-GB" sz="1650">
              <a:latin typeface="Times New Roman"/>
              <a:ea typeface="Calibri"/>
            </a:endParaRPr>
          </a:p>
          <a:p>
            <a:pPr marL="0" indent="0">
              <a:spcBef>
                <a:spcPts val="0"/>
              </a:spcBef>
              <a:spcAft>
                <a:spcPts val="0"/>
              </a:spcAft>
              <a:buNone/>
            </a:pPr>
            <a:r>
              <a:rPr lang="en-US" sz="1650">
                <a:latin typeface="Courier New"/>
                <a:ea typeface="Calibri"/>
              </a:rPr>
              <a:t>		  &lt;</a:t>
            </a:r>
            <a:r>
              <a:rPr lang="en-US" sz="1650">
                <a:latin typeface="Courier New"/>
                <a:ea typeface="Calibri"/>
              </a:rPr>
              <a:t>lệnh/khối lệnh khác&gt;;</a:t>
            </a:r>
            <a:endParaRPr lang="en-GB" sz="1650">
              <a:latin typeface="Times New Roman"/>
              <a:ea typeface="Calibri"/>
            </a:endParaRPr>
          </a:p>
          <a:p>
            <a:pPr marL="0" indent="0">
              <a:spcBef>
                <a:spcPts val="0"/>
              </a:spcBef>
              <a:spcAft>
                <a:spcPts val="0"/>
              </a:spcAft>
              <a:buNone/>
            </a:pPr>
            <a:r>
              <a:rPr lang="en-US" sz="1650">
                <a:latin typeface="Courier New"/>
                <a:ea typeface="Calibri"/>
              </a:rPr>
              <a:t>		}</a:t>
            </a:r>
            <a:endParaRPr lang="en-US" sz="1650" b="1">
              <a:solidFill>
                <a:srgbClr val="FF0000"/>
              </a:solidFill>
            </a:endParaRPr>
          </a:p>
          <a:p>
            <a:pPr lvl="1"/>
            <a:endParaRPr lang="en-US" b="1" smtClean="0">
              <a:solidFill>
                <a:srgbClr val="FF0000"/>
              </a:solidFill>
            </a:endParaRPr>
          </a:p>
          <a:p>
            <a:pPr lvl="1"/>
            <a:endParaRPr lang="en-US" b="1">
              <a:solidFill>
                <a:srgbClr val="FF0000"/>
              </a:solidFill>
            </a:endParaRPr>
          </a:p>
          <a:p>
            <a:pPr lvl="1"/>
            <a:endParaRPr lang="en-US" b="1" smtClean="0">
              <a:solidFill>
                <a:srgbClr val="FF0000"/>
              </a:solidFill>
            </a:endParaRPr>
          </a:p>
          <a:p>
            <a:pPr marL="342900" lvl="1" indent="0">
              <a:buNone/>
            </a:pPr>
            <a:endParaRPr lang="en-US" b="1">
              <a:solidFill>
                <a:srgbClr val="FF0000"/>
              </a:solidFill>
            </a:endParaRPr>
          </a:p>
          <a:p>
            <a:pPr marL="0" indent="0">
              <a:buNone/>
            </a:pPr>
            <a:r>
              <a:rPr lang="en-US" b="1" smtClean="0">
                <a:solidFill>
                  <a:srgbClr val="FF0000"/>
                </a:solidFill>
              </a:rPr>
              <a:t>	</a:t>
            </a:r>
            <a:endParaRPr lang="vi-VN"/>
          </a:p>
        </p:txBody>
      </p:sp>
      <p:sp>
        <p:nvSpPr>
          <p:cNvPr id="4" name="Slide Number Placeholder 3"/>
          <p:cNvSpPr>
            <a:spLocks noGrp="1"/>
          </p:cNvSpPr>
          <p:nvPr>
            <p:ph type="sldNum" sz="quarter" idx="12"/>
          </p:nvPr>
        </p:nvSpPr>
        <p:spPr/>
        <p:txBody>
          <a:bodyPr/>
          <a:lstStyle/>
          <a:p>
            <a:fld id="{E3E8E051-591C-4566-9813-B4BB16D377BD}" type="slidenum">
              <a:rPr lang="en-US" smtClean="0"/>
              <a:pPr/>
              <a:t>56</a:t>
            </a:fld>
            <a:endParaRPr lang="en-US"/>
          </a:p>
        </p:txBody>
      </p:sp>
    </p:spTree>
    <p:extLst>
      <p:ext uri="{BB962C8B-B14F-4D97-AF65-F5344CB8AC3E}">
        <p14:creationId xmlns:p14="http://schemas.microsoft.com/office/powerpoint/2010/main" val="207104117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3.1.3. Lệnh </a:t>
            </a:r>
            <a:r>
              <a:rPr lang="en-GB"/>
              <a:t>if … else lồng nhau</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lvl="1"/>
            <a:r>
              <a:rPr lang="en-US" b="1" smtClean="0">
                <a:solidFill>
                  <a:srgbClr val="FF0000"/>
                </a:solidFill>
              </a:rPr>
              <a:t>Ví dụ</a:t>
            </a:r>
          </a:p>
          <a:p>
            <a:pPr lvl="1"/>
            <a:endParaRPr lang="en-US" b="1">
              <a:solidFill>
                <a:srgbClr val="FF0000"/>
              </a:solidFill>
            </a:endParaRPr>
          </a:p>
          <a:p>
            <a:pPr lvl="1"/>
            <a:endParaRPr lang="en-US" b="1" smtClean="0">
              <a:solidFill>
                <a:srgbClr val="FF0000"/>
              </a:solidFill>
            </a:endParaRPr>
          </a:p>
          <a:p>
            <a:pPr lvl="1"/>
            <a:endParaRPr lang="en-US" b="1">
              <a:solidFill>
                <a:srgbClr val="FF0000"/>
              </a:solidFill>
            </a:endParaRPr>
          </a:p>
          <a:p>
            <a:pPr lvl="1"/>
            <a:endParaRPr lang="en-US" b="1" smtClean="0">
              <a:solidFill>
                <a:srgbClr val="FF0000"/>
              </a:solidFill>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57</a:t>
            </a:fld>
            <a:endParaRPr lang="en-US"/>
          </a:p>
        </p:txBody>
      </p:sp>
      <p:graphicFrame>
        <p:nvGraphicFramePr>
          <p:cNvPr id="5" name="Table 4"/>
          <p:cNvGraphicFramePr>
            <a:graphicFrameLocks noGrp="1"/>
          </p:cNvGraphicFramePr>
          <p:nvPr>
            <p:extLst/>
          </p:nvPr>
        </p:nvGraphicFramePr>
        <p:xfrm>
          <a:off x="2735800" y="2240868"/>
          <a:ext cx="4779531" cy="3132348"/>
        </p:xfrm>
        <a:graphic>
          <a:graphicData uri="http://schemas.openxmlformats.org/drawingml/2006/table">
            <a:tbl>
              <a:tblPr firstRow="1" bandRow="1">
                <a:tableStyleId>{5C22544A-7EE6-4342-B048-85BDC9FD1C3A}</a:tableStyleId>
              </a:tblPr>
              <a:tblGrid>
                <a:gridCol w="4779531">
                  <a:extLst>
                    <a:ext uri="{9D8B030D-6E8A-4147-A177-3AD203B41FA5}">
                      <a16:colId xmlns:a16="http://schemas.microsoft.com/office/drawing/2014/main" xmlns="" val="20000"/>
                    </a:ext>
                  </a:extLst>
                </a:gridCol>
              </a:tblGrid>
              <a:tr h="116187">
                <a:tc>
                  <a:txBody>
                    <a:bodyPr/>
                    <a:lstStyle/>
                    <a:p>
                      <a:endParaRPr lang="en-GB" sz="100"/>
                    </a:p>
                  </a:txBody>
                  <a:tcPr marL="68580" marR="68580" marT="34290" marB="34290"/>
                </a:tc>
                <a:extLst>
                  <a:ext uri="{0D108BD9-81ED-4DB2-BD59-A6C34878D82A}">
                    <a16:rowId xmlns:a16="http://schemas.microsoft.com/office/drawing/2014/main" xmlns="" val="10000"/>
                  </a:ext>
                </a:extLst>
              </a:tr>
              <a:tr h="3016161">
                <a:tc>
                  <a:txBody>
                    <a:bodyPr/>
                    <a:lstStyle/>
                    <a:p>
                      <a:endParaRPr lang="en-GB" sz="1400"/>
                    </a:p>
                  </a:txBody>
                  <a:tcPr marL="68580" marR="68580" marT="34290" marB="34290"/>
                </a:tc>
                <a:extLst>
                  <a:ext uri="{0D108BD9-81ED-4DB2-BD59-A6C34878D82A}">
                    <a16:rowId xmlns:a16="http://schemas.microsoft.com/office/drawing/2014/main" xmlns="" val="10001"/>
                  </a:ext>
                </a:extLst>
              </a:tr>
            </a:tbl>
          </a:graphicData>
        </a:graphic>
      </p:graphicFrame>
      <p:pic>
        <p:nvPicPr>
          <p:cNvPr id="102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2843808" y="2456897"/>
            <a:ext cx="4590510" cy="282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302270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3.1.3. Lệnh </a:t>
            </a:r>
            <a:r>
              <a:rPr lang="en-GB"/>
              <a:t>if … else lồng nhau</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58</a:t>
            </a:fld>
            <a:endParaRPr lang="en-US"/>
          </a:p>
        </p:txBody>
      </p:sp>
      <p:sp>
        <p:nvSpPr>
          <p:cNvPr id="8" name="Content Placeholder 2"/>
          <p:cNvSpPr txBox="1">
            <a:spLocks/>
          </p:cNvSpPr>
          <p:nvPr/>
        </p:nvSpPr>
        <p:spPr>
          <a:xfrm>
            <a:off x="1314450" y="1828800"/>
            <a:ext cx="6686550" cy="4171950"/>
          </a:xfrm>
          <a:prstGeom prst="rect">
            <a:avLst/>
          </a:prstGeom>
        </p:spPr>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marL="0" indent="0">
              <a:lnSpc>
                <a:spcPct val="120000"/>
              </a:lnSpc>
              <a:spcBef>
                <a:spcPts val="0"/>
              </a:spcBef>
              <a:spcAft>
                <a:spcPts val="0"/>
              </a:spcAft>
              <a:buNone/>
              <a:defRPr/>
            </a:pPr>
            <a:r>
              <a:rPr lang="en-US" sz="1050">
                <a:solidFill>
                  <a:srgbClr val="7F0055"/>
                </a:solidFill>
                <a:latin typeface="Consolas" panose="020B0609020204030204" pitchFamily="49" charset="0"/>
                <a:ea typeface="Calibri" panose="020F0502020204030204" pitchFamily="34" charset="0"/>
                <a:cs typeface="Consolas" panose="020B0609020204030204" pitchFamily="49" charset="0"/>
              </a:rPr>
              <a:t>public</a:t>
            </a:r>
            <a:r>
              <a:rPr lang="en-US" sz="105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7F0055"/>
                </a:solidFill>
                <a:latin typeface="Consolas" panose="020B0609020204030204" pitchFamily="49" charset="0"/>
                <a:ea typeface="Calibri" panose="020F0502020204030204" pitchFamily="34" charset="0"/>
                <a:cs typeface="Consolas" panose="020B0609020204030204" pitchFamily="49" charset="0"/>
              </a:rPr>
              <a:t>static</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7F0055"/>
                </a:solidFill>
                <a:latin typeface="Consolas" panose="020B0609020204030204" pitchFamily="49" charset="0"/>
                <a:ea typeface="Calibri" panose="020F0502020204030204" pitchFamily="34" charset="0"/>
                <a:cs typeface="Consolas" panose="020B0609020204030204" pitchFamily="49" charset="0"/>
              </a:rPr>
              <a:t>void</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main(String[] </a:t>
            </a:r>
            <a:r>
              <a:rPr lang="en-US" sz="1050" dirty="0" err="1">
                <a:solidFill>
                  <a:srgbClr val="6A3E3E"/>
                </a:solidFill>
                <a:latin typeface="Consolas" panose="020B0609020204030204" pitchFamily="49" charset="0"/>
                <a:ea typeface="Calibri" panose="020F0502020204030204" pitchFamily="34" charset="0"/>
                <a:cs typeface="Consolas" panose="020B0609020204030204" pitchFamily="49" charset="0"/>
              </a:rPr>
              <a:t>args</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tabLst>
                <a:tab pos="165200" algn="l"/>
              </a:tabLst>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7F0055"/>
                </a:solidFill>
                <a:latin typeface="Consolas" panose="020B0609020204030204" pitchFamily="49" charset="0"/>
                <a:ea typeface="Calibri" panose="020F0502020204030204" pitchFamily="34" charset="0"/>
                <a:cs typeface="Consolas" panose="020B0609020204030204" pitchFamily="49" charset="0"/>
              </a:rPr>
              <a:t>int</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a</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=4,</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b</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=5,</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c</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=9;</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tabLst>
                <a:tab pos="165200" algn="l"/>
              </a:tabLst>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7F0055"/>
                </a:solidFill>
                <a:latin typeface="Consolas" panose="020B0609020204030204" pitchFamily="49" charset="0"/>
                <a:ea typeface="Calibri" panose="020F0502020204030204" pitchFamily="34" charset="0"/>
                <a:cs typeface="Consolas" panose="020B0609020204030204" pitchFamily="49" charset="0"/>
              </a:rPr>
              <a:t>if</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a</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!=0)</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tabLst>
                <a:tab pos="165200" algn="l"/>
              </a:tabLst>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tabLst>
                <a:tab pos="165200" algn="l"/>
              </a:tabLst>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7F0055"/>
                </a:solidFill>
                <a:latin typeface="Consolas" panose="020B0609020204030204" pitchFamily="49" charset="0"/>
                <a:ea typeface="Calibri" panose="020F0502020204030204" pitchFamily="34" charset="0"/>
                <a:cs typeface="Consolas" panose="020B0609020204030204" pitchFamily="49" charset="0"/>
              </a:rPr>
              <a:t>float</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delta</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b</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b</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-4*</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a</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c</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tabLst>
                <a:tab pos="165200" algn="l"/>
              </a:tabLst>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7F0055"/>
                </a:solidFill>
                <a:latin typeface="Consolas" panose="020B0609020204030204" pitchFamily="49" charset="0"/>
                <a:ea typeface="Calibri" panose="020F0502020204030204" pitchFamily="34" charset="0"/>
                <a:cs typeface="Consolas" panose="020B0609020204030204" pitchFamily="49" charset="0"/>
              </a:rPr>
              <a:t>if</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delta</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&gt;0){</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642938" indent="0">
              <a:lnSpc>
                <a:spcPct val="120000"/>
              </a:lnSpc>
              <a:spcBef>
                <a:spcPts val="0"/>
              </a:spcBef>
              <a:spcAft>
                <a:spcPts val="0"/>
              </a:spcAft>
              <a:buNone/>
              <a:tabLst>
                <a:tab pos="165200" algn="l"/>
              </a:tabLst>
              <a:defRPr/>
            </a:pPr>
            <a:r>
              <a:rPr lang="en-US" sz="1050" dirty="0" err="1">
                <a:solidFill>
                  <a:srgbClr val="000000"/>
                </a:solidFill>
                <a:latin typeface="Consolas" panose="020B0609020204030204" pitchFamily="49" charset="0"/>
                <a:ea typeface="Calibri" panose="020F0502020204030204" pitchFamily="34" charset="0"/>
                <a:cs typeface="Consolas" panose="020B0609020204030204" pitchFamily="49" charset="0"/>
              </a:rPr>
              <a:t>System.</a:t>
            </a:r>
            <a:r>
              <a:rPr lang="en-US" sz="1050" i="1" dirty="0" err="1">
                <a:solidFill>
                  <a:srgbClr val="0000C0"/>
                </a:solidFill>
                <a:latin typeface="Consolas" panose="020B0609020204030204" pitchFamily="49" charset="0"/>
                <a:ea typeface="Calibri" panose="020F0502020204030204" pitchFamily="34" charset="0"/>
                <a:cs typeface="Consolas" panose="020B0609020204030204" pitchFamily="49" charset="0"/>
              </a:rPr>
              <a:t>out</a:t>
            </a:r>
            <a:r>
              <a:rPr lang="en-US" sz="1050" dirty="0" err="1">
                <a:solidFill>
                  <a:srgbClr val="000000"/>
                </a:solidFill>
                <a:latin typeface="Consolas" panose="020B0609020204030204" pitchFamily="49" charset="0"/>
                <a:ea typeface="Calibri" panose="020F0502020204030204" pitchFamily="34" charset="0"/>
                <a:cs typeface="Consolas" panose="020B0609020204030204" pitchFamily="49" charset="0"/>
              </a:rPr>
              <a:t>.print</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Phương</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trình</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có</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2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nghiệm</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phân</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biệt</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b</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000000"/>
                </a:solidFill>
                <a:latin typeface="Consolas" panose="020B0609020204030204" pitchFamily="49" charset="0"/>
                <a:ea typeface="Calibri" panose="020F0502020204030204" pitchFamily="34" charset="0"/>
                <a:cs typeface="Consolas" panose="020B0609020204030204" pitchFamily="49" charset="0"/>
              </a:rPr>
              <a:t>Math.</a:t>
            </a:r>
            <a:r>
              <a:rPr lang="en-US" sz="1050" i="1" dirty="0" err="1">
                <a:solidFill>
                  <a:srgbClr val="000000"/>
                </a:solidFill>
                <a:latin typeface="Consolas" panose="020B0609020204030204" pitchFamily="49" charset="0"/>
                <a:ea typeface="Calibri" panose="020F0502020204030204" pitchFamily="34" charset="0"/>
                <a:cs typeface="Consolas" panose="020B0609020204030204" pitchFamily="49" charset="0"/>
              </a:rPr>
              <a:t>sqrt</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delta</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))/(2*</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a</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b</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000000"/>
                </a:solidFill>
                <a:latin typeface="Consolas" panose="020B0609020204030204" pitchFamily="49" charset="0"/>
                <a:ea typeface="Calibri" panose="020F0502020204030204" pitchFamily="34" charset="0"/>
                <a:cs typeface="Consolas" panose="020B0609020204030204" pitchFamily="49" charset="0"/>
              </a:rPr>
              <a:t>Math.</a:t>
            </a:r>
            <a:r>
              <a:rPr lang="en-US" sz="1050" i="1" dirty="0" err="1">
                <a:solidFill>
                  <a:srgbClr val="000000"/>
                </a:solidFill>
                <a:latin typeface="Consolas" panose="020B0609020204030204" pitchFamily="49" charset="0"/>
                <a:ea typeface="Calibri" panose="020F0502020204030204" pitchFamily="34" charset="0"/>
                <a:cs typeface="Consolas" panose="020B0609020204030204" pitchFamily="49" charset="0"/>
              </a:rPr>
              <a:t>sqrt</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delta</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))/(2*</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a</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7F0055"/>
                </a:solidFill>
                <a:latin typeface="Consolas" panose="020B0609020204030204" pitchFamily="49" charset="0"/>
                <a:ea typeface="Calibri" panose="020F0502020204030204" pitchFamily="34" charset="0"/>
                <a:cs typeface="Consolas" panose="020B0609020204030204" pitchFamily="49" charset="0"/>
              </a:rPr>
              <a:t>else</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7F0055"/>
                </a:solidFill>
                <a:latin typeface="Consolas" panose="020B0609020204030204" pitchFamily="49" charset="0"/>
                <a:ea typeface="Calibri" panose="020F0502020204030204" pitchFamily="34" charset="0"/>
                <a:cs typeface="Consolas" panose="020B0609020204030204" pitchFamily="49" charset="0"/>
              </a:rPr>
              <a:t>if</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delta</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==0){</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000000"/>
                </a:solidFill>
                <a:latin typeface="Consolas" panose="020B0609020204030204" pitchFamily="49" charset="0"/>
                <a:ea typeface="Calibri" panose="020F0502020204030204" pitchFamily="34" charset="0"/>
                <a:cs typeface="Consolas" panose="020B0609020204030204" pitchFamily="49" charset="0"/>
              </a:rPr>
              <a:t>System.</a:t>
            </a:r>
            <a:r>
              <a:rPr lang="en-US" sz="1050" i="1" dirty="0" err="1">
                <a:solidFill>
                  <a:srgbClr val="0000C0"/>
                </a:solidFill>
                <a:latin typeface="Consolas" panose="020B0609020204030204" pitchFamily="49" charset="0"/>
                <a:ea typeface="Calibri" panose="020F0502020204030204" pitchFamily="34" charset="0"/>
                <a:cs typeface="Consolas" panose="020B0609020204030204" pitchFamily="49" charset="0"/>
              </a:rPr>
              <a:t>out</a:t>
            </a:r>
            <a:r>
              <a:rPr lang="en-US" sz="1050" dirty="0" err="1">
                <a:solidFill>
                  <a:srgbClr val="000000"/>
                </a:solidFill>
                <a:latin typeface="Consolas" panose="020B0609020204030204" pitchFamily="49" charset="0"/>
                <a:ea typeface="Calibri" panose="020F0502020204030204" pitchFamily="34" charset="0"/>
                <a:cs typeface="Consolas" panose="020B0609020204030204" pitchFamily="49" charset="0"/>
              </a:rPr>
              <a:t>.print</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Phương</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trình</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có</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1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nghiệm</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kép</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b</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/(2*</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a</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7F0055"/>
                </a:solidFill>
                <a:latin typeface="Consolas" panose="020B0609020204030204" pitchFamily="49" charset="0"/>
                <a:ea typeface="Calibri" panose="020F0502020204030204" pitchFamily="34" charset="0"/>
                <a:cs typeface="Consolas" panose="020B0609020204030204" pitchFamily="49" charset="0"/>
              </a:rPr>
              <a:t>else</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000000"/>
                </a:solidFill>
                <a:latin typeface="Consolas" panose="020B0609020204030204" pitchFamily="49" charset="0"/>
                <a:ea typeface="Calibri" panose="020F0502020204030204" pitchFamily="34" charset="0"/>
                <a:cs typeface="Consolas" panose="020B0609020204030204" pitchFamily="49" charset="0"/>
              </a:rPr>
              <a:t>System.</a:t>
            </a:r>
            <a:r>
              <a:rPr lang="en-US" sz="1050" i="1" dirty="0" err="1">
                <a:solidFill>
                  <a:srgbClr val="0000C0"/>
                </a:solidFill>
                <a:latin typeface="Consolas" panose="020B0609020204030204" pitchFamily="49" charset="0"/>
                <a:ea typeface="Calibri" panose="020F0502020204030204" pitchFamily="34" charset="0"/>
                <a:cs typeface="Consolas" panose="020B0609020204030204" pitchFamily="49" charset="0"/>
              </a:rPr>
              <a:t>out</a:t>
            </a:r>
            <a:r>
              <a:rPr lang="en-US" sz="1050" dirty="0" err="1">
                <a:solidFill>
                  <a:srgbClr val="000000"/>
                </a:solidFill>
                <a:latin typeface="Consolas" panose="020B0609020204030204" pitchFamily="49" charset="0"/>
                <a:ea typeface="Calibri" panose="020F0502020204030204" pitchFamily="34" charset="0"/>
                <a:cs typeface="Consolas" panose="020B0609020204030204" pitchFamily="49" charset="0"/>
              </a:rPr>
              <a:t>.print</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Phương</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trình</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vô</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nghiệm</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p>
          <a:p>
            <a:pPr marL="0" indent="0">
              <a:lnSpc>
                <a:spcPct val="120000"/>
              </a:lnSpc>
              <a:spcBef>
                <a:spcPts val="0"/>
              </a:spcBef>
              <a:spcAft>
                <a:spcPts val="0"/>
              </a:spcAft>
              <a:buNone/>
              <a:defRPr/>
            </a:pPr>
            <a:r>
              <a:rPr lang="en-US" sz="1050" dirty="0">
                <a:solidFill>
                  <a:srgbClr val="7F0055"/>
                </a:solidFill>
                <a:latin typeface="Consolas" panose="020B0609020204030204" pitchFamily="49" charset="0"/>
                <a:ea typeface="Calibri" panose="020F0502020204030204" pitchFamily="34" charset="0"/>
                <a:cs typeface="Consolas" panose="020B0609020204030204" pitchFamily="49" charset="0"/>
              </a:rPr>
              <a:t>     else</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7F0055"/>
                </a:solidFill>
                <a:latin typeface="Consolas" panose="020B0609020204030204" pitchFamily="49" charset="0"/>
                <a:ea typeface="Calibri" panose="020F0502020204030204" pitchFamily="34" charset="0"/>
                <a:cs typeface="Consolas" panose="020B0609020204030204" pitchFamily="49" charset="0"/>
              </a:rPr>
              <a:t>if</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b</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==0)</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7F0055"/>
                </a:solidFill>
                <a:latin typeface="Consolas" panose="020B0609020204030204" pitchFamily="49" charset="0"/>
                <a:ea typeface="Calibri" panose="020F0502020204030204" pitchFamily="34" charset="0"/>
                <a:cs typeface="Consolas" panose="020B0609020204030204" pitchFamily="49" charset="0"/>
              </a:rPr>
              <a:t>if</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c</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==0) </a:t>
            </a:r>
            <a:r>
              <a:rPr lang="en-US" sz="1050" dirty="0" err="1">
                <a:solidFill>
                  <a:srgbClr val="000000"/>
                </a:solidFill>
                <a:latin typeface="Consolas" panose="020B0609020204030204" pitchFamily="49" charset="0"/>
                <a:ea typeface="Calibri" panose="020F0502020204030204" pitchFamily="34" charset="0"/>
                <a:cs typeface="Consolas" panose="020B0609020204030204" pitchFamily="49" charset="0"/>
              </a:rPr>
              <a:t>System.</a:t>
            </a:r>
            <a:r>
              <a:rPr lang="en-US" sz="1050" i="1" dirty="0" err="1">
                <a:solidFill>
                  <a:srgbClr val="0000C0"/>
                </a:solidFill>
                <a:latin typeface="Consolas" panose="020B0609020204030204" pitchFamily="49" charset="0"/>
                <a:ea typeface="Calibri" panose="020F0502020204030204" pitchFamily="34" charset="0"/>
                <a:cs typeface="Consolas" panose="020B0609020204030204" pitchFamily="49" charset="0"/>
              </a:rPr>
              <a:t>out</a:t>
            </a:r>
            <a:r>
              <a:rPr lang="en-US" sz="1050" dirty="0" err="1">
                <a:solidFill>
                  <a:srgbClr val="000000"/>
                </a:solidFill>
                <a:latin typeface="Consolas" panose="020B0609020204030204" pitchFamily="49" charset="0"/>
                <a:ea typeface="Calibri" panose="020F0502020204030204" pitchFamily="34" charset="0"/>
                <a:cs typeface="Consolas" panose="020B0609020204030204" pitchFamily="49" charset="0"/>
              </a:rPr>
              <a:t>.print</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Phương</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trình</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vô</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số</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nghiệm</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7F0055"/>
                </a:solidFill>
                <a:latin typeface="Consolas" panose="020B0609020204030204" pitchFamily="49" charset="0"/>
                <a:ea typeface="Calibri" panose="020F0502020204030204" pitchFamily="34" charset="0"/>
                <a:cs typeface="Consolas" panose="020B0609020204030204" pitchFamily="49" charset="0"/>
              </a:rPr>
              <a:t>else</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000000"/>
                </a:solidFill>
                <a:latin typeface="Consolas" panose="020B0609020204030204" pitchFamily="49" charset="0"/>
                <a:ea typeface="Calibri" panose="020F0502020204030204" pitchFamily="34" charset="0"/>
                <a:cs typeface="Consolas" panose="020B0609020204030204" pitchFamily="49" charset="0"/>
              </a:rPr>
              <a:t>System.</a:t>
            </a:r>
            <a:r>
              <a:rPr lang="en-US" sz="1050" i="1" dirty="0" err="1">
                <a:solidFill>
                  <a:srgbClr val="0000C0"/>
                </a:solidFill>
                <a:latin typeface="Consolas" panose="020B0609020204030204" pitchFamily="49" charset="0"/>
                <a:ea typeface="Calibri" panose="020F0502020204030204" pitchFamily="34" charset="0"/>
                <a:cs typeface="Consolas" panose="020B0609020204030204" pitchFamily="49" charset="0"/>
              </a:rPr>
              <a:t>out</a:t>
            </a:r>
            <a:r>
              <a:rPr lang="en-US" sz="1050" dirty="0" err="1">
                <a:solidFill>
                  <a:srgbClr val="000000"/>
                </a:solidFill>
                <a:latin typeface="Consolas" panose="020B0609020204030204" pitchFamily="49" charset="0"/>
                <a:ea typeface="Calibri" panose="020F0502020204030204" pitchFamily="34" charset="0"/>
                <a:cs typeface="Consolas" panose="020B0609020204030204" pitchFamily="49" charset="0"/>
              </a:rPr>
              <a:t>.print</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Phương</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trình</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vô</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nghiệm</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7F0055"/>
                </a:solidFill>
                <a:latin typeface="Consolas" panose="020B0609020204030204" pitchFamily="49" charset="0"/>
                <a:ea typeface="Calibri" panose="020F0502020204030204" pitchFamily="34" charset="0"/>
                <a:cs typeface="Consolas" panose="020B0609020204030204" pitchFamily="49" charset="0"/>
              </a:rPr>
              <a:t>else</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000000"/>
                </a:solidFill>
                <a:latin typeface="Consolas" panose="020B0609020204030204" pitchFamily="49" charset="0"/>
                <a:ea typeface="Calibri" panose="020F0502020204030204" pitchFamily="34" charset="0"/>
                <a:cs typeface="Consolas" panose="020B0609020204030204" pitchFamily="49" charset="0"/>
              </a:rPr>
              <a:t>System.</a:t>
            </a:r>
            <a:r>
              <a:rPr lang="en-US" sz="1050" i="1" u="sng" dirty="0" err="1">
                <a:solidFill>
                  <a:srgbClr val="000000"/>
                </a:solidFill>
                <a:latin typeface="Consolas" panose="020B0609020204030204" pitchFamily="49" charset="0"/>
                <a:ea typeface="Calibri" panose="020F0502020204030204" pitchFamily="34" charset="0"/>
                <a:cs typeface="Consolas" panose="020B0609020204030204" pitchFamily="49" charset="0"/>
              </a:rPr>
              <a:t>out</a:t>
            </a:r>
            <a:r>
              <a:rPr lang="en-US" sz="1050" dirty="0" err="1">
                <a:solidFill>
                  <a:srgbClr val="000000"/>
                </a:solidFill>
                <a:latin typeface="Consolas" panose="020B0609020204030204" pitchFamily="49" charset="0"/>
                <a:ea typeface="Calibri" panose="020F0502020204030204" pitchFamily="34" charset="0"/>
                <a:cs typeface="Consolas" panose="020B0609020204030204" pitchFamily="49" charset="0"/>
              </a:rPr>
              <a:t>.print</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Phương</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trình</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có</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1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nghiệm</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err="1">
                <a:solidFill>
                  <a:srgbClr val="2A00FF"/>
                </a:solidFill>
                <a:latin typeface="Consolas" panose="020B0609020204030204" pitchFamily="49" charset="0"/>
                <a:ea typeface="Calibri" panose="020F0502020204030204" pitchFamily="34" charset="0"/>
                <a:cs typeface="Consolas" panose="020B0609020204030204" pitchFamily="49" charset="0"/>
              </a:rPr>
              <a:t>là</a:t>
            </a:r>
            <a:r>
              <a:rPr lang="en-US" sz="1050" dirty="0">
                <a:solidFill>
                  <a:srgbClr val="2A00FF"/>
                </a:solidFill>
                <a:latin typeface="Consolas" panose="020B0609020204030204" pitchFamily="49" charset="0"/>
                <a:ea typeface="Calibri" panose="020F0502020204030204" pitchFamily="34" charset="0"/>
                <a:cs typeface="Consolas" panose="020B0609020204030204" pitchFamily="49" charset="0"/>
              </a:rPr>
              <a:t>: "</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c</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r>
              <a:rPr lang="en-US" sz="1050" dirty="0">
                <a:solidFill>
                  <a:srgbClr val="6A3E3E"/>
                </a:solidFill>
                <a:latin typeface="Consolas" panose="020B0609020204030204" pitchFamily="49" charset="0"/>
                <a:ea typeface="Calibri" panose="020F0502020204030204" pitchFamily="34" charset="0"/>
                <a:cs typeface="Consolas" panose="020B0609020204030204" pitchFamily="49" charset="0"/>
              </a:rPr>
              <a:t>b</a:t>
            </a: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0"/>
              </a:spcAft>
              <a:buNone/>
              <a:defRPr/>
            </a:pPr>
            <a:r>
              <a:rPr lang="en-US" sz="10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US" sz="2100" dirty="0">
              <a:latin typeface="Calibri" panose="020F0502020204030204" pitchFamily="34" charset="0"/>
              <a:ea typeface="Calibri" panose="020F0502020204030204" pitchFamily="34" charset="0"/>
              <a:cs typeface="Times New Roman" panose="02020603050405020304" pitchFamily="18" charset="0"/>
            </a:endParaRPr>
          </a:p>
          <a:p>
            <a:pPr marL="0">
              <a:lnSpc>
                <a:spcPct val="107000"/>
              </a:lnSpc>
              <a:spcBef>
                <a:spcPts val="0"/>
              </a:spcBef>
              <a:spcAft>
                <a:spcPts val="0"/>
              </a:spcAft>
              <a:defRPr/>
            </a:pPr>
            <a:endParaRPr lang="en-US" sz="900" dirty="0"/>
          </a:p>
        </p:txBody>
      </p:sp>
    </p:spTree>
    <p:extLst>
      <p:ext uri="{BB962C8B-B14F-4D97-AF65-F5344CB8AC3E}">
        <p14:creationId xmlns:p14="http://schemas.microsoft.com/office/powerpoint/2010/main" val="208394255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3.1.4. Lệnh switch … case</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lvl="1"/>
            <a:endParaRPr lang="en-US" b="1" smtClean="0">
              <a:solidFill>
                <a:srgbClr val="FF0000"/>
              </a:solidFill>
            </a:endParaRPr>
          </a:p>
          <a:p>
            <a:pPr lvl="1"/>
            <a:endParaRPr lang="en-US" b="1">
              <a:solidFill>
                <a:srgbClr val="FF0000"/>
              </a:solidFill>
            </a:endParaRPr>
          </a:p>
          <a:p>
            <a:r>
              <a:rPr lang="en-US" b="1" smtClean="0">
                <a:solidFill>
                  <a:srgbClr val="FF0000"/>
                </a:solidFill>
              </a:rPr>
              <a:t>Cú pháp</a:t>
            </a:r>
          </a:p>
          <a:p>
            <a:pPr marL="0" indent="0">
              <a:buNone/>
            </a:pPr>
            <a:r>
              <a:rPr lang="en-US" b="1">
                <a:solidFill>
                  <a:srgbClr val="FF0000"/>
                </a:solidFill>
              </a:rPr>
              <a:t>	</a:t>
            </a:r>
            <a:r>
              <a:rPr lang="en-US" b="1" smtClean="0">
                <a:solidFill>
                  <a:srgbClr val="FF0000"/>
                </a:solidFill>
              </a:rPr>
              <a:t>			</a:t>
            </a:r>
          </a:p>
          <a:p>
            <a:pPr lvl="2" latinLnBrk="0"/>
            <a:endParaRPr lang="vi-VN"/>
          </a:p>
        </p:txBody>
      </p:sp>
      <p:sp>
        <p:nvSpPr>
          <p:cNvPr id="4" name="Slide Number Placeholder 3"/>
          <p:cNvSpPr>
            <a:spLocks noGrp="1"/>
          </p:cNvSpPr>
          <p:nvPr>
            <p:ph type="sldNum" sz="quarter" idx="12"/>
          </p:nvPr>
        </p:nvSpPr>
        <p:spPr/>
        <p:txBody>
          <a:bodyPr/>
          <a:lstStyle/>
          <a:p>
            <a:fld id="{E3E8E051-591C-4566-9813-B4BB16D377BD}" type="slidenum">
              <a:rPr lang="en-US" smtClean="0"/>
              <a:pPr/>
              <a:t>59</a:t>
            </a:fld>
            <a:endParaRPr lang="en-US"/>
          </a:p>
        </p:txBody>
      </p:sp>
      <p:graphicFrame>
        <p:nvGraphicFramePr>
          <p:cNvPr id="5" name="Table 4"/>
          <p:cNvGraphicFramePr>
            <a:graphicFrameLocks noGrp="1"/>
          </p:cNvGraphicFramePr>
          <p:nvPr>
            <p:extLst/>
          </p:nvPr>
        </p:nvGraphicFramePr>
        <p:xfrm>
          <a:off x="2951820" y="1754814"/>
          <a:ext cx="4806534" cy="3925632"/>
        </p:xfrm>
        <a:graphic>
          <a:graphicData uri="http://schemas.openxmlformats.org/drawingml/2006/table">
            <a:tbl>
              <a:tblPr firstRow="1" bandRow="1">
                <a:effectLst>
                  <a:outerShdw blurRad="152400" dist="317500" dir="5400000" sx="90000" sy="-19000" rotWithShape="0">
                    <a:prstClr val="black">
                      <a:alpha val="15000"/>
                    </a:prstClr>
                  </a:outerShdw>
                </a:effectLst>
                <a:tableStyleId>{5C22544A-7EE6-4342-B048-85BDC9FD1C3A}</a:tableStyleId>
              </a:tblPr>
              <a:tblGrid>
                <a:gridCol w="4806534">
                  <a:extLst>
                    <a:ext uri="{9D8B030D-6E8A-4147-A177-3AD203B41FA5}">
                      <a16:colId xmlns:a16="http://schemas.microsoft.com/office/drawing/2014/main" xmlns="" val="20000"/>
                    </a:ext>
                  </a:extLst>
                </a:gridCol>
              </a:tblGrid>
              <a:tr h="108012">
                <a:tc>
                  <a:txBody>
                    <a:bodyPr/>
                    <a:lstStyle/>
                    <a:p>
                      <a:pPr algn="just">
                        <a:spcBef>
                          <a:spcPts val="0"/>
                        </a:spcBef>
                        <a:spcAft>
                          <a:spcPts val="0"/>
                        </a:spcAft>
                      </a:pPr>
                      <a:endParaRPr lang="en-GB" sz="10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tcPr>
                </a:tc>
                <a:extLst>
                  <a:ext uri="{0D108BD9-81ED-4DB2-BD59-A6C34878D82A}">
                    <a16:rowId xmlns:a16="http://schemas.microsoft.com/office/drawing/2014/main" xmlns="" val="10000"/>
                  </a:ext>
                </a:extLst>
              </a:tr>
              <a:tr h="3726414">
                <a:tc>
                  <a:txBody>
                    <a:bodyPr/>
                    <a:lstStyle/>
                    <a:p>
                      <a:pPr algn="just">
                        <a:spcBef>
                          <a:spcPts val="0"/>
                        </a:spcBef>
                        <a:spcAft>
                          <a:spcPts val="0"/>
                        </a:spcAft>
                      </a:pPr>
                      <a:endParaRPr lang="en-US" sz="800" b="1" smtClean="0">
                        <a:solidFill>
                          <a:srgbClr val="FF0000"/>
                        </a:solidFill>
                        <a:effectLst/>
                        <a:latin typeface="Courier New"/>
                        <a:ea typeface="Calibri"/>
                      </a:endParaRPr>
                    </a:p>
                    <a:p>
                      <a:pPr algn="just">
                        <a:spcBef>
                          <a:spcPts val="0"/>
                        </a:spcBef>
                        <a:spcAft>
                          <a:spcPts val="0"/>
                        </a:spcAft>
                      </a:pPr>
                      <a:r>
                        <a:rPr lang="en-US" sz="1700" b="1" smtClean="0">
                          <a:solidFill>
                            <a:srgbClr val="FF0000"/>
                          </a:solidFill>
                          <a:effectLst/>
                          <a:latin typeface="Courier New"/>
                          <a:ea typeface="Calibri"/>
                        </a:rPr>
                        <a:t>switch</a:t>
                      </a:r>
                      <a:r>
                        <a:rPr lang="en-US" sz="1700" smtClean="0">
                          <a:effectLst/>
                          <a:latin typeface="Courier New"/>
                          <a:ea typeface="Calibri"/>
                        </a:rPr>
                        <a:t>(&lt;biểu thức&gt;){</a:t>
                      </a:r>
                      <a:endParaRPr lang="en-GB" sz="1700" smtClean="0">
                        <a:effectLst/>
                        <a:latin typeface="Times New Roman"/>
                        <a:ea typeface="Calibri"/>
                      </a:endParaRPr>
                    </a:p>
                    <a:p>
                      <a:pPr algn="just">
                        <a:spcBef>
                          <a:spcPts val="0"/>
                        </a:spcBef>
                        <a:spcAft>
                          <a:spcPts val="0"/>
                        </a:spcAft>
                      </a:pPr>
                      <a:r>
                        <a:rPr lang="en-US" sz="1700" smtClean="0">
                          <a:effectLst/>
                          <a:latin typeface="Courier New"/>
                          <a:ea typeface="Calibri"/>
                        </a:rPr>
                        <a:t>	</a:t>
                      </a:r>
                      <a:r>
                        <a:rPr lang="en-US" sz="1700" b="1" smtClean="0">
                          <a:solidFill>
                            <a:srgbClr val="FF0000"/>
                          </a:solidFill>
                          <a:effectLst/>
                          <a:latin typeface="Courier New"/>
                          <a:ea typeface="Calibri"/>
                        </a:rPr>
                        <a:t>case</a:t>
                      </a:r>
                      <a:r>
                        <a:rPr lang="en-US" sz="1700" smtClean="0">
                          <a:solidFill>
                            <a:srgbClr val="FF0000"/>
                          </a:solidFill>
                          <a:effectLst/>
                          <a:latin typeface="Courier New"/>
                          <a:ea typeface="Calibri"/>
                        </a:rPr>
                        <a:t> </a:t>
                      </a:r>
                      <a:r>
                        <a:rPr lang="en-US" sz="1700" smtClean="0">
                          <a:effectLst/>
                          <a:latin typeface="Courier New"/>
                          <a:ea typeface="Calibri"/>
                        </a:rPr>
                        <a:t>&lt;giá trị 1&gt;:</a:t>
                      </a:r>
                      <a:endParaRPr lang="en-GB" sz="1700" smtClean="0">
                        <a:effectLst/>
                        <a:latin typeface="Times New Roman"/>
                        <a:ea typeface="Calibri"/>
                      </a:endParaRPr>
                    </a:p>
                    <a:p>
                      <a:pPr algn="just">
                        <a:spcBef>
                          <a:spcPts val="0"/>
                        </a:spcBef>
                        <a:spcAft>
                          <a:spcPts val="0"/>
                        </a:spcAft>
                      </a:pPr>
                      <a:r>
                        <a:rPr lang="en-US" sz="1700" smtClean="0">
                          <a:effectLst/>
                          <a:latin typeface="Courier New"/>
                          <a:ea typeface="Calibri"/>
                        </a:rPr>
                        <a:t>		&lt;lệnh/khối lệnh 1&gt;;</a:t>
                      </a:r>
                      <a:endParaRPr lang="en-GB" sz="1700" smtClean="0">
                        <a:effectLst/>
                        <a:latin typeface="Times New Roman"/>
                        <a:ea typeface="Calibri"/>
                      </a:endParaRPr>
                    </a:p>
                    <a:p>
                      <a:pPr algn="just">
                        <a:spcBef>
                          <a:spcPts val="0"/>
                        </a:spcBef>
                        <a:spcAft>
                          <a:spcPts val="0"/>
                        </a:spcAft>
                      </a:pPr>
                      <a:r>
                        <a:rPr lang="en-US" sz="1700" smtClean="0">
                          <a:effectLst/>
                          <a:latin typeface="Courier New"/>
                          <a:ea typeface="Calibri"/>
                        </a:rPr>
                        <a:t>		break;</a:t>
                      </a:r>
                      <a:endParaRPr lang="en-GB" sz="1700" smtClean="0">
                        <a:effectLst/>
                        <a:latin typeface="Times New Roman"/>
                        <a:ea typeface="Calibri"/>
                      </a:endParaRPr>
                    </a:p>
                    <a:p>
                      <a:pPr indent="457200" algn="just">
                        <a:spcBef>
                          <a:spcPts val="0"/>
                        </a:spcBef>
                        <a:spcAft>
                          <a:spcPts val="0"/>
                        </a:spcAft>
                      </a:pPr>
                      <a:r>
                        <a:rPr lang="en-US" sz="1700" b="1" smtClean="0">
                          <a:solidFill>
                            <a:srgbClr val="FFFF00"/>
                          </a:solidFill>
                          <a:effectLst/>
                          <a:latin typeface="Courier New"/>
                          <a:ea typeface="Calibri"/>
                        </a:rPr>
                        <a:t>	</a:t>
                      </a:r>
                      <a:r>
                        <a:rPr lang="en-US" sz="1700" b="1" smtClean="0">
                          <a:solidFill>
                            <a:srgbClr val="FF0000"/>
                          </a:solidFill>
                          <a:effectLst/>
                          <a:latin typeface="Courier New"/>
                          <a:ea typeface="Calibri"/>
                        </a:rPr>
                        <a:t>case</a:t>
                      </a:r>
                      <a:r>
                        <a:rPr lang="en-US" sz="1700" smtClean="0">
                          <a:solidFill>
                            <a:srgbClr val="FF0000"/>
                          </a:solidFill>
                          <a:effectLst/>
                          <a:latin typeface="Courier New"/>
                          <a:ea typeface="Calibri"/>
                        </a:rPr>
                        <a:t> </a:t>
                      </a:r>
                      <a:r>
                        <a:rPr lang="en-US" sz="1700" smtClean="0">
                          <a:effectLst/>
                          <a:latin typeface="Courier New"/>
                          <a:ea typeface="Calibri"/>
                        </a:rPr>
                        <a:t>&lt;giá trị 2&gt;:</a:t>
                      </a:r>
                      <a:endParaRPr lang="en-GB" sz="1700" smtClean="0">
                        <a:effectLst/>
                        <a:latin typeface="Times New Roman"/>
                        <a:ea typeface="Calibri"/>
                      </a:endParaRPr>
                    </a:p>
                    <a:p>
                      <a:pPr algn="just">
                        <a:spcBef>
                          <a:spcPts val="0"/>
                        </a:spcBef>
                        <a:spcAft>
                          <a:spcPts val="0"/>
                        </a:spcAft>
                      </a:pPr>
                      <a:r>
                        <a:rPr lang="en-US" sz="1700" smtClean="0">
                          <a:effectLst/>
                          <a:latin typeface="Courier New"/>
                          <a:ea typeface="Calibri"/>
                        </a:rPr>
                        <a:t>		&lt;lệnh/khối lệnh 2&gt;;</a:t>
                      </a:r>
                      <a:endParaRPr lang="en-GB" sz="1700" smtClean="0">
                        <a:effectLst/>
                        <a:latin typeface="Times New Roman"/>
                        <a:ea typeface="Calibri"/>
                      </a:endParaRPr>
                    </a:p>
                    <a:p>
                      <a:pPr algn="just">
                        <a:spcBef>
                          <a:spcPts val="0"/>
                        </a:spcBef>
                        <a:spcAft>
                          <a:spcPts val="0"/>
                        </a:spcAft>
                      </a:pPr>
                      <a:r>
                        <a:rPr lang="en-US" sz="1700" smtClean="0">
                          <a:effectLst/>
                          <a:latin typeface="Courier New"/>
                          <a:ea typeface="Calibri"/>
                        </a:rPr>
                        <a:t>		break;</a:t>
                      </a:r>
                      <a:endParaRPr lang="en-GB" sz="1700" smtClean="0">
                        <a:effectLst/>
                        <a:latin typeface="Times New Roman"/>
                        <a:ea typeface="Calibri"/>
                      </a:endParaRPr>
                    </a:p>
                    <a:p>
                      <a:pPr algn="just">
                        <a:spcBef>
                          <a:spcPts val="0"/>
                        </a:spcBef>
                        <a:spcAft>
                          <a:spcPts val="0"/>
                        </a:spcAft>
                      </a:pPr>
                      <a:r>
                        <a:rPr lang="en-US" sz="1700" smtClean="0">
                          <a:effectLst/>
                          <a:latin typeface="Courier New"/>
                          <a:ea typeface="Calibri"/>
                        </a:rPr>
                        <a:t>	...</a:t>
                      </a:r>
                      <a:endParaRPr lang="en-GB" sz="1700" smtClean="0">
                        <a:effectLst/>
                        <a:latin typeface="Times New Roman"/>
                        <a:ea typeface="Calibri"/>
                      </a:endParaRPr>
                    </a:p>
                    <a:p>
                      <a:pPr indent="457200" algn="just">
                        <a:spcBef>
                          <a:spcPts val="0"/>
                        </a:spcBef>
                        <a:spcAft>
                          <a:spcPts val="0"/>
                        </a:spcAft>
                      </a:pPr>
                      <a:r>
                        <a:rPr lang="en-US" sz="1700" b="1" smtClean="0">
                          <a:solidFill>
                            <a:srgbClr val="FFFF00"/>
                          </a:solidFill>
                          <a:effectLst/>
                          <a:latin typeface="Courier New"/>
                          <a:ea typeface="Calibri"/>
                        </a:rPr>
                        <a:t>	</a:t>
                      </a:r>
                      <a:r>
                        <a:rPr lang="en-US" sz="1700" b="1" smtClean="0">
                          <a:solidFill>
                            <a:srgbClr val="FF0000"/>
                          </a:solidFill>
                          <a:effectLst/>
                          <a:latin typeface="Courier New"/>
                          <a:ea typeface="Calibri"/>
                        </a:rPr>
                        <a:t>case</a:t>
                      </a:r>
                      <a:r>
                        <a:rPr lang="en-US" sz="1700" smtClean="0">
                          <a:solidFill>
                            <a:srgbClr val="FF0000"/>
                          </a:solidFill>
                          <a:effectLst/>
                          <a:latin typeface="Courier New"/>
                          <a:ea typeface="Calibri"/>
                        </a:rPr>
                        <a:t> </a:t>
                      </a:r>
                      <a:r>
                        <a:rPr lang="en-US" sz="1700" smtClean="0">
                          <a:effectLst/>
                          <a:latin typeface="Courier New"/>
                          <a:ea typeface="Calibri"/>
                        </a:rPr>
                        <a:t>&lt;giá trị n&gt;:</a:t>
                      </a:r>
                      <a:endParaRPr lang="en-GB" sz="1700" smtClean="0">
                        <a:effectLst/>
                        <a:latin typeface="Times New Roman"/>
                        <a:ea typeface="Calibri"/>
                      </a:endParaRPr>
                    </a:p>
                    <a:p>
                      <a:pPr algn="just">
                        <a:spcBef>
                          <a:spcPts val="0"/>
                        </a:spcBef>
                        <a:spcAft>
                          <a:spcPts val="0"/>
                        </a:spcAft>
                      </a:pPr>
                      <a:r>
                        <a:rPr lang="en-US" sz="1700" smtClean="0">
                          <a:effectLst/>
                          <a:latin typeface="Courier New"/>
                          <a:ea typeface="Calibri"/>
                        </a:rPr>
                        <a:t>		&lt;lệnh/khối lệnh n&gt;;</a:t>
                      </a:r>
                      <a:endParaRPr lang="en-GB" sz="1700" smtClean="0">
                        <a:effectLst/>
                        <a:latin typeface="Times New Roman"/>
                        <a:ea typeface="Calibri"/>
                      </a:endParaRPr>
                    </a:p>
                    <a:p>
                      <a:pPr algn="just">
                        <a:spcBef>
                          <a:spcPts val="0"/>
                        </a:spcBef>
                        <a:spcAft>
                          <a:spcPts val="0"/>
                        </a:spcAft>
                      </a:pPr>
                      <a:r>
                        <a:rPr lang="en-US" sz="1700" smtClean="0">
                          <a:effectLst/>
                          <a:latin typeface="Courier New"/>
                          <a:ea typeface="Calibri"/>
                        </a:rPr>
                        <a:t>		break;</a:t>
                      </a:r>
                      <a:endParaRPr lang="en-GB" sz="1700" smtClean="0">
                        <a:effectLst/>
                        <a:latin typeface="Times New Roman"/>
                        <a:ea typeface="Calibri"/>
                      </a:endParaRPr>
                    </a:p>
                    <a:p>
                      <a:pPr algn="just">
                        <a:spcBef>
                          <a:spcPts val="0"/>
                        </a:spcBef>
                        <a:spcAft>
                          <a:spcPts val="0"/>
                        </a:spcAft>
                      </a:pPr>
                      <a:r>
                        <a:rPr lang="en-US" sz="1700" smtClean="0">
                          <a:effectLst/>
                          <a:latin typeface="Courier New"/>
                          <a:ea typeface="Calibri"/>
                        </a:rPr>
                        <a:t>	</a:t>
                      </a:r>
                      <a:r>
                        <a:rPr lang="en-US" sz="1700" b="1" smtClean="0">
                          <a:solidFill>
                            <a:srgbClr val="FF0000"/>
                          </a:solidFill>
                          <a:effectLst/>
                          <a:latin typeface="Courier New"/>
                          <a:ea typeface="Calibri"/>
                        </a:rPr>
                        <a:t>default</a:t>
                      </a:r>
                      <a:r>
                        <a:rPr lang="en-US" sz="1700" smtClean="0">
                          <a:solidFill>
                            <a:srgbClr val="FF0000"/>
                          </a:solidFill>
                          <a:effectLst/>
                          <a:latin typeface="Courier New"/>
                          <a:ea typeface="Calibri"/>
                        </a:rPr>
                        <a:t>:</a:t>
                      </a:r>
                      <a:endParaRPr lang="en-GB" sz="1700" smtClean="0">
                        <a:solidFill>
                          <a:srgbClr val="FF0000"/>
                        </a:solidFill>
                        <a:effectLst/>
                        <a:latin typeface="Times New Roman"/>
                        <a:ea typeface="Calibri"/>
                      </a:endParaRPr>
                    </a:p>
                    <a:p>
                      <a:pPr algn="just">
                        <a:spcBef>
                          <a:spcPts val="0"/>
                        </a:spcBef>
                        <a:spcAft>
                          <a:spcPts val="0"/>
                        </a:spcAft>
                      </a:pPr>
                      <a:r>
                        <a:rPr lang="en-US" sz="1700" smtClean="0">
                          <a:effectLst/>
                          <a:latin typeface="Courier New"/>
                          <a:ea typeface="Calibri"/>
                        </a:rPr>
                        <a:t>		&lt;lệnh/khối lệnh default&gt;;</a:t>
                      </a:r>
                      <a:endParaRPr lang="en-GB" sz="1700" smtClean="0">
                        <a:effectLst/>
                        <a:latin typeface="Times New Roman"/>
                        <a:ea typeface="Calibri"/>
                      </a:endParaRPr>
                    </a:p>
                    <a:p>
                      <a:pPr>
                        <a:spcBef>
                          <a:spcPts val="0"/>
                        </a:spcBef>
                        <a:spcAft>
                          <a:spcPts val="0"/>
                        </a:spcAft>
                      </a:pPr>
                      <a:r>
                        <a:rPr lang="en-US" sz="1700" smtClean="0">
                          <a:effectLst/>
                          <a:latin typeface="Courier New"/>
                          <a:ea typeface="Calibri"/>
                        </a:rPr>
                        <a:t>}</a:t>
                      </a:r>
                      <a:endParaRPr lang="en-GB" sz="1700"/>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250340293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3.1.4. Lệnh switch … case</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60</a:t>
            </a:fld>
            <a:endParaRPr lang="en-US"/>
          </a:p>
        </p:txBody>
      </p:sp>
      <p:sp>
        <p:nvSpPr>
          <p:cNvPr id="8" name="Content Placeholder 2"/>
          <p:cNvSpPr txBox="1">
            <a:spLocks/>
          </p:cNvSpPr>
          <p:nvPr/>
        </p:nvSpPr>
        <p:spPr>
          <a:xfrm>
            <a:off x="1514871" y="1833999"/>
            <a:ext cx="6086475" cy="4214813"/>
          </a:xfrm>
          <a:prstGeom prst="rect">
            <a:avLst/>
          </a:prstGeom>
          <a:extLst/>
        </p:spPr>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marL="0" indent="0">
              <a:buNone/>
              <a:defRPr/>
            </a:pPr>
            <a:r>
              <a:rPr lang="en-US" sz="1200">
                <a:solidFill>
                  <a:srgbClr val="7F0055"/>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7F0055"/>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a:solidFill>
                  <a:srgbClr val="7F0055"/>
                </a:solidFill>
                <a:latin typeface="Consolas" panose="020B0609020204030204" pitchFamily="49" charset="0"/>
              </a:rPr>
              <a:t>void</a:t>
            </a:r>
            <a:r>
              <a:rPr lang="en-US" sz="1200">
                <a:solidFill>
                  <a:srgbClr val="000000"/>
                </a:solidFill>
                <a:latin typeface="Consolas" panose="020B0609020204030204" pitchFamily="49" charset="0"/>
              </a:rPr>
              <a:t> main (String[] </a:t>
            </a:r>
            <a:r>
              <a:rPr lang="en-US" sz="1200">
                <a:solidFill>
                  <a:srgbClr val="6A3E3E"/>
                </a:solidFill>
                <a:latin typeface="Consolas" panose="020B0609020204030204" pitchFamily="49" charset="0"/>
              </a:rPr>
              <a:t>args</a:t>
            </a:r>
            <a:r>
              <a:rPr lang="en-US" sz="1200">
                <a:solidFill>
                  <a:srgbClr val="000000"/>
                </a:solidFill>
                <a:latin typeface="Consolas" panose="020B0609020204030204" pitchFamily="49" charset="0"/>
              </a:rPr>
              <a:t>) {</a:t>
            </a:r>
          </a:p>
          <a:p>
            <a:pPr marL="0" indent="0">
              <a:buNone/>
              <a:defRPr/>
            </a:pPr>
            <a:r>
              <a:rPr lang="en-US" sz="1200">
                <a:solidFill>
                  <a:srgbClr val="7F0055"/>
                </a:solidFill>
                <a:latin typeface="Consolas" panose="020B0609020204030204" pitchFamily="49" charset="0"/>
              </a:rPr>
              <a:t> </a:t>
            </a:r>
            <a:r>
              <a:rPr lang="en-US" sz="1200">
                <a:solidFill>
                  <a:srgbClr val="7F0055"/>
                </a:solidFill>
                <a:latin typeface="Consolas" panose="020B0609020204030204" pitchFamily="49" charset="0"/>
              </a:rPr>
              <a:t>   int</a:t>
            </a:r>
            <a:r>
              <a:rPr lang="en-US" sz="1200">
                <a:solidFill>
                  <a:srgbClr val="000000"/>
                </a:solidFill>
                <a:latin typeface="Consolas" panose="020B0609020204030204" pitchFamily="49" charset="0"/>
              </a:rPr>
              <a:t> </a:t>
            </a:r>
            <a:r>
              <a:rPr lang="en-US" sz="1200">
                <a:solidFill>
                  <a:srgbClr val="6A3E3E"/>
                </a:solidFill>
                <a:latin typeface="Consolas" panose="020B0609020204030204" pitchFamily="49" charset="0"/>
              </a:rPr>
              <a:t>thang</a:t>
            </a:r>
            <a:r>
              <a:rPr lang="en-US" sz="1200">
                <a:solidFill>
                  <a:srgbClr val="000000"/>
                </a:solidFill>
                <a:latin typeface="Consolas" panose="020B0609020204030204" pitchFamily="49" charset="0"/>
              </a:rPr>
              <a:t> = 11;</a:t>
            </a:r>
          </a:p>
          <a:p>
            <a:pPr marL="0" indent="0">
              <a:buNone/>
              <a:defRPr/>
            </a:pPr>
            <a:r>
              <a:rPr lang="en-US" sz="1200">
                <a:solidFill>
                  <a:srgbClr val="7F0055"/>
                </a:solidFill>
                <a:highlight>
                  <a:srgbClr val="D4D4D4"/>
                </a:highlight>
                <a:latin typeface="Consolas" panose="020B0609020204030204" pitchFamily="49" charset="0"/>
              </a:rPr>
              <a:t> </a:t>
            </a:r>
            <a:r>
              <a:rPr lang="en-US" sz="1200">
                <a:solidFill>
                  <a:srgbClr val="7F0055"/>
                </a:solidFill>
                <a:highlight>
                  <a:srgbClr val="D4D4D4"/>
                </a:highlight>
                <a:latin typeface="Consolas" panose="020B0609020204030204" pitchFamily="49" charset="0"/>
              </a:rPr>
              <a:t>   switch</a:t>
            </a:r>
            <a:r>
              <a:rPr lang="en-US" sz="1200">
                <a:solidFill>
                  <a:srgbClr val="000000"/>
                </a:solidFill>
                <a:highlight>
                  <a:srgbClr val="D4D4D4"/>
                </a:highlight>
                <a:latin typeface="Consolas" panose="020B0609020204030204" pitchFamily="49" charset="0"/>
              </a:rPr>
              <a:t>(</a:t>
            </a:r>
            <a:r>
              <a:rPr lang="en-US" sz="1200">
                <a:solidFill>
                  <a:srgbClr val="6A3E3E"/>
                </a:solidFill>
                <a:highlight>
                  <a:srgbClr val="D4D4D4"/>
                </a:highlight>
                <a:latin typeface="Consolas" panose="020B0609020204030204" pitchFamily="49" charset="0"/>
              </a:rPr>
              <a:t>thang</a:t>
            </a:r>
            <a:r>
              <a:rPr lang="en-US" sz="1200">
                <a:solidFill>
                  <a:srgbClr val="000000"/>
                </a:solidFill>
                <a:highlight>
                  <a:srgbClr val="D4D4D4"/>
                </a:highlight>
                <a:latin typeface="Consolas" panose="020B0609020204030204" pitchFamily="49" charset="0"/>
              </a:rPr>
              <a:t>) {</a:t>
            </a:r>
          </a:p>
          <a:p>
            <a:pPr marL="0" indent="0">
              <a:buNone/>
              <a:defRPr/>
            </a:pPr>
            <a:r>
              <a:rPr lang="en-US" sz="1200">
                <a:solidFill>
                  <a:srgbClr val="7F0055"/>
                </a:solidFill>
                <a:latin typeface="Consolas" panose="020B0609020204030204" pitchFamily="49" charset="0"/>
              </a:rPr>
              <a:t>	case</a:t>
            </a:r>
            <a:r>
              <a:rPr lang="en-US" sz="1200">
                <a:solidFill>
                  <a:srgbClr val="000000"/>
                </a:solidFill>
                <a:latin typeface="Consolas" panose="020B0609020204030204" pitchFamily="49" charset="0"/>
              </a:rPr>
              <a:t> 1: System.</a:t>
            </a:r>
            <a:r>
              <a:rPr lang="en-US" sz="1200" i="1">
                <a:solidFill>
                  <a:srgbClr val="0000C0"/>
                </a:solidFill>
                <a:latin typeface="Consolas" panose="020B0609020204030204" pitchFamily="49" charset="0"/>
              </a:rPr>
              <a:t>out</a:t>
            </a:r>
            <a:r>
              <a:rPr lang="en-US" sz="1200" i="1">
                <a:solidFill>
                  <a:srgbClr val="000000"/>
                </a:solidFill>
                <a:latin typeface="Consolas" panose="020B0609020204030204" pitchFamily="49" charset="0"/>
              </a:rPr>
              <a:t>.println(</a:t>
            </a:r>
            <a:r>
              <a:rPr lang="en-US" sz="1200" i="1">
                <a:solidFill>
                  <a:srgbClr val="2A00FF"/>
                </a:solidFill>
                <a:latin typeface="Consolas" panose="020B0609020204030204" pitchFamily="49" charset="0"/>
              </a:rPr>
              <a:t>"Tháng 1"</a:t>
            </a:r>
            <a:r>
              <a:rPr lang="en-US" sz="1200" i="1">
                <a:solidFill>
                  <a:srgbClr val="000000"/>
                </a:solidFill>
                <a:latin typeface="Consolas" panose="020B0609020204030204" pitchFamily="49" charset="0"/>
              </a:rPr>
              <a:t>); </a:t>
            </a:r>
            <a:r>
              <a:rPr lang="en-US" sz="1200" i="1">
                <a:solidFill>
                  <a:srgbClr val="7F0055"/>
                </a:solidFill>
                <a:latin typeface="Consolas" panose="020B0609020204030204" pitchFamily="49" charset="0"/>
              </a:rPr>
              <a:t>break</a:t>
            </a:r>
            <a:r>
              <a:rPr lang="en-US" sz="1200" i="1">
                <a:solidFill>
                  <a:srgbClr val="000000"/>
                </a:solidFill>
                <a:latin typeface="Consolas" panose="020B0609020204030204" pitchFamily="49" charset="0"/>
              </a:rPr>
              <a:t>;</a:t>
            </a:r>
          </a:p>
          <a:p>
            <a:pPr marL="0" indent="0">
              <a:buNone/>
              <a:defRPr/>
            </a:pPr>
            <a:r>
              <a:rPr lang="en-US" sz="1200">
                <a:solidFill>
                  <a:srgbClr val="7F0055"/>
                </a:solidFill>
                <a:latin typeface="Consolas" panose="020B0609020204030204" pitchFamily="49" charset="0"/>
              </a:rPr>
              <a:t>	case</a:t>
            </a:r>
            <a:r>
              <a:rPr lang="en-US" sz="1200">
                <a:solidFill>
                  <a:srgbClr val="000000"/>
                </a:solidFill>
                <a:latin typeface="Consolas" panose="020B0609020204030204" pitchFamily="49" charset="0"/>
              </a:rPr>
              <a:t> 2: System.</a:t>
            </a:r>
            <a:r>
              <a:rPr lang="en-US" sz="1200" i="1">
                <a:solidFill>
                  <a:srgbClr val="0000C0"/>
                </a:solidFill>
                <a:latin typeface="Consolas" panose="020B0609020204030204" pitchFamily="49" charset="0"/>
              </a:rPr>
              <a:t>out</a:t>
            </a:r>
            <a:r>
              <a:rPr lang="en-US" sz="1200" i="1">
                <a:solidFill>
                  <a:srgbClr val="000000"/>
                </a:solidFill>
                <a:latin typeface="Consolas" panose="020B0609020204030204" pitchFamily="49" charset="0"/>
              </a:rPr>
              <a:t>.println(</a:t>
            </a:r>
            <a:r>
              <a:rPr lang="en-US" sz="1200" i="1">
                <a:solidFill>
                  <a:srgbClr val="2A00FF"/>
                </a:solidFill>
                <a:latin typeface="Consolas" panose="020B0609020204030204" pitchFamily="49" charset="0"/>
              </a:rPr>
              <a:t>"Tháng 2"</a:t>
            </a:r>
            <a:r>
              <a:rPr lang="en-US" sz="1200" i="1">
                <a:solidFill>
                  <a:srgbClr val="000000"/>
                </a:solidFill>
                <a:latin typeface="Consolas" panose="020B0609020204030204" pitchFamily="49" charset="0"/>
              </a:rPr>
              <a:t>); </a:t>
            </a:r>
            <a:r>
              <a:rPr lang="en-US" sz="1200" i="1">
                <a:solidFill>
                  <a:srgbClr val="7F0055"/>
                </a:solidFill>
                <a:latin typeface="Consolas" panose="020B0609020204030204" pitchFamily="49" charset="0"/>
              </a:rPr>
              <a:t>break</a:t>
            </a:r>
            <a:r>
              <a:rPr lang="en-US" sz="1200" i="1">
                <a:solidFill>
                  <a:srgbClr val="000000"/>
                </a:solidFill>
                <a:latin typeface="Consolas" panose="020B0609020204030204" pitchFamily="49" charset="0"/>
              </a:rPr>
              <a:t>;</a:t>
            </a:r>
          </a:p>
          <a:p>
            <a:pPr marL="0" indent="0">
              <a:buNone/>
              <a:defRPr/>
            </a:pPr>
            <a:r>
              <a:rPr lang="en-US" sz="1200">
                <a:solidFill>
                  <a:srgbClr val="7F0055"/>
                </a:solidFill>
                <a:latin typeface="Consolas" panose="020B0609020204030204" pitchFamily="49" charset="0"/>
              </a:rPr>
              <a:t>	case</a:t>
            </a:r>
            <a:r>
              <a:rPr lang="en-US" sz="1200">
                <a:solidFill>
                  <a:srgbClr val="000000"/>
                </a:solidFill>
                <a:latin typeface="Consolas" panose="020B0609020204030204" pitchFamily="49" charset="0"/>
              </a:rPr>
              <a:t> 3: System.</a:t>
            </a:r>
            <a:r>
              <a:rPr lang="en-US" sz="1200" i="1">
                <a:solidFill>
                  <a:srgbClr val="0000C0"/>
                </a:solidFill>
                <a:latin typeface="Consolas" panose="020B0609020204030204" pitchFamily="49" charset="0"/>
              </a:rPr>
              <a:t>out</a:t>
            </a:r>
            <a:r>
              <a:rPr lang="en-US" sz="1200" i="1">
                <a:solidFill>
                  <a:srgbClr val="000000"/>
                </a:solidFill>
                <a:latin typeface="Consolas" panose="020B0609020204030204" pitchFamily="49" charset="0"/>
              </a:rPr>
              <a:t>.println(</a:t>
            </a:r>
            <a:r>
              <a:rPr lang="en-US" sz="1200" i="1">
                <a:solidFill>
                  <a:srgbClr val="2A00FF"/>
                </a:solidFill>
                <a:latin typeface="Consolas" panose="020B0609020204030204" pitchFamily="49" charset="0"/>
              </a:rPr>
              <a:t>"Tháng 3"</a:t>
            </a:r>
            <a:r>
              <a:rPr lang="en-US" sz="1200" i="1">
                <a:solidFill>
                  <a:srgbClr val="000000"/>
                </a:solidFill>
                <a:latin typeface="Consolas" panose="020B0609020204030204" pitchFamily="49" charset="0"/>
              </a:rPr>
              <a:t>); </a:t>
            </a:r>
            <a:r>
              <a:rPr lang="en-US" sz="1200" i="1">
                <a:solidFill>
                  <a:srgbClr val="7F0055"/>
                </a:solidFill>
                <a:latin typeface="Consolas" panose="020B0609020204030204" pitchFamily="49" charset="0"/>
              </a:rPr>
              <a:t>break</a:t>
            </a:r>
            <a:r>
              <a:rPr lang="en-US" sz="1200" i="1">
                <a:solidFill>
                  <a:srgbClr val="000000"/>
                </a:solidFill>
                <a:latin typeface="Consolas" panose="020B0609020204030204" pitchFamily="49" charset="0"/>
              </a:rPr>
              <a:t>;</a:t>
            </a:r>
          </a:p>
          <a:p>
            <a:pPr marL="0" indent="0">
              <a:buNone/>
              <a:defRPr/>
            </a:pPr>
            <a:r>
              <a:rPr lang="en-US" sz="1200">
                <a:solidFill>
                  <a:srgbClr val="7F0055"/>
                </a:solidFill>
                <a:latin typeface="Consolas" panose="020B0609020204030204" pitchFamily="49" charset="0"/>
              </a:rPr>
              <a:t>	case</a:t>
            </a:r>
            <a:r>
              <a:rPr lang="en-US" sz="1200">
                <a:solidFill>
                  <a:srgbClr val="000000"/>
                </a:solidFill>
                <a:latin typeface="Consolas" panose="020B0609020204030204" pitchFamily="49" charset="0"/>
              </a:rPr>
              <a:t> 4: System.</a:t>
            </a:r>
            <a:r>
              <a:rPr lang="en-US" sz="1200" i="1">
                <a:solidFill>
                  <a:srgbClr val="0000C0"/>
                </a:solidFill>
                <a:latin typeface="Consolas" panose="020B0609020204030204" pitchFamily="49" charset="0"/>
              </a:rPr>
              <a:t>out</a:t>
            </a:r>
            <a:r>
              <a:rPr lang="en-US" sz="1200" i="1">
                <a:solidFill>
                  <a:srgbClr val="000000"/>
                </a:solidFill>
                <a:latin typeface="Consolas" panose="020B0609020204030204" pitchFamily="49" charset="0"/>
              </a:rPr>
              <a:t>.println(</a:t>
            </a:r>
            <a:r>
              <a:rPr lang="en-US" sz="1200" i="1">
                <a:solidFill>
                  <a:srgbClr val="2A00FF"/>
                </a:solidFill>
                <a:latin typeface="Consolas" panose="020B0609020204030204" pitchFamily="49" charset="0"/>
              </a:rPr>
              <a:t>"Tháng 4"</a:t>
            </a:r>
            <a:r>
              <a:rPr lang="en-US" sz="1200" i="1">
                <a:solidFill>
                  <a:srgbClr val="000000"/>
                </a:solidFill>
                <a:latin typeface="Consolas" panose="020B0609020204030204" pitchFamily="49" charset="0"/>
              </a:rPr>
              <a:t>); </a:t>
            </a:r>
            <a:r>
              <a:rPr lang="en-US" sz="1200" i="1">
                <a:solidFill>
                  <a:srgbClr val="7F0055"/>
                </a:solidFill>
                <a:latin typeface="Consolas" panose="020B0609020204030204" pitchFamily="49" charset="0"/>
              </a:rPr>
              <a:t>break</a:t>
            </a:r>
            <a:r>
              <a:rPr lang="en-US" sz="1200" i="1">
                <a:solidFill>
                  <a:srgbClr val="000000"/>
                </a:solidFill>
                <a:latin typeface="Consolas" panose="020B0609020204030204" pitchFamily="49" charset="0"/>
              </a:rPr>
              <a:t>;</a:t>
            </a:r>
          </a:p>
          <a:p>
            <a:pPr marL="0" indent="0">
              <a:buNone/>
              <a:defRPr/>
            </a:pPr>
            <a:r>
              <a:rPr lang="en-US" sz="1200">
                <a:solidFill>
                  <a:srgbClr val="7F0055"/>
                </a:solidFill>
                <a:latin typeface="Consolas" panose="020B0609020204030204" pitchFamily="49" charset="0"/>
              </a:rPr>
              <a:t>	case</a:t>
            </a:r>
            <a:r>
              <a:rPr lang="en-US" sz="1200">
                <a:solidFill>
                  <a:srgbClr val="000000"/>
                </a:solidFill>
                <a:latin typeface="Consolas" panose="020B0609020204030204" pitchFamily="49" charset="0"/>
              </a:rPr>
              <a:t> 5: System.</a:t>
            </a:r>
            <a:r>
              <a:rPr lang="en-US" sz="1200" i="1">
                <a:solidFill>
                  <a:srgbClr val="0000C0"/>
                </a:solidFill>
                <a:latin typeface="Consolas" panose="020B0609020204030204" pitchFamily="49" charset="0"/>
              </a:rPr>
              <a:t>out</a:t>
            </a:r>
            <a:r>
              <a:rPr lang="en-US" sz="1200" i="1">
                <a:solidFill>
                  <a:srgbClr val="000000"/>
                </a:solidFill>
                <a:latin typeface="Consolas" panose="020B0609020204030204" pitchFamily="49" charset="0"/>
              </a:rPr>
              <a:t>.println(</a:t>
            </a:r>
            <a:r>
              <a:rPr lang="en-US" sz="1200" i="1">
                <a:solidFill>
                  <a:srgbClr val="2A00FF"/>
                </a:solidFill>
                <a:latin typeface="Consolas" panose="020B0609020204030204" pitchFamily="49" charset="0"/>
              </a:rPr>
              <a:t>"Tháng 5"</a:t>
            </a:r>
            <a:r>
              <a:rPr lang="en-US" sz="1200" i="1">
                <a:solidFill>
                  <a:srgbClr val="000000"/>
                </a:solidFill>
                <a:latin typeface="Consolas" panose="020B0609020204030204" pitchFamily="49" charset="0"/>
              </a:rPr>
              <a:t>); </a:t>
            </a:r>
            <a:r>
              <a:rPr lang="en-US" sz="1200" i="1">
                <a:solidFill>
                  <a:srgbClr val="7F0055"/>
                </a:solidFill>
                <a:latin typeface="Consolas" panose="020B0609020204030204" pitchFamily="49" charset="0"/>
              </a:rPr>
              <a:t>break</a:t>
            </a:r>
            <a:r>
              <a:rPr lang="en-US" sz="1200" i="1">
                <a:solidFill>
                  <a:srgbClr val="000000"/>
                </a:solidFill>
                <a:latin typeface="Consolas" panose="020B0609020204030204" pitchFamily="49" charset="0"/>
              </a:rPr>
              <a:t>;</a:t>
            </a:r>
          </a:p>
          <a:p>
            <a:pPr marL="0" indent="0">
              <a:buNone/>
              <a:defRPr/>
            </a:pPr>
            <a:r>
              <a:rPr lang="en-US" sz="1200">
                <a:solidFill>
                  <a:srgbClr val="7F0055"/>
                </a:solidFill>
                <a:latin typeface="Consolas" panose="020B0609020204030204" pitchFamily="49" charset="0"/>
              </a:rPr>
              <a:t>	case</a:t>
            </a:r>
            <a:r>
              <a:rPr lang="en-US" sz="1200">
                <a:solidFill>
                  <a:srgbClr val="000000"/>
                </a:solidFill>
                <a:latin typeface="Consolas" panose="020B0609020204030204" pitchFamily="49" charset="0"/>
              </a:rPr>
              <a:t> 6: System.</a:t>
            </a:r>
            <a:r>
              <a:rPr lang="en-US" sz="1200" i="1">
                <a:solidFill>
                  <a:srgbClr val="0000C0"/>
                </a:solidFill>
                <a:latin typeface="Consolas" panose="020B0609020204030204" pitchFamily="49" charset="0"/>
              </a:rPr>
              <a:t>out</a:t>
            </a:r>
            <a:r>
              <a:rPr lang="en-US" sz="1200" i="1">
                <a:solidFill>
                  <a:srgbClr val="000000"/>
                </a:solidFill>
                <a:latin typeface="Consolas" panose="020B0609020204030204" pitchFamily="49" charset="0"/>
              </a:rPr>
              <a:t>.println(</a:t>
            </a:r>
            <a:r>
              <a:rPr lang="en-US" sz="1200" i="1">
                <a:solidFill>
                  <a:srgbClr val="2A00FF"/>
                </a:solidFill>
                <a:latin typeface="Consolas" panose="020B0609020204030204" pitchFamily="49" charset="0"/>
              </a:rPr>
              <a:t>"Tháng 6"</a:t>
            </a:r>
            <a:r>
              <a:rPr lang="en-US" sz="1200" i="1">
                <a:solidFill>
                  <a:srgbClr val="000000"/>
                </a:solidFill>
                <a:latin typeface="Consolas" panose="020B0609020204030204" pitchFamily="49" charset="0"/>
              </a:rPr>
              <a:t>); </a:t>
            </a:r>
            <a:r>
              <a:rPr lang="en-US" sz="1200" i="1">
                <a:solidFill>
                  <a:srgbClr val="7F0055"/>
                </a:solidFill>
                <a:latin typeface="Consolas" panose="020B0609020204030204" pitchFamily="49" charset="0"/>
              </a:rPr>
              <a:t>break</a:t>
            </a:r>
            <a:r>
              <a:rPr lang="en-US" sz="1200" i="1">
                <a:solidFill>
                  <a:srgbClr val="000000"/>
                </a:solidFill>
                <a:latin typeface="Consolas" panose="020B0609020204030204" pitchFamily="49" charset="0"/>
              </a:rPr>
              <a:t>;</a:t>
            </a:r>
          </a:p>
          <a:p>
            <a:pPr marL="0" indent="0">
              <a:buNone/>
              <a:defRPr/>
            </a:pPr>
            <a:r>
              <a:rPr lang="en-US" sz="1200">
                <a:solidFill>
                  <a:srgbClr val="7F0055"/>
                </a:solidFill>
                <a:latin typeface="Consolas" panose="020B0609020204030204" pitchFamily="49" charset="0"/>
              </a:rPr>
              <a:t>	case</a:t>
            </a:r>
            <a:r>
              <a:rPr lang="en-US" sz="1200">
                <a:solidFill>
                  <a:srgbClr val="000000"/>
                </a:solidFill>
                <a:latin typeface="Consolas" panose="020B0609020204030204" pitchFamily="49" charset="0"/>
              </a:rPr>
              <a:t> 7: System.</a:t>
            </a:r>
            <a:r>
              <a:rPr lang="en-US" sz="1200" i="1">
                <a:solidFill>
                  <a:srgbClr val="0000C0"/>
                </a:solidFill>
                <a:latin typeface="Consolas" panose="020B0609020204030204" pitchFamily="49" charset="0"/>
              </a:rPr>
              <a:t>out</a:t>
            </a:r>
            <a:r>
              <a:rPr lang="en-US" sz="1200" i="1">
                <a:solidFill>
                  <a:srgbClr val="000000"/>
                </a:solidFill>
                <a:latin typeface="Consolas" panose="020B0609020204030204" pitchFamily="49" charset="0"/>
              </a:rPr>
              <a:t>.println(</a:t>
            </a:r>
            <a:r>
              <a:rPr lang="en-US" sz="1200" i="1">
                <a:solidFill>
                  <a:srgbClr val="2A00FF"/>
                </a:solidFill>
                <a:latin typeface="Consolas" panose="020B0609020204030204" pitchFamily="49" charset="0"/>
              </a:rPr>
              <a:t>"Tháng 7"</a:t>
            </a:r>
            <a:r>
              <a:rPr lang="en-US" sz="1200" i="1">
                <a:solidFill>
                  <a:srgbClr val="000000"/>
                </a:solidFill>
                <a:latin typeface="Consolas" panose="020B0609020204030204" pitchFamily="49" charset="0"/>
              </a:rPr>
              <a:t>); </a:t>
            </a:r>
            <a:r>
              <a:rPr lang="en-US" sz="1200" i="1">
                <a:solidFill>
                  <a:srgbClr val="7F0055"/>
                </a:solidFill>
                <a:latin typeface="Consolas" panose="020B0609020204030204" pitchFamily="49" charset="0"/>
              </a:rPr>
              <a:t>break</a:t>
            </a:r>
            <a:r>
              <a:rPr lang="en-US" sz="1200" i="1">
                <a:solidFill>
                  <a:srgbClr val="000000"/>
                </a:solidFill>
                <a:latin typeface="Consolas" panose="020B0609020204030204" pitchFamily="49" charset="0"/>
              </a:rPr>
              <a:t>;</a:t>
            </a:r>
          </a:p>
          <a:p>
            <a:pPr marL="0" indent="0">
              <a:buNone/>
              <a:defRPr/>
            </a:pPr>
            <a:r>
              <a:rPr lang="en-US" sz="1200">
                <a:solidFill>
                  <a:srgbClr val="7F0055"/>
                </a:solidFill>
                <a:latin typeface="Consolas" panose="020B0609020204030204" pitchFamily="49" charset="0"/>
              </a:rPr>
              <a:t>	case</a:t>
            </a:r>
            <a:r>
              <a:rPr lang="en-US" sz="1200">
                <a:solidFill>
                  <a:srgbClr val="000000"/>
                </a:solidFill>
                <a:latin typeface="Consolas" panose="020B0609020204030204" pitchFamily="49" charset="0"/>
              </a:rPr>
              <a:t> 8: System.</a:t>
            </a:r>
            <a:r>
              <a:rPr lang="en-US" sz="1200" i="1">
                <a:solidFill>
                  <a:srgbClr val="0000C0"/>
                </a:solidFill>
                <a:latin typeface="Consolas" panose="020B0609020204030204" pitchFamily="49" charset="0"/>
              </a:rPr>
              <a:t>out</a:t>
            </a:r>
            <a:r>
              <a:rPr lang="en-US" sz="1200" i="1">
                <a:solidFill>
                  <a:srgbClr val="000000"/>
                </a:solidFill>
                <a:latin typeface="Consolas" panose="020B0609020204030204" pitchFamily="49" charset="0"/>
              </a:rPr>
              <a:t>.println(</a:t>
            </a:r>
            <a:r>
              <a:rPr lang="en-US" sz="1200" i="1">
                <a:solidFill>
                  <a:srgbClr val="2A00FF"/>
                </a:solidFill>
                <a:latin typeface="Consolas" panose="020B0609020204030204" pitchFamily="49" charset="0"/>
              </a:rPr>
              <a:t>"Tháng 8"</a:t>
            </a:r>
            <a:r>
              <a:rPr lang="en-US" sz="1200" i="1">
                <a:solidFill>
                  <a:srgbClr val="000000"/>
                </a:solidFill>
                <a:latin typeface="Consolas" panose="020B0609020204030204" pitchFamily="49" charset="0"/>
              </a:rPr>
              <a:t>); </a:t>
            </a:r>
            <a:r>
              <a:rPr lang="en-US" sz="1200" i="1">
                <a:solidFill>
                  <a:srgbClr val="7F0055"/>
                </a:solidFill>
                <a:latin typeface="Consolas" panose="020B0609020204030204" pitchFamily="49" charset="0"/>
              </a:rPr>
              <a:t>break</a:t>
            </a:r>
            <a:r>
              <a:rPr lang="en-US" sz="1200" i="1">
                <a:solidFill>
                  <a:srgbClr val="000000"/>
                </a:solidFill>
                <a:latin typeface="Consolas" panose="020B0609020204030204" pitchFamily="49" charset="0"/>
              </a:rPr>
              <a:t>;</a:t>
            </a:r>
          </a:p>
          <a:p>
            <a:pPr marL="0" indent="0">
              <a:buNone/>
              <a:defRPr/>
            </a:pPr>
            <a:r>
              <a:rPr lang="en-US" sz="1200">
                <a:solidFill>
                  <a:srgbClr val="7F0055"/>
                </a:solidFill>
                <a:latin typeface="Consolas" panose="020B0609020204030204" pitchFamily="49" charset="0"/>
              </a:rPr>
              <a:t>	case</a:t>
            </a:r>
            <a:r>
              <a:rPr lang="en-US" sz="1200">
                <a:solidFill>
                  <a:srgbClr val="000000"/>
                </a:solidFill>
                <a:latin typeface="Consolas" panose="020B0609020204030204" pitchFamily="49" charset="0"/>
              </a:rPr>
              <a:t> 9: System.</a:t>
            </a:r>
            <a:r>
              <a:rPr lang="en-US" sz="1200" i="1">
                <a:solidFill>
                  <a:srgbClr val="0000C0"/>
                </a:solidFill>
                <a:latin typeface="Consolas" panose="020B0609020204030204" pitchFamily="49" charset="0"/>
              </a:rPr>
              <a:t>out</a:t>
            </a:r>
            <a:r>
              <a:rPr lang="en-US" sz="1200" i="1">
                <a:solidFill>
                  <a:srgbClr val="000000"/>
                </a:solidFill>
                <a:latin typeface="Consolas" panose="020B0609020204030204" pitchFamily="49" charset="0"/>
              </a:rPr>
              <a:t>.println(</a:t>
            </a:r>
            <a:r>
              <a:rPr lang="en-US" sz="1200" i="1">
                <a:solidFill>
                  <a:srgbClr val="2A00FF"/>
                </a:solidFill>
                <a:latin typeface="Consolas" panose="020B0609020204030204" pitchFamily="49" charset="0"/>
              </a:rPr>
              <a:t>"Tháng 9"</a:t>
            </a:r>
            <a:r>
              <a:rPr lang="en-US" sz="1200" i="1">
                <a:solidFill>
                  <a:srgbClr val="000000"/>
                </a:solidFill>
                <a:latin typeface="Consolas" panose="020B0609020204030204" pitchFamily="49" charset="0"/>
              </a:rPr>
              <a:t>); </a:t>
            </a:r>
            <a:r>
              <a:rPr lang="en-US" sz="1200" i="1">
                <a:solidFill>
                  <a:srgbClr val="7F0055"/>
                </a:solidFill>
                <a:latin typeface="Consolas" panose="020B0609020204030204" pitchFamily="49" charset="0"/>
              </a:rPr>
              <a:t>break</a:t>
            </a:r>
            <a:r>
              <a:rPr lang="en-US" sz="1200" i="1">
                <a:solidFill>
                  <a:srgbClr val="000000"/>
                </a:solidFill>
                <a:latin typeface="Consolas" panose="020B0609020204030204" pitchFamily="49" charset="0"/>
              </a:rPr>
              <a:t>;</a:t>
            </a:r>
          </a:p>
          <a:p>
            <a:pPr marL="0" indent="0">
              <a:buNone/>
              <a:defRPr/>
            </a:pPr>
            <a:r>
              <a:rPr lang="en-US" sz="1200">
                <a:solidFill>
                  <a:srgbClr val="7F0055"/>
                </a:solidFill>
                <a:latin typeface="Consolas" panose="020B0609020204030204" pitchFamily="49" charset="0"/>
              </a:rPr>
              <a:t>	case</a:t>
            </a:r>
            <a:r>
              <a:rPr lang="en-US" sz="1200">
                <a:solidFill>
                  <a:srgbClr val="000000"/>
                </a:solidFill>
                <a:latin typeface="Consolas" panose="020B0609020204030204" pitchFamily="49" charset="0"/>
              </a:rPr>
              <a:t> 10: System.</a:t>
            </a:r>
            <a:r>
              <a:rPr lang="en-US" sz="1200" i="1">
                <a:solidFill>
                  <a:srgbClr val="0000C0"/>
                </a:solidFill>
                <a:latin typeface="Consolas" panose="020B0609020204030204" pitchFamily="49" charset="0"/>
              </a:rPr>
              <a:t>out</a:t>
            </a:r>
            <a:r>
              <a:rPr lang="en-US" sz="1200" i="1">
                <a:solidFill>
                  <a:srgbClr val="000000"/>
                </a:solidFill>
                <a:latin typeface="Consolas" panose="020B0609020204030204" pitchFamily="49" charset="0"/>
              </a:rPr>
              <a:t>.println(</a:t>
            </a:r>
            <a:r>
              <a:rPr lang="en-US" sz="1200" i="1">
                <a:solidFill>
                  <a:srgbClr val="2A00FF"/>
                </a:solidFill>
                <a:latin typeface="Consolas" panose="020B0609020204030204" pitchFamily="49" charset="0"/>
              </a:rPr>
              <a:t>"Tháng 10"</a:t>
            </a:r>
            <a:r>
              <a:rPr lang="en-US" sz="1200" i="1">
                <a:solidFill>
                  <a:srgbClr val="000000"/>
                </a:solidFill>
                <a:latin typeface="Consolas" panose="020B0609020204030204" pitchFamily="49" charset="0"/>
              </a:rPr>
              <a:t>); </a:t>
            </a:r>
            <a:r>
              <a:rPr lang="en-US" sz="1200" i="1">
                <a:solidFill>
                  <a:srgbClr val="7F0055"/>
                </a:solidFill>
                <a:latin typeface="Consolas" panose="020B0609020204030204" pitchFamily="49" charset="0"/>
              </a:rPr>
              <a:t>break</a:t>
            </a:r>
            <a:r>
              <a:rPr lang="en-US" sz="1200" i="1">
                <a:solidFill>
                  <a:srgbClr val="000000"/>
                </a:solidFill>
                <a:latin typeface="Consolas" panose="020B0609020204030204" pitchFamily="49" charset="0"/>
              </a:rPr>
              <a:t>;</a:t>
            </a:r>
          </a:p>
          <a:p>
            <a:pPr marL="0" indent="0">
              <a:buNone/>
              <a:defRPr/>
            </a:pPr>
            <a:r>
              <a:rPr lang="en-US" sz="1200">
                <a:solidFill>
                  <a:srgbClr val="7F0055"/>
                </a:solidFill>
                <a:latin typeface="Consolas" panose="020B0609020204030204" pitchFamily="49" charset="0"/>
              </a:rPr>
              <a:t>	case</a:t>
            </a:r>
            <a:r>
              <a:rPr lang="en-US" sz="1200">
                <a:solidFill>
                  <a:srgbClr val="000000"/>
                </a:solidFill>
                <a:latin typeface="Consolas" panose="020B0609020204030204" pitchFamily="49" charset="0"/>
              </a:rPr>
              <a:t> 11: System.</a:t>
            </a:r>
            <a:r>
              <a:rPr lang="en-US" sz="1200" i="1">
                <a:solidFill>
                  <a:srgbClr val="0000C0"/>
                </a:solidFill>
                <a:latin typeface="Consolas" panose="020B0609020204030204" pitchFamily="49" charset="0"/>
              </a:rPr>
              <a:t>out</a:t>
            </a:r>
            <a:r>
              <a:rPr lang="en-US" sz="1200" i="1">
                <a:solidFill>
                  <a:srgbClr val="000000"/>
                </a:solidFill>
                <a:latin typeface="Consolas" panose="020B0609020204030204" pitchFamily="49" charset="0"/>
              </a:rPr>
              <a:t>.println(</a:t>
            </a:r>
            <a:r>
              <a:rPr lang="en-US" sz="1200" i="1">
                <a:solidFill>
                  <a:srgbClr val="2A00FF"/>
                </a:solidFill>
                <a:latin typeface="Consolas" panose="020B0609020204030204" pitchFamily="49" charset="0"/>
              </a:rPr>
              <a:t>"Tháng 11"</a:t>
            </a:r>
            <a:r>
              <a:rPr lang="en-US" sz="1200" i="1">
                <a:solidFill>
                  <a:srgbClr val="000000"/>
                </a:solidFill>
                <a:latin typeface="Consolas" panose="020B0609020204030204" pitchFamily="49" charset="0"/>
              </a:rPr>
              <a:t>); </a:t>
            </a:r>
            <a:r>
              <a:rPr lang="en-US" sz="1200" i="1">
                <a:solidFill>
                  <a:srgbClr val="7F0055"/>
                </a:solidFill>
                <a:latin typeface="Consolas" panose="020B0609020204030204" pitchFamily="49" charset="0"/>
              </a:rPr>
              <a:t>break</a:t>
            </a:r>
            <a:r>
              <a:rPr lang="en-US" sz="1200" i="1">
                <a:solidFill>
                  <a:srgbClr val="000000"/>
                </a:solidFill>
                <a:latin typeface="Consolas" panose="020B0609020204030204" pitchFamily="49" charset="0"/>
              </a:rPr>
              <a:t>;</a:t>
            </a:r>
          </a:p>
          <a:p>
            <a:pPr marL="0" indent="0">
              <a:buNone/>
              <a:defRPr/>
            </a:pPr>
            <a:r>
              <a:rPr lang="en-US" sz="1200">
                <a:solidFill>
                  <a:srgbClr val="7F0055"/>
                </a:solidFill>
                <a:latin typeface="Consolas" panose="020B0609020204030204" pitchFamily="49" charset="0"/>
              </a:rPr>
              <a:t>	case</a:t>
            </a:r>
            <a:r>
              <a:rPr lang="en-US" sz="1200">
                <a:solidFill>
                  <a:srgbClr val="000000"/>
                </a:solidFill>
                <a:latin typeface="Consolas" panose="020B0609020204030204" pitchFamily="49" charset="0"/>
              </a:rPr>
              <a:t> 12: System.</a:t>
            </a:r>
            <a:r>
              <a:rPr lang="en-US" sz="1200" i="1">
                <a:solidFill>
                  <a:srgbClr val="0000C0"/>
                </a:solidFill>
                <a:latin typeface="Consolas" panose="020B0609020204030204" pitchFamily="49" charset="0"/>
              </a:rPr>
              <a:t>out</a:t>
            </a:r>
            <a:r>
              <a:rPr lang="en-US" sz="1200" i="1">
                <a:solidFill>
                  <a:srgbClr val="000000"/>
                </a:solidFill>
                <a:latin typeface="Consolas" panose="020B0609020204030204" pitchFamily="49" charset="0"/>
              </a:rPr>
              <a:t>.println(</a:t>
            </a:r>
            <a:r>
              <a:rPr lang="en-US" sz="1200" i="1">
                <a:solidFill>
                  <a:srgbClr val="2A00FF"/>
                </a:solidFill>
                <a:latin typeface="Consolas" panose="020B0609020204030204" pitchFamily="49" charset="0"/>
              </a:rPr>
              <a:t>"Tháng 12"</a:t>
            </a:r>
            <a:r>
              <a:rPr lang="en-US" sz="1200" i="1">
                <a:solidFill>
                  <a:srgbClr val="000000"/>
                </a:solidFill>
                <a:latin typeface="Consolas" panose="020B0609020204030204" pitchFamily="49" charset="0"/>
              </a:rPr>
              <a:t>); </a:t>
            </a:r>
            <a:r>
              <a:rPr lang="en-US" sz="1200" i="1">
                <a:solidFill>
                  <a:srgbClr val="7F0055"/>
                </a:solidFill>
                <a:latin typeface="Consolas" panose="020B0609020204030204" pitchFamily="49" charset="0"/>
              </a:rPr>
              <a:t>break</a:t>
            </a:r>
            <a:r>
              <a:rPr lang="en-US" sz="1200" i="1">
                <a:solidFill>
                  <a:srgbClr val="000000"/>
                </a:solidFill>
                <a:latin typeface="Consolas" panose="020B0609020204030204" pitchFamily="49" charset="0"/>
              </a:rPr>
              <a:t>;</a:t>
            </a:r>
          </a:p>
          <a:p>
            <a:pPr marL="0" indent="0">
              <a:buNone/>
              <a:defRPr/>
            </a:pPr>
            <a:r>
              <a:rPr lang="en-US" sz="1200">
                <a:solidFill>
                  <a:srgbClr val="7F0055"/>
                </a:solidFill>
                <a:latin typeface="Consolas" panose="020B0609020204030204" pitchFamily="49" charset="0"/>
              </a:rPr>
              <a:t>	default</a:t>
            </a:r>
            <a:r>
              <a:rPr lang="en-US" sz="1200">
                <a:solidFill>
                  <a:srgbClr val="000000"/>
                </a:solidFill>
                <a:latin typeface="Consolas" panose="020B0609020204030204" pitchFamily="49" charset="0"/>
              </a:rPr>
              <a:t>: System.</a:t>
            </a:r>
            <a:r>
              <a:rPr lang="en-US" sz="1200" i="1">
                <a:solidFill>
                  <a:srgbClr val="0000C0"/>
                </a:solidFill>
                <a:latin typeface="Consolas" panose="020B0609020204030204" pitchFamily="49" charset="0"/>
              </a:rPr>
              <a:t>out</a:t>
            </a:r>
            <a:r>
              <a:rPr lang="en-US" sz="1200" i="1">
                <a:solidFill>
                  <a:srgbClr val="000000"/>
                </a:solidFill>
                <a:latin typeface="Consolas" panose="020B0609020204030204" pitchFamily="49" charset="0"/>
              </a:rPr>
              <a:t>.println(</a:t>
            </a:r>
            <a:r>
              <a:rPr lang="en-US" sz="1200" i="1">
                <a:solidFill>
                  <a:srgbClr val="2A00FF"/>
                </a:solidFill>
                <a:latin typeface="Consolas" panose="020B0609020204030204" pitchFamily="49" charset="0"/>
              </a:rPr>
              <a:t>“Tháng không hợp lệ"</a:t>
            </a:r>
            <a:r>
              <a:rPr lang="en-US" sz="1200" i="1">
                <a:solidFill>
                  <a:srgbClr val="000000"/>
                </a:solidFill>
                <a:latin typeface="Consolas" panose="020B0609020204030204" pitchFamily="49" charset="0"/>
              </a:rPr>
              <a:t>);</a:t>
            </a:r>
            <a:r>
              <a:rPr lang="en-US" sz="1200" i="1">
                <a:solidFill>
                  <a:srgbClr val="7F0055"/>
                </a:solidFill>
                <a:latin typeface="Consolas" panose="020B0609020204030204" pitchFamily="49" charset="0"/>
              </a:rPr>
              <a:t>break</a:t>
            </a:r>
            <a:r>
              <a:rPr lang="en-US" sz="1200" i="1">
                <a:solidFill>
                  <a:srgbClr val="000000"/>
                </a:solidFill>
                <a:latin typeface="Consolas" panose="020B0609020204030204" pitchFamily="49" charset="0"/>
              </a:rPr>
              <a:t>;</a:t>
            </a:r>
          </a:p>
          <a:p>
            <a:pPr marL="0" indent="0">
              <a:buNone/>
              <a:defRPr/>
            </a:pPr>
            <a:r>
              <a:rPr lang="en-US" sz="1200">
                <a:solidFill>
                  <a:srgbClr val="000000"/>
                </a:solidFill>
                <a:highlight>
                  <a:srgbClr val="D4D4D4"/>
                </a:highlight>
                <a:latin typeface="Consolas" panose="020B0609020204030204" pitchFamily="49" charset="0"/>
              </a:rPr>
              <a:t> </a:t>
            </a:r>
            <a:r>
              <a:rPr lang="en-US" sz="1200">
                <a:solidFill>
                  <a:srgbClr val="000000"/>
                </a:solidFill>
                <a:highlight>
                  <a:srgbClr val="D4D4D4"/>
                </a:highlight>
                <a:latin typeface="Consolas" panose="020B0609020204030204" pitchFamily="49" charset="0"/>
              </a:rPr>
              <a:t>   }</a:t>
            </a:r>
          </a:p>
          <a:p>
            <a:pPr marL="0" indent="0">
              <a:buNone/>
              <a:defRPr/>
            </a:pPr>
            <a:r>
              <a:rPr lang="en-US" altLang="en-US" sz="1200">
                <a:solidFill>
                  <a:srgbClr val="000000"/>
                </a:solidFill>
                <a:highlight>
                  <a:srgbClr val="D4D4D4"/>
                </a:highlight>
                <a:latin typeface="Consolas" panose="020B0609020204030204" pitchFamily="49" charset="0"/>
              </a:rPr>
              <a:t>}</a:t>
            </a:r>
            <a:endParaRPr lang="en-US" altLang="en-US" sz="1200" dirty="0">
              <a:solidFill>
                <a:srgbClr val="201053"/>
              </a:solidFill>
            </a:endParaRPr>
          </a:p>
        </p:txBody>
      </p:sp>
    </p:spTree>
    <p:extLst>
      <p:ext uri="{BB962C8B-B14F-4D97-AF65-F5344CB8AC3E}">
        <p14:creationId xmlns:p14="http://schemas.microsoft.com/office/powerpoint/2010/main" val="338888144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3.1.4. Lệnh switch … case</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61</a:t>
            </a:fld>
            <a:endParaRPr 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3" y="1640682"/>
            <a:ext cx="4755356" cy="417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693131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3.2. Lệnh </a:t>
            </a:r>
            <a:r>
              <a:rPr lang="en-US"/>
              <a:t>lặp</a:t>
            </a:r>
          </a:p>
        </p:txBody>
      </p:sp>
      <p:sp>
        <p:nvSpPr>
          <p:cNvPr id="3" name="Content Placeholder 2"/>
          <p:cNvSpPr>
            <a:spLocks noGrp="1"/>
          </p:cNvSpPr>
          <p:nvPr>
            <p:ph idx="1"/>
          </p:nvPr>
        </p:nvSpPr>
        <p:spPr>
          <a:xfrm>
            <a:off x="1385646" y="1808820"/>
            <a:ext cx="6372708" cy="3726414"/>
          </a:xfrm>
        </p:spPr>
        <p:txBody>
          <a:bodyPr wrap="square">
            <a:noAutofit/>
          </a:bodyPr>
          <a:lstStyle/>
          <a:p>
            <a:pPr marL="0" indent="0">
              <a:buNone/>
            </a:pPr>
            <a:r>
              <a:rPr lang="en-US" sz="2400" b="1"/>
              <a:t>1. Lệnh while</a:t>
            </a:r>
          </a:p>
          <a:p>
            <a:pPr marL="0" indent="0">
              <a:buNone/>
            </a:pPr>
            <a:r>
              <a:rPr lang="en-US" sz="2400" b="1"/>
              <a:t>2. </a:t>
            </a:r>
            <a:r>
              <a:rPr lang="en-US" sz="2400" b="1"/>
              <a:t>Lệnh </a:t>
            </a:r>
            <a:r>
              <a:rPr lang="en-US" sz="2400" b="1"/>
              <a:t>do … while</a:t>
            </a:r>
          </a:p>
          <a:p>
            <a:pPr marL="0" indent="0">
              <a:buNone/>
            </a:pPr>
            <a:r>
              <a:rPr lang="en-US" sz="2400" b="1"/>
              <a:t>3. </a:t>
            </a:r>
            <a:r>
              <a:rPr lang="en-US" sz="2400" b="1"/>
              <a:t>Lệnh </a:t>
            </a:r>
            <a:r>
              <a:rPr lang="en-US" sz="2400" b="1"/>
              <a:t>for</a:t>
            </a:r>
          </a:p>
          <a:p>
            <a:pPr marL="0" indent="0">
              <a:buNone/>
            </a:pPr>
            <a:r>
              <a:rPr lang="en-US" sz="2400" b="1"/>
              <a:t>4. </a:t>
            </a:r>
            <a:r>
              <a:rPr lang="en-GB" sz="2400" b="1"/>
              <a:t>Lệnh break</a:t>
            </a:r>
          </a:p>
          <a:p>
            <a:pPr marL="0" indent="0">
              <a:buNone/>
            </a:pPr>
            <a:r>
              <a:rPr lang="en-US" sz="2400" b="1"/>
              <a:t>5. </a:t>
            </a:r>
            <a:r>
              <a:rPr lang="en-GB" sz="2400" b="1"/>
              <a:t>Lệnh continue</a:t>
            </a:r>
            <a:endParaRPr lang="en-US" sz="2400" b="1"/>
          </a:p>
          <a:p>
            <a:pPr marL="0" indent="0">
              <a:buNone/>
            </a:pPr>
            <a:endParaRPr lang="en-US" b="1" smtClean="0">
              <a:solidFill>
                <a:srgbClr val="FF0000"/>
              </a:solidFill>
            </a:endParaRPr>
          </a:p>
          <a:p>
            <a:pPr marL="0" indent="0">
              <a:buNone/>
            </a:pPr>
            <a:r>
              <a:rPr lang="en-US" b="1">
                <a:solidFill>
                  <a:srgbClr val="FF0000"/>
                </a:solidFill>
              </a:rPr>
              <a:t>	</a:t>
            </a:r>
            <a:r>
              <a:rPr lang="en-US" b="1" smtClean="0">
                <a:solidFill>
                  <a:srgbClr val="FF0000"/>
                </a:solidFill>
              </a:rPr>
              <a:t>			</a:t>
            </a:r>
          </a:p>
          <a:p>
            <a:pPr lvl="2" latinLnBrk="0"/>
            <a:endParaRPr lang="vi-VN"/>
          </a:p>
        </p:txBody>
      </p:sp>
      <p:sp>
        <p:nvSpPr>
          <p:cNvPr id="4" name="Slide Number Placeholder 3"/>
          <p:cNvSpPr>
            <a:spLocks noGrp="1"/>
          </p:cNvSpPr>
          <p:nvPr>
            <p:ph type="sldNum" sz="quarter" idx="12"/>
          </p:nvPr>
        </p:nvSpPr>
        <p:spPr/>
        <p:txBody>
          <a:bodyPr/>
          <a:lstStyle/>
          <a:p>
            <a:fld id="{E3E8E051-591C-4566-9813-B4BB16D377BD}" type="slidenum">
              <a:rPr lang="en-US" smtClean="0"/>
              <a:pPr/>
              <a:t>62</a:t>
            </a:fld>
            <a:endParaRPr lang="en-US"/>
          </a:p>
        </p:txBody>
      </p:sp>
      <p:pic>
        <p:nvPicPr>
          <p:cNvPr id="5" name="Picture 43" descr="Loop Archite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2150" y="2228850"/>
            <a:ext cx="21145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506643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a:t>
            </a:r>
            <a:r>
              <a:rPr lang="en-US" smtClean="0"/>
              <a:t>.2.1. </a:t>
            </a:r>
            <a:r>
              <a:rPr lang="en-US"/>
              <a:t>Lệnh </a:t>
            </a:r>
            <a:r>
              <a:rPr lang="en-US" smtClean="0"/>
              <a:t>while</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63</a:t>
            </a:fld>
            <a:endParaRPr lang="en-US"/>
          </a:p>
        </p:txBody>
      </p:sp>
      <p:pic>
        <p:nvPicPr>
          <p:cNvPr id="9" name="Picture 41" descr="Java While L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7" y="1782434"/>
            <a:ext cx="2634641" cy="4046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9104" y="3517204"/>
            <a:ext cx="3485411" cy="214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Content Placeholder 2"/>
          <p:cNvSpPr txBox="1">
            <a:spLocks/>
          </p:cNvSpPr>
          <p:nvPr/>
        </p:nvSpPr>
        <p:spPr>
          <a:xfrm>
            <a:off x="4343404" y="2000250"/>
            <a:ext cx="3457967" cy="857250"/>
          </a:xfrm>
          <a:prstGeom prst="rect">
            <a:avLst/>
          </a:prstGeom>
        </p:spPr>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marL="64294" indent="0">
              <a:lnSpc>
                <a:spcPct val="107000"/>
              </a:lnSpc>
              <a:spcBef>
                <a:spcPts val="0"/>
              </a:spcBef>
              <a:spcAft>
                <a:spcPts val="0"/>
              </a:spcAft>
              <a:buNone/>
              <a:defRPr/>
            </a:pPr>
            <a:r>
              <a:rPr lang="en-US" sz="1800" dirty="0">
                <a:solidFill>
                  <a:srgbClr val="003399"/>
                </a:solidFill>
                <a:ea typeface="Calibri" panose="020F0502020204030204" pitchFamily="34" charset="0"/>
                <a:cs typeface="Times New Roman" panose="02020603050405020304" pitchFamily="18" charset="0"/>
              </a:rPr>
              <a:t>while (</a:t>
            </a:r>
            <a:r>
              <a:rPr lang="en-US" sz="1800" i="1" dirty="0">
                <a:solidFill>
                  <a:srgbClr val="003399"/>
                </a:solidFill>
                <a:ea typeface="Calibri" panose="020F0502020204030204" pitchFamily="34" charset="0"/>
                <a:cs typeface="Times New Roman" panose="02020603050405020304" pitchFamily="18" charset="0"/>
              </a:rPr>
              <a:t>&lt;</a:t>
            </a:r>
            <a:r>
              <a:rPr lang="en-US" sz="1800" i="1" dirty="0" err="1">
                <a:solidFill>
                  <a:srgbClr val="003399"/>
                </a:solidFill>
                <a:ea typeface="Calibri" panose="020F0502020204030204" pitchFamily="34" charset="0"/>
                <a:cs typeface="Times New Roman" panose="02020603050405020304" pitchFamily="18" charset="0"/>
              </a:rPr>
              <a:t>biểu</a:t>
            </a:r>
            <a:r>
              <a:rPr lang="en-US" sz="1800" i="1" dirty="0">
                <a:solidFill>
                  <a:srgbClr val="003399"/>
                </a:solidFill>
                <a:ea typeface="Calibri" panose="020F0502020204030204" pitchFamily="34" charset="0"/>
                <a:cs typeface="Times New Roman" panose="02020603050405020304" pitchFamily="18" charset="0"/>
              </a:rPr>
              <a:t> </a:t>
            </a:r>
            <a:r>
              <a:rPr lang="en-US" sz="1800" i="1" dirty="0" err="1">
                <a:solidFill>
                  <a:srgbClr val="003399"/>
                </a:solidFill>
                <a:ea typeface="Calibri" panose="020F0502020204030204" pitchFamily="34" charset="0"/>
                <a:cs typeface="Times New Roman" panose="02020603050405020304" pitchFamily="18" charset="0"/>
              </a:rPr>
              <a:t>thức</a:t>
            </a:r>
            <a:r>
              <a:rPr lang="en-US" sz="1800" i="1" dirty="0">
                <a:solidFill>
                  <a:srgbClr val="003399"/>
                </a:solidFill>
                <a:ea typeface="Calibri" panose="020F0502020204030204" pitchFamily="34" charset="0"/>
                <a:cs typeface="Times New Roman" panose="02020603050405020304" pitchFamily="18" charset="0"/>
              </a:rPr>
              <a:t> </a:t>
            </a:r>
            <a:r>
              <a:rPr lang="en-US" sz="1800" i="1" dirty="0" err="1">
                <a:solidFill>
                  <a:srgbClr val="003399"/>
                </a:solidFill>
                <a:ea typeface="Calibri" panose="020F0502020204030204" pitchFamily="34" charset="0"/>
                <a:cs typeface="Times New Roman" panose="02020603050405020304" pitchFamily="18" charset="0"/>
              </a:rPr>
              <a:t>điều</a:t>
            </a:r>
            <a:r>
              <a:rPr lang="en-US" sz="1800" i="1" dirty="0">
                <a:solidFill>
                  <a:srgbClr val="003399"/>
                </a:solidFill>
                <a:ea typeface="Calibri" panose="020F0502020204030204" pitchFamily="34" charset="0"/>
                <a:cs typeface="Times New Roman" panose="02020603050405020304" pitchFamily="18" charset="0"/>
              </a:rPr>
              <a:t> </a:t>
            </a:r>
            <a:r>
              <a:rPr lang="en-US" sz="1800" i="1" dirty="0" err="1">
                <a:solidFill>
                  <a:srgbClr val="003399"/>
                </a:solidFill>
                <a:ea typeface="Calibri" panose="020F0502020204030204" pitchFamily="34" charset="0"/>
                <a:cs typeface="Times New Roman" panose="02020603050405020304" pitchFamily="18" charset="0"/>
              </a:rPr>
              <a:t>kiện</a:t>
            </a:r>
            <a:r>
              <a:rPr lang="en-US" sz="1800" i="1" dirty="0">
                <a:solidFill>
                  <a:srgbClr val="003399"/>
                </a:solidFill>
                <a:ea typeface="Calibri" panose="020F0502020204030204" pitchFamily="34" charset="0"/>
                <a:cs typeface="Times New Roman" panose="02020603050405020304" pitchFamily="18" charset="0"/>
              </a:rPr>
              <a:t>&gt;</a:t>
            </a:r>
            <a:r>
              <a:rPr lang="en-US" sz="1800" dirty="0">
                <a:solidFill>
                  <a:srgbClr val="003399"/>
                </a:solidFill>
                <a:ea typeface="Calibri" panose="020F0502020204030204" pitchFamily="34" charset="0"/>
                <a:cs typeface="Times New Roman" panose="02020603050405020304" pitchFamily="18" charset="0"/>
              </a:rPr>
              <a:t>) {</a:t>
            </a:r>
            <a:endParaRPr lang="en-US" sz="900" dirty="0">
              <a:solidFill>
                <a:srgbClr val="003399"/>
              </a:solidFill>
              <a:latin typeface="Calibri" panose="020F0502020204030204" pitchFamily="34" charset="0"/>
              <a:ea typeface="Calibri" panose="020F0502020204030204" pitchFamily="34" charset="0"/>
              <a:cs typeface="Times New Roman" panose="02020603050405020304" pitchFamily="18" charset="0"/>
            </a:endParaRPr>
          </a:p>
          <a:p>
            <a:pPr marL="64294" indent="0">
              <a:lnSpc>
                <a:spcPct val="200000"/>
              </a:lnSpc>
              <a:spcBef>
                <a:spcPts val="0"/>
              </a:spcBef>
              <a:spcAft>
                <a:spcPts val="0"/>
              </a:spcAft>
              <a:buNone/>
              <a:defRPr/>
            </a:pPr>
            <a:r>
              <a:rPr lang="en-US" sz="1800" dirty="0">
                <a:solidFill>
                  <a:srgbClr val="003399"/>
                </a:solidFill>
                <a:ea typeface="Calibri" panose="020F0502020204030204" pitchFamily="34" charset="0"/>
                <a:cs typeface="Times New Roman" panose="02020603050405020304" pitchFamily="18" charset="0"/>
              </a:rPr>
              <a:t>	</a:t>
            </a:r>
            <a:r>
              <a:rPr lang="en-US" sz="1800" i="1" dirty="0">
                <a:solidFill>
                  <a:srgbClr val="003399"/>
                </a:solidFill>
                <a:ea typeface="Calibri" panose="020F0502020204030204" pitchFamily="34" charset="0"/>
                <a:cs typeface="Times New Roman" panose="02020603050405020304" pitchFamily="18" charset="0"/>
              </a:rPr>
              <a:t> </a:t>
            </a:r>
            <a:r>
              <a:rPr lang="en-US" sz="1800" dirty="0">
                <a:solidFill>
                  <a:srgbClr val="003399"/>
                </a:solidFill>
                <a:ea typeface="Calibri" panose="020F0502020204030204" pitchFamily="34" charset="0"/>
                <a:cs typeface="Times New Roman" panose="02020603050405020304" pitchFamily="18" charset="0"/>
              </a:rPr>
              <a:t>[</a:t>
            </a:r>
            <a:r>
              <a:rPr lang="en-US" sz="1800" dirty="0" err="1">
                <a:solidFill>
                  <a:srgbClr val="003399"/>
                </a:solidFill>
                <a:ea typeface="Calibri" panose="020F0502020204030204" pitchFamily="34" charset="0"/>
                <a:cs typeface="Times New Roman" panose="02020603050405020304" pitchFamily="18" charset="0"/>
              </a:rPr>
              <a:t>Các</a:t>
            </a:r>
            <a:r>
              <a:rPr lang="en-US" sz="1800" dirty="0">
                <a:solidFill>
                  <a:srgbClr val="003399"/>
                </a:solidFill>
                <a:ea typeface="Calibri" panose="020F0502020204030204" pitchFamily="34" charset="0"/>
                <a:cs typeface="Times New Roman" panose="02020603050405020304" pitchFamily="18" charset="0"/>
              </a:rPr>
              <a:t> </a:t>
            </a:r>
            <a:r>
              <a:rPr lang="en-US" sz="1800" dirty="0" err="1">
                <a:solidFill>
                  <a:srgbClr val="003399"/>
                </a:solidFill>
                <a:ea typeface="Calibri" panose="020F0502020204030204" pitchFamily="34" charset="0"/>
                <a:cs typeface="Times New Roman" panose="02020603050405020304" pitchFamily="18" charset="0"/>
              </a:rPr>
              <a:t>câu</a:t>
            </a:r>
            <a:r>
              <a:rPr lang="en-US" sz="1800" dirty="0">
                <a:solidFill>
                  <a:srgbClr val="003399"/>
                </a:solidFill>
                <a:ea typeface="Calibri" panose="020F0502020204030204" pitchFamily="34" charset="0"/>
                <a:cs typeface="Times New Roman" panose="02020603050405020304" pitchFamily="18" charset="0"/>
              </a:rPr>
              <a:t> </a:t>
            </a:r>
            <a:r>
              <a:rPr lang="en-US" sz="1800" dirty="0" err="1">
                <a:solidFill>
                  <a:srgbClr val="003399"/>
                </a:solidFill>
                <a:ea typeface="Calibri" panose="020F0502020204030204" pitchFamily="34" charset="0"/>
                <a:cs typeface="Times New Roman" panose="02020603050405020304" pitchFamily="18" charset="0"/>
              </a:rPr>
              <a:t>lệnh</a:t>
            </a:r>
            <a:r>
              <a:rPr lang="en-US" sz="1800" dirty="0">
                <a:solidFill>
                  <a:srgbClr val="003399"/>
                </a:solidFill>
                <a:ea typeface="Calibri" panose="020F0502020204030204" pitchFamily="34" charset="0"/>
                <a:cs typeface="Times New Roman" panose="02020603050405020304" pitchFamily="18" charset="0"/>
              </a:rPr>
              <a:t> </a:t>
            </a:r>
            <a:r>
              <a:rPr lang="en-US" sz="1800" dirty="0" err="1">
                <a:solidFill>
                  <a:srgbClr val="003399"/>
                </a:solidFill>
                <a:ea typeface="Calibri" panose="020F0502020204030204" pitchFamily="34" charset="0"/>
                <a:cs typeface="Times New Roman" panose="02020603050405020304" pitchFamily="18" charset="0"/>
              </a:rPr>
              <a:t>thực</a:t>
            </a:r>
            <a:r>
              <a:rPr lang="en-US" sz="1800" dirty="0">
                <a:solidFill>
                  <a:srgbClr val="003399"/>
                </a:solidFill>
                <a:ea typeface="Calibri" panose="020F0502020204030204" pitchFamily="34" charset="0"/>
                <a:cs typeface="Times New Roman" panose="02020603050405020304" pitchFamily="18" charset="0"/>
              </a:rPr>
              <a:t> </a:t>
            </a:r>
            <a:r>
              <a:rPr lang="en-US" sz="1800" dirty="0" err="1">
                <a:solidFill>
                  <a:srgbClr val="003399"/>
                </a:solidFill>
                <a:ea typeface="Calibri" panose="020F0502020204030204" pitchFamily="34" charset="0"/>
                <a:cs typeface="Times New Roman" panose="02020603050405020304" pitchFamily="18" charset="0"/>
              </a:rPr>
              <a:t>hiện</a:t>
            </a:r>
            <a:r>
              <a:rPr lang="en-US" sz="1800" dirty="0">
                <a:solidFill>
                  <a:srgbClr val="003399"/>
                </a:solidFill>
                <a:ea typeface="Calibri" panose="020F0502020204030204" pitchFamily="34" charset="0"/>
                <a:cs typeface="Times New Roman" panose="02020603050405020304" pitchFamily="18" charset="0"/>
              </a:rPr>
              <a:t>];</a:t>
            </a:r>
            <a:endParaRPr lang="en-US" sz="900" dirty="0">
              <a:solidFill>
                <a:srgbClr val="003399"/>
              </a:solidFill>
              <a:latin typeface="Calibri" panose="020F0502020204030204" pitchFamily="34" charset="0"/>
              <a:ea typeface="Calibri" panose="020F0502020204030204" pitchFamily="34" charset="0"/>
              <a:cs typeface="Times New Roman" panose="02020603050405020304" pitchFamily="18" charset="0"/>
            </a:endParaRPr>
          </a:p>
          <a:p>
            <a:pPr marL="64294" indent="0">
              <a:lnSpc>
                <a:spcPct val="107000"/>
              </a:lnSpc>
              <a:spcBef>
                <a:spcPts val="0"/>
              </a:spcBef>
              <a:spcAft>
                <a:spcPts val="450"/>
              </a:spcAft>
              <a:buNone/>
              <a:defRPr/>
            </a:pPr>
            <a:r>
              <a:rPr lang="en-US" sz="1800" dirty="0">
                <a:solidFill>
                  <a:srgbClr val="003399"/>
                </a:solidFill>
                <a:ea typeface="Calibri" panose="020F0502020204030204" pitchFamily="34" charset="0"/>
                <a:cs typeface="Times New Roman" panose="02020603050405020304" pitchFamily="18" charset="0"/>
              </a:rPr>
              <a:t>}</a:t>
            </a:r>
            <a:endParaRPr lang="en-US" sz="900" dirty="0">
              <a:solidFill>
                <a:srgbClr val="003399"/>
              </a:solidFill>
              <a:latin typeface="Calibri" panose="020F0502020204030204" pitchFamily="34" charset="0"/>
              <a:ea typeface="Calibri" panose="020F0502020204030204" pitchFamily="34" charset="0"/>
              <a:cs typeface="Times New Roman" panose="02020603050405020304" pitchFamily="18" charset="0"/>
            </a:endParaRPr>
          </a:p>
          <a:p>
            <a:pPr marL="0" indent="0">
              <a:buNone/>
              <a:defRPr/>
            </a:pPr>
            <a:endParaRPr lang="en-US" sz="1800" dirty="0">
              <a:solidFill>
                <a:srgbClr val="003399"/>
              </a:solidFill>
            </a:endParaRPr>
          </a:p>
        </p:txBody>
      </p:sp>
    </p:spTree>
    <p:extLst>
      <p:ext uri="{BB962C8B-B14F-4D97-AF65-F5344CB8AC3E}">
        <p14:creationId xmlns:p14="http://schemas.microsoft.com/office/powerpoint/2010/main" val="105408395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a:t>
            </a:r>
            <a:r>
              <a:rPr lang="en-US" smtClean="0"/>
              <a:t>.2.2. Lệnh </a:t>
            </a:r>
            <a:r>
              <a:rPr lang="en-US"/>
              <a:t>do … while</a:t>
            </a:r>
          </a:p>
        </p:txBody>
      </p:sp>
      <p:sp>
        <p:nvSpPr>
          <p:cNvPr id="4" name="Slide Number Placeholder 3"/>
          <p:cNvSpPr>
            <a:spLocks noGrp="1"/>
          </p:cNvSpPr>
          <p:nvPr>
            <p:ph type="sldNum" sz="quarter" idx="12"/>
          </p:nvPr>
        </p:nvSpPr>
        <p:spPr/>
        <p:txBody>
          <a:bodyPr/>
          <a:lstStyle/>
          <a:p>
            <a:fld id="{E3E8E051-591C-4566-9813-B4BB16D377BD}" type="slidenum">
              <a:rPr lang="en-US" smtClean="0"/>
              <a:pPr/>
              <a:t>64</a:t>
            </a:fld>
            <a:endParaRPr lang="en-US"/>
          </a:p>
        </p:txBody>
      </p:sp>
      <p:pic>
        <p:nvPicPr>
          <p:cNvPr id="8" name="Picture 2" descr="Java Do While L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0" y="1947388"/>
            <a:ext cx="3200400" cy="382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p:cNvSpPr txBox="1">
            <a:spLocks/>
          </p:cNvSpPr>
          <p:nvPr/>
        </p:nvSpPr>
        <p:spPr bwMode="auto">
          <a:xfrm>
            <a:off x="4057650" y="3028950"/>
            <a:ext cx="38862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20000"/>
              </a:spcBef>
              <a:buClr>
                <a:schemeClr val="accent1"/>
              </a:buClr>
              <a:buSzPct val="65000"/>
              <a:buFont typeface="Wingdings" panose="05000000000000000000" pitchFamily="2" charset="2"/>
              <a:buNone/>
            </a:pPr>
            <a:r>
              <a:rPr lang="en-US" altLang="en-US" sz="2100">
                <a:solidFill>
                  <a:srgbClr val="003399"/>
                </a:solidFill>
              </a:rPr>
              <a:t>do{</a:t>
            </a:r>
          </a:p>
          <a:p>
            <a:pPr>
              <a:spcBef>
                <a:spcPct val="20000"/>
              </a:spcBef>
              <a:buClr>
                <a:schemeClr val="accent1"/>
              </a:buClr>
              <a:buSzPct val="65000"/>
              <a:buFont typeface="Wingdings" panose="05000000000000000000" pitchFamily="2" charset="2"/>
              <a:buNone/>
            </a:pPr>
            <a:r>
              <a:rPr lang="en-US" altLang="en-US" sz="2100">
                <a:solidFill>
                  <a:srgbClr val="003399"/>
                </a:solidFill>
              </a:rPr>
              <a:t>	</a:t>
            </a:r>
            <a:r>
              <a:rPr lang="en-US" altLang="en-US" sz="2100" i="1">
                <a:solidFill>
                  <a:srgbClr val="003399"/>
                </a:solidFill>
              </a:rPr>
              <a:t> </a:t>
            </a:r>
            <a:r>
              <a:rPr lang="en-US" altLang="en-US" sz="2100">
                <a:solidFill>
                  <a:srgbClr val="003399"/>
                </a:solidFill>
              </a:rPr>
              <a:t>[Các câu lệnh thực hiện];</a:t>
            </a:r>
          </a:p>
          <a:p>
            <a:pPr>
              <a:lnSpc>
                <a:spcPct val="200000"/>
              </a:lnSpc>
              <a:spcBef>
                <a:spcPct val="20000"/>
              </a:spcBef>
              <a:buClr>
                <a:schemeClr val="accent1"/>
              </a:buClr>
              <a:buSzPct val="65000"/>
              <a:buFont typeface="Wingdings" panose="05000000000000000000" pitchFamily="2" charset="2"/>
              <a:buNone/>
            </a:pPr>
            <a:r>
              <a:rPr lang="en-US" altLang="en-US" sz="2100">
                <a:solidFill>
                  <a:srgbClr val="003399"/>
                </a:solidFill>
              </a:rPr>
              <a:t>} while (</a:t>
            </a:r>
            <a:r>
              <a:rPr lang="en-US" altLang="en-US" sz="2100" i="1">
                <a:solidFill>
                  <a:srgbClr val="003399"/>
                </a:solidFill>
              </a:rPr>
              <a:t>&lt;biểu thức điều kiện&gt;</a:t>
            </a:r>
            <a:r>
              <a:rPr lang="en-US" altLang="en-US" sz="2100">
                <a:solidFill>
                  <a:srgbClr val="003399"/>
                </a:solidFill>
              </a:rPr>
              <a:t>);</a:t>
            </a:r>
          </a:p>
          <a:p>
            <a:pPr>
              <a:spcBef>
                <a:spcPct val="20000"/>
              </a:spcBef>
              <a:buClr>
                <a:schemeClr val="accent1"/>
              </a:buClr>
              <a:buSzPct val="65000"/>
              <a:buFont typeface="Wingdings" panose="05000000000000000000" pitchFamily="2" charset="2"/>
              <a:buNone/>
            </a:pPr>
            <a:endParaRPr lang="en-US" altLang="en-US" sz="2100">
              <a:solidFill>
                <a:srgbClr val="003399"/>
              </a:solidFill>
            </a:endParaRPr>
          </a:p>
        </p:txBody>
      </p:sp>
    </p:spTree>
    <p:extLst>
      <p:ext uri="{BB962C8B-B14F-4D97-AF65-F5344CB8AC3E}">
        <p14:creationId xmlns:p14="http://schemas.microsoft.com/office/powerpoint/2010/main" val="14468314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3.2.3. Lệnh for</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65</a:t>
            </a:fld>
            <a:endParaRPr lang="en-US"/>
          </a:p>
        </p:txBody>
      </p:sp>
      <p:pic>
        <p:nvPicPr>
          <p:cNvPr id="6" name="Picture 2" descr="Java For L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874963"/>
            <a:ext cx="2857500" cy="4011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1950" y="3714750"/>
            <a:ext cx="3771900" cy="1900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Content Placeholder 2"/>
          <p:cNvSpPr txBox="1">
            <a:spLocks/>
          </p:cNvSpPr>
          <p:nvPr/>
        </p:nvSpPr>
        <p:spPr>
          <a:xfrm>
            <a:off x="3486150" y="1943100"/>
            <a:ext cx="4514850" cy="971550"/>
          </a:xfrm>
          <a:prstGeom prst="rect">
            <a:avLst/>
          </a:prstGeom>
        </p:spPr>
        <p:txBody>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marL="64294" indent="0">
              <a:lnSpc>
                <a:spcPct val="107000"/>
              </a:lnSpc>
              <a:spcBef>
                <a:spcPts val="0"/>
              </a:spcBef>
              <a:spcAft>
                <a:spcPts val="0"/>
              </a:spcAft>
              <a:buNone/>
              <a:defRPr/>
            </a:pPr>
            <a:r>
              <a:rPr lang="en-US" sz="1500" dirty="0">
                <a:solidFill>
                  <a:srgbClr val="003399"/>
                </a:solidFill>
                <a:ea typeface="Calibri" panose="020F0502020204030204" pitchFamily="34" charset="0"/>
                <a:cs typeface="Times New Roman" panose="02020603050405020304" pitchFamily="18" charset="0"/>
              </a:rPr>
              <a:t>for (</a:t>
            </a:r>
            <a:r>
              <a:rPr lang="en-US" sz="1500" i="1" dirty="0">
                <a:solidFill>
                  <a:srgbClr val="003399"/>
                </a:solidFill>
                <a:ea typeface="Calibri" panose="020F0502020204030204" pitchFamily="34" charset="0"/>
                <a:cs typeface="Times New Roman" panose="02020603050405020304" pitchFamily="18" charset="0"/>
              </a:rPr>
              <a:t> &lt;</a:t>
            </a:r>
            <a:r>
              <a:rPr lang="en-US" sz="1500" i="1" dirty="0" err="1">
                <a:solidFill>
                  <a:srgbClr val="003399"/>
                </a:solidFill>
                <a:ea typeface="Calibri" panose="020F0502020204030204" pitchFamily="34" charset="0"/>
                <a:cs typeface="Times New Roman" panose="02020603050405020304" pitchFamily="18" charset="0"/>
              </a:rPr>
              <a:t>biểu</a:t>
            </a:r>
            <a:r>
              <a:rPr lang="en-US" sz="1500" i="1" dirty="0">
                <a:solidFill>
                  <a:srgbClr val="003399"/>
                </a:solidFill>
                <a:ea typeface="Calibri" panose="020F0502020204030204" pitchFamily="34" charset="0"/>
                <a:cs typeface="Times New Roman" panose="02020603050405020304" pitchFamily="18" charset="0"/>
              </a:rPr>
              <a:t> </a:t>
            </a:r>
            <a:r>
              <a:rPr lang="en-US" sz="1500" i="1" dirty="0" err="1">
                <a:solidFill>
                  <a:srgbClr val="003399"/>
                </a:solidFill>
                <a:ea typeface="Calibri" panose="020F0502020204030204" pitchFamily="34" charset="0"/>
                <a:cs typeface="Times New Roman" panose="02020603050405020304" pitchFamily="18" charset="0"/>
              </a:rPr>
              <a:t>thức</a:t>
            </a:r>
            <a:r>
              <a:rPr lang="en-US" sz="1500" i="1" dirty="0">
                <a:solidFill>
                  <a:srgbClr val="003399"/>
                </a:solidFill>
                <a:ea typeface="Calibri" panose="020F0502020204030204" pitchFamily="34" charset="0"/>
                <a:cs typeface="Times New Roman" panose="02020603050405020304" pitchFamily="18" charset="0"/>
              </a:rPr>
              <a:t> 1&gt;; &lt;</a:t>
            </a:r>
            <a:r>
              <a:rPr lang="en-US" sz="1500" i="1" dirty="0" err="1">
                <a:solidFill>
                  <a:srgbClr val="003399"/>
                </a:solidFill>
                <a:ea typeface="Calibri" panose="020F0502020204030204" pitchFamily="34" charset="0"/>
                <a:cs typeface="Times New Roman" panose="02020603050405020304" pitchFamily="18" charset="0"/>
              </a:rPr>
              <a:t>biểu</a:t>
            </a:r>
            <a:r>
              <a:rPr lang="en-US" sz="1500" i="1" dirty="0">
                <a:solidFill>
                  <a:srgbClr val="003399"/>
                </a:solidFill>
                <a:ea typeface="Calibri" panose="020F0502020204030204" pitchFamily="34" charset="0"/>
                <a:cs typeface="Times New Roman" panose="02020603050405020304" pitchFamily="18" charset="0"/>
              </a:rPr>
              <a:t> </a:t>
            </a:r>
            <a:r>
              <a:rPr lang="en-US" sz="1500" i="1" dirty="0" err="1">
                <a:solidFill>
                  <a:srgbClr val="003399"/>
                </a:solidFill>
                <a:ea typeface="Calibri" panose="020F0502020204030204" pitchFamily="34" charset="0"/>
                <a:cs typeface="Times New Roman" panose="02020603050405020304" pitchFamily="18" charset="0"/>
              </a:rPr>
              <a:t>thức</a:t>
            </a:r>
            <a:r>
              <a:rPr lang="en-US" sz="1500" i="1" dirty="0">
                <a:solidFill>
                  <a:srgbClr val="003399"/>
                </a:solidFill>
                <a:ea typeface="Calibri" panose="020F0502020204030204" pitchFamily="34" charset="0"/>
                <a:cs typeface="Times New Roman" panose="02020603050405020304" pitchFamily="18" charset="0"/>
              </a:rPr>
              <a:t> </a:t>
            </a:r>
            <a:r>
              <a:rPr lang="en-US" sz="1500" i="1" dirty="0" err="1">
                <a:solidFill>
                  <a:srgbClr val="003399"/>
                </a:solidFill>
                <a:ea typeface="Calibri" panose="020F0502020204030204" pitchFamily="34" charset="0"/>
                <a:cs typeface="Times New Roman" panose="02020603050405020304" pitchFamily="18" charset="0"/>
              </a:rPr>
              <a:t>điều</a:t>
            </a:r>
            <a:r>
              <a:rPr lang="en-US" sz="1500" i="1" dirty="0">
                <a:solidFill>
                  <a:srgbClr val="003399"/>
                </a:solidFill>
                <a:ea typeface="Calibri" panose="020F0502020204030204" pitchFamily="34" charset="0"/>
                <a:cs typeface="Times New Roman" panose="02020603050405020304" pitchFamily="18" charset="0"/>
              </a:rPr>
              <a:t> </a:t>
            </a:r>
            <a:r>
              <a:rPr lang="en-US" sz="1500" i="1" dirty="0" err="1">
                <a:solidFill>
                  <a:srgbClr val="003399"/>
                </a:solidFill>
                <a:ea typeface="Calibri" panose="020F0502020204030204" pitchFamily="34" charset="0"/>
                <a:cs typeface="Times New Roman" panose="02020603050405020304" pitchFamily="18" charset="0"/>
              </a:rPr>
              <a:t>kiện</a:t>
            </a:r>
            <a:r>
              <a:rPr lang="en-US" sz="1500" i="1" dirty="0">
                <a:solidFill>
                  <a:srgbClr val="003399"/>
                </a:solidFill>
                <a:ea typeface="Calibri" panose="020F0502020204030204" pitchFamily="34" charset="0"/>
                <a:cs typeface="Times New Roman" panose="02020603050405020304" pitchFamily="18" charset="0"/>
              </a:rPr>
              <a:t>&gt;; &lt;</a:t>
            </a:r>
            <a:r>
              <a:rPr lang="en-US" sz="1500" i="1" dirty="0" err="1">
                <a:solidFill>
                  <a:srgbClr val="003399"/>
                </a:solidFill>
                <a:ea typeface="Calibri" panose="020F0502020204030204" pitchFamily="34" charset="0"/>
                <a:cs typeface="Times New Roman" panose="02020603050405020304" pitchFamily="18" charset="0"/>
              </a:rPr>
              <a:t>biểu</a:t>
            </a:r>
            <a:r>
              <a:rPr lang="en-US" sz="1500" i="1" dirty="0">
                <a:solidFill>
                  <a:srgbClr val="003399"/>
                </a:solidFill>
                <a:ea typeface="Calibri" panose="020F0502020204030204" pitchFamily="34" charset="0"/>
                <a:cs typeface="Times New Roman" panose="02020603050405020304" pitchFamily="18" charset="0"/>
              </a:rPr>
              <a:t> </a:t>
            </a:r>
            <a:r>
              <a:rPr lang="en-US" sz="1500" i="1" dirty="0" err="1">
                <a:solidFill>
                  <a:srgbClr val="003399"/>
                </a:solidFill>
                <a:ea typeface="Calibri" panose="020F0502020204030204" pitchFamily="34" charset="0"/>
                <a:cs typeface="Times New Roman" panose="02020603050405020304" pitchFamily="18" charset="0"/>
              </a:rPr>
              <a:t>thứ</a:t>
            </a:r>
            <a:r>
              <a:rPr lang="en-US" sz="1500" i="1" dirty="0">
                <a:solidFill>
                  <a:srgbClr val="003399"/>
                </a:solidFill>
                <a:ea typeface="Calibri" panose="020F0502020204030204" pitchFamily="34" charset="0"/>
                <a:cs typeface="Times New Roman" panose="02020603050405020304" pitchFamily="18" charset="0"/>
              </a:rPr>
              <a:t> 2&gt;</a:t>
            </a:r>
            <a:r>
              <a:rPr lang="en-US" sz="1500" dirty="0">
                <a:solidFill>
                  <a:srgbClr val="003399"/>
                </a:solidFill>
                <a:ea typeface="Calibri" panose="020F0502020204030204" pitchFamily="34" charset="0"/>
                <a:cs typeface="Times New Roman" panose="02020603050405020304" pitchFamily="18" charset="0"/>
              </a:rPr>
              <a:t> ) {</a:t>
            </a:r>
            <a:endParaRPr lang="en-US" sz="1500" dirty="0">
              <a:solidFill>
                <a:srgbClr val="003399"/>
              </a:solidFill>
              <a:latin typeface="Calibri" panose="020F0502020204030204" pitchFamily="34" charset="0"/>
              <a:ea typeface="Calibri" panose="020F0502020204030204" pitchFamily="34" charset="0"/>
              <a:cs typeface="Times New Roman" panose="02020603050405020304" pitchFamily="18" charset="0"/>
            </a:endParaRPr>
          </a:p>
          <a:p>
            <a:pPr marL="64294" indent="0">
              <a:lnSpc>
                <a:spcPct val="150000"/>
              </a:lnSpc>
              <a:spcBef>
                <a:spcPts val="0"/>
              </a:spcBef>
              <a:spcAft>
                <a:spcPts val="0"/>
              </a:spcAft>
              <a:buNone/>
              <a:defRPr/>
            </a:pPr>
            <a:r>
              <a:rPr lang="en-US" sz="1500" dirty="0">
                <a:solidFill>
                  <a:srgbClr val="003399"/>
                </a:solidFill>
                <a:ea typeface="Calibri" panose="020F0502020204030204" pitchFamily="34" charset="0"/>
                <a:cs typeface="Times New Roman" panose="02020603050405020304" pitchFamily="18" charset="0"/>
              </a:rPr>
              <a:t>	[</a:t>
            </a:r>
            <a:r>
              <a:rPr lang="en-US" sz="1500" dirty="0" err="1">
                <a:solidFill>
                  <a:srgbClr val="003399"/>
                </a:solidFill>
                <a:ea typeface="Calibri" panose="020F0502020204030204" pitchFamily="34" charset="0"/>
                <a:cs typeface="Times New Roman" panose="02020603050405020304" pitchFamily="18" charset="0"/>
              </a:rPr>
              <a:t>Các</a:t>
            </a:r>
            <a:r>
              <a:rPr lang="en-US" sz="1500" dirty="0">
                <a:solidFill>
                  <a:srgbClr val="003399"/>
                </a:solidFill>
                <a:ea typeface="Calibri" panose="020F0502020204030204" pitchFamily="34" charset="0"/>
                <a:cs typeface="Times New Roman" panose="02020603050405020304" pitchFamily="18" charset="0"/>
              </a:rPr>
              <a:t> </a:t>
            </a:r>
            <a:r>
              <a:rPr lang="en-US" sz="1500" dirty="0" err="1">
                <a:solidFill>
                  <a:srgbClr val="003399"/>
                </a:solidFill>
                <a:ea typeface="Calibri" panose="020F0502020204030204" pitchFamily="34" charset="0"/>
                <a:cs typeface="Times New Roman" panose="02020603050405020304" pitchFamily="18" charset="0"/>
              </a:rPr>
              <a:t>câu</a:t>
            </a:r>
            <a:r>
              <a:rPr lang="en-US" sz="1500" dirty="0">
                <a:solidFill>
                  <a:srgbClr val="003399"/>
                </a:solidFill>
                <a:ea typeface="Calibri" panose="020F0502020204030204" pitchFamily="34" charset="0"/>
                <a:cs typeface="Times New Roman" panose="02020603050405020304" pitchFamily="18" charset="0"/>
              </a:rPr>
              <a:t> </a:t>
            </a:r>
            <a:r>
              <a:rPr lang="en-US" sz="1500" dirty="0" err="1">
                <a:solidFill>
                  <a:srgbClr val="003399"/>
                </a:solidFill>
                <a:ea typeface="Calibri" panose="020F0502020204030204" pitchFamily="34" charset="0"/>
                <a:cs typeface="Times New Roman" panose="02020603050405020304" pitchFamily="18" charset="0"/>
              </a:rPr>
              <a:t>lệnh</a:t>
            </a:r>
            <a:r>
              <a:rPr lang="en-US" sz="1500" dirty="0">
                <a:solidFill>
                  <a:srgbClr val="003399"/>
                </a:solidFill>
                <a:ea typeface="Calibri" panose="020F0502020204030204" pitchFamily="34" charset="0"/>
                <a:cs typeface="Times New Roman" panose="02020603050405020304" pitchFamily="18" charset="0"/>
              </a:rPr>
              <a:t> </a:t>
            </a:r>
            <a:r>
              <a:rPr lang="en-US" sz="1500" dirty="0" err="1">
                <a:solidFill>
                  <a:srgbClr val="003399"/>
                </a:solidFill>
                <a:ea typeface="Calibri" panose="020F0502020204030204" pitchFamily="34" charset="0"/>
                <a:cs typeface="Times New Roman" panose="02020603050405020304" pitchFamily="18" charset="0"/>
              </a:rPr>
              <a:t>thực</a:t>
            </a:r>
            <a:r>
              <a:rPr lang="en-US" sz="1500" dirty="0">
                <a:solidFill>
                  <a:srgbClr val="003399"/>
                </a:solidFill>
                <a:ea typeface="Calibri" panose="020F0502020204030204" pitchFamily="34" charset="0"/>
                <a:cs typeface="Times New Roman" panose="02020603050405020304" pitchFamily="18" charset="0"/>
              </a:rPr>
              <a:t> </a:t>
            </a:r>
            <a:r>
              <a:rPr lang="en-US" sz="1500" dirty="0" err="1">
                <a:solidFill>
                  <a:srgbClr val="003399"/>
                </a:solidFill>
                <a:ea typeface="Calibri" panose="020F0502020204030204" pitchFamily="34" charset="0"/>
                <a:cs typeface="Times New Roman" panose="02020603050405020304" pitchFamily="18" charset="0"/>
              </a:rPr>
              <a:t>hiện</a:t>
            </a:r>
            <a:r>
              <a:rPr lang="en-US" sz="1500" dirty="0">
                <a:solidFill>
                  <a:srgbClr val="003399"/>
                </a:solidFill>
                <a:ea typeface="Calibri" panose="020F0502020204030204" pitchFamily="34" charset="0"/>
                <a:cs typeface="Times New Roman" panose="02020603050405020304" pitchFamily="18" charset="0"/>
              </a:rPr>
              <a:t>]</a:t>
            </a:r>
            <a:endParaRPr lang="en-US" sz="1500" dirty="0">
              <a:solidFill>
                <a:srgbClr val="003399"/>
              </a:solidFill>
              <a:latin typeface="Calibri" panose="020F0502020204030204" pitchFamily="34" charset="0"/>
              <a:ea typeface="Calibri" panose="020F0502020204030204" pitchFamily="34" charset="0"/>
              <a:cs typeface="Times New Roman" panose="02020603050405020304" pitchFamily="18" charset="0"/>
            </a:endParaRPr>
          </a:p>
          <a:p>
            <a:pPr marL="64294" indent="0">
              <a:lnSpc>
                <a:spcPct val="107000"/>
              </a:lnSpc>
              <a:spcBef>
                <a:spcPts val="0"/>
              </a:spcBef>
              <a:spcAft>
                <a:spcPts val="450"/>
              </a:spcAft>
              <a:buNone/>
              <a:defRPr/>
            </a:pPr>
            <a:r>
              <a:rPr lang="en-US" sz="1500" dirty="0">
                <a:solidFill>
                  <a:srgbClr val="003399"/>
                </a:solidFill>
                <a:ea typeface="Calibri" panose="020F0502020204030204" pitchFamily="34" charset="0"/>
                <a:cs typeface="Times New Roman" panose="02020603050405020304" pitchFamily="18" charset="0"/>
              </a:rPr>
              <a:t>}</a:t>
            </a:r>
            <a:endParaRPr lang="en-US" sz="1500" dirty="0">
              <a:solidFill>
                <a:srgbClr val="003399"/>
              </a:solidFill>
              <a:latin typeface="Calibri" panose="020F0502020204030204" pitchFamily="34" charset="0"/>
              <a:ea typeface="Calibri" panose="020F0502020204030204" pitchFamily="34" charset="0"/>
              <a:cs typeface="Times New Roman" panose="02020603050405020304" pitchFamily="18" charset="0"/>
            </a:endParaRPr>
          </a:p>
          <a:p>
            <a:pPr marL="0" indent="0">
              <a:buNone/>
              <a:defRPr/>
            </a:pPr>
            <a:endParaRPr lang="en-US" sz="1350" dirty="0">
              <a:solidFill>
                <a:srgbClr val="003399"/>
              </a:solidFill>
            </a:endParaRPr>
          </a:p>
        </p:txBody>
      </p:sp>
    </p:spTree>
    <p:extLst>
      <p:ext uri="{BB962C8B-B14F-4D97-AF65-F5344CB8AC3E}">
        <p14:creationId xmlns:p14="http://schemas.microsoft.com/office/powerpoint/2010/main" val="382604590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3.2.4. Lệnh </a:t>
            </a:r>
            <a:r>
              <a:rPr lang="en-GB" smtClean="0"/>
              <a:t>break</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66</a:t>
            </a:fld>
            <a:endParaRPr lang="en-US"/>
          </a:p>
        </p:txBody>
      </p:sp>
      <p:pic>
        <p:nvPicPr>
          <p:cNvPr id="10" name="Picture 2" descr="Java Break Stat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4" y="1772841"/>
            <a:ext cx="3552825" cy="4125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700759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3.2.4. Lệnh </a:t>
            </a:r>
            <a:r>
              <a:rPr lang="en-GB" smtClean="0"/>
              <a:t>break</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67</a:t>
            </a:fld>
            <a:endParaRPr 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3150" y="1714503"/>
            <a:ext cx="4343400" cy="257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9826" y="4285063"/>
            <a:ext cx="3012281" cy="160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87110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3.2.5. Lệnh </a:t>
            </a:r>
            <a:r>
              <a:rPr lang="en-GB" smtClean="0"/>
              <a:t>continue</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68</a:t>
            </a:fld>
            <a:endParaRPr lang="en-US"/>
          </a:p>
        </p:txBody>
      </p:sp>
      <p:pic>
        <p:nvPicPr>
          <p:cNvPr id="5" name="Picture 2" descr="Java Continue Stat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783258"/>
            <a:ext cx="3543300" cy="411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448335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3.2.5. Lệnh </a:t>
            </a:r>
            <a:r>
              <a:rPr lang="en-GB" smtClean="0"/>
              <a:t>continue</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69</a:t>
            </a:fld>
            <a:endParaRPr 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5950" y="1714503"/>
            <a:ext cx="4400550" cy="2578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4997" y="4293397"/>
            <a:ext cx="2431256" cy="1593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699538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 Mảng và chuỗi</a:t>
            </a:r>
            <a:endParaRPr lang="en-US"/>
          </a:p>
        </p:txBody>
      </p:sp>
      <p:sp>
        <p:nvSpPr>
          <p:cNvPr id="3" name="Content Placeholder 2"/>
          <p:cNvSpPr>
            <a:spLocks noGrp="1"/>
          </p:cNvSpPr>
          <p:nvPr>
            <p:ph idx="1"/>
          </p:nvPr>
        </p:nvSpPr>
        <p:spPr/>
        <p:txBody>
          <a:bodyPr/>
          <a:lstStyle/>
          <a:p>
            <a:pPr marL="0" indent="0">
              <a:spcAft>
                <a:spcPts val="450"/>
              </a:spcAft>
              <a:buNone/>
            </a:pPr>
            <a:r>
              <a:rPr lang="en-US" smtClean="0"/>
              <a:t>4.1. Chuỗi ký tự - lớp String và String Builder</a:t>
            </a:r>
          </a:p>
          <a:p>
            <a:pPr marL="0" indent="0">
              <a:spcAft>
                <a:spcPts val="450"/>
              </a:spcAft>
              <a:buNone/>
            </a:pPr>
            <a:r>
              <a:rPr lang="en-US" smtClean="0"/>
              <a:t>4.2. Mảng một nhiều</a:t>
            </a:r>
          </a:p>
          <a:p>
            <a:pPr marL="0" indent="0">
              <a:spcAft>
                <a:spcPts val="450"/>
              </a:spcAft>
              <a:buNone/>
            </a:pPr>
            <a:r>
              <a:rPr lang="en-US" smtClean="0"/>
              <a:t>4.3. Mảng hai chiều</a:t>
            </a:r>
          </a:p>
        </p:txBody>
      </p:sp>
      <p:sp>
        <p:nvSpPr>
          <p:cNvPr id="4" name="Slide Number Placeholder 3"/>
          <p:cNvSpPr>
            <a:spLocks noGrp="1"/>
          </p:cNvSpPr>
          <p:nvPr>
            <p:ph type="sldNum" sz="quarter" idx="12"/>
          </p:nvPr>
        </p:nvSpPr>
        <p:spPr/>
        <p:txBody>
          <a:bodyPr/>
          <a:lstStyle/>
          <a:p>
            <a:fld id="{04E14541-87DE-422E-93EA-11027DDA40BD}" type="slidenum">
              <a:rPr lang="en-US" altLang="en-US" smtClean="0"/>
              <a:pPr/>
              <a:t>70</a:t>
            </a:fld>
            <a:endParaRPr lang="en-US" altLang="en-US"/>
          </a:p>
        </p:txBody>
      </p:sp>
    </p:spTree>
    <p:extLst>
      <p:ext uri="{BB962C8B-B14F-4D97-AF65-F5344CB8AC3E}">
        <p14:creationId xmlns:p14="http://schemas.microsoft.com/office/powerpoint/2010/main" val="288139033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4.1. Chuỗi ký tự - Lớp String</a:t>
            </a:r>
            <a:endParaRPr lang="en-US"/>
          </a:p>
        </p:txBody>
      </p:sp>
      <p:sp>
        <p:nvSpPr>
          <p:cNvPr id="3" name="Content Placeholder 2"/>
          <p:cNvSpPr>
            <a:spLocks noGrp="1"/>
          </p:cNvSpPr>
          <p:nvPr>
            <p:ph idx="1"/>
          </p:nvPr>
        </p:nvSpPr>
        <p:spPr/>
        <p:txBody>
          <a:bodyPr>
            <a:normAutofit/>
          </a:bodyPr>
          <a:lstStyle/>
          <a:p>
            <a:pPr>
              <a:spcBef>
                <a:spcPts val="450"/>
              </a:spcBef>
              <a:spcAft>
                <a:spcPts val="450"/>
              </a:spcAft>
            </a:pPr>
            <a:r>
              <a:rPr lang="en-US" sz="2550" b="1">
                <a:solidFill>
                  <a:srgbClr val="003366"/>
                </a:solidFill>
                <a:latin typeface="Times New Roman" pitchFamily="18" charset="0"/>
                <a:ea typeface="+mj-ea"/>
                <a:cs typeface="Times New Roman" pitchFamily="18" charset="0"/>
              </a:rPr>
              <a:t>Khai báo</a:t>
            </a:r>
          </a:p>
          <a:p>
            <a:pPr lvl="1">
              <a:spcBef>
                <a:spcPts val="450"/>
              </a:spcBef>
              <a:spcAft>
                <a:spcPts val="450"/>
              </a:spcAft>
            </a:pPr>
            <a:r>
              <a:rPr lang="en-US" smtClean="0"/>
              <a:t>Cách 1: </a:t>
            </a:r>
            <a:r>
              <a:rPr lang="en-US" b="1" kern="1200">
                <a:solidFill>
                  <a:srgbClr val="0000FF"/>
                </a:solidFill>
                <a:latin typeface="Times New Roman" pitchFamily="18" charset="0"/>
                <a:ea typeface="Tahoma" pitchFamily="34" charset="0"/>
                <a:cs typeface="Times New Roman" pitchFamily="18" charset="0"/>
              </a:rPr>
              <a:t>String</a:t>
            </a:r>
            <a:r>
              <a:rPr lang="en-US" smtClean="0"/>
              <a:t> &lt;tên biến&gt; = </a:t>
            </a:r>
            <a:r>
              <a:rPr lang="en-US" smtClean="0">
                <a:solidFill>
                  <a:srgbClr val="FF0000"/>
                </a:solidFill>
              </a:rPr>
              <a:t>“</a:t>
            </a:r>
            <a:r>
              <a:rPr lang="en-US" smtClean="0"/>
              <a:t>Chuỗi ký tự</a:t>
            </a:r>
            <a:r>
              <a:rPr lang="en-US">
                <a:solidFill>
                  <a:srgbClr val="FF0000"/>
                </a:solidFill>
              </a:rPr>
              <a:t>”</a:t>
            </a:r>
            <a:r>
              <a:rPr lang="en-US" smtClean="0"/>
              <a:t>;</a:t>
            </a:r>
          </a:p>
          <a:p>
            <a:pPr lvl="1">
              <a:spcBef>
                <a:spcPts val="450"/>
              </a:spcBef>
              <a:spcAft>
                <a:spcPts val="450"/>
              </a:spcAft>
            </a:pPr>
            <a:r>
              <a:rPr lang="en-US" smtClean="0"/>
              <a:t>Cách 2:</a:t>
            </a:r>
          </a:p>
          <a:p>
            <a:pPr marL="342900" lvl="1" indent="0">
              <a:spcBef>
                <a:spcPts val="450"/>
              </a:spcBef>
              <a:spcAft>
                <a:spcPts val="450"/>
              </a:spcAft>
              <a:buNone/>
            </a:pPr>
            <a:r>
              <a:rPr lang="en-US" b="1" kern="1200" smtClean="0">
                <a:solidFill>
                  <a:srgbClr val="0000FF"/>
                </a:solidFill>
                <a:latin typeface="Times New Roman" pitchFamily="18" charset="0"/>
                <a:ea typeface="Tahoma" pitchFamily="34" charset="0"/>
                <a:cs typeface="Times New Roman" pitchFamily="18" charset="0"/>
              </a:rPr>
              <a:t>String</a:t>
            </a:r>
            <a:r>
              <a:rPr lang="en-US" smtClean="0"/>
              <a:t> &lt;tên biến&gt; = new </a:t>
            </a:r>
            <a:r>
              <a:rPr lang="en-US" b="1" kern="1200">
                <a:solidFill>
                  <a:srgbClr val="0000FF"/>
                </a:solidFill>
                <a:latin typeface="Times New Roman" pitchFamily="18" charset="0"/>
                <a:ea typeface="Tahoma" pitchFamily="34" charset="0"/>
                <a:cs typeface="Times New Roman" pitchFamily="18" charset="0"/>
              </a:rPr>
              <a:t>String</a:t>
            </a:r>
            <a:r>
              <a:rPr lang="en-US" smtClean="0"/>
              <a:t>(</a:t>
            </a:r>
            <a:r>
              <a:rPr lang="en-US">
                <a:solidFill>
                  <a:srgbClr val="FF0000"/>
                </a:solidFill>
              </a:rPr>
              <a:t>“</a:t>
            </a:r>
            <a:r>
              <a:rPr lang="en-US" smtClean="0"/>
              <a:t>Chuỗi ký tự</a:t>
            </a:r>
            <a:r>
              <a:rPr lang="en-US">
                <a:solidFill>
                  <a:srgbClr val="FF0000"/>
                </a:solidFill>
              </a:rPr>
              <a:t>”</a:t>
            </a:r>
            <a:r>
              <a:rPr lang="en-US" smtClean="0"/>
              <a:t>);</a:t>
            </a:r>
          </a:p>
          <a:p>
            <a:pPr>
              <a:spcBef>
                <a:spcPts val="450"/>
              </a:spcBef>
              <a:spcAft>
                <a:spcPts val="450"/>
              </a:spcAft>
            </a:pPr>
            <a:r>
              <a:rPr lang="en-US" sz="2550" b="1">
                <a:solidFill>
                  <a:srgbClr val="003366"/>
                </a:solidFill>
                <a:latin typeface="Times New Roman" pitchFamily="18" charset="0"/>
                <a:ea typeface="+mj-ea"/>
                <a:cs typeface="Times New Roman" pitchFamily="18" charset="0"/>
              </a:rPr>
              <a:t>Ví dụ:</a:t>
            </a:r>
          </a:p>
          <a:p>
            <a:pPr lvl="1">
              <a:spcBef>
                <a:spcPts val="450"/>
              </a:spcBef>
              <a:spcAft>
                <a:spcPts val="450"/>
              </a:spcAft>
            </a:pPr>
            <a:r>
              <a:rPr lang="en-US" b="1" kern="1200">
                <a:solidFill>
                  <a:srgbClr val="0000FF"/>
                </a:solidFill>
                <a:latin typeface="Times New Roman" pitchFamily="18" charset="0"/>
                <a:ea typeface="Tahoma" pitchFamily="34" charset="0"/>
                <a:cs typeface="Times New Roman" pitchFamily="18" charset="0"/>
              </a:rPr>
              <a:t>String</a:t>
            </a:r>
            <a:r>
              <a:rPr lang="en-US" smtClean="0"/>
              <a:t> s1 = </a:t>
            </a:r>
            <a:r>
              <a:rPr lang="en-US">
                <a:solidFill>
                  <a:srgbClr val="FF0000"/>
                </a:solidFill>
              </a:rPr>
              <a:t>“</a:t>
            </a:r>
            <a:r>
              <a:rPr lang="en-US" smtClean="0"/>
              <a:t>Hello</a:t>
            </a:r>
            <a:r>
              <a:rPr lang="en-US" smtClean="0">
                <a:solidFill>
                  <a:srgbClr val="FF0000"/>
                </a:solidFill>
              </a:rPr>
              <a:t>”</a:t>
            </a:r>
            <a:r>
              <a:rPr lang="en-US" smtClean="0"/>
              <a:t>;</a:t>
            </a:r>
            <a:endParaRPr lang="en-US"/>
          </a:p>
          <a:p>
            <a:pPr lvl="1">
              <a:spcBef>
                <a:spcPts val="450"/>
              </a:spcBef>
              <a:spcAft>
                <a:spcPts val="450"/>
              </a:spcAft>
            </a:pPr>
            <a:r>
              <a:rPr lang="en-US" b="1" kern="1200">
                <a:solidFill>
                  <a:srgbClr val="0000FF"/>
                </a:solidFill>
                <a:latin typeface="Times New Roman" pitchFamily="18" charset="0"/>
                <a:ea typeface="Tahoma" pitchFamily="34" charset="0"/>
                <a:cs typeface="Times New Roman" pitchFamily="18" charset="0"/>
              </a:rPr>
              <a:t>String</a:t>
            </a:r>
            <a:r>
              <a:rPr lang="en-US" smtClean="0"/>
              <a:t> s2 = new </a:t>
            </a:r>
            <a:r>
              <a:rPr lang="en-US" b="1" kern="1200">
                <a:solidFill>
                  <a:srgbClr val="0000FF"/>
                </a:solidFill>
                <a:latin typeface="Times New Roman" pitchFamily="18" charset="0"/>
                <a:ea typeface="Tahoma" pitchFamily="34" charset="0"/>
                <a:cs typeface="Times New Roman" pitchFamily="18" charset="0"/>
              </a:rPr>
              <a:t>String</a:t>
            </a:r>
            <a:r>
              <a:rPr lang="en-US" smtClean="0"/>
              <a:t>(</a:t>
            </a:r>
            <a:r>
              <a:rPr lang="en-US">
                <a:solidFill>
                  <a:srgbClr val="FF0000"/>
                </a:solidFill>
              </a:rPr>
              <a:t>“</a:t>
            </a:r>
            <a:r>
              <a:rPr lang="en-US" smtClean="0"/>
              <a:t>Hello</a:t>
            </a:r>
            <a:r>
              <a:rPr lang="en-US">
                <a:solidFill>
                  <a:srgbClr val="FF0000"/>
                </a:solidFill>
              </a:rPr>
              <a:t>”</a:t>
            </a:r>
            <a:r>
              <a:rPr lang="en-US" smtClean="0"/>
              <a:t>);</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71</a:t>
            </a:fld>
            <a:endParaRPr lang="en-US"/>
          </a:p>
        </p:txBody>
      </p:sp>
    </p:spTree>
    <p:extLst>
      <p:ext uri="{BB962C8B-B14F-4D97-AF65-F5344CB8AC3E}">
        <p14:creationId xmlns:p14="http://schemas.microsoft.com/office/powerpoint/2010/main" val="164952516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4.1. Chuỗi ký tự - Lớp String (2)</a:t>
            </a:r>
            <a:endParaRPr lang="en-US"/>
          </a:p>
        </p:txBody>
      </p:sp>
      <p:sp>
        <p:nvSpPr>
          <p:cNvPr id="3" name="Content Placeholder 2"/>
          <p:cNvSpPr>
            <a:spLocks noGrp="1"/>
          </p:cNvSpPr>
          <p:nvPr>
            <p:ph idx="1"/>
          </p:nvPr>
        </p:nvSpPr>
        <p:spPr>
          <a:xfrm>
            <a:off x="1385646" y="2132860"/>
            <a:ext cx="6372708" cy="3765501"/>
          </a:xfrm>
        </p:spPr>
        <p:txBody>
          <a:bodyPr>
            <a:normAutofit/>
          </a:bodyPr>
          <a:lstStyle/>
          <a:p>
            <a:pPr>
              <a:spcAft>
                <a:spcPts val="450"/>
              </a:spcAft>
            </a:pPr>
            <a:r>
              <a:rPr lang="en-US" sz="2400" b="1">
                <a:solidFill>
                  <a:srgbClr val="0000FF"/>
                </a:solidFill>
                <a:latin typeface="Times New Roman" pitchFamily="18" charset="0"/>
                <a:cs typeface="Times New Roman" pitchFamily="18" charset="0"/>
              </a:rPr>
              <a:t>int </a:t>
            </a:r>
            <a:r>
              <a:rPr lang="en-US" sz="2400" b="1">
                <a:solidFill>
                  <a:srgbClr val="FF0000"/>
                </a:solidFill>
                <a:latin typeface="Times New Roman" pitchFamily="18" charset="0"/>
                <a:ea typeface="+mj-ea"/>
                <a:cs typeface="Times New Roman" pitchFamily="18" charset="0"/>
              </a:rPr>
              <a:t>length</a:t>
            </a:r>
            <a:r>
              <a:rPr lang="en-US" sz="2400" b="1">
                <a:solidFill>
                  <a:srgbClr val="003366"/>
                </a:solidFill>
                <a:latin typeface="Times New Roman" pitchFamily="18" charset="0"/>
                <a:ea typeface="+mj-ea"/>
                <a:cs typeface="Times New Roman" pitchFamily="18" charset="0"/>
              </a:rPr>
              <a:t>()</a:t>
            </a:r>
            <a:endParaRPr lang="en-US" sz="2400" b="1">
              <a:solidFill>
                <a:srgbClr val="003366"/>
              </a:solidFill>
              <a:latin typeface="Times New Roman" pitchFamily="18" charset="0"/>
              <a:ea typeface="+mj-ea"/>
              <a:cs typeface="Times New Roman" pitchFamily="18" charset="0"/>
            </a:endParaRPr>
          </a:p>
          <a:p>
            <a:pPr lvl="1">
              <a:spcAft>
                <a:spcPts val="450"/>
              </a:spcAft>
            </a:pPr>
            <a:r>
              <a:rPr lang="en-US" smtClean="0"/>
              <a:t>Trả về số ký tự của chuỗi</a:t>
            </a:r>
          </a:p>
          <a:p>
            <a:pPr lvl="1">
              <a:spcAft>
                <a:spcPts val="450"/>
              </a:spcAft>
            </a:pPr>
            <a:r>
              <a:rPr lang="en-US" smtClean="0"/>
              <a:t>Ví dụ: </a:t>
            </a:r>
            <a:r>
              <a:rPr lang="en-US" b="1" kern="1200">
                <a:solidFill>
                  <a:srgbClr val="0000FF"/>
                </a:solidFill>
                <a:latin typeface="Times New Roman" pitchFamily="18" charset="0"/>
                <a:ea typeface="Tahoma" pitchFamily="34" charset="0"/>
                <a:cs typeface="Times New Roman" pitchFamily="18" charset="0"/>
              </a:rPr>
              <a:t>String</a:t>
            </a:r>
            <a:r>
              <a:rPr lang="en-US" smtClean="0"/>
              <a:t> s = “Hello Java”</a:t>
            </a:r>
          </a:p>
          <a:p>
            <a:pPr lvl="1">
              <a:spcAft>
                <a:spcPts val="450"/>
              </a:spcAft>
            </a:pPr>
            <a:r>
              <a:rPr lang="en-US" b="1" kern="1200">
                <a:solidFill>
                  <a:srgbClr val="0000FF"/>
                </a:solidFill>
                <a:latin typeface="Times New Roman" pitchFamily="18" charset="0"/>
                <a:ea typeface="Tahoma" pitchFamily="34" charset="0"/>
                <a:cs typeface="Times New Roman" pitchFamily="18" charset="0"/>
              </a:rPr>
              <a:t>int</a:t>
            </a:r>
            <a:r>
              <a:rPr lang="en-US" smtClean="0"/>
              <a:t> n = s.length(); </a:t>
            </a:r>
            <a:r>
              <a:rPr lang="en-US" smtClean="0">
                <a:sym typeface="Wingdings" pitchFamily="2" charset="2"/>
              </a:rPr>
              <a:t> </a:t>
            </a:r>
            <a:r>
              <a:rPr lang="en-US" smtClean="0"/>
              <a:t>n = 10 </a:t>
            </a:r>
          </a:p>
          <a:p>
            <a:pPr>
              <a:spcAft>
                <a:spcPts val="450"/>
              </a:spcAft>
            </a:pPr>
            <a:r>
              <a:rPr lang="en-US" sz="2400" b="1">
                <a:solidFill>
                  <a:srgbClr val="0000FF"/>
                </a:solidFill>
                <a:latin typeface="Times New Roman" pitchFamily="18" charset="0"/>
                <a:cs typeface="Times New Roman" pitchFamily="18" charset="0"/>
              </a:rPr>
              <a:t>boolean</a:t>
            </a:r>
            <a:r>
              <a:rPr lang="en-US" smtClean="0"/>
              <a:t> </a:t>
            </a:r>
            <a:r>
              <a:rPr lang="en-US" sz="2400" b="1">
                <a:solidFill>
                  <a:srgbClr val="FF0000"/>
                </a:solidFill>
                <a:latin typeface="Times New Roman" pitchFamily="18" charset="0"/>
                <a:ea typeface="+mj-ea"/>
                <a:cs typeface="Times New Roman" pitchFamily="18" charset="0"/>
              </a:rPr>
              <a:t>equals</a:t>
            </a:r>
            <a:r>
              <a:rPr lang="en-US" smtClean="0"/>
              <a:t>(String str)</a:t>
            </a:r>
          </a:p>
          <a:p>
            <a:pPr lvl="1">
              <a:spcAft>
                <a:spcPts val="450"/>
              </a:spcAft>
            </a:pPr>
            <a:r>
              <a:rPr lang="en-US" smtClean="0"/>
              <a:t>Trả về true nếu 2 chuỗi giống hệt nhau, false nếu 2 chuỗi khác nhau.</a:t>
            </a:r>
          </a:p>
          <a:p>
            <a:pPr lvl="1">
              <a:spcAft>
                <a:spcPts val="450"/>
              </a:spcAft>
            </a:pPr>
            <a:r>
              <a:rPr lang="en-US" b="1" kern="1200">
                <a:solidFill>
                  <a:srgbClr val="0000FF"/>
                </a:solidFill>
                <a:latin typeface="Times New Roman" pitchFamily="18" charset="0"/>
                <a:ea typeface="Tahoma" pitchFamily="34" charset="0"/>
                <a:cs typeface="Times New Roman" pitchFamily="18" charset="0"/>
              </a:rPr>
              <a:t>boolean</a:t>
            </a:r>
            <a:r>
              <a:rPr lang="en-US" smtClean="0"/>
              <a:t> kt = s.</a:t>
            </a:r>
            <a:r>
              <a:rPr lang="en-US" smtClean="0">
                <a:solidFill>
                  <a:srgbClr val="FF0000"/>
                </a:solidFill>
              </a:rPr>
              <a:t>equals</a:t>
            </a:r>
            <a:r>
              <a:rPr lang="en-US" smtClean="0"/>
              <a:t>(“Hello Java”);</a:t>
            </a:r>
            <a:r>
              <a:rPr lang="en-US" smtClean="0">
                <a:sym typeface="Wingdings" pitchFamily="2" charset="2"/>
              </a:rPr>
              <a:t>kt=true</a:t>
            </a:r>
            <a:endParaRPr lang="en-US" smtClean="0"/>
          </a:p>
          <a:p>
            <a:pPr lvl="1" latinLnBrk="0"/>
            <a:endParaRPr lang="en-US" smtClean="0"/>
          </a:p>
          <a:p>
            <a:pPr lvl="1" latinLnBrk="0"/>
            <a:endParaRPr lang="en-US" smtClean="0"/>
          </a:p>
        </p:txBody>
      </p:sp>
      <p:sp>
        <p:nvSpPr>
          <p:cNvPr id="4" name="Slide Number Placeholder 3"/>
          <p:cNvSpPr>
            <a:spLocks noGrp="1"/>
          </p:cNvSpPr>
          <p:nvPr>
            <p:ph type="sldNum" sz="quarter" idx="12"/>
          </p:nvPr>
        </p:nvSpPr>
        <p:spPr/>
        <p:txBody>
          <a:bodyPr/>
          <a:lstStyle/>
          <a:p>
            <a:fld id="{E3E8E051-591C-4566-9813-B4BB16D377BD}" type="slidenum">
              <a:rPr lang="en-US" smtClean="0"/>
              <a:pPr/>
              <a:t>72</a:t>
            </a:fld>
            <a:endParaRPr lang="en-US"/>
          </a:p>
        </p:txBody>
      </p:sp>
      <p:sp>
        <p:nvSpPr>
          <p:cNvPr id="5" name="Content Placeholder 2"/>
          <p:cNvSpPr txBox="1">
            <a:spLocks/>
          </p:cNvSpPr>
          <p:nvPr/>
        </p:nvSpPr>
        <p:spPr bwMode="auto">
          <a:xfrm>
            <a:off x="1385646" y="1745940"/>
            <a:ext cx="6372708" cy="5400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normAutofit/>
          </a:bodyPr>
          <a:lstStyle>
            <a:lvl1pPr marL="342900" indent="-342900" algn="just" rtl="0" eaLnBrk="0" fontAlgn="base" latinLnBrk="1" hangingPunct="0">
              <a:spcBef>
                <a:spcPct val="20000"/>
              </a:spcBef>
              <a:spcAft>
                <a:spcPct val="0"/>
              </a:spcAft>
              <a:buFont typeface="Wingdings" pitchFamily="2" charset="2"/>
              <a:buChar char="v"/>
              <a:defRPr sz="3000">
                <a:solidFill>
                  <a:schemeClr val="tx1"/>
                </a:solidFill>
                <a:latin typeface="Arial" pitchFamily="34" charset="0"/>
                <a:ea typeface="+mn-ea"/>
                <a:cs typeface="Arial" pitchFamily="34" charset="0"/>
              </a:defRPr>
            </a:lvl1pPr>
            <a:lvl2pPr marL="742950" indent="-285750" algn="just" rtl="0" eaLnBrk="0" fontAlgn="base" latinLnBrk="1" hangingPunct="0">
              <a:spcBef>
                <a:spcPct val="20000"/>
              </a:spcBef>
              <a:spcAft>
                <a:spcPct val="0"/>
              </a:spcAft>
              <a:buFont typeface="Wingdings" pitchFamily="2" charset="2"/>
              <a:buChar char="§"/>
              <a:defRPr sz="3000">
                <a:solidFill>
                  <a:schemeClr val="tx1"/>
                </a:solidFill>
                <a:latin typeface="Arial" pitchFamily="34" charset="0"/>
                <a:ea typeface="+mn-ea"/>
                <a:cs typeface="Arial" pitchFamily="34" charset="0"/>
              </a:defRPr>
            </a:lvl2pPr>
            <a:lvl3pPr marL="1143000" indent="-228600" algn="l" rtl="0" eaLnBrk="0" fontAlgn="base" latinLnBrk="1" hangingPunct="0">
              <a:spcBef>
                <a:spcPct val="20000"/>
              </a:spcBef>
              <a:spcAft>
                <a:spcPct val="0"/>
              </a:spcAft>
              <a:buChar char="•"/>
              <a:defRPr sz="2800">
                <a:solidFill>
                  <a:schemeClr val="tx1"/>
                </a:solidFill>
                <a:latin typeface="Arial" pitchFamily="34" charset="0"/>
                <a:ea typeface="+mn-ea"/>
                <a:cs typeface="Arial" pitchFamily="34" charset="0"/>
              </a:defRPr>
            </a:lvl3pPr>
            <a:lvl4pPr marL="1600200" indent="-228600" algn="l" rtl="0" eaLnBrk="0" fontAlgn="base" latinLnBrk="1" hangingPunct="0">
              <a:spcBef>
                <a:spcPct val="20000"/>
              </a:spcBef>
              <a:spcAft>
                <a:spcPct val="0"/>
              </a:spcAft>
              <a:buChar char="•"/>
              <a:defRPr sz="1800">
                <a:solidFill>
                  <a:schemeClr val="tx1"/>
                </a:solidFill>
                <a:latin typeface="Arial" pitchFamily="34" charset="0"/>
                <a:ea typeface="+mn-ea"/>
                <a:cs typeface="Arial" pitchFamily="34" charset="0"/>
              </a:defRPr>
            </a:lvl4pPr>
            <a:lvl5pPr marL="2057400" indent="-228600" algn="l" rtl="0" eaLnBrk="0" fontAlgn="base" latinLnBrk="1" hangingPunct="0">
              <a:spcBef>
                <a:spcPct val="20000"/>
              </a:spcBef>
              <a:spcAft>
                <a:spcPct val="0"/>
              </a:spcAft>
              <a:buChar char="•"/>
              <a:defRPr sz="1600">
                <a:solidFill>
                  <a:schemeClr val="tx1"/>
                </a:solidFill>
                <a:latin typeface="Arial" pitchFamily="34" charset="0"/>
                <a:ea typeface="+mn-ea"/>
                <a:cs typeface="Arial" pitchFamily="34" charset="0"/>
              </a:defRPr>
            </a:lvl5pPr>
            <a:lvl6pPr marL="2514600" indent="-228600" algn="l" rtl="0" eaLnBrk="0" fontAlgn="base" latinLnBrk="1" hangingPunct="0">
              <a:spcBef>
                <a:spcPct val="20000"/>
              </a:spcBef>
              <a:spcAft>
                <a:spcPct val="0"/>
              </a:spcAft>
              <a:buChar char="•"/>
              <a:defRPr sz="1400">
                <a:solidFill>
                  <a:schemeClr val="tx1"/>
                </a:solidFill>
                <a:latin typeface="+mn-lt"/>
                <a:ea typeface="+mn-ea"/>
              </a:defRPr>
            </a:lvl6pPr>
            <a:lvl7pPr marL="2971800" indent="-228600" algn="l" rtl="0" eaLnBrk="0" fontAlgn="base" latinLnBrk="1" hangingPunct="0">
              <a:spcBef>
                <a:spcPct val="20000"/>
              </a:spcBef>
              <a:spcAft>
                <a:spcPct val="0"/>
              </a:spcAft>
              <a:buChar char="•"/>
              <a:defRPr sz="1400">
                <a:solidFill>
                  <a:schemeClr val="tx1"/>
                </a:solidFill>
                <a:latin typeface="+mn-lt"/>
                <a:ea typeface="+mn-ea"/>
              </a:defRPr>
            </a:lvl7pPr>
            <a:lvl8pPr marL="3429000" indent="-228600" algn="l" rtl="0" eaLnBrk="0" fontAlgn="base" latinLnBrk="1" hangingPunct="0">
              <a:spcBef>
                <a:spcPct val="20000"/>
              </a:spcBef>
              <a:spcAft>
                <a:spcPct val="0"/>
              </a:spcAft>
              <a:buChar char="•"/>
              <a:defRPr sz="1400">
                <a:solidFill>
                  <a:schemeClr val="tx1"/>
                </a:solidFill>
                <a:latin typeface="+mn-lt"/>
                <a:ea typeface="+mn-ea"/>
              </a:defRPr>
            </a:lvl8pPr>
            <a:lvl9pPr marL="3886200" indent="-228600" algn="l" rtl="0" eaLnBrk="0" fontAlgn="base" latinLnBrk="1" hangingPunct="0">
              <a:spcBef>
                <a:spcPct val="20000"/>
              </a:spcBef>
              <a:spcAft>
                <a:spcPct val="0"/>
              </a:spcAft>
              <a:buChar char="•"/>
              <a:defRPr sz="1400">
                <a:solidFill>
                  <a:schemeClr val="tx1"/>
                </a:solidFill>
                <a:latin typeface="+mn-lt"/>
                <a:ea typeface="+mn-ea"/>
              </a:defRPr>
            </a:lvl9pPr>
          </a:lstStyle>
          <a:p>
            <a:pPr marL="0" indent="0" latinLnBrk="0">
              <a:buNone/>
            </a:pPr>
            <a:r>
              <a:rPr lang="en-US" sz="2550" b="1">
                <a:solidFill>
                  <a:srgbClr val="003366"/>
                </a:solidFill>
                <a:latin typeface="Times New Roman" pitchFamily="18" charset="0"/>
                <a:ea typeface="+mj-ea"/>
                <a:cs typeface="Times New Roman" pitchFamily="18" charset="0"/>
              </a:rPr>
              <a:t>Một số phương thức thông dụng</a:t>
            </a:r>
          </a:p>
        </p:txBody>
      </p:sp>
    </p:spTree>
    <p:extLst>
      <p:ext uri="{BB962C8B-B14F-4D97-AF65-F5344CB8AC3E}">
        <p14:creationId xmlns:p14="http://schemas.microsoft.com/office/powerpoint/2010/main" val="8364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up)">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up)">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up)">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4.1. Chuỗi ký tự - Lớp String (3)</a:t>
            </a:r>
            <a:endParaRPr lang="en-US"/>
          </a:p>
        </p:txBody>
      </p:sp>
      <p:sp>
        <p:nvSpPr>
          <p:cNvPr id="3" name="Content Placeholder 2"/>
          <p:cNvSpPr>
            <a:spLocks noGrp="1"/>
          </p:cNvSpPr>
          <p:nvPr>
            <p:ph idx="1"/>
          </p:nvPr>
        </p:nvSpPr>
        <p:spPr>
          <a:xfrm>
            <a:off x="1385646" y="2144059"/>
            <a:ext cx="6372708" cy="3456644"/>
          </a:xfrm>
        </p:spPr>
        <p:txBody>
          <a:bodyPr>
            <a:normAutofit/>
          </a:bodyPr>
          <a:lstStyle/>
          <a:p>
            <a:pPr>
              <a:spcAft>
                <a:spcPts val="450"/>
              </a:spcAft>
            </a:pPr>
            <a:r>
              <a:rPr lang="en-US" sz="2400" b="1">
                <a:solidFill>
                  <a:srgbClr val="0000FF"/>
                </a:solidFill>
                <a:latin typeface="Times New Roman" pitchFamily="18" charset="0"/>
                <a:cs typeface="Times New Roman" pitchFamily="18" charset="0"/>
              </a:rPr>
              <a:t>String </a:t>
            </a:r>
            <a:r>
              <a:rPr lang="en-US" sz="2400" b="1">
                <a:solidFill>
                  <a:srgbClr val="FF0000"/>
                </a:solidFill>
                <a:latin typeface="Times New Roman" pitchFamily="18" charset="0"/>
                <a:ea typeface="+mj-ea"/>
                <a:cs typeface="Times New Roman" pitchFamily="18" charset="0"/>
              </a:rPr>
              <a:t>trim</a:t>
            </a:r>
            <a:r>
              <a:rPr lang="en-US" sz="2400" b="1">
                <a:solidFill>
                  <a:srgbClr val="003366"/>
                </a:solidFill>
                <a:latin typeface="Times New Roman" pitchFamily="18" charset="0"/>
                <a:ea typeface="+mj-ea"/>
                <a:cs typeface="Times New Roman" pitchFamily="18" charset="0"/>
              </a:rPr>
              <a:t>()</a:t>
            </a:r>
            <a:endParaRPr lang="en-US" sz="2400" b="1">
              <a:solidFill>
                <a:srgbClr val="003366"/>
              </a:solidFill>
              <a:latin typeface="Times New Roman" pitchFamily="18" charset="0"/>
              <a:ea typeface="+mj-ea"/>
              <a:cs typeface="Times New Roman" pitchFamily="18" charset="0"/>
            </a:endParaRPr>
          </a:p>
          <a:p>
            <a:pPr lvl="1">
              <a:spcAft>
                <a:spcPts val="450"/>
              </a:spcAft>
            </a:pPr>
            <a:r>
              <a:rPr lang="en-US" sz="2400"/>
              <a:t>Trả về chuỗi sau khi cắt các khoảng trắng thừa.</a:t>
            </a:r>
          </a:p>
          <a:p>
            <a:pPr>
              <a:spcAft>
                <a:spcPts val="450"/>
              </a:spcAft>
            </a:pPr>
            <a:r>
              <a:rPr lang="en-US" sz="2400" b="1">
                <a:solidFill>
                  <a:srgbClr val="0000FF"/>
                </a:solidFill>
                <a:latin typeface="Times New Roman" pitchFamily="18" charset="0"/>
                <a:cs typeface="Times New Roman" pitchFamily="18" charset="0"/>
              </a:rPr>
              <a:t>boolean</a:t>
            </a:r>
            <a:r>
              <a:rPr lang="en-US" smtClean="0"/>
              <a:t> </a:t>
            </a:r>
            <a:r>
              <a:rPr lang="en-US" sz="2400" b="1">
                <a:solidFill>
                  <a:srgbClr val="FF0000"/>
                </a:solidFill>
                <a:latin typeface="Times New Roman" pitchFamily="18" charset="0"/>
                <a:ea typeface="+mj-ea"/>
                <a:cs typeface="Times New Roman" pitchFamily="18" charset="0"/>
              </a:rPr>
              <a:t>isEmpty</a:t>
            </a:r>
            <a:r>
              <a:rPr lang="en-US" smtClean="0"/>
              <a:t>()</a:t>
            </a:r>
          </a:p>
          <a:p>
            <a:pPr lvl="1">
              <a:spcAft>
                <a:spcPts val="450"/>
              </a:spcAft>
            </a:pPr>
            <a:r>
              <a:rPr lang="en-US" sz="2400"/>
              <a:t>Trả về true nếu chuỗi là một chuỗi rỗng (length = 0), ngược lại là false.</a:t>
            </a:r>
          </a:p>
          <a:p>
            <a:pPr lvl="1">
              <a:spcAft>
                <a:spcPts val="450"/>
              </a:spcAft>
            </a:pPr>
            <a:r>
              <a:rPr lang="en-US" sz="2400" b="1">
                <a:solidFill>
                  <a:srgbClr val="0000FF"/>
                </a:solidFill>
                <a:latin typeface="Times New Roman" pitchFamily="18" charset="0"/>
                <a:cs typeface="Times New Roman" pitchFamily="18" charset="0"/>
              </a:rPr>
              <a:t>boolean</a:t>
            </a:r>
            <a:r>
              <a:rPr lang="en-US" sz="2400"/>
              <a:t> kt = s.</a:t>
            </a:r>
            <a:r>
              <a:rPr lang="en-US" sz="2400">
                <a:solidFill>
                  <a:srgbClr val="FF0000"/>
                </a:solidFill>
              </a:rPr>
              <a:t>isEmpty()</a:t>
            </a:r>
            <a:r>
              <a:rPr lang="en-US" sz="2400"/>
              <a:t>; </a:t>
            </a:r>
            <a:r>
              <a:rPr lang="en-US" sz="2400">
                <a:sym typeface="Wingdings" pitchFamily="2" charset="2"/>
              </a:rPr>
              <a:t>kt = fasle</a:t>
            </a:r>
            <a:endParaRPr lang="en-US" sz="2400"/>
          </a:p>
          <a:p>
            <a:pPr marL="342900" lvl="1" indent="0">
              <a:spcAft>
                <a:spcPts val="450"/>
              </a:spcAft>
              <a:buNone/>
            </a:pPr>
            <a:endParaRPr lang="en-US" smtClean="0"/>
          </a:p>
        </p:txBody>
      </p:sp>
      <p:sp>
        <p:nvSpPr>
          <p:cNvPr id="4" name="Slide Number Placeholder 3"/>
          <p:cNvSpPr>
            <a:spLocks noGrp="1"/>
          </p:cNvSpPr>
          <p:nvPr>
            <p:ph type="sldNum" sz="quarter" idx="12"/>
          </p:nvPr>
        </p:nvSpPr>
        <p:spPr/>
        <p:txBody>
          <a:bodyPr/>
          <a:lstStyle/>
          <a:p>
            <a:fld id="{E3E8E051-591C-4566-9813-B4BB16D377BD}" type="slidenum">
              <a:rPr lang="en-US" smtClean="0"/>
              <a:pPr/>
              <a:t>73</a:t>
            </a:fld>
            <a:endParaRPr lang="en-US"/>
          </a:p>
        </p:txBody>
      </p:sp>
      <p:sp>
        <p:nvSpPr>
          <p:cNvPr id="5" name="Content Placeholder 2"/>
          <p:cNvSpPr txBox="1">
            <a:spLocks/>
          </p:cNvSpPr>
          <p:nvPr/>
        </p:nvSpPr>
        <p:spPr bwMode="auto">
          <a:xfrm>
            <a:off x="1385646" y="1745940"/>
            <a:ext cx="6372708" cy="5400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normAutofit/>
          </a:bodyPr>
          <a:lstStyle>
            <a:lvl1pPr marL="342900" indent="-342900" algn="just" rtl="0" eaLnBrk="0" fontAlgn="base" latinLnBrk="1" hangingPunct="0">
              <a:spcBef>
                <a:spcPct val="20000"/>
              </a:spcBef>
              <a:spcAft>
                <a:spcPct val="0"/>
              </a:spcAft>
              <a:buFont typeface="Wingdings" pitchFamily="2" charset="2"/>
              <a:buChar char="v"/>
              <a:defRPr sz="3000">
                <a:solidFill>
                  <a:schemeClr val="tx1"/>
                </a:solidFill>
                <a:latin typeface="Arial" pitchFamily="34" charset="0"/>
                <a:ea typeface="+mn-ea"/>
                <a:cs typeface="Arial" pitchFamily="34" charset="0"/>
              </a:defRPr>
            </a:lvl1pPr>
            <a:lvl2pPr marL="742950" indent="-285750" algn="just" rtl="0" eaLnBrk="0" fontAlgn="base" latinLnBrk="1" hangingPunct="0">
              <a:spcBef>
                <a:spcPct val="20000"/>
              </a:spcBef>
              <a:spcAft>
                <a:spcPct val="0"/>
              </a:spcAft>
              <a:buFont typeface="Wingdings" pitchFamily="2" charset="2"/>
              <a:buChar char="§"/>
              <a:defRPr sz="3000">
                <a:solidFill>
                  <a:schemeClr val="tx1"/>
                </a:solidFill>
                <a:latin typeface="Arial" pitchFamily="34" charset="0"/>
                <a:ea typeface="+mn-ea"/>
                <a:cs typeface="Arial" pitchFamily="34" charset="0"/>
              </a:defRPr>
            </a:lvl2pPr>
            <a:lvl3pPr marL="1143000" indent="-228600" algn="l" rtl="0" eaLnBrk="0" fontAlgn="base" latinLnBrk="1" hangingPunct="0">
              <a:spcBef>
                <a:spcPct val="20000"/>
              </a:spcBef>
              <a:spcAft>
                <a:spcPct val="0"/>
              </a:spcAft>
              <a:buChar char="•"/>
              <a:defRPr sz="2800">
                <a:solidFill>
                  <a:schemeClr val="tx1"/>
                </a:solidFill>
                <a:latin typeface="Arial" pitchFamily="34" charset="0"/>
                <a:ea typeface="+mn-ea"/>
                <a:cs typeface="Arial" pitchFamily="34" charset="0"/>
              </a:defRPr>
            </a:lvl3pPr>
            <a:lvl4pPr marL="1600200" indent="-228600" algn="l" rtl="0" eaLnBrk="0" fontAlgn="base" latinLnBrk="1" hangingPunct="0">
              <a:spcBef>
                <a:spcPct val="20000"/>
              </a:spcBef>
              <a:spcAft>
                <a:spcPct val="0"/>
              </a:spcAft>
              <a:buChar char="•"/>
              <a:defRPr sz="1800">
                <a:solidFill>
                  <a:schemeClr val="tx1"/>
                </a:solidFill>
                <a:latin typeface="Arial" pitchFamily="34" charset="0"/>
                <a:ea typeface="+mn-ea"/>
                <a:cs typeface="Arial" pitchFamily="34" charset="0"/>
              </a:defRPr>
            </a:lvl4pPr>
            <a:lvl5pPr marL="2057400" indent="-228600" algn="l" rtl="0" eaLnBrk="0" fontAlgn="base" latinLnBrk="1" hangingPunct="0">
              <a:spcBef>
                <a:spcPct val="20000"/>
              </a:spcBef>
              <a:spcAft>
                <a:spcPct val="0"/>
              </a:spcAft>
              <a:buChar char="•"/>
              <a:defRPr sz="1600">
                <a:solidFill>
                  <a:schemeClr val="tx1"/>
                </a:solidFill>
                <a:latin typeface="Arial" pitchFamily="34" charset="0"/>
                <a:ea typeface="+mn-ea"/>
                <a:cs typeface="Arial" pitchFamily="34" charset="0"/>
              </a:defRPr>
            </a:lvl5pPr>
            <a:lvl6pPr marL="2514600" indent="-228600" algn="l" rtl="0" eaLnBrk="0" fontAlgn="base" latinLnBrk="1" hangingPunct="0">
              <a:spcBef>
                <a:spcPct val="20000"/>
              </a:spcBef>
              <a:spcAft>
                <a:spcPct val="0"/>
              </a:spcAft>
              <a:buChar char="•"/>
              <a:defRPr sz="1400">
                <a:solidFill>
                  <a:schemeClr val="tx1"/>
                </a:solidFill>
                <a:latin typeface="+mn-lt"/>
                <a:ea typeface="+mn-ea"/>
              </a:defRPr>
            </a:lvl6pPr>
            <a:lvl7pPr marL="2971800" indent="-228600" algn="l" rtl="0" eaLnBrk="0" fontAlgn="base" latinLnBrk="1" hangingPunct="0">
              <a:spcBef>
                <a:spcPct val="20000"/>
              </a:spcBef>
              <a:spcAft>
                <a:spcPct val="0"/>
              </a:spcAft>
              <a:buChar char="•"/>
              <a:defRPr sz="1400">
                <a:solidFill>
                  <a:schemeClr val="tx1"/>
                </a:solidFill>
                <a:latin typeface="+mn-lt"/>
                <a:ea typeface="+mn-ea"/>
              </a:defRPr>
            </a:lvl7pPr>
            <a:lvl8pPr marL="3429000" indent="-228600" algn="l" rtl="0" eaLnBrk="0" fontAlgn="base" latinLnBrk="1" hangingPunct="0">
              <a:spcBef>
                <a:spcPct val="20000"/>
              </a:spcBef>
              <a:spcAft>
                <a:spcPct val="0"/>
              </a:spcAft>
              <a:buChar char="•"/>
              <a:defRPr sz="1400">
                <a:solidFill>
                  <a:schemeClr val="tx1"/>
                </a:solidFill>
                <a:latin typeface="+mn-lt"/>
                <a:ea typeface="+mn-ea"/>
              </a:defRPr>
            </a:lvl8pPr>
            <a:lvl9pPr marL="3886200" indent="-228600" algn="l" rtl="0" eaLnBrk="0" fontAlgn="base" latinLnBrk="1" hangingPunct="0">
              <a:spcBef>
                <a:spcPct val="20000"/>
              </a:spcBef>
              <a:spcAft>
                <a:spcPct val="0"/>
              </a:spcAft>
              <a:buChar char="•"/>
              <a:defRPr sz="1400">
                <a:solidFill>
                  <a:schemeClr val="tx1"/>
                </a:solidFill>
                <a:latin typeface="+mn-lt"/>
                <a:ea typeface="+mn-ea"/>
              </a:defRPr>
            </a:lvl9pPr>
          </a:lstStyle>
          <a:p>
            <a:pPr marL="0" indent="0" latinLnBrk="0">
              <a:buNone/>
            </a:pPr>
            <a:r>
              <a:rPr lang="en-US" sz="2550" b="1">
                <a:solidFill>
                  <a:srgbClr val="003366"/>
                </a:solidFill>
                <a:latin typeface="Times New Roman" pitchFamily="18" charset="0"/>
                <a:ea typeface="+mj-ea"/>
                <a:cs typeface="Times New Roman" pitchFamily="18" charset="0"/>
              </a:rPr>
              <a:t>Một số phương thức thông dụng</a:t>
            </a:r>
          </a:p>
        </p:txBody>
      </p:sp>
    </p:spTree>
    <p:extLst>
      <p:ext uri="{BB962C8B-B14F-4D97-AF65-F5344CB8AC3E}">
        <p14:creationId xmlns:p14="http://schemas.microsoft.com/office/powerpoint/2010/main" val="4200033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up)">
                                      <p:cBhvr>
                                        <p:cTn id="18" dur="500"/>
                                        <p:tgtEl>
                                          <p:spTgt spid="3">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4.1. Chuỗi ký tự - Lớp String (4)</a:t>
            </a:r>
            <a:endParaRPr lang="en-US"/>
          </a:p>
        </p:txBody>
      </p:sp>
      <p:sp>
        <p:nvSpPr>
          <p:cNvPr id="3" name="Content Placeholder 2"/>
          <p:cNvSpPr>
            <a:spLocks noGrp="1"/>
          </p:cNvSpPr>
          <p:nvPr>
            <p:ph idx="1"/>
          </p:nvPr>
        </p:nvSpPr>
        <p:spPr>
          <a:xfrm>
            <a:off x="1385646" y="2201209"/>
            <a:ext cx="6372708" cy="3456644"/>
          </a:xfrm>
        </p:spPr>
        <p:txBody>
          <a:bodyPr>
            <a:normAutofit/>
          </a:bodyPr>
          <a:lstStyle/>
          <a:p>
            <a:pPr latinLnBrk="0"/>
            <a:r>
              <a:rPr lang="en-US" sz="2400" b="1">
                <a:solidFill>
                  <a:srgbClr val="0000FF"/>
                </a:solidFill>
                <a:latin typeface="Times New Roman" pitchFamily="18" charset="0"/>
                <a:cs typeface="Times New Roman" pitchFamily="18" charset="0"/>
              </a:rPr>
              <a:t>String </a:t>
            </a:r>
            <a:r>
              <a:rPr lang="en-US" sz="2400" b="1">
                <a:solidFill>
                  <a:srgbClr val="FF0000"/>
                </a:solidFill>
                <a:latin typeface="Times New Roman" pitchFamily="18" charset="0"/>
                <a:ea typeface="+mj-ea"/>
                <a:cs typeface="Times New Roman" pitchFamily="18" charset="0"/>
              </a:rPr>
              <a:t>toUpperCase</a:t>
            </a:r>
            <a:r>
              <a:rPr lang="en-US" sz="2400" b="1">
                <a:solidFill>
                  <a:srgbClr val="003366"/>
                </a:solidFill>
                <a:latin typeface="Times New Roman" pitchFamily="18" charset="0"/>
                <a:ea typeface="+mj-ea"/>
                <a:cs typeface="Times New Roman" pitchFamily="18" charset="0"/>
              </a:rPr>
              <a:t>()</a:t>
            </a:r>
            <a:endParaRPr lang="en-US" sz="2400" b="1">
              <a:solidFill>
                <a:srgbClr val="003366"/>
              </a:solidFill>
              <a:latin typeface="Times New Roman" pitchFamily="18" charset="0"/>
              <a:ea typeface="+mj-ea"/>
              <a:cs typeface="Times New Roman" pitchFamily="18" charset="0"/>
            </a:endParaRPr>
          </a:p>
          <a:p>
            <a:pPr lvl="1" latinLnBrk="0"/>
            <a:r>
              <a:rPr lang="en-US" sz="2250"/>
              <a:t>Trả về chuỗi sau khi chuyển toàn bộ sang chữ hoa.</a:t>
            </a:r>
          </a:p>
          <a:p>
            <a:pPr lvl="1" latinLnBrk="0"/>
            <a:r>
              <a:rPr lang="en-US" sz="2250"/>
              <a:t>s.toUpperCase(); </a:t>
            </a:r>
            <a:r>
              <a:rPr lang="en-US" sz="2250">
                <a:sym typeface="Wingdings" pitchFamily="2" charset="2"/>
              </a:rPr>
              <a:t> s = “HELLO JAVA”</a:t>
            </a:r>
            <a:endParaRPr lang="en-US" sz="2250"/>
          </a:p>
          <a:p>
            <a:pPr latinLnBrk="0"/>
            <a:r>
              <a:rPr lang="en-US" sz="2400" b="1">
                <a:solidFill>
                  <a:srgbClr val="0000FF"/>
                </a:solidFill>
                <a:latin typeface="Times New Roman" pitchFamily="18" charset="0"/>
                <a:cs typeface="Times New Roman" pitchFamily="18" charset="0"/>
              </a:rPr>
              <a:t>String </a:t>
            </a:r>
            <a:r>
              <a:rPr lang="en-US" sz="2400" b="1">
                <a:solidFill>
                  <a:srgbClr val="FF0000"/>
                </a:solidFill>
                <a:latin typeface="Times New Roman" pitchFamily="18" charset="0"/>
                <a:cs typeface="Times New Roman" pitchFamily="18" charset="0"/>
              </a:rPr>
              <a:t>toLowerCase</a:t>
            </a:r>
            <a:r>
              <a:rPr lang="en-US" sz="2400" b="1">
                <a:solidFill>
                  <a:srgbClr val="003366"/>
                </a:solidFill>
                <a:latin typeface="Times New Roman" pitchFamily="18" charset="0"/>
                <a:cs typeface="Times New Roman" pitchFamily="18" charset="0"/>
              </a:rPr>
              <a:t>()</a:t>
            </a:r>
          </a:p>
          <a:p>
            <a:pPr lvl="1" latinLnBrk="0"/>
            <a:r>
              <a:rPr lang="en-US" sz="2250"/>
              <a:t>Trả về chuỗi sau khi chuyển toàn bộ sang chữ </a:t>
            </a:r>
            <a:r>
              <a:rPr lang="en-US" sz="2250"/>
              <a:t>thường.</a:t>
            </a:r>
            <a:endParaRPr lang="en-US" sz="2250"/>
          </a:p>
          <a:p>
            <a:pPr lvl="1" latinLnBrk="0"/>
            <a:r>
              <a:rPr lang="en-US" sz="2250"/>
              <a:t>s.toLowerCase</a:t>
            </a:r>
            <a:r>
              <a:rPr lang="en-US" sz="2250"/>
              <a:t>(); </a:t>
            </a:r>
            <a:r>
              <a:rPr lang="en-US" sz="2250">
                <a:sym typeface="Wingdings" pitchFamily="2" charset="2"/>
              </a:rPr>
              <a:t> s = </a:t>
            </a:r>
            <a:r>
              <a:rPr lang="en-US" sz="2250">
                <a:sym typeface="Wingdings" pitchFamily="2" charset="2"/>
              </a:rPr>
              <a:t>“hello java”</a:t>
            </a:r>
            <a:endParaRPr lang="en-US" sz="2250"/>
          </a:p>
          <a:p>
            <a:pPr marL="342900" lvl="1" indent="0">
              <a:buNone/>
            </a:pPr>
            <a:endParaRPr lang="en-US" smtClean="0"/>
          </a:p>
          <a:p>
            <a:pPr lvl="1" latinLnBrk="0"/>
            <a:endParaRPr lang="en-US" smtClean="0"/>
          </a:p>
        </p:txBody>
      </p:sp>
      <p:sp>
        <p:nvSpPr>
          <p:cNvPr id="4" name="Slide Number Placeholder 3"/>
          <p:cNvSpPr>
            <a:spLocks noGrp="1"/>
          </p:cNvSpPr>
          <p:nvPr>
            <p:ph type="sldNum" sz="quarter" idx="12"/>
          </p:nvPr>
        </p:nvSpPr>
        <p:spPr/>
        <p:txBody>
          <a:bodyPr/>
          <a:lstStyle/>
          <a:p>
            <a:fld id="{E3E8E051-591C-4566-9813-B4BB16D377BD}" type="slidenum">
              <a:rPr lang="en-US" smtClean="0"/>
              <a:pPr/>
              <a:t>74</a:t>
            </a:fld>
            <a:endParaRPr lang="en-US"/>
          </a:p>
        </p:txBody>
      </p:sp>
      <p:sp>
        <p:nvSpPr>
          <p:cNvPr id="5" name="Content Placeholder 2"/>
          <p:cNvSpPr txBox="1">
            <a:spLocks/>
          </p:cNvSpPr>
          <p:nvPr/>
        </p:nvSpPr>
        <p:spPr bwMode="auto">
          <a:xfrm>
            <a:off x="1385646" y="1700808"/>
            <a:ext cx="6372708" cy="5400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normAutofit/>
          </a:bodyPr>
          <a:lstStyle>
            <a:lvl1pPr marL="342900" indent="-342900" algn="just" rtl="0" eaLnBrk="0" fontAlgn="base" latinLnBrk="1" hangingPunct="0">
              <a:spcBef>
                <a:spcPct val="20000"/>
              </a:spcBef>
              <a:spcAft>
                <a:spcPct val="0"/>
              </a:spcAft>
              <a:buFont typeface="Wingdings" pitchFamily="2" charset="2"/>
              <a:buChar char="v"/>
              <a:defRPr sz="3000">
                <a:solidFill>
                  <a:schemeClr val="tx1"/>
                </a:solidFill>
                <a:latin typeface="Arial" pitchFamily="34" charset="0"/>
                <a:ea typeface="+mn-ea"/>
                <a:cs typeface="Arial" pitchFamily="34" charset="0"/>
              </a:defRPr>
            </a:lvl1pPr>
            <a:lvl2pPr marL="742950" indent="-285750" algn="just" rtl="0" eaLnBrk="0" fontAlgn="base" latinLnBrk="1" hangingPunct="0">
              <a:spcBef>
                <a:spcPct val="20000"/>
              </a:spcBef>
              <a:spcAft>
                <a:spcPct val="0"/>
              </a:spcAft>
              <a:buFont typeface="Wingdings" pitchFamily="2" charset="2"/>
              <a:buChar char="§"/>
              <a:defRPr sz="3000">
                <a:solidFill>
                  <a:schemeClr val="tx1"/>
                </a:solidFill>
                <a:latin typeface="Arial" pitchFamily="34" charset="0"/>
                <a:ea typeface="+mn-ea"/>
                <a:cs typeface="Arial" pitchFamily="34" charset="0"/>
              </a:defRPr>
            </a:lvl2pPr>
            <a:lvl3pPr marL="1143000" indent="-228600" algn="l" rtl="0" eaLnBrk="0" fontAlgn="base" latinLnBrk="1" hangingPunct="0">
              <a:spcBef>
                <a:spcPct val="20000"/>
              </a:spcBef>
              <a:spcAft>
                <a:spcPct val="0"/>
              </a:spcAft>
              <a:buChar char="•"/>
              <a:defRPr sz="2800">
                <a:solidFill>
                  <a:schemeClr val="tx1"/>
                </a:solidFill>
                <a:latin typeface="Arial" pitchFamily="34" charset="0"/>
                <a:ea typeface="+mn-ea"/>
                <a:cs typeface="Arial" pitchFamily="34" charset="0"/>
              </a:defRPr>
            </a:lvl3pPr>
            <a:lvl4pPr marL="1600200" indent="-228600" algn="l" rtl="0" eaLnBrk="0" fontAlgn="base" latinLnBrk="1" hangingPunct="0">
              <a:spcBef>
                <a:spcPct val="20000"/>
              </a:spcBef>
              <a:spcAft>
                <a:spcPct val="0"/>
              </a:spcAft>
              <a:buChar char="•"/>
              <a:defRPr sz="1800">
                <a:solidFill>
                  <a:schemeClr val="tx1"/>
                </a:solidFill>
                <a:latin typeface="Arial" pitchFamily="34" charset="0"/>
                <a:ea typeface="+mn-ea"/>
                <a:cs typeface="Arial" pitchFamily="34" charset="0"/>
              </a:defRPr>
            </a:lvl4pPr>
            <a:lvl5pPr marL="2057400" indent="-228600" algn="l" rtl="0" eaLnBrk="0" fontAlgn="base" latinLnBrk="1" hangingPunct="0">
              <a:spcBef>
                <a:spcPct val="20000"/>
              </a:spcBef>
              <a:spcAft>
                <a:spcPct val="0"/>
              </a:spcAft>
              <a:buChar char="•"/>
              <a:defRPr sz="1600">
                <a:solidFill>
                  <a:schemeClr val="tx1"/>
                </a:solidFill>
                <a:latin typeface="Arial" pitchFamily="34" charset="0"/>
                <a:ea typeface="+mn-ea"/>
                <a:cs typeface="Arial" pitchFamily="34" charset="0"/>
              </a:defRPr>
            </a:lvl5pPr>
            <a:lvl6pPr marL="2514600" indent="-228600" algn="l" rtl="0" eaLnBrk="0" fontAlgn="base" latinLnBrk="1" hangingPunct="0">
              <a:spcBef>
                <a:spcPct val="20000"/>
              </a:spcBef>
              <a:spcAft>
                <a:spcPct val="0"/>
              </a:spcAft>
              <a:buChar char="•"/>
              <a:defRPr sz="1400">
                <a:solidFill>
                  <a:schemeClr val="tx1"/>
                </a:solidFill>
                <a:latin typeface="+mn-lt"/>
                <a:ea typeface="+mn-ea"/>
              </a:defRPr>
            </a:lvl6pPr>
            <a:lvl7pPr marL="2971800" indent="-228600" algn="l" rtl="0" eaLnBrk="0" fontAlgn="base" latinLnBrk="1" hangingPunct="0">
              <a:spcBef>
                <a:spcPct val="20000"/>
              </a:spcBef>
              <a:spcAft>
                <a:spcPct val="0"/>
              </a:spcAft>
              <a:buChar char="•"/>
              <a:defRPr sz="1400">
                <a:solidFill>
                  <a:schemeClr val="tx1"/>
                </a:solidFill>
                <a:latin typeface="+mn-lt"/>
                <a:ea typeface="+mn-ea"/>
              </a:defRPr>
            </a:lvl7pPr>
            <a:lvl8pPr marL="3429000" indent="-228600" algn="l" rtl="0" eaLnBrk="0" fontAlgn="base" latinLnBrk="1" hangingPunct="0">
              <a:spcBef>
                <a:spcPct val="20000"/>
              </a:spcBef>
              <a:spcAft>
                <a:spcPct val="0"/>
              </a:spcAft>
              <a:buChar char="•"/>
              <a:defRPr sz="1400">
                <a:solidFill>
                  <a:schemeClr val="tx1"/>
                </a:solidFill>
                <a:latin typeface="+mn-lt"/>
                <a:ea typeface="+mn-ea"/>
              </a:defRPr>
            </a:lvl8pPr>
            <a:lvl9pPr marL="3886200" indent="-228600" algn="l" rtl="0" eaLnBrk="0" fontAlgn="base" latinLnBrk="1" hangingPunct="0">
              <a:spcBef>
                <a:spcPct val="20000"/>
              </a:spcBef>
              <a:spcAft>
                <a:spcPct val="0"/>
              </a:spcAft>
              <a:buChar char="•"/>
              <a:defRPr sz="1400">
                <a:solidFill>
                  <a:schemeClr val="tx1"/>
                </a:solidFill>
                <a:latin typeface="+mn-lt"/>
                <a:ea typeface="+mn-ea"/>
              </a:defRPr>
            </a:lvl9pPr>
          </a:lstStyle>
          <a:p>
            <a:pPr marL="0" indent="0" latinLnBrk="0">
              <a:buNone/>
            </a:pPr>
            <a:r>
              <a:rPr lang="en-US" sz="2550" b="1">
                <a:solidFill>
                  <a:srgbClr val="003366"/>
                </a:solidFill>
                <a:latin typeface="Times New Roman" pitchFamily="18" charset="0"/>
                <a:ea typeface="+mj-ea"/>
                <a:cs typeface="Times New Roman" pitchFamily="18" charset="0"/>
              </a:rPr>
              <a:t>Một số phương thức thông dụng</a:t>
            </a:r>
          </a:p>
        </p:txBody>
      </p:sp>
    </p:spTree>
    <p:extLst>
      <p:ext uri="{BB962C8B-B14F-4D97-AF65-F5344CB8AC3E}">
        <p14:creationId xmlns:p14="http://schemas.microsoft.com/office/powerpoint/2010/main" val="1952382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up)">
                                      <p:cBhvr>
                                        <p:cTn id="18" dur="500"/>
                                        <p:tgtEl>
                                          <p:spTgt spid="3">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up)">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4.1. Chuỗi ký tự - Lớp String (5)</a:t>
            </a:r>
            <a:endParaRPr lang="en-US"/>
          </a:p>
        </p:txBody>
      </p:sp>
      <p:sp>
        <p:nvSpPr>
          <p:cNvPr id="3" name="Content Placeholder 2"/>
          <p:cNvSpPr>
            <a:spLocks noGrp="1"/>
          </p:cNvSpPr>
          <p:nvPr>
            <p:ph idx="1"/>
          </p:nvPr>
        </p:nvSpPr>
        <p:spPr>
          <a:xfrm>
            <a:off x="1385646" y="2078857"/>
            <a:ext cx="6372708" cy="3545663"/>
          </a:xfrm>
        </p:spPr>
        <p:txBody>
          <a:bodyPr>
            <a:normAutofit lnSpcReduction="10000"/>
          </a:bodyPr>
          <a:lstStyle/>
          <a:p>
            <a:pPr latinLnBrk="0"/>
            <a:r>
              <a:rPr lang="en-US" sz="2400" b="1">
                <a:solidFill>
                  <a:srgbClr val="0000FF"/>
                </a:solidFill>
                <a:latin typeface="Times New Roman" pitchFamily="18" charset="0"/>
                <a:cs typeface="Times New Roman" pitchFamily="18" charset="0"/>
              </a:rPr>
              <a:t>char </a:t>
            </a:r>
            <a:r>
              <a:rPr lang="en-US" sz="2400" b="1">
                <a:solidFill>
                  <a:srgbClr val="FF0000"/>
                </a:solidFill>
                <a:latin typeface="Times New Roman" pitchFamily="18" charset="0"/>
                <a:ea typeface="+mj-ea"/>
                <a:cs typeface="Times New Roman" pitchFamily="18" charset="0"/>
              </a:rPr>
              <a:t>charAt</a:t>
            </a:r>
            <a:r>
              <a:rPr lang="en-US" sz="2400" b="1">
                <a:solidFill>
                  <a:srgbClr val="003366"/>
                </a:solidFill>
                <a:latin typeface="Times New Roman" pitchFamily="18" charset="0"/>
                <a:ea typeface="+mj-ea"/>
                <a:cs typeface="Times New Roman" pitchFamily="18" charset="0"/>
              </a:rPr>
              <a:t>(int i)</a:t>
            </a:r>
            <a:endParaRPr lang="en-US" sz="2400" b="1">
              <a:solidFill>
                <a:srgbClr val="003366"/>
              </a:solidFill>
              <a:latin typeface="Times New Roman" pitchFamily="18" charset="0"/>
              <a:ea typeface="+mj-ea"/>
              <a:cs typeface="Times New Roman" pitchFamily="18" charset="0"/>
            </a:endParaRPr>
          </a:p>
          <a:p>
            <a:pPr lvl="1" latinLnBrk="0"/>
            <a:r>
              <a:rPr lang="en-US" sz="2250"/>
              <a:t>Trả về ký tự thứ i trong chuỗi.</a:t>
            </a:r>
          </a:p>
          <a:p>
            <a:pPr lvl="1" latinLnBrk="0"/>
            <a:r>
              <a:rPr lang="en-US" sz="2250"/>
              <a:t>Chars ch = s.charAt(1); </a:t>
            </a:r>
            <a:r>
              <a:rPr lang="en-US" sz="2250">
                <a:sym typeface="Wingdings" pitchFamily="2" charset="2"/>
              </a:rPr>
              <a:t> ch = “e”</a:t>
            </a:r>
            <a:endParaRPr lang="en-US" sz="2250"/>
          </a:p>
          <a:p>
            <a:pPr latinLnBrk="0"/>
            <a:r>
              <a:rPr lang="en-US" sz="2400" b="1">
                <a:solidFill>
                  <a:srgbClr val="0000FF"/>
                </a:solidFill>
                <a:latin typeface="Times New Roman" pitchFamily="18" charset="0"/>
                <a:cs typeface="Times New Roman" pitchFamily="18" charset="0"/>
              </a:rPr>
              <a:t>int </a:t>
            </a:r>
            <a:r>
              <a:rPr lang="en-US" sz="2400" b="1">
                <a:solidFill>
                  <a:srgbClr val="FF0000"/>
                </a:solidFill>
                <a:latin typeface="Times New Roman" pitchFamily="18" charset="0"/>
                <a:cs typeface="Times New Roman" pitchFamily="18" charset="0"/>
              </a:rPr>
              <a:t>compareTo</a:t>
            </a:r>
            <a:r>
              <a:rPr lang="en-US" sz="2400" b="1">
                <a:solidFill>
                  <a:srgbClr val="003366"/>
                </a:solidFill>
                <a:latin typeface="Times New Roman" pitchFamily="18" charset="0"/>
                <a:cs typeface="Times New Roman" pitchFamily="18" charset="0"/>
              </a:rPr>
              <a:t>(String str)</a:t>
            </a:r>
            <a:endParaRPr lang="en-US" sz="2400" b="1">
              <a:solidFill>
                <a:srgbClr val="003366"/>
              </a:solidFill>
              <a:latin typeface="Times New Roman" pitchFamily="18" charset="0"/>
              <a:cs typeface="Times New Roman" pitchFamily="18" charset="0"/>
            </a:endParaRPr>
          </a:p>
          <a:p>
            <a:pPr lvl="1" latinLnBrk="0"/>
            <a:r>
              <a:rPr lang="en-US" sz="2250"/>
              <a:t>So sánh từng ký tự của 2 chuỗi bằng mã ASCII. Trả về 0 nếu 2 chuỗi giống hệt nhau; &lt;0 nếu chuỗi 1 &lt; chuỗi 2; &gt;0 nếu chuỗi 1 &gt; chuỗi 2.</a:t>
            </a:r>
          </a:p>
          <a:p>
            <a:pPr lvl="1" latinLnBrk="0"/>
            <a:r>
              <a:rPr lang="en-US" sz="2250"/>
              <a:t>i</a:t>
            </a:r>
            <a:r>
              <a:rPr lang="en-US" sz="2250"/>
              <a:t>nt kt = s.comparTo(“Gello”); </a:t>
            </a:r>
            <a:r>
              <a:rPr lang="en-US" sz="2250">
                <a:sym typeface="Wingdings" pitchFamily="2" charset="2"/>
              </a:rPr>
              <a:t> kt = 1</a:t>
            </a:r>
            <a:endParaRPr lang="en-US" sz="2250"/>
          </a:p>
          <a:p>
            <a:pPr lvl="1" latinLnBrk="0"/>
            <a:endParaRPr lang="en-US" smtClean="0"/>
          </a:p>
        </p:txBody>
      </p:sp>
      <p:sp>
        <p:nvSpPr>
          <p:cNvPr id="4" name="Slide Number Placeholder 3"/>
          <p:cNvSpPr>
            <a:spLocks noGrp="1"/>
          </p:cNvSpPr>
          <p:nvPr>
            <p:ph type="sldNum" sz="quarter" idx="12"/>
          </p:nvPr>
        </p:nvSpPr>
        <p:spPr/>
        <p:txBody>
          <a:bodyPr/>
          <a:lstStyle/>
          <a:p>
            <a:fld id="{E3E8E051-591C-4566-9813-B4BB16D377BD}" type="slidenum">
              <a:rPr lang="en-US" smtClean="0"/>
              <a:pPr/>
              <a:t>75</a:t>
            </a:fld>
            <a:endParaRPr lang="en-US"/>
          </a:p>
        </p:txBody>
      </p:sp>
      <p:sp>
        <p:nvSpPr>
          <p:cNvPr id="5" name="Content Placeholder 2"/>
          <p:cNvSpPr txBox="1">
            <a:spLocks/>
          </p:cNvSpPr>
          <p:nvPr/>
        </p:nvSpPr>
        <p:spPr bwMode="auto">
          <a:xfrm>
            <a:off x="1385646" y="1700808"/>
            <a:ext cx="6372708" cy="5400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normAutofit/>
          </a:bodyPr>
          <a:lstStyle>
            <a:lvl1pPr marL="342900" indent="-342900" algn="just" rtl="0" eaLnBrk="0" fontAlgn="base" latinLnBrk="1" hangingPunct="0">
              <a:spcBef>
                <a:spcPct val="20000"/>
              </a:spcBef>
              <a:spcAft>
                <a:spcPct val="0"/>
              </a:spcAft>
              <a:buFont typeface="Wingdings" pitchFamily="2" charset="2"/>
              <a:buChar char="v"/>
              <a:defRPr sz="3000">
                <a:solidFill>
                  <a:schemeClr val="tx1"/>
                </a:solidFill>
                <a:latin typeface="Arial" pitchFamily="34" charset="0"/>
                <a:ea typeface="+mn-ea"/>
                <a:cs typeface="Arial" pitchFamily="34" charset="0"/>
              </a:defRPr>
            </a:lvl1pPr>
            <a:lvl2pPr marL="742950" indent="-285750" algn="just" rtl="0" eaLnBrk="0" fontAlgn="base" latinLnBrk="1" hangingPunct="0">
              <a:spcBef>
                <a:spcPct val="20000"/>
              </a:spcBef>
              <a:spcAft>
                <a:spcPct val="0"/>
              </a:spcAft>
              <a:buFont typeface="Wingdings" pitchFamily="2" charset="2"/>
              <a:buChar char="§"/>
              <a:defRPr sz="3000">
                <a:solidFill>
                  <a:schemeClr val="tx1"/>
                </a:solidFill>
                <a:latin typeface="Arial" pitchFamily="34" charset="0"/>
                <a:ea typeface="+mn-ea"/>
                <a:cs typeface="Arial" pitchFamily="34" charset="0"/>
              </a:defRPr>
            </a:lvl2pPr>
            <a:lvl3pPr marL="1143000" indent="-228600" algn="l" rtl="0" eaLnBrk="0" fontAlgn="base" latinLnBrk="1" hangingPunct="0">
              <a:spcBef>
                <a:spcPct val="20000"/>
              </a:spcBef>
              <a:spcAft>
                <a:spcPct val="0"/>
              </a:spcAft>
              <a:buChar char="•"/>
              <a:defRPr sz="2800">
                <a:solidFill>
                  <a:schemeClr val="tx1"/>
                </a:solidFill>
                <a:latin typeface="Arial" pitchFamily="34" charset="0"/>
                <a:ea typeface="+mn-ea"/>
                <a:cs typeface="Arial" pitchFamily="34" charset="0"/>
              </a:defRPr>
            </a:lvl3pPr>
            <a:lvl4pPr marL="1600200" indent="-228600" algn="l" rtl="0" eaLnBrk="0" fontAlgn="base" latinLnBrk="1" hangingPunct="0">
              <a:spcBef>
                <a:spcPct val="20000"/>
              </a:spcBef>
              <a:spcAft>
                <a:spcPct val="0"/>
              </a:spcAft>
              <a:buChar char="•"/>
              <a:defRPr sz="1800">
                <a:solidFill>
                  <a:schemeClr val="tx1"/>
                </a:solidFill>
                <a:latin typeface="Arial" pitchFamily="34" charset="0"/>
                <a:ea typeface="+mn-ea"/>
                <a:cs typeface="Arial" pitchFamily="34" charset="0"/>
              </a:defRPr>
            </a:lvl4pPr>
            <a:lvl5pPr marL="2057400" indent="-228600" algn="l" rtl="0" eaLnBrk="0" fontAlgn="base" latinLnBrk="1" hangingPunct="0">
              <a:spcBef>
                <a:spcPct val="20000"/>
              </a:spcBef>
              <a:spcAft>
                <a:spcPct val="0"/>
              </a:spcAft>
              <a:buChar char="•"/>
              <a:defRPr sz="1600">
                <a:solidFill>
                  <a:schemeClr val="tx1"/>
                </a:solidFill>
                <a:latin typeface="Arial" pitchFamily="34" charset="0"/>
                <a:ea typeface="+mn-ea"/>
                <a:cs typeface="Arial" pitchFamily="34" charset="0"/>
              </a:defRPr>
            </a:lvl5pPr>
            <a:lvl6pPr marL="2514600" indent="-228600" algn="l" rtl="0" eaLnBrk="0" fontAlgn="base" latinLnBrk="1" hangingPunct="0">
              <a:spcBef>
                <a:spcPct val="20000"/>
              </a:spcBef>
              <a:spcAft>
                <a:spcPct val="0"/>
              </a:spcAft>
              <a:buChar char="•"/>
              <a:defRPr sz="1400">
                <a:solidFill>
                  <a:schemeClr val="tx1"/>
                </a:solidFill>
                <a:latin typeface="+mn-lt"/>
                <a:ea typeface="+mn-ea"/>
              </a:defRPr>
            </a:lvl6pPr>
            <a:lvl7pPr marL="2971800" indent="-228600" algn="l" rtl="0" eaLnBrk="0" fontAlgn="base" latinLnBrk="1" hangingPunct="0">
              <a:spcBef>
                <a:spcPct val="20000"/>
              </a:spcBef>
              <a:spcAft>
                <a:spcPct val="0"/>
              </a:spcAft>
              <a:buChar char="•"/>
              <a:defRPr sz="1400">
                <a:solidFill>
                  <a:schemeClr val="tx1"/>
                </a:solidFill>
                <a:latin typeface="+mn-lt"/>
                <a:ea typeface="+mn-ea"/>
              </a:defRPr>
            </a:lvl7pPr>
            <a:lvl8pPr marL="3429000" indent="-228600" algn="l" rtl="0" eaLnBrk="0" fontAlgn="base" latinLnBrk="1" hangingPunct="0">
              <a:spcBef>
                <a:spcPct val="20000"/>
              </a:spcBef>
              <a:spcAft>
                <a:spcPct val="0"/>
              </a:spcAft>
              <a:buChar char="•"/>
              <a:defRPr sz="1400">
                <a:solidFill>
                  <a:schemeClr val="tx1"/>
                </a:solidFill>
                <a:latin typeface="+mn-lt"/>
                <a:ea typeface="+mn-ea"/>
              </a:defRPr>
            </a:lvl8pPr>
            <a:lvl9pPr marL="3886200" indent="-228600" algn="l" rtl="0" eaLnBrk="0" fontAlgn="base" latinLnBrk="1" hangingPunct="0">
              <a:spcBef>
                <a:spcPct val="20000"/>
              </a:spcBef>
              <a:spcAft>
                <a:spcPct val="0"/>
              </a:spcAft>
              <a:buChar char="•"/>
              <a:defRPr sz="1400">
                <a:solidFill>
                  <a:schemeClr val="tx1"/>
                </a:solidFill>
                <a:latin typeface="+mn-lt"/>
                <a:ea typeface="+mn-ea"/>
              </a:defRPr>
            </a:lvl9pPr>
          </a:lstStyle>
          <a:p>
            <a:pPr marL="0" indent="0" latinLnBrk="0">
              <a:buNone/>
            </a:pPr>
            <a:r>
              <a:rPr lang="en-US" sz="2550" b="1">
                <a:solidFill>
                  <a:srgbClr val="003366"/>
                </a:solidFill>
                <a:latin typeface="Times New Roman" pitchFamily="18" charset="0"/>
                <a:ea typeface="+mj-ea"/>
                <a:cs typeface="Times New Roman" pitchFamily="18" charset="0"/>
              </a:rPr>
              <a:t>Một số phương thức thông dụng</a:t>
            </a:r>
          </a:p>
        </p:txBody>
      </p:sp>
    </p:spTree>
    <p:extLst>
      <p:ext uri="{BB962C8B-B14F-4D97-AF65-F5344CB8AC3E}">
        <p14:creationId xmlns:p14="http://schemas.microsoft.com/office/powerpoint/2010/main" val="128938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up)">
                                      <p:cBhvr>
                                        <p:cTn id="18" dur="500"/>
                                        <p:tgtEl>
                                          <p:spTgt spid="3">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up)">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4.11. Chuỗi ký tự - Lớp String (5)</a:t>
            </a:r>
            <a:endParaRPr lang="en-US"/>
          </a:p>
        </p:txBody>
      </p:sp>
      <p:sp>
        <p:nvSpPr>
          <p:cNvPr id="3" name="Content Placeholder 2"/>
          <p:cNvSpPr>
            <a:spLocks noGrp="1"/>
          </p:cNvSpPr>
          <p:nvPr>
            <p:ph idx="1"/>
          </p:nvPr>
        </p:nvSpPr>
        <p:spPr>
          <a:xfrm>
            <a:off x="1385646" y="1808823"/>
            <a:ext cx="6372708" cy="3726674"/>
          </a:xfrm>
        </p:spPr>
        <p:txBody>
          <a:bodyPr>
            <a:normAutofit/>
          </a:bodyPr>
          <a:lstStyle/>
          <a:p>
            <a:pPr latinLnBrk="0"/>
            <a:r>
              <a:rPr lang="en-US" sz="2400">
                <a:latin typeface="Times New Roman" pitchFamily="18" charset="0"/>
                <a:cs typeface="Times New Roman" pitchFamily="18" charset="0"/>
              </a:rPr>
              <a:t>Lớp </a:t>
            </a:r>
            <a:r>
              <a:rPr lang="en-US" sz="2400">
                <a:solidFill>
                  <a:srgbClr val="FF0000"/>
                </a:solidFill>
                <a:latin typeface="Times New Roman" pitchFamily="18" charset="0"/>
                <a:cs typeface="Times New Roman" pitchFamily="18" charset="0"/>
              </a:rPr>
              <a:t>StringBuilder</a:t>
            </a:r>
            <a:r>
              <a:rPr lang="en-US" sz="2400">
                <a:latin typeface="Times New Roman" pitchFamily="18" charset="0"/>
                <a:cs typeface="Times New Roman" pitchFamily="18" charset="0"/>
              </a:rPr>
              <a:t>: sinh viên tự tìm hiểu.</a:t>
            </a:r>
          </a:p>
          <a:p>
            <a:pPr latinLnBrk="0"/>
            <a:r>
              <a:rPr lang="en-US" sz="2400" b="1">
                <a:latin typeface="Times New Roman" pitchFamily="18" charset="0"/>
                <a:cs typeface="Times New Roman" pitchFamily="18" charset="0"/>
              </a:rPr>
              <a:t>Bài tập. Viết chương trình nhập vào một chuỗi và in ra:</a:t>
            </a:r>
            <a:endParaRPr lang="en-US" sz="2400" b="1">
              <a:latin typeface="Times New Roman" pitchFamily="18" charset="0"/>
              <a:ea typeface="+mj-ea"/>
              <a:cs typeface="Times New Roman" pitchFamily="18" charset="0"/>
            </a:endParaRPr>
          </a:p>
          <a:p>
            <a:pPr lvl="1" latinLnBrk="0"/>
            <a:r>
              <a:rPr lang="en-US" sz="2400"/>
              <a:t>Các ký tự viết hoa có trong chuỗi.</a:t>
            </a:r>
          </a:p>
          <a:p>
            <a:pPr lvl="1" latinLnBrk="0"/>
            <a:r>
              <a:rPr lang="en-US" sz="2400"/>
              <a:t>Tổng giá trị các ký tự là số có trong chuỗi.</a:t>
            </a:r>
          </a:p>
          <a:p>
            <a:pPr lvl="1" latinLnBrk="0"/>
            <a:r>
              <a:rPr lang="en-US" sz="2400"/>
              <a:t>Chuỗi sau khi chuyển toàn bộ thành chữ hoa.</a:t>
            </a:r>
          </a:p>
        </p:txBody>
      </p:sp>
      <p:sp>
        <p:nvSpPr>
          <p:cNvPr id="4" name="Slide Number Placeholder 3"/>
          <p:cNvSpPr>
            <a:spLocks noGrp="1"/>
          </p:cNvSpPr>
          <p:nvPr>
            <p:ph type="sldNum" sz="quarter" idx="12"/>
          </p:nvPr>
        </p:nvSpPr>
        <p:spPr/>
        <p:txBody>
          <a:bodyPr/>
          <a:lstStyle/>
          <a:p>
            <a:fld id="{E3E8E051-591C-4566-9813-B4BB16D377BD}" type="slidenum">
              <a:rPr lang="en-US" smtClean="0"/>
              <a:pPr/>
              <a:t>76</a:t>
            </a:fld>
            <a:endParaRPr lang="en-US"/>
          </a:p>
        </p:txBody>
      </p:sp>
    </p:spTree>
    <p:extLst>
      <p:ext uri="{BB962C8B-B14F-4D97-AF65-F5344CB8AC3E}">
        <p14:creationId xmlns:p14="http://schemas.microsoft.com/office/powerpoint/2010/main" val="487097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up)">
                                      <p:cBhvr>
                                        <p:cTn id="18" dur="500"/>
                                        <p:tgtEl>
                                          <p:spTgt spid="3">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4.2. Mảng một chiều</a:t>
            </a:r>
            <a:endParaRPr lang="en-US"/>
          </a:p>
        </p:txBody>
      </p:sp>
      <p:sp>
        <p:nvSpPr>
          <p:cNvPr id="3" name="Content Placeholder 2"/>
          <p:cNvSpPr>
            <a:spLocks noGrp="1"/>
          </p:cNvSpPr>
          <p:nvPr>
            <p:ph idx="1"/>
          </p:nvPr>
        </p:nvSpPr>
        <p:spPr/>
        <p:txBody>
          <a:bodyPr>
            <a:normAutofit/>
          </a:bodyPr>
          <a:lstStyle/>
          <a:p>
            <a:pPr latinLnBrk="0"/>
            <a:r>
              <a:rPr lang="en-US" sz="2400" b="1">
                <a:solidFill>
                  <a:srgbClr val="003366"/>
                </a:solidFill>
                <a:latin typeface="Times New Roman" pitchFamily="18" charset="0"/>
                <a:ea typeface="+mj-ea"/>
                <a:cs typeface="Times New Roman" pitchFamily="18" charset="0"/>
              </a:rPr>
              <a:t>Khái niệm:</a:t>
            </a:r>
          </a:p>
          <a:p>
            <a:pPr lvl="1">
              <a:spcAft>
                <a:spcPts val="450"/>
              </a:spcAft>
            </a:pPr>
            <a:r>
              <a:rPr lang="en-US" sz="2250"/>
              <a:t>Mảng là một dãy các phần tử có cùng kiểu dữ liệu và cùng tên.</a:t>
            </a:r>
          </a:p>
          <a:p>
            <a:pPr lvl="1">
              <a:spcAft>
                <a:spcPts val="450"/>
              </a:spcAft>
            </a:pPr>
            <a:r>
              <a:rPr lang="en-US" sz="2250"/>
              <a:t>Các phần tử được phân biệt qua chỉ số.</a:t>
            </a:r>
            <a:endParaRPr lang="en-US" sz="2250"/>
          </a:p>
          <a:p>
            <a:pPr>
              <a:spcAft>
                <a:spcPts val="450"/>
              </a:spcAft>
            </a:pPr>
            <a:r>
              <a:rPr lang="en-US" sz="2400" b="1">
                <a:solidFill>
                  <a:srgbClr val="003366"/>
                </a:solidFill>
                <a:latin typeface="Times New Roman" pitchFamily="18" charset="0"/>
                <a:ea typeface="+mj-ea"/>
                <a:cs typeface="Times New Roman" pitchFamily="18" charset="0"/>
              </a:rPr>
              <a:t>Khai báo</a:t>
            </a:r>
          </a:p>
          <a:p>
            <a:pPr lvl="1">
              <a:spcAft>
                <a:spcPts val="450"/>
              </a:spcAft>
            </a:pPr>
            <a:r>
              <a:rPr lang="en-US" sz="2250">
                <a:solidFill>
                  <a:schemeClr val="tx1">
                    <a:lumMod val="95000"/>
                    <a:lumOff val="5000"/>
                  </a:schemeClr>
                </a:solidFill>
              </a:rPr>
              <a:t>Cách 1: </a:t>
            </a:r>
            <a:r>
              <a:rPr lang="en-US" sz="2250">
                <a:solidFill>
                  <a:srgbClr val="0000CC"/>
                </a:solidFill>
              </a:rPr>
              <a:t>KieuDuLieu[ ]  </a:t>
            </a:r>
            <a:r>
              <a:rPr lang="en-US" sz="2250">
                <a:solidFill>
                  <a:srgbClr val="C00000"/>
                </a:solidFill>
              </a:rPr>
              <a:t>tenBien</a:t>
            </a:r>
            <a:r>
              <a:rPr lang="en-US" sz="2250" b="1">
                <a:solidFill>
                  <a:srgbClr val="0000CC"/>
                </a:solidFill>
              </a:rPr>
              <a:t>;   </a:t>
            </a:r>
          </a:p>
          <a:p>
            <a:pPr lvl="1">
              <a:spcAft>
                <a:spcPts val="450"/>
              </a:spcAft>
            </a:pPr>
            <a:r>
              <a:rPr lang="en-US" sz="2250">
                <a:solidFill>
                  <a:schemeClr val="tx1">
                    <a:lumMod val="95000"/>
                    <a:lumOff val="5000"/>
                  </a:schemeClr>
                </a:solidFill>
              </a:rPr>
              <a:t>Cách 2: </a:t>
            </a:r>
            <a:r>
              <a:rPr lang="en-US" sz="2250">
                <a:solidFill>
                  <a:srgbClr val="0000CC"/>
                </a:solidFill>
              </a:rPr>
              <a:t>KieuDuLieu </a:t>
            </a:r>
            <a:r>
              <a:rPr lang="en-US" sz="2250">
                <a:solidFill>
                  <a:srgbClr val="C00000"/>
                </a:solidFill>
              </a:rPr>
              <a:t>tenBien</a:t>
            </a:r>
            <a:r>
              <a:rPr lang="en-US" sz="2250">
                <a:solidFill>
                  <a:srgbClr val="0000CC"/>
                </a:solidFill>
              </a:rPr>
              <a:t> [ ]</a:t>
            </a:r>
            <a:r>
              <a:rPr lang="en-US" sz="2250" b="1">
                <a:solidFill>
                  <a:srgbClr val="0000CC"/>
                </a:solidFill>
              </a:rPr>
              <a:t>; </a:t>
            </a:r>
          </a:p>
          <a:p>
            <a:pPr marL="342900" lvl="1" indent="0">
              <a:spcAft>
                <a:spcPts val="450"/>
              </a:spcAft>
              <a:buNone/>
            </a:pPr>
            <a:r>
              <a:rPr lang="en-US" sz="2250"/>
              <a:t>Lưu ý: Chỉ số </a:t>
            </a:r>
            <a:r>
              <a:rPr lang="en-US" sz="2250"/>
              <a:t>mảng </a:t>
            </a:r>
            <a:r>
              <a:rPr lang="en-US" sz="2250"/>
              <a:t>bắt đầu từ </a:t>
            </a:r>
            <a:r>
              <a:rPr lang="en-US" sz="2250">
                <a:solidFill>
                  <a:srgbClr val="FF0000"/>
                </a:solidFill>
              </a:rPr>
              <a:t>0.</a:t>
            </a:r>
            <a:endParaRPr lang="en-US" sz="2250">
              <a:solidFill>
                <a:srgbClr val="FF0000"/>
              </a:solidFill>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77</a:t>
            </a:fld>
            <a:endParaRPr 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8139" y="3440375"/>
            <a:ext cx="3291840" cy="560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5452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up)">
                                      <p:cBhvr>
                                        <p:cTn id="18" dur="500"/>
                                        <p:tgtEl>
                                          <p:spTgt spid="3">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up)">
                                      <p:cBhvr>
                                        <p:cTn id="24" dur="500"/>
                                        <p:tgtEl>
                                          <p:spTgt spid="3">
                                            <p:txEl>
                                              <p:pRg st="5" end="5"/>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up)">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up)">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4.2. Mảng một chiều</a:t>
            </a:r>
            <a:endParaRPr lang="en-US"/>
          </a:p>
        </p:txBody>
      </p:sp>
      <p:sp>
        <p:nvSpPr>
          <p:cNvPr id="3" name="Content Placeholder 2"/>
          <p:cNvSpPr>
            <a:spLocks noGrp="1"/>
          </p:cNvSpPr>
          <p:nvPr>
            <p:ph idx="1"/>
          </p:nvPr>
        </p:nvSpPr>
        <p:spPr/>
        <p:txBody>
          <a:bodyPr>
            <a:normAutofit/>
          </a:bodyPr>
          <a:lstStyle/>
          <a:p>
            <a:pPr latinLnBrk="0"/>
            <a:r>
              <a:rPr lang="en-US" sz="2400" b="1">
                <a:solidFill>
                  <a:srgbClr val="003366"/>
                </a:solidFill>
                <a:latin typeface="Times New Roman" pitchFamily="18" charset="0"/>
                <a:ea typeface="+mj-ea"/>
                <a:cs typeface="Times New Roman" pitchFamily="18" charset="0"/>
              </a:rPr>
              <a:t>Khai báo</a:t>
            </a:r>
          </a:p>
          <a:p>
            <a:pPr lvl="1">
              <a:spcAft>
                <a:spcPts val="450"/>
              </a:spcAft>
            </a:pPr>
            <a:r>
              <a:rPr lang="en-US" smtClean="0">
                <a:solidFill>
                  <a:srgbClr val="0000CC"/>
                </a:solidFill>
                <a:latin typeface="Times New Roman" pitchFamily="18" charset="0"/>
                <a:cs typeface="Times New Roman" pitchFamily="18" charset="0"/>
              </a:rPr>
              <a:t>int</a:t>
            </a:r>
            <a:r>
              <a:rPr lang="en-US" smtClean="0">
                <a:solidFill>
                  <a:srgbClr val="000000"/>
                </a:solidFill>
                <a:latin typeface="Times New Roman" pitchFamily="18" charset="0"/>
                <a:cs typeface="Times New Roman" pitchFamily="18" charset="0"/>
              </a:rPr>
              <a:t>[] </a:t>
            </a:r>
            <a:r>
              <a:rPr lang="en-US" smtClean="0">
                <a:solidFill>
                  <a:srgbClr val="C00000"/>
                </a:solidFill>
                <a:latin typeface="Times New Roman" pitchFamily="18" charset="0"/>
                <a:cs typeface="Times New Roman" pitchFamily="18" charset="0"/>
              </a:rPr>
              <a:t>arr1</a:t>
            </a:r>
            <a:r>
              <a:rPr lang="en-US" smtClean="0">
                <a:solidFill>
                  <a:srgbClr val="000000"/>
                </a:solidFill>
                <a:latin typeface="Times New Roman" pitchFamily="18" charset="0"/>
                <a:cs typeface="Times New Roman" pitchFamily="18" charset="0"/>
              </a:rPr>
              <a:t>; </a:t>
            </a:r>
            <a:r>
              <a:rPr lang="en-US" smtClean="0">
                <a:solidFill>
                  <a:srgbClr val="00B050"/>
                </a:solidFill>
                <a:latin typeface="Times New Roman" pitchFamily="18" charset="0"/>
                <a:cs typeface="Times New Roman" pitchFamily="18" charset="0"/>
              </a:rPr>
              <a:t>//Khai báo mảng kiểu int </a:t>
            </a:r>
          </a:p>
          <a:p>
            <a:pPr lvl="1">
              <a:spcAft>
                <a:spcPts val="450"/>
              </a:spcAft>
            </a:pPr>
            <a:r>
              <a:rPr lang="en-US" smtClean="0">
                <a:solidFill>
                  <a:srgbClr val="0000CC"/>
                </a:solidFill>
                <a:latin typeface="Times New Roman" pitchFamily="18" charset="0"/>
                <a:cs typeface="Times New Roman" pitchFamily="18" charset="0"/>
              </a:rPr>
              <a:t>long</a:t>
            </a:r>
            <a:r>
              <a:rPr lang="en-US">
                <a:solidFill>
                  <a:srgbClr val="000000"/>
                </a:solidFill>
                <a:latin typeface="Times New Roman" pitchFamily="18" charset="0"/>
                <a:cs typeface="Times New Roman" pitchFamily="18" charset="0"/>
              </a:rPr>
              <a:t>[] </a:t>
            </a:r>
            <a:r>
              <a:rPr lang="en-US">
                <a:solidFill>
                  <a:srgbClr val="C00000"/>
                </a:solidFill>
                <a:latin typeface="Times New Roman" pitchFamily="18" charset="0"/>
                <a:cs typeface="Times New Roman" pitchFamily="18" charset="0"/>
              </a:rPr>
              <a:t>arr2</a:t>
            </a:r>
            <a:r>
              <a:rPr lang="en-US">
                <a:solidFill>
                  <a:srgbClr val="000000"/>
                </a:solidFill>
                <a:latin typeface="Times New Roman" pitchFamily="18" charset="0"/>
                <a:cs typeface="Times New Roman" pitchFamily="18" charset="0"/>
              </a:rPr>
              <a:t>; </a:t>
            </a:r>
            <a:r>
              <a:rPr lang="en-US">
                <a:solidFill>
                  <a:srgbClr val="00B050"/>
                </a:solidFill>
                <a:latin typeface="Times New Roman" pitchFamily="18" charset="0"/>
                <a:cs typeface="Times New Roman" pitchFamily="18" charset="0"/>
              </a:rPr>
              <a:t>//Khai báo mảng kiểu </a:t>
            </a:r>
            <a:r>
              <a:rPr lang="en-US" smtClean="0">
                <a:solidFill>
                  <a:srgbClr val="00B050"/>
                </a:solidFill>
                <a:latin typeface="Times New Roman" pitchFamily="18" charset="0"/>
                <a:cs typeface="Times New Roman" pitchFamily="18" charset="0"/>
              </a:rPr>
              <a:t>long</a:t>
            </a:r>
          </a:p>
          <a:p>
            <a:pPr lvl="1">
              <a:spcAft>
                <a:spcPts val="450"/>
              </a:spcAft>
            </a:pPr>
            <a:r>
              <a:rPr lang="en-US" smtClean="0">
                <a:solidFill>
                  <a:srgbClr val="0000CC"/>
                </a:solidFill>
                <a:latin typeface="Times New Roman" pitchFamily="18" charset="0"/>
                <a:cs typeface="Times New Roman" pitchFamily="18" charset="0"/>
              </a:rPr>
              <a:t>float</a:t>
            </a:r>
            <a:r>
              <a:rPr lang="en-US">
                <a:solidFill>
                  <a:srgbClr val="000000"/>
                </a:solidFill>
                <a:latin typeface="Times New Roman" pitchFamily="18" charset="0"/>
                <a:cs typeface="Times New Roman" pitchFamily="18" charset="0"/>
              </a:rPr>
              <a:t>[] </a:t>
            </a:r>
            <a:r>
              <a:rPr lang="en-US">
                <a:solidFill>
                  <a:srgbClr val="C00000"/>
                </a:solidFill>
                <a:latin typeface="Times New Roman" pitchFamily="18" charset="0"/>
                <a:cs typeface="Times New Roman" pitchFamily="18" charset="0"/>
              </a:rPr>
              <a:t>arr3</a:t>
            </a:r>
            <a:r>
              <a:rPr lang="en-US">
                <a:solidFill>
                  <a:srgbClr val="000000"/>
                </a:solidFill>
                <a:latin typeface="Times New Roman" pitchFamily="18" charset="0"/>
                <a:cs typeface="Times New Roman" pitchFamily="18" charset="0"/>
              </a:rPr>
              <a:t>; </a:t>
            </a:r>
            <a:r>
              <a:rPr lang="en-US">
                <a:solidFill>
                  <a:srgbClr val="00B050"/>
                </a:solidFill>
                <a:latin typeface="Times New Roman" pitchFamily="18" charset="0"/>
                <a:cs typeface="Times New Roman" pitchFamily="18" charset="0"/>
              </a:rPr>
              <a:t>//Khai báo mảng kiểu </a:t>
            </a:r>
            <a:r>
              <a:rPr lang="en-US" smtClean="0">
                <a:solidFill>
                  <a:srgbClr val="00B050"/>
                </a:solidFill>
                <a:latin typeface="Times New Roman" pitchFamily="18" charset="0"/>
                <a:cs typeface="Times New Roman" pitchFamily="18" charset="0"/>
              </a:rPr>
              <a:t>float</a:t>
            </a:r>
          </a:p>
          <a:p>
            <a:pPr lvl="1">
              <a:spcAft>
                <a:spcPts val="450"/>
              </a:spcAft>
            </a:pPr>
            <a:r>
              <a:rPr lang="en-US" smtClean="0">
                <a:solidFill>
                  <a:srgbClr val="0000CC"/>
                </a:solidFill>
                <a:latin typeface="Times New Roman" pitchFamily="18" charset="0"/>
                <a:cs typeface="Times New Roman" pitchFamily="18" charset="0"/>
              </a:rPr>
              <a:t>double</a:t>
            </a:r>
            <a:r>
              <a:rPr lang="en-US">
                <a:solidFill>
                  <a:srgbClr val="000000"/>
                </a:solidFill>
                <a:latin typeface="Times New Roman" pitchFamily="18" charset="0"/>
                <a:cs typeface="Times New Roman" pitchFamily="18" charset="0"/>
              </a:rPr>
              <a:t>[] </a:t>
            </a:r>
            <a:r>
              <a:rPr lang="en-US">
                <a:solidFill>
                  <a:srgbClr val="C00000"/>
                </a:solidFill>
                <a:latin typeface="Times New Roman" pitchFamily="18" charset="0"/>
                <a:cs typeface="Times New Roman" pitchFamily="18" charset="0"/>
              </a:rPr>
              <a:t>arr4</a:t>
            </a:r>
            <a:r>
              <a:rPr lang="en-US">
                <a:solidFill>
                  <a:srgbClr val="000000"/>
                </a:solidFill>
                <a:latin typeface="Times New Roman" pitchFamily="18" charset="0"/>
                <a:cs typeface="Times New Roman" pitchFamily="18" charset="0"/>
              </a:rPr>
              <a:t>; </a:t>
            </a:r>
            <a:r>
              <a:rPr lang="en-US">
                <a:solidFill>
                  <a:srgbClr val="00B050"/>
                </a:solidFill>
                <a:latin typeface="Times New Roman" pitchFamily="18" charset="0"/>
                <a:cs typeface="Times New Roman" pitchFamily="18" charset="0"/>
              </a:rPr>
              <a:t>//Khai báo mảng kiểu double </a:t>
            </a:r>
            <a:endParaRPr lang="en-US" smtClean="0">
              <a:solidFill>
                <a:srgbClr val="00B050"/>
              </a:solidFill>
              <a:latin typeface="Times New Roman" pitchFamily="18" charset="0"/>
              <a:cs typeface="Times New Roman" pitchFamily="18" charset="0"/>
            </a:endParaRPr>
          </a:p>
          <a:p>
            <a:pPr lvl="1">
              <a:spcAft>
                <a:spcPts val="450"/>
              </a:spcAft>
            </a:pPr>
            <a:r>
              <a:rPr lang="en-US" smtClean="0">
                <a:solidFill>
                  <a:srgbClr val="0000CC"/>
                </a:solidFill>
                <a:latin typeface="Times New Roman" pitchFamily="18" charset="0"/>
                <a:cs typeface="Times New Roman" pitchFamily="18" charset="0"/>
              </a:rPr>
              <a:t>String</a:t>
            </a:r>
            <a:r>
              <a:rPr lang="en-US">
                <a:solidFill>
                  <a:srgbClr val="000000"/>
                </a:solidFill>
                <a:latin typeface="Times New Roman" pitchFamily="18" charset="0"/>
                <a:cs typeface="Times New Roman" pitchFamily="18" charset="0"/>
              </a:rPr>
              <a:t>[] </a:t>
            </a:r>
            <a:r>
              <a:rPr lang="en-US" smtClean="0">
                <a:solidFill>
                  <a:srgbClr val="C00000"/>
                </a:solidFill>
                <a:latin typeface="Times New Roman" pitchFamily="18" charset="0"/>
                <a:cs typeface="Times New Roman" pitchFamily="18" charset="0"/>
              </a:rPr>
              <a:t>arr5</a:t>
            </a:r>
            <a:r>
              <a:rPr lang="en-US" smtClean="0">
                <a:solidFill>
                  <a:srgbClr val="000000"/>
                </a:solidFill>
                <a:latin typeface="Times New Roman" pitchFamily="18" charset="0"/>
                <a:cs typeface="Times New Roman" pitchFamily="18" charset="0"/>
              </a:rPr>
              <a:t> </a:t>
            </a:r>
            <a:r>
              <a:rPr lang="en-US">
                <a:solidFill>
                  <a:srgbClr val="000000"/>
                </a:solidFill>
                <a:latin typeface="Times New Roman" pitchFamily="18" charset="0"/>
                <a:cs typeface="Times New Roman" pitchFamily="18" charset="0"/>
              </a:rPr>
              <a:t>; </a:t>
            </a:r>
            <a:r>
              <a:rPr lang="en-US">
                <a:solidFill>
                  <a:srgbClr val="00B050"/>
                </a:solidFill>
                <a:latin typeface="Times New Roman" pitchFamily="18" charset="0"/>
                <a:cs typeface="Times New Roman" pitchFamily="18" charset="0"/>
              </a:rPr>
              <a:t>//Khai báo mảng kiểu string </a:t>
            </a:r>
          </a:p>
          <a:p>
            <a:pPr lvl="1">
              <a:spcAft>
                <a:spcPts val="450"/>
              </a:spcAft>
            </a:pPr>
            <a:r>
              <a:rPr lang="en-US" smtClean="0">
                <a:solidFill>
                  <a:srgbClr val="0000CC"/>
                </a:solidFill>
                <a:latin typeface="Times New Roman" pitchFamily="18" charset="0"/>
                <a:cs typeface="Times New Roman" pitchFamily="18" charset="0"/>
              </a:rPr>
              <a:t>PhanSo</a:t>
            </a:r>
            <a:r>
              <a:rPr lang="en-US" smtClean="0">
                <a:solidFill>
                  <a:srgbClr val="000000"/>
                </a:solidFill>
                <a:latin typeface="Times New Roman" pitchFamily="18" charset="0"/>
                <a:cs typeface="Times New Roman" pitchFamily="18" charset="0"/>
              </a:rPr>
              <a:t>[] </a:t>
            </a:r>
            <a:r>
              <a:rPr lang="en-US">
                <a:solidFill>
                  <a:srgbClr val="C00000"/>
                </a:solidFill>
                <a:latin typeface="Times New Roman" pitchFamily="18" charset="0"/>
                <a:cs typeface="Times New Roman" pitchFamily="18" charset="0"/>
              </a:rPr>
              <a:t>arr6</a:t>
            </a:r>
            <a:r>
              <a:rPr lang="en-US">
                <a:solidFill>
                  <a:srgbClr val="000000"/>
                </a:solidFill>
                <a:latin typeface="Times New Roman" pitchFamily="18" charset="0"/>
                <a:cs typeface="Times New Roman" pitchFamily="18" charset="0"/>
              </a:rPr>
              <a:t> ; </a:t>
            </a:r>
            <a:r>
              <a:rPr lang="en-US">
                <a:solidFill>
                  <a:srgbClr val="00B050"/>
                </a:solidFill>
                <a:latin typeface="Times New Roman" pitchFamily="18" charset="0"/>
                <a:cs typeface="Times New Roman" pitchFamily="18" charset="0"/>
              </a:rPr>
              <a:t>//Khai báo mảng kiểu </a:t>
            </a:r>
            <a:r>
              <a:rPr lang="en-US" smtClean="0">
                <a:solidFill>
                  <a:srgbClr val="00B050"/>
                </a:solidFill>
                <a:latin typeface="Times New Roman" pitchFamily="18" charset="0"/>
                <a:cs typeface="Times New Roman" pitchFamily="18" charset="0"/>
              </a:rPr>
              <a:t>PhanSo</a:t>
            </a:r>
          </a:p>
          <a:p>
            <a:pPr lvl="1">
              <a:spcAft>
                <a:spcPts val="450"/>
              </a:spcAft>
            </a:pPr>
            <a:r>
              <a:rPr lang="en-US" smtClean="0">
                <a:solidFill>
                  <a:srgbClr val="0000CC"/>
                </a:solidFill>
                <a:latin typeface="Times New Roman" pitchFamily="18" charset="0"/>
                <a:cs typeface="Times New Roman" pitchFamily="18" charset="0"/>
              </a:rPr>
              <a:t>SinhVien</a:t>
            </a:r>
            <a:r>
              <a:rPr lang="en-US" smtClean="0">
                <a:solidFill>
                  <a:srgbClr val="000000"/>
                </a:solidFill>
                <a:latin typeface="Times New Roman" pitchFamily="18" charset="0"/>
                <a:cs typeface="Times New Roman" pitchFamily="18" charset="0"/>
              </a:rPr>
              <a:t>[] </a:t>
            </a:r>
            <a:r>
              <a:rPr lang="en-US" smtClean="0">
                <a:solidFill>
                  <a:srgbClr val="C00000"/>
                </a:solidFill>
                <a:latin typeface="Times New Roman" pitchFamily="18" charset="0"/>
                <a:cs typeface="Times New Roman" pitchFamily="18" charset="0"/>
              </a:rPr>
              <a:t>arr7</a:t>
            </a:r>
            <a:r>
              <a:rPr lang="en-US" smtClean="0">
                <a:solidFill>
                  <a:srgbClr val="000000"/>
                </a:solidFill>
                <a:latin typeface="Times New Roman" pitchFamily="18" charset="0"/>
                <a:cs typeface="Times New Roman" pitchFamily="18" charset="0"/>
              </a:rPr>
              <a:t> </a:t>
            </a:r>
            <a:r>
              <a:rPr lang="en-US">
                <a:solidFill>
                  <a:srgbClr val="000000"/>
                </a:solidFill>
                <a:latin typeface="Times New Roman" pitchFamily="18" charset="0"/>
                <a:cs typeface="Times New Roman" pitchFamily="18" charset="0"/>
              </a:rPr>
              <a:t>; </a:t>
            </a:r>
            <a:r>
              <a:rPr lang="en-US">
                <a:solidFill>
                  <a:srgbClr val="00B050"/>
                </a:solidFill>
                <a:latin typeface="Times New Roman" pitchFamily="18" charset="0"/>
                <a:cs typeface="Times New Roman" pitchFamily="18" charset="0"/>
              </a:rPr>
              <a:t>//Khai báo mảng kiểu PhanSo</a:t>
            </a:r>
          </a:p>
          <a:p>
            <a:pPr marL="0" indent="-42863" algn="l" eaLnBrk="1" hangingPunct="1">
              <a:lnSpc>
                <a:spcPct val="110000"/>
              </a:lnSpc>
              <a:spcBef>
                <a:spcPts val="375"/>
              </a:spcBef>
              <a:buNone/>
              <a:defRPr/>
            </a:pPr>
            <a:endParaRPr lang="en-US">
              <a:solidFill>
                <a:srgbClr val="00B05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78</a:t>
            </a:fld>
            <a:endParaRPr lang="en-US"/>
          </a:p>
        </p:txBody>
      </p:sp>
    </p:spTree>
    <p:extLst>
      <p:ext uri="{BB962C8B-B14F-4D97-AF65-F5344CB8AC3E}">
        <p14:creationId xmlns:p14="http://schemas.microsoft.com/office/powerpoint/2010/main" val="386594302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4.2. Mảng một chiều</a:t>
            </a:r>
            <a:endParaRPr lang="en-US"/>
          </a:p>
        </p:txBody>
      </p:sp>
      <p:sp>
        <p:nvSpPr>
          <p:cNvPr id="3" name="Content Placeholder 2"/>
          <p:cNvSpPr>
            <a:spLocks noGrp="1"/>
          </p:cNvSpPr>
          <p:nvPr>
            <p:ph idx="1"/>
          </p:nvPr>
        </p:nvSpPr>
        <p:spPr/>
        <p:txBody>
          <a:bodyPr>
            <a:normAutofit/>
          </a:bodyPr>
          <a:lstStyle/>
          <a:p>
            <a:pPr>
              <a:spcBef>
                <a:spcPts val="0"/>
              </a:spcBef>
            </a:pPr>
            <a:r>
              <a:rPr lang="en-US" sz="2400" b="1">
                <a:solidFill>
                  <a:srgbClr val="003366"/>
                </a:solidFill>
                <a:latin typeface="Times New Roman" pitchFamily="18" charset="0"/>
                <a:ea typeface="+mj-ea"/>
                <a:cs typeface="Times New Roman" pitchFamily="18" charset="0"/>
              </a:rPr>
              <a:t>Khai báo và cấp phát vùng nhớ</a:t>
            </a:r>
          </a:p>
          <a:p>
            <a:pPr marL="342900" lvl="1" indent="0" algn="ctr">
              <a:lnSpc>
                <a:spcPct val="110000"/>
              </a:lnSpc>
              <a:spcBef>
                <a:spcPts val="450"/>
              </a:spcBef>
              <a:spcAft>
                <a:spcPts val="450"/>
              </a:spcAft>
              <a:buNone/>
            </a:pPr>
            <a:r>
              <a:rPr lang="en-US" sz="1950" b="1">
                <a:solidFill>
                  <a:srgbClr val="0000CC"/>
                </a:solidFill>
              </a:rPr>
              <a:t>KieuDuLieu</a:t>
            </a:r>
            <a:r>
              <a:rPr lang="en-US" sz="1950"/>
              <a:t>[] </a:t>
            </a:r>
            <a:r>
              <a:rPr lang="en-US" sz="1950">
                <a:solidFill>
                  <a:srgbClr val="C00000"/>
                </a:solidFill>
              </a:rPr>
              <a:t>tenBien</a:t>
            </a:r>
            <a:r>
              <a:rPr lang="en-US" sz="1950"/>
              <a:t>  =  </a:t>
            </a:r>
            <a:r>
              <a:rPr lang="en-US" sz="1950">
                <a:solidFill>
                  <a:srgbClr val="0000CC"/>
                </a:solidFill>
              </a:rPr>
              <a:t>new</a:t>
            </a:r>
            <a:r>
              <a:rPr lang="en-US" sz="1950"/>
              <a:t>  </a:t>
            </a:r>
            <a:r>
              <a:rPr lang="en-US" sz="1950" b="1">
                <a:solidFill>
                  <a:srgbClr val="0000CC"/>
                </a:solidFill>
              </a:rPr>
              <a:t>KieuDuLieu</a:t>
            </a:r>
            <a:r>
              <a:rPr lang="en-US" sz="1950"/>
              <a:t> [</a:t>
            </a:r>
            <a:r>
              <a:rPr lang="en-US" sz="1950">
                <a:solidFill>
                  <a:srgbClr val="C00000"/>
                </a:solidFill>
              </a:rPr>
              <a:t>n</a:t>
            </a:r>
            <a:r>
              <a:rPr lang="en-US" sz="1950"/>
              <a:t>] ; </a:t>
            </a:r>
            <a:endParaRPr lang="en-US" sz="1950"/>
          </a:p>
          <a:p>
            <a:pPr marL="342900" lvl="1" indent="0" algn="l">
              <a:lnSpc>
                <a:spcPct val="110000"/>
              </a:lnSpc>
              <a:spcBef>
                <a:spcPts val="450"/>
              </a:spcBef>
              <a:spcAft>
                <a:spcPts val="450"/>
              </a:spcAft>
              <a:buNone/>
            </a:pPr>
            <a:r>
              <a:rPr lang="en-US" sz="2325" b="1"/>
              <a:t>h</a:t>
            </a:r>
            <a:r>
              <a:rPr lang="en-US" sz="2325" b="1"/>
              <a:t>oặc</a:t>
            </a:r>
            <a:endParaRPr lang="en-US" sz="2325" b="1"/>
          </a:p>
          <a:p>
            <a:pPr marL="685800" lvl="2" indent="0">
              <a:lnSpc>
                <a:spcPct val="110000"/>
              </a:lnSpc>
              <a:spcBef>
                <a:spcPts val="450"/>
              </a:spcBef>
              <a:spcAft>
                <a:spcPts val="450"/>
              </a:spcAft>
              <a:buNone/>
            </a:pPr>
            <a:r>
              <a:rPr lang="en-US" sz="1950" b="1">
                <a:solidFill>
                  <a:srgbClr val="0000CC"/>
                </a:solidFill>
              </a:rPr>
              <a:t>KieuDuLieu</a:t>
            </a:r>
            <a:r>
              <a:rPr lang="en-US" sz="1950"/>
              <a:t>[] </a:t>
            </a:r>
            <a:r>
              <a:rPr lang="en-US" sz="1950">
                <a:solidFill>
                  <a:srgbClr val="C00000"/>
                </a:solidFill>
              </a:rPr>
              <a:t>tenBien</a:t>
            </a:r>
            <a:r>
              <a:rPr lang="en-US" sz="1950"/>
              <a:t>; </a:t>
            </a:r>
            <a:r>
              <a:rPr lang="en-US" sz="1950">
                <a:solidFill>
                  <a:srgbClr val="C00000"/>
                </a:solidFill>
              </a:rPr>
              <a:t>tenBien</a:t>
            </a:r>
            <a:r>
              <a:rPr lang="en-US" sz="1950"/>
              <a:t> </a:t>
            </a:r>
            <a:r>
              <a:rPr lang="en-US" sz="1950"/>
              <a:t>= </a:t>
            </a:r>
            <a:r>
              <a:rPr lang="en-US" sz="1950">
                <a:solidFill>
                  <a:srgbClr val="0000CC"/>
                </a:solidFill>
              </a:rPr>
              <a:t>new</a:t>
            </a:r>
            <a:r>
              <a:rPr lang="en-US" sz="1950"/>
              <a:t> </a:t>
            </a:r>
            <a:r>
              <a:rPr lang="en-US" sz="1950" b="1">
                <a:solidFill>
                  <a:srgbClr val="0000CC"/>
                </a:solidFill>
              </a:rPr>
              <a:t>KieuDuLieu</a:t>
            </a:r>
            <a:r>
              <a:rPr lang="en-US" sz="1950"/>
              <a:t> [</a:t>
            </a:r>
            <a:r>
              <a:rPr lang="en-US" sz="1950">
                <a:solidFill>
                  <a:srgbClr val="C00000"/>
                </a:solidFill>
              </a:rPr>
              <a:t>n</a:t>
            </a:r>
            <a:r>
              <a:rPr lang="en-US" sz="1950"/>
              <a:t>]; </a:t>
            </a:r>
          </a:p>
          <a:p>
            <a:pPr>
              <a:lnSpc>
                <a:spcPct val="110000"/>
              </a:lnSpc>
              <a:spcBef>
                <a:spcPts val="450"/>
              </a:spcBef>
              <a:spcAft>
                <a:spcPts val="450"/>
              </a:spcAft>
            </a:pPr>
            <a:r>
              <a:rPr lang="en-US" b="1" smtClean="0">
                <a:solidFill>
                  <a:srgbClr val="003366"/>
                </a:solidFill>
                <a:latin typeface="Times New Roman" pitchFamily="18" charset="0"/>
                <a:ea typeface="+mj-ea"/>
                <a:cs typeface="Times New Roman" pitchFamily="18" charset="0"/>
              </a:rPr>
              <a:t>Ví dụ:</a:t>
            </a:r>
          </a:p>
          <a:p>
            <a:pPr lvl="1">
              <a:lnSpc>
                <a:spcPct val="110000"/>
              </a:lnSpc>
              <a:spcBef>
                <a:spcPts val="450"/>
              </a:spcBef>
              <a:spcAft>
                <a:spcPts val="450"/>
              </a:spcAft>
            </a:pPr>
            <a:r>
              <a:rPr lang="en-US" sz="1950">
                <a:solidFill>
                  <a:srgbClr val="0000CC"/>
                </a:solidFill>
              </a:rPr>
              <a:t>float</a:t>
            </a:r>
            <a:r>
              <a:rPr lang="en-US" sz="1950"/>
              <a:t>[] arr3 = new </a:t>
            </a:r>
            <a:r>
              <a:rPr lang="en-US" sz="1950">
                <a:solidFill>
                  <a:srgbClr val="0000CC"/>
                </a:solidFill>
              </a:rPr>
              <a:t>float</a:t>
            </a:r>
            <a:r>
              <a:rPr lang="en-US" sz="1950"/>
              <a:t> [7]; </a:t>
            </a:r>
            <a:r>
              <a:rPr lang="en-US" sz="1950">
                <a:solidFill>
                  <a:srgbClr val="0000CC"/>
                </a:solidFill>
              </a:rPr>
              <a:t>String</a:t>
            </a:r>
            <a:r>
              <a:rPr lang="en-US" sz="1950"/>
              <a:t>[] arr6 = new </a:t>
            </a:r>
            <a:r>
              <a:rPr lang="en-US" sz="1950">
                <a:solidFill>
                  <a:srgbClr val="0000CC"/>
                </a:solidFill>
              </a:rPr>
              <a:t>String</a:t>
            </a:r>
            <a:r>
              <a:rPr lang="en-US" sz="1950"/>
              <a:t> [6</a:t>
            </a:r>
            <a:r>
              <a:rPr lang="en-US" sz="1950"/>
              <a:t>];</a:t>
            </a:r>
          </a:p>
          <a:p>
            <a:pPr lvl="1">
              <a:lnSpc>
                <a:spcPct val="110000"/>
              </a:lnSpc>
              <a:spcBef>
                <a:spcPts val="450"/>
              </a:spcBef>
              <a:spcAft>
                <a:spcPts val="450"/>
              </a:spcAft>
            </a:pPr>
            <a:r>
              <a:rPr lang="en-US" sz="1950">
                <a:solidFill>
                  <a:srgbClr val="0000CC"/>
                </a:solidFill>
              </a:rPr>
              <a:t>SinhVien[]</a:t>
            </a:r>
            <a:r>
              <a:rPr lang="en-US" sz="1950" b="1">
                <a:solidFill>
                  <a:srgbClr val="003366"/>
                </a:solidFill>
                <a:latin typeface="Times New Roman" pitchFamily="18" charset="0"/>
                <a:cs typeface="Times New Roman" pitchFamily="18" charset="0"/>
              </a:rPr>
              <a:t> dsSV = </a:t>
            </a:r>
            <a:r>
              <a:rPr lang="en-US" sz="1950"/>
              <a:t>new</a:t>
            </a:r>
            <a:r>
              <a:rPr lang="en-US" sz="1950" b="1">
                <a:solidFill>
                  <a:srgbClr val="003366"/>
                </a:solidFill>
                <a:latin typeface="Times New Roman" pitchFamily="18" charset="0"/>
                <a:cs typeface="Times New Roman" pitchFamily="18" charset="0"/>
              </a:rPr>
              <a:t> </a:t>
            </a:r>
            <a:r>
              <a:rPr lang="en-US" sz="1950">
                <a:solidFill>
                  <a:srgbClr val="0000CC"/>
                </a:solidFill>
              </a:rPr>
              <a:t>SinhVien</a:t>
            </a:r>
            <a:r>
              <a:rPr lang="en-US" sz="1950" b="1">
                <a:latin typeface="Times New Roman" pitchFamily="18" charset="0"/>
                <a:cs typeface="Times New Roman" pitchFamily="18" charset="0"/>
              </a:rPr>
              <a:t>[100];</a:t>
            </a:r>
          </a:p>
          <a:p>
            <a:pPr lvl="1">
              <a:lnSpc>
                <a:spcPct val="110000"/>
              </a:lnSpc>
              <a:spcBef>
                <a:spcPts val="450"/>
              </a:spcBef>
              <a:spcAft>
                <a:spcPts val="450"/>
              </a:spcAft>
            </a:pPr>
            <a:r>
              <a:rPr lang="en-US" sz="1950">
                <a:solidFill>
                  <a:srgbClr val="0000CC"/>
                </a:solidFill>
              </a:rPr>
              <a:t>PhanSo[]</a:t>
            </a:r>
            <a:r>
              <a:rPr lang="en-US" sz="1950" b="1">
                <a:latin typeface="Times New Roman" pitchFamily="18" charset="0"/>
                <a:cs typeface="Times New Roman" pitchFamily="18" charset="0"/>
              </a:rPr>
              <a:t> dsPS;  dsPS = new </a:t>
            </a:r>
            <a:r>
              <a:rPr lang="en-US" sz="1950">
                <a:solidFill>
                  <a:srgbClr val="0000CC"/>
                </a:solidFill>
              </a:rPr>
              <a:t>PhanSo</a:t>
            </a:r>
            <a:r>
              <a:rPr lang="en-US" sz="1950" b="1">
                <a:latin typeface="Times New Roman" pitchFamily="18" charset="0"/>
                <a:cs typeface="Times New Roman" pitchFamily="18" charset="0"/>
              </a:rPr>
              <a:t>[10];</a:t>
            </a:r>
            <a:endParaRPr lang="en-US" b="1">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79</a:t>
            </a:fld>
            <a:endParaRPr lang="en-US"/>
          </a:p>
        </p:txBody>
      </p:sp>
    </p:spTree>
    <p:extLst>
      <p:ext uri="{BB962C8B-B14F-4D97-AF65-F5344CB8AC3E}">
        <p14:creationId xmlns:p14="http://schemas.microsoft.com/office/powerpoint/2010/main" val="1921131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up)">
                                      <p:cBhvr>
                                        <p:cTn id="24" dur="500"/>
                                        <p:tgtEl>
                                          <p:spTgt spid="3">
                                            <p:txEl>
                                              <p:pRg st="5" end="5"/>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up)">
                                      <p:cBhvr>
                                        <p:cTn id="27" dur="500"/>
                                        <p:tgtEl>
                                          <p:spTgt spid="3">
                                            <p:txEl>
                                              <p:pRg st="6" end="6"/>
                                            </p:tx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wipe(up)">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4.2. Mảng một chiều</a:t>
            </a:r>
            <a:endParaRPr lang="en-US"/>
          </a:p>
        </p:txBody>
      </p:sp>
      <p:sp>
        <p:nvSpPr>
          <p:cNvPr id="3" name="Content Placeholder 2"/>
          <p:cNvSpPr>
            <a:spLocks noGrp="1"/>
          </p:cNvSpPr>
          <p:nvPr>
            <p:ph idx="1"/>
          </p:nvPr>
        </p:nvSpPr>
        <p:spPr/>
        <p:txBody>
          <a:bodyPr>
            <a:normAutofit/>
          </a:bodyPr>
          <a:lstStyle/>
          <a:p>
            <a:pPr>
              <a:spcBef>
                <a:spcPts val="0"/>
              </a:spcBef>
            </a:pPr>
            <a:r>
              <a:rPr lang="en-US" sz="2400" b="1">
                <a:solidFill>
                  <a:srgbClr val="003366"/>
                </a:solidFill>
                <a:latin typeface="Times New Roman" pitchFamily="18" charset="0"/>
                <a:ea typeface="+mj-ea"/>
                <a:cs typeface="Times New Roman" pitchFamily="18" charset="0"/>
              </a:rPr>
              <a:t>Khởi tạo mảng</a:t>
            </a:r>
          </a:p>
          <a:p>
            <a:pPr lvl="1"/>
            <a:r>
              <a:rPr lang="en-US"/>
              <a:t>Cách 1 </a:t>
            </a:r>
          </a:p>
          <a:p>
            <a:pPr marL="685800" lvl="2" indent="0">
              <a:buNone/>
            </a:pPr>
            <a:r>
              <a:rPr lang="en-US" b="1">
                <a:solidFill>
                  <a:srgbClr val="0000CC"/>
                </a:solidFill>
              </a:rPr>
              <a:t>int</a:t>
            </a:r>
            <a:r>
              <a:rPr lang="en-US"/>
              <a:t>[] </a:t>
            </a:r>
            <a:r>
              <a:rPr lang="en-US">
                <a:solidFill>
                  <a:srgbClr val="C00000"/>
                </a:solidFill>
              </a:rPr>
              <a:t>arr</a:t>
            </a:r>
            <a:r>
              <a:rPr lang="en-US"/>
              <a:t> = {1, 3, 5, 7, 9}; </a:t>
            </a:r>
            <a:r>
              <a:rPr lang="en-US">
                <a:solidFill>
                  <a:srgbClr val="00B050"/>
                </a:solidFill>
              </a:rPr>
              <a:t>//a.length = 5 </a:t>
            </a:r>
          </a:p>
          <a:p>
            <a:pPr lvl="1"/>
            <a:r>
              <a:rPr lang="en-US"/>
              <a:t>Cách 2 </a:t>
            </a:r>
          </a:p>
          <a:p>
            <a:pPr marL="685800" lvl="2" indent="0">
              <a:buNone/>
            </a:pPr>
            <a:r>
              <a:rPr lang="en-US" b="1">
                <a:solidFill>
                  <a:srgbClr val="0000CC"/>
                </a:solidFill>
              </a:rPr>
              <a:t>int</a:t>
            </a:r>
            <a:r>
              <a:rPr lang="en-US"/>
              <a:t> [] arr = </a:t>
            </a:r>
            <a:r>
              <a:rPr lang="en-US" b="1">
                <a:solidFill>
                  <a:srgbClr val="0000CC"/>
                </a:solidFill>
              </a:rPr>
              <a:t>new</a:t>
            </a:r>
            <a:r>
              <a:rPr lang="en-US"/>
              <a:t> </a:t>
            </a:r>
            <a:r>
              <a:rPr lang="en-US" b="1">
                <a:solidFill>
                  <a:srgbClr val="0000CC"/>
                </a:solidFill>
              </a:rPr>
              <a:t>int[5</a:t>
            </a:r>
            <a:r>
              <a:rPr lang="en-US"/>
              <a:t>]; </a:t>
            </a:r>
          </a:p>
          <a:p>
            <a:pPr marL="685800" lvl="2" indent="0">
              <a:buNone/>
            </a:pPr>
            <a:r>
              <a:rPr lang="en-US">
                <a:solidFill>
                  <a:srgbClr val="C00000"/>
                </a:solidFill>
              </a:rPr>
              <a:t>arr</a:t>
            </a:r>
            <a:r>
              <a:rPr lang="en-US"/>
              <a:t>[0]=1; </a:t>
            </a:r>
          </a:p>
          <a:p>
            <a:pPr marL="685800" lvl="2" indent="0">
              <a:buNone/>
            </a:pPr>
            <a:r>
              <a:rPr lang="en-US">
                <a:solidFill>
                  <a:srgbClr val="C00000"/>
                </a:solidFill>
              </a:rPr>
              <a:t>arr</a:t>
            </a:r>
            <a:r>
              <a:rPr lang="en-US"/>
              <a:t>[1]=3; </a:t>
            </a:r>
          </a:p>
          <a:p>
            <a:pPr marL="685800" lvl="2" indent="0">
              <a:buNone/>
            </a:pPr>
            <a:r>
              <a:rPr lang="en-US">
                <a:solidFill>
                  <a:srgbClr val="C00000"/>
                </a:solidFill>
              </a:rPr>
              <a:t>arr</a:t>
            </a:r>
            <a:r>
              <a:rPr lang="en-US"/>
              <a:t>[2]=5; </a:t>
            </a:r>
          </a:p>
          <a:p>
            <a:pPr marL="685800" lvl="2" indent="0">
              <a:buNone/>
            </a:pPr>
            <a:r>
              <a:rPr lang="en-US">
                <a:solidFill>
                  <a:srgbClr val="C00000"/>
                </a:solidFill>
              </a:rPr>
              <a:t>arr</a:t>
            </a:r>
            <a:r>
              <a:rPr lang="en-US"/>
              <a:t>[3]=7; </a:t>
            </a:r>
          </a:p>
          <a:p>
            <a:pPr marL="685800" lvl="2" indent="0">
              <a:buNone/>
            </a:pPr>
            <a:r>
              <a:rPr lang="en-US">
                <a:solidFill>
                  <a:srgbClr val="C00000"/>
                </a:solidFill>
              </a:rPr>
              <a:t>arr</a:t>
            </a:r>
            <a:r>
              <a:rPr lang="en-US"/>
              <a:t>[4]=9; </a:t>
            </a:r>
          </a:p>
        </p:txBody>
      </p:sp>
      <p:sp>
        <p:nvSpPr>
          <p:cNvPr id="4" name="Slide Number Placeholder 3"/>
          <p:cNvSpPr>
            <a:spLocks noGrp="1"/>
          </p:cNvSpPr>
          <p:nvPr>
            <p:ph type="sldNum" sz="quarter" idx="12"/>
          </p:nvPr>
        </p:nvSpPr>
        <p:spPr/>
        <p:txBody>
          <a:bodyPr/>
          <a:lstStyle/>
          <a:p>
            <a:fld id="{E3E8E051-591C-4566-9813-B4BB16D377BD}" type="slidenum">
              <a:rPr lang="en-US" smtClean="0"/>
              <a:pPr/>
              <a:t>80</a:t>
            </a:fld>
            <a:endParaRPr lang="en-US"/>
          </a:p>
        </p:txBody>
      </p:sp>
    </p:spTree>
    <p:extLst>
      <p:ext uri="{BB962C8B-B14F-4D97-AF65-F5344CB8AC3E}">
        <p14:creationId xmlns:p14="http://schemas.microsoft.com/office/powerpoint/2010/main" val="221739094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4.2. Mảng một chiều</a:t>
            </a:r>
            <a:endParaRPr lang="en-US"/>
          </a:p>
        </p:txBody>
      </p:sp>
      <p:sp>
        <p:nvSpPr>
          <p:cNvPr id="3" name="Content Placeholder 2"/>
          <p:cNvSpPr>
            <a:spLocks noGrp="1"/>
          </p:cNvSpPr>
          <p:nvPr>
            <p:ph idx="1"/>
          </p:nvPr>
        </p:nvSpPr>
        <p:spPr/>
        <p:txBody>
          <a:bodyPr>
            <a:normAutofit/>
          </a:bodyPr>
          <a:lstStyle/>
          <a:p>
            <a:pPr>
              <a:spcBef>
                <a:spcPts val="0"/>
              </a:spcBef>
            </a:pPr>
            <a:r>
              <a:rPr lang="en-US" b="1" smtClean="0">
                <a:solidFill>
                  <a:srgbClr val="003366"/>
                </a:solidFill>
                <a:latin typeface="Times New Roman" pitchFamily="18" charset="0"/>
                <a:ea typeface="+mj-ea"/>
                <a:cs typeface="Times New Roman" pitchFamily="18" charset="0"/>
              </a:rPr>
              <a:t>Khởi tạo mảng</a:t>
            </a:r>
          </a:p>
          <a:p>
            <a:pPr marL="342900" lvl="1" indent="0">
              <a:lnSpc>
                <a:spcPct val="140000"/>
              </a:lnSpc>
              <a:spcBef>
                <a:spcPts val="0"/>
              </a:spcBef>
              <a:buNone/>
            </a:pPr>
            <a:r>
              <a:rPr lang="vi-VN" b="1">
                <a:solidFill>
                  <a:srgbClr val="0000CC"/>
                </a:solidFill>
              </a:rPr>
              <a:t>long</a:t>
            </a:r>
            <a:r>
              <a:rPr lang="vi-VN"/>
              <a:t>[] </a:t>
            </a:r>
            <a:r>
              <a:rPr lang="vi-VN">
                <a:solidFill>
                  <a:srgbClr val="C00000"/>
                </a:solidFill>
              </a:rPr>
              <a:t>arr1</a:t>
            </a:r>
            <a:r>
              <a:rPr lang="vi-VN"/>
              <a:t> = {1, 3, 5, 7, 9}; </a:t>
            </a:r>
            <a:endParaRPr lang="en-US"/>
          </a:p>
          <a:p>
            <a:pPr marL="342900" lvl="1" indent="0">
              <a:lnSpc>
                <a:spcPct val="140000"/>
              </a:lnSpc>
              <a:spcBef>
                <a:spcPts val="0"/>
              </a:spcBef>
              <a:buNone/>
            </a:pPr>
            <a:r>
              <a:rPr lang="vi-VN" b="1">
                <a:solidFill>
                  <a:srgbClr val="0000CC"/>
                </a:solidFill>
              </a:rPr>
              <a:t>float</a:t>
            </a:r>
            <a:r>
              <a:rPr lang="vi-VN"/>
              <a:t>[] </a:t>
            </a:r>
            <a:r>
              <a:rPr lang="vi-VN">
                <a:solidFill>
                  <a:srgbClr val="C00000"/>
                </a:solidFill>
              </a:rPr>
              <a:t>arr2</a:t>
            </a:r>
            <a:r>
              <a:rPr lang="vi-VN"/>
              <a:t> = { (</a:t>
            </a:r>
            <a:r>
              <a:rPr lang="vi-VN">
                <a:solidFill>
                  <a:srgbClr val="0000FF"/>
                </a:solidFill>
              </a:rPr>
              <a:t>float</a:t>
            </a:r>
            <a:r>
              <a:rPr lang="vi-VN"/>
              <a:t>) 1.3, (</a:t>
            </a:r>
            <a:r>
              <a:rPr lang="vi-VN">
                <a:solidFill>
                  <a:srgbClr val="0000FF"/>
                </a:solidFill>
              </a:rPr>
              <a:t>float</a:t>
            </a:r>
            <a:r>
              <a:rPr lang="vi-VN"/>
              <a:t>) 3.2, (</a:t>
            </a:r>
            <a:r>
              <a:rPr lang="vi-VN">
                <a:solidFill>
                  <a:srgbClr val="0000FF"/>
                </a:solidFill>
              </a:rPr>
              <a:t>float</a:t>
            </a:r>
            <a:r>
              <a:rPr lang="vi-VN"/>
              <a:t>) 5.5}; </a:t>
            </a:r>
            <a:endParaRPr lang="en-US"/>
          </a:p>
          <a:p>
            <a:pPr marL="342900" lvl="1" indent="0">
              <a:lnSpc>
                <a:spcPct val="140000"/>
              </a:lnSpc>
              <a:spcBef>
                <a:spcPts val="0"/>
              </a:spcBef>
              <a:buNone/>
            </a:pPr>
            <a:r>
              <a:rPr lang="vi-VN" b="1">
                <a:solidFill>
                  <a:srgbClr val="0000CC"/>
                </a:solidFill>
              </a:rPr>
              <a:t>double</a:t>
            </a:r>
            <a:r>
              <a:rPr lang="vi-VN"/>
              <a:t>[] </a:t>
            </a:r>
            <a:r>
              <a:rPr lang="vi-VN">
                <a:solidFill>
                  <a:srgbClr val="C00000"/>
                </a:solidFill>
              </a:rPr>
              <a:t>arr2</a:t>
            </a:r>
            <a:r>
              <a:rPr lang="vi-VN"/>
              <a:t> = {2.3, 7.2, </a:t>
            </a:r>
            <a:r>
              <a:rPr lang="vi-VN"/>
              <a:t>9.5}</a:t>
            </a:r>
            <a:endParaRPr lang="en-US">
              <a:solidFill>
                <a:srgbClr val="00B050"/>
              </a:solidFill>
            </a:endParaRPr>
          </a:p>
          <a:p>
            <a:pPr marL="342900" lvl="1" indent="0">
              <a:lnSpc>
                <a:spcPct val="140000"/>
              </a:lnSpc>
              <a:spcBef>
                <a:spcPts val="0"/>
              </a:spcBef>
              <a:buNone/>
            </a:pPr>
            <a:r>
              <a:rPr lang="vi-VN" b="1" smtClean="0">
                <a:solidFill>
                  <a:srgbClr val="0000CC"/>
                </a:solidFill>
              </a:rPr>
              <a:t>String</a:t>
            </a:r>
            <a:r>
              <a:rPr lang="vi-VN"/>
              <a:t>[] </a:t>
            </a:r>
            <a:r>
              <a:rPr lang="vi-VN">
                <a:solidFill>
                  <a:srgbClr val="C00000"/>
                </a:solidFill>
              </a:rPr>
              <a:t>ngay</a:t>
            </a:r>
            <a:r>
              <a:rPr lang="vi-VN"/>
              <a:t> = { </a:t>
            </a:r>
          </a:p>
          <a:p>
            <a:pPr marL="642938" lvl="2" indent="0">
              <a:lnSpc>
                <a:spcPct val="140000"/>
              </a:lnSpc>
              <a:spcBef>
                <a:spcPts val="0"/>
              </a:spcBef>
              <a:buNone/>
            </a:pPr>
            <a:r>
              <a:rPr lang="vi-VN"/>
              <a:t>          </a:t>
            </a:r>
            <a:r>
              <a:rPr lang="en-US"/>
              <a:t>"</a:t>
            </a:r>
            <a:r>
              <a:rPr lang="vi-VN"/>
              <a:t>chủ nhật</a:t>
            </a:r>
            <a:r>
              <a:rPr lang="en-US"/>
              <a:t>"</a:t>
            </a:r>
            <a:r>
              <a:rPr lang="vi-VN"/>
              <a:t>,</a:t>
            </a:r>
            <a:r>
              <a:rPr lang="en-US"/>
              <a:t>"</a:t>
            </a:r>
            <a:r>
              <a:rPr lang="vi-VN"/>
              <a:t>thứ hai</a:t>
            </a:r>
            <a:r>
              <a:rPr lang="en-US"/>
              <a:t>"</a:t>
            </a:r>
            <a:r>
              <a:rPr lang="vi-VN"/>
              <a:t>,</a:t>
            </a:r>
            <a:r>
              <a:rPr lang="en-US"/>
              <a:t>"</a:t>
            </a:r>
            <a:r>
              <a:rPr lang="vi-VN"/>
              <a:t>thứ ba</a:t>
            </a:r>
            <a:r>
              <a:rPr lang="en-US"/>
              <a:t>"</a:t>
            </a:r>
            <a:r>
              <a:rPr lang="vi-VN"/>
              <a:t>, </a:t>
            </a:r>
          </a:p>
          <a:p>
            <a:pPr marL="642938" lvl="2" indent="0">
              <a:lnSpc>
                <a:spcPct val="140000"/>
              </a:lnSpc>
              <a:spcBef>
                <a:spcPts val="0"/>
              </a:spcBef>
              <a:buNone/>
            </a:pPr>
            <a:r>
              <a:rPr lang="vi-VN"/>
              <a:t>          </a:t>
            </a:r>
            <a:r>
              <a:rPr lang="en-US"/>
              <a:t>"</a:t>
            </a:r>
            <a:r>
              <a:rPr lang="vi-VN"/>
              <a:t>thứ tư</a:t>
            </a:r>
            <a:r>
              <a:rPr lang="en-US"/>
              <a:t>"</a:t>
            </a:r>
            <a:r>
              <a:rPr lang="vi-VN"/>
              <a:t>,</a:t>
            </a:r>
            <a:r>
              <a:rPr lang="en-US"/>
              <a:t>"</a:t>
            </a:r>
            <a:r>
              <a:rPr lang="vi-VN"/>
              <a:t>thứ năm</a:t>
            </a:r>
            <a:r>
              <a:rPr lang="en-US"/>
              <a:t>"</a:t>
            </a:r>
            <a:r>
              <a:rPr lang="vi-VN"/>
              <a:t>,</a:t>
            </a:r>
            <a:r>
              <a:rPr lang="en-US"/>
              <a:t>"</a:t>
            </a:r>
            <a:r>
              <a:rPr lang="vi-VN"/>
              <a:t>thứ sáu</a:t>
            </a:r>
            <a:r>
              <a:rPr lang="en-US"/>
              <a:t>"</a:t>
            </a:r>
            <a:r>
              <a:rPr lang="vi-VN"/>
              <a:t>,</a:t>
            </a:r>
            <a:r>
              <a:rPr lang="en-US"/>
              <a:t>"</a:t>
            </a:r>
            <a:r>
              <a:rPr lang="vi-VN"/>
              <a:t>thứ bảy</a:t>
            </a:r>
            <a:r>
              <a:rPr lang="en-US"/>
              <a:t>"</a:t>
            </a:r>
            <a:r>
              <a:rPr lang="vi-VN"/>
              <a:t> </a:t>
            </a:r>
            <a:r>
              <a:rPr lang="vi-VN" smtClean="0"/>
              <a:t>};</a:t>
            </a:r>
            <a:endParaRPr lang="en-US">
              <a:solidFill>
                <a:srgbClr val="00B050"/>
              </a:solidFill>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81</a:t>
            </a:fld>
            <a:endParaRPr lang="en-US"/>
          </a:p>
        </p:txBody>
      </p:sp>
    </p:spTree>
    <p:extLst>
      <p:ext uri="{BB962C8B-B14F-4D97-AF65-F5344CB8AC3E}">
        <p14:creationId xmlns:p14="http://schemas.microsoft.com/office/powerpoint/2010/main" val="365083682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4.2. Mảng một chiều</a:t>
            </a:r>
            <a:endParaRPr lang="en-US"/>
          </a:p>
        </p:txBody>
      </p:sp>
      <p:sp>
        <p:nvSpPr>
          <p:cNvPr id="3" name="Content Placeholder 2"/>
          <p:cNvSpPr>
            <a:spLocks noGrp="1"/>
          </p:cNvSpPr>
          <p:nvPr>
            <p:ph idx="1"/>
          </p:nvPr>
        </p:nvSpPr>
        <p:spPr/>
        <p:txBody>
          <a:bodyPr>
            <a:noAutofit/>
          </a:bodyPr>
          <a:lstStyle/>
          <a:p>
            <a:pPr>
              <a:spcBef>
                <a:spcPts val="0"/>
              </a:spcBef>
            </a:pPr>
            <a:r>
              <a:rPr lang="en-US" sz="2400" b="1">
                <a:solidFill>
                  <a:srgbClr val="003366"/>
                </a:solidFill>
                <a:latin typeface="Times New Roman" pitchFamily="18" charset="0"/>
                <a:ea typeface="+mj-ea"/>
                <a:cs typeface="Times New Roman" pitchFamily="18" charset="0"/>
              </a:rPr>
              <a:t>Xuất mảng</a:t>
            </a:r>
          </a:p>
          <a:p>
            <a:pPr lvl="1">
              <a:lnSpc>
                <a:spcPct val="110000"/>
              </a:lnSpc>
              <a:spcBef>
                <a:spcPts val="0"/>
              </a:spcBef>
            </a:pPr>
            <a:r>
              <a:rPr lang="en-US" sz="1875"/>
              <a:t>Cách 1: sử dụng cấu trúc lặp </a:t>
            </a:r>
            <a:r>
              <a:rPr lang="en-US" sz="1875">
                <a:solidFill>
                  <a:srgbClr val="FF0000"/>
                </a:solidFill>
              </a:rPr>
              <a:t>foreach</a:t>
            </a:r>
          </a:p>
          <a:p>
            <a:pPr marL="342900" lvl="1" indent="0">
              <a:lnSpc>
                <a:spcPct val="110000"/>
              </a:lnSpc>
              <a:spcBef>
                <a:spcPts val="0"/>
              </a:spcBef>
              <a:buNone/>
            </a:pPr>
            <a:r>
              <a:rPr lang="vi-VN" sz="1875">
                <a:solidFill>
                  <a:srgbClr val="00B050"/>
                </a:solidFill>
              </a:rPr>
              <a:t>//tenBien lần lượt là các phần tử bên trong mảng </a:t>
            </a:r>
          </a:p>
          <a:p>
            <a:pPr marL="342900" lvl="1" indent="0">
              <a:lnSpc>
                <a:spcPct val="110000"/>
              </a:lnSpc>
              <a:spcBef>
                <a:spcPts val="0"/>
              </a:spcBef>
              <a:buNone/>
            </a:pPr>
            <a:r>
              <a:rPr lang="vi-VN" sz="1875">
                <a:solidFill>
                  <a:srgbClr val="0000FF"/>
                </a:solidFill>
              </a:rPr>
              <a:t>for</a:t>
            </a:r>
            <a:r>
              <a:rPr lang="vi-VN" sz="1875"/>
              <a:t> (KieuDuLieu tenBien : tenMang){ </a:t>
            </a:r>
          </a:p>
          <a:p>
            <a:pPr marL="342900" lvl="1" indent="0">
              <a:lnSpc>
                <a:spcPct val="110000"/>
              </a:lnSpc>
              <a:spcBef>
                <a:spcPts val="0"/>
              </a:spcBef>
              <a:buNone/>
            </a:pPr>
            <a:r>
              <a:rPr lang="vi-VN" sz="1875"/>
              <a:t>    Các câu lệnh; </a:t>
            </a:r>
          </a:p>
          <a:p>
            <a:pPr marL="342900" lvl="1" indent="0">
              <a:lnSpc>
                <a:spcPct val="110000"/>
              </a:lnSpc>
              <a:spcBef>
                <a:spcPts val="0"/>
              </a:spcBef>
              <a:buNone/>
            </a:pPr>
            <a:r>
              <a:rPr lang="vi-VN" sz="1875"/>
              <a:t>} </a:t>
            </a:r>
            <a:endParaRPr lang="en-US" sz="1875"/>
          </a:p>
          <a:p>
            <a:pPr lvl="1">
              <a:lnSpc>
                <a:spcPct val="110000"/>
              </a:lnSpc>
              <a:spcBef>
                <a:spcPts val="0"/>
              </a:spcBef>
            </a:pPr>
            <a:r>
              <a:rPr lang="en-US" sz="1875"/>
              <a:t>Ví dụ</a:t>
            </a:r>
            <a:r>
              <a:rPr lang="en-US" sz="1875"/>
              <a:t>: </a:t>
            </a:r>
            <a:r>
              <a:rPr lang="vi-VN" sz="1875"/>
              <a:t>Xuất các phần tử của mảng các số nguyên a</a:t>
            </a:r>
          </a:p>
          <a:p>
            <a:pPr marL="300038" lvl="1" indent="0" algn="l" eaLnBrk="1" hangingPunct="1">
              <a:lnSpc>
                <a:spcPct val="110000"/>
              </a:lnSpc>
              <a:spcBef>
                <a:spcPts val="0"/>
              </a:spcBef>
              <a:buNone/>
              <a:defRPr/>
            </a:pPr>
            <a:r>
              <a:rPr lang="en-US" sz="1875">
                <a:solidFill>
                  <a:srgbClr val="000000"/>
                </a:solidFill>
              </a:rPr>
              <a:t>System.out.</a:t>
            </a:r>
            <a:r>
              <a:rPr lang="en-US" sz="1875" b="1">
                <a:solidFill>
                  <a:srgbClr val="C00000"/>
                </a:solidFill>
              </a:rPr>
              <a:t>println</a:t>
            </a:r>
            <a:r>
              <a:rPr lang="en-US" sz="1875">
                <a:solidFill>
                  <a:srgbClr val="000000"/>
                </a:solidFill>
              </a:rPr>
              <a:t>(</a:t>
            </a:r>
            <a:r>
              <a:rPr lang="en-US" sz="1875" i="1">
                <a:solidFill>
                  <a:srgbClr val="000000"/>
                </a:solidFill>
              </a:rPr>
              <a:t>"Xuất mảng dùng foreach"</a:t>
            </a:r>
            <a:r>
              <a:rPr lang="en-US" sz="1875">
                <a:solidFill>
                  <a:srgbClr val="000000"/>
                </a:solidFill>
              </a:rPr>
              <a:t>); </a:t>
            </a:r>
          </a:p>
          <a:p>
            <a:pPr marL="300038" lvl="1" indent="0" algn="l" eaLnBrk="1" hangingPunct="1">
              <a:lnSpc>
                <a:spcPct val="110000"/>
              </a:lnSpc>
              <a:spcBef>
                <a:spcPts val="0"/>
              </a:spcBef>
              <a:buNone/>
              <a:defRPr/>
            </a:pPr>
            <a:r>
              <a:rPr lang="en-US" sz="1875">
                <a:solidFill>
                  <a:srgbClr val="000000"/>
                </a:solidFill>
              </a:rPr>
              <a:t>System.out.</a:t>
            </a:r>
            <a:r>
              <a:rPr lang="en-US" sz="1875" b="1">
                <a:solidFill>
                  <a:srgbClr val="C00000"/>
                </a:solidFill>
              </a:rPr>
              <a:t>println</a:t>
            </a:r>
            <a:r>
              <a:rPr lang="en-US" sz="1875">
                <a:solidFill>
                  <a:srgbClr val="000000"/>
                </a:solidFill>
              </a:rPr>
              <a:t>(</a:t>
            </a:r>
            <a:r>
              <a:rPr lang="en-US" sz="1875" i="1">
                <a:solidFill>
                  <a:srgbClr val="000000"/>
                </a:solidFill>
              </a:rPr>
              <a:t>"Số phần tử của mảng "</a:t>
            </a:r>
            <a:r>
              <a:rPr lang="en-US" sz="1875">
                <a:solidFill>
                  <a:srgbClr val="000000"/>
                </a:solidFill>
              </a:rPr>
              <a:t> + a.length); </a:t>
            </a:r>
          </a:p>
          <a:p>
            <a:pPr marL="300038" lvl="1" indent="0" algn="l" eaLnBrk="1" hangingPunct="1">
              <a:lnSpc>
                <a:spcPct val="110000"/>
              </a:lnSpc>
              <a:spcBef>
                <a:spcPts val="0"/>
              </a:spcBef>
              <a:buNone/>
              <a:defRPr/>
            </a:pPr>
            <a:r>
              <a:rPr lang="vi-VN" sz="1875">
                <a:solidFill>
                  <a:srgbClr val="0000FF"/>
                </a:solidFill>
              </a:rPr>
              <a:t>for</a:t>
            </a:r>
            <a:r>
              <a:rPr lang="en-US" sz="1875">
                <a:solidFill>
                  <a:srgbClr val="000000"/>
                </a:solidFill>
              </a:rPr>
              <a:t> (int pt : </a:t>
            </a:r>
            <a:r>
              <a:rPr lang="en-US" sz="1875" b="1">
                <a:solidFill>
                  <a:srgbClr val="FF0000"/>
                </a:solidFill>
              </a:rPr>
              <a:t>a</a:t>
            </a:r>
            <a:r>
              <a:rPr lang="en-US" sz="1875">
                <a:solidFill>
                  <a:srgbClr val="000000"/>
                </a:solidFill>
              </a:rPr>
              <a:t>){ </a:t>
            </a:r>
          </a:p>
          <a:p>
            <a:pPr marL="300038" lvl="1" indent="0" algn="l" eaLnBrk="1" hangingPunct="1">
              <a:lnSpc>
                <a:spcPct val="110000"/>
              </a:lnSpc>
              <a:spcBef>
                <a:spcPts val="0"/>
              </a:spcBef>
              <a:buNone/>
              <a:defRPr/>
            </a:pPr>
            <a:r>
              <a:rPr lang="en-US" sz="1875">
                <a:solidFill>
                  <a:srgbClr val="000000"/>
                </a:solidFill>
              </a:rPr>
              <a:t>    System.out.</a:t>
            </a:r>
            <a:r>
              <a:rPr lang="en-US" sz="1875" b="1">
                <a:solidFill>
                  <a:srgbClr val="C00000"/>
                </a:solidFill>
              </a:rPr>
              <a:t>println</a:t>
            </a:r>
            <a:r>
              <a:rPr lang="en-US" sz="1875">
                <a:solidFill>
                  <a:srgbClr val="000000"/>
                </a:solidFill>
              </a:rPr>
              <a:t>(pt); </a:t>
            </a:r>
          </a:p>
          <a:p>
            <a:pPr marL="300038" lvl="1" indent="0" algn="l" eaLnBrk="1" hangingPunct="1">
              <a:lnSpc>
                <a:spcPct val="110000"/>
              </a:lnSpc>
              <a:spcBef>
                <a:spcPts val="0"/>
              </a:spcBef>
              <a:buNone/>
              <a:defRPr/>
            </a:pPr>
            <a:r>
              <a:rPr lang="en-US" sz="1875">
                <a:solidFill>
                  <a:srgbClr val="000000"/>
                </a:solidFill>
              </a:rPr>
              <a:t>}</a:t>
            </a:r>
          </a:p>
          <a:p>
            <a:pPr marL="342900" lvl="1" indent="0">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82</a:t>
            </a:fld>
            <a:endParaRPr lang="en-US"/>
          </a:p>
        </p:txBody>
      </p:sp>
    </p:spTree>
    <p:extLst>
      <p:ext uri="{BB962C8B-B14F-4D97-AF65-F5344CB8AC3E}">
        <p14:creationId xmlns:p14="http://schemas.microsoft.com/office/powerpoint/2010/main" val="3282232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up)">
                                      <p:cBhvr>
                                        <p:cTn id="19" dur="500"/>
                                        <p:tgtEl>
                                          <p:spTgt spid="3">
                                            <p:txEl>
                                              <p:pRg st="4" end="4"/>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up)">
                                      <p:cBhvr>
                                        <p:cTn id="22" dur="500"/>
                                        <p:tgtEl>
                                          <p:spTgt spid="3">
                                            <p:txEl>
                                              <p:pRg st="5" end="5"/>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up)">
                                      <p:cBhvr>
                                        <p:cTn id="25" dur="500"/>
                                        <p:tgtEl>
                                          <p:spTgt spid="3">
                                            <p:txEl>
                                              <p:pRg st="6" end="6"/>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up)">
                                      <p:cBhvr>
                                        <p:cTn id="28" dur="500"/>
                                        <p:tgtEl>
                                          <p:spTgt spid="3">
                                            <p:txEl>
                                              <p:pRg st="7" end="7"/>
                                            </p:txEl>
                                          </p:spTgt>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wipe(up)">
                                      <p:cBhvr>
                                        <p:cTn id="31" dur="500"/>
                                        <p:tgtEl>
                                          <p:spTgt spid="3">
                                            <p:txEl>
                                              <p:pRg st="8" end="8"/>
                                            </p:txEl>
                                          </p:spTgt>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wipe(up)">
                                      <p:cBhvr>
                                        <p:cTn id="34" dur="500"/>
                                        <p:tgtEl>
                                          <p:spTgt spid="3">
                                            <p:txEl>
                                              <p:pRg st="9" end="9"/>
                                            </p:txEl>
                                          </p:spTgt>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wipe(up)">
                                      <p:cBhvr>
                                        <p:cTn id="37" dur="500"/>
                                        <p:tgtEl>
                                          <p:spTgt spid="3">
                                            <p:txEl>
                                              <p:pRg st="10" end="10"/>
                                            </p:txEl>
                                          </p:spTgt>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wipe(up)">
                                      <p:cBhvr>
                                        <p:cTn id="40"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4.2. Mảng một chiều</a:t>
            </a:r>
            <a:endParaRPr lang="en-US"/>
          </a:p>
        </p:txBody>
      </p:sp>
      <p:sp>
        <p:nvSpPr>
          <p:cNvPr id="3" name="Content Placeholder 2"/>
          <p:cNvSpPr>
            <a:spLocks noGrp="1"/>
          </p:cNvSpPr>
          <p:nvPr>
            <p:ph idx="1"/>
          </p:nvPr>
        </p:nvSpPr>
        <p:spPr/>
        <p:txBody>
          <a:bodyPr>
            <a:noAutofit/>
          </a:bodyPr>
          <a:lstStyle/>
          <a:p>
            <a:pPr>
              <a:spcBef>
                <a:spcPts val="0"/>
              </a:spcBef>
            </a:pPr>
            <a:r>
              <a:rPr lang="en-US" sz="2400" b="1">
                <a:solidFill>
                  <a:srgbClr val="003366"/>
                </a:solidFill>
                <a:latin typeface="Times New Roman" pitchFamily="18" charset="0"/>
                <a:ea typeface="+mj-ea"/>
                <a:cs typeface="Times New Roman" pitchFamily="18" charset="0"/>
              </a:rPr>
              <a:t>Xuất mảng</a:t>
            </a:r>
          </a:p>
          <a:p>
            <a:pPr lvl="1" latinLnBrk="0"/>
            <a:r>
              <a:rPr lang="en-US"/>
              <a:t>Cách 2: </a:t>
            </a:r>
            <a:r>
              <a:rPr lang="en-US" smtClean="0"/>
              <a:t>Sử </a:t>
            </a:r>
            <a:r>
              <a:rPr lang="en-US"/>
              <a:t>dụng cấu trúc lặp </a:t>
            </a:r>
            <a:r>
              <a:rPr lang="en-US" i="1">
                <a:solidFill>
                  <a:srgbClr val="FF0000"/>
                </a:solidFill>
              </a:rPr>
              <a:t>for</a:t>
            </a:r>
            <a:r>
              <a:rPr lang="en-US">
                <a:solidFill>
                  <a:srgbClr val="FF0000"/>
                </a:solidFill>
              </a:rPr>
              <a:t> </a:t>
            </a:r>
            <a:r>
              <a:rPr lang="en-US"/>
              <a:t>để xuất mảng </a:t>
            </a:r>
          </a:p>
          <a:p>
            <a:pPr lvl="1" latinLnBrk="0"/>
            <a:r>
              <a:rPr lang="en-US"/>
              <a:t>Ví dụ:</a:t>
            </a:r>
          </a:p>
          <a:p>
            <a:pPr marL="300038" lvl="1" indent="0" algn="l" eaLnBrk="1" hangingPunct="1">
              <a:lnSpc>
                <a:spcPct val="120000"/>
              </a:lnSpc>
              <a:buNone/>
              <a:defRPr/>
            </a:pPr>
            <a:r>
              <a:rPr lang="vi-VN" sz="1875">
                <a:solidFill>
                  <a:srgbClr val="000000"/>
                </a:solidFill>
              </a:rPr>
              <a:t>System.out.</a:t>
            </a:r>
            <a:r>
              <a:rPr lang="vi-VN" sz="1875" b="1">
                <a:solidFill>
                  <a:srgbClr val="C00000"/>
                </a:solidFill>
              </a:rPr>
              <a:t>println</a:t>
            </a:r>
            <a:r>
              <a:rPr lang="vi-VN" sz="1875">
                <a:solidFill>
                  <a:srgbClr val="000000"/>
                </a:solidFill>
              </a:rPr>
              <a:t>(</a:t>
            </a:r>
            <a:r>
              <a:rPr lang="en-US" sz="1875">
                <a:solidFill>
                  <a:srgbClr val="000000"/>
                </a:solidFill>
              </a:rPr>
              <a:t>"</a:t>
            </a:r>
            <a:r>
              <a:rPr lang="vi-VN" sz="1875" i="1">
                <a:solidFill>
                  <a:srgbClr val="000000"/>
                </a:solidFill>
              </a:rPr>
              <a:t>Xuất mảng dùng for </a:t>
            </a:r>
            <a:r>
              <a:rPr lang="en-US" sz="1875">
                <a:solidFill>
                  <a:srgbClr val="000000"/>
                </a:solidFill>
              </a:rPr>
              <a:t>"</a:t>
            </a:r>
            <a:r>
              <a:rPr lang="vi-VN" sz="1875">
                <a:solidFill>
                  <a:srgbClr val="000000"/>
                </a:solidFill>
              </a:rPr>
              <a:t>); </a:t>
            </a:r>
          </a:p>
          <a:p>
            <a:pPr marL="300038" lvl="1" indent="0" algn="l" eaLnBrk="1" hangingPunct="1">
              <a:lnSpc>
                <a:spcPct val="120000"/>
              </a:lnSpc>
              <a:buNone/>
              <a:defRPr/>
            </a:pPr>
            <a:r>
              <a:rPr lang="vi-VN" sz="1875">
                <a:solidFill>
                  <a:srgbClr val="000000"/>
                </a:solidFill>
              </a:rPr>
              <a:t>System.out.</a:t>
            </a:r>
            <a:r>
              <a:rPr lang="vi-VN" sz="1875" b="1">
                <a:solidFill>
                  <a:srgbClr val="C00000"/>
                </a:solidFill>
              </a:rPr>
              <a:t>println</a:t>
            </a:r>
            <a:r>
              <a:rPr lang="vi-VN" sz="1875">
                <a:solidFill>
                  <a:srgbClr val="000000"/>
                </a:solidFill>
              </a:rPr>
              <a:t>(</a:t>
            </a:r>
            <a:r>
              <a:rPr lang="en-US" sz="1875">
                <a:solidFill>
                  <a:srgbClr val="000000"/>
                </a:solidFill>
              </a:rPr>
              <a:t>"</a:t>
            </a:r>
            <a:r>
              <a:rPr lang="vi-VN" sz="1875" i="1">
                <a:solidFill>
                  <a:srgbClr val="000000"/>
                </a:solidFill>
              </a:rPr>
              <a:t>Số phần tử của mảng</a:t>
            </a:r>
            <a:r>
              <a:rPr lang="vi-VN" sz="1875">
                <a:solidFill>
                  <a:srgbClr val="000000"/>
                </a:solidFill>
              </a:rPr>
              <a:t> </a:t>
            </a:r>
            <a:r>
              <a:rPr lang="en-US" sz="1875">
                <a:solidFill>
                  <a:srgbClr val="000000"/>
                </a:solidFill>
              </a:rPr>
              <a:t>"</a:t>
            </a:r>
            <a:r>
              <a:rPr lang="vi-VN" sz="1875">
                <a:solidFill>
                  <a:srgbClr val="000000"/>
                </a:solidFill>
              </a:rPr>
              <a:t> + a.length); </a:t>
            </a:r>
          </a:p>
          <a:p>
            <a:pPr marL="300038" lvl="1" indent="0" algn="l" eaLnBrk="1" hangingPunct="1">
              <a:lnSpc>
                <a:spcPct val="120000"/>
              </a:lnSpc>
              <a:buNone/>
              <a:defRPr/>
            </a:pPr>
            <a:r>
              <a:rPr lang="vi-VN" sz="1875">
                <a:solidFill>
                  <a:srgbClr val="000000"/>
                </a:solidFill>
              </a:rPr>
              <a:t>for (int i=0 ; i&lt;a.length; i</a:t>
            </a:r>
            <a:r>
              <a:rPr lang="vi-VN" sz="1875">
                <a:solidFill>
                  <a:srgbClr val="000000"/>
                </a:solidFill>
              </a:rPr>
              <a:t>++)</a:t>
            </a:r>
            <a:r>
              <a:rPr lang="en-US" sz="1875">
                <a:solidFill>
                  <a:srgbClr val="000000"/>
                </a:solidFill>
              </a:rPr>
              <a:t> </a:t>
            </a:r>
            <a:r>
              <a:rPr lang="vi-VN" sz="1875">
                <a:solidFill>
                  <a:srgbClr val="000000"/>
                </a:solidFill>
              </a:rPr>
              <a:t>{ </a:t>
            </a:r>
            <a:endParaRPr lang="vi-VN" sz="1875">
              <a:solidFill>
                <a:srgbClr val="000000"/>
              </a:solidFill>
            </a:endParaRPr>
          </a:p>
          <a:p>
            <a:pPr marL="300038" lvl="1" indent="0" algn="l" eaLnBrk="1" hangingPunct="1">
              <a:lnSpc>
                <a:spcPct val="120000"/>
              </a:lnSpc>
              <a:buNone/>
              <a:defRPr/>
            </a:pPr>
            <a:r>
              <a:rPr lang="vi-VN" sz="1875">
                <a:solidFill>
                  <a:srgbClr val="000000"/>
                </a:solidFill>
              </a:rPr>
              <a:t>    System.out.</a:t>
            </a:r>
            <a:r>
              <a:rPr lang="vi-VN" sz="1875" b="1">
                <a:solidFill>
                  <a:srgbClr val="C00000"/>
                </a:solidFill>
              </a:rPr>
              <a:t>println</a:t>
            </a:r>
            <a:r>
              <a:rPr lang="vi-VN" sz="1875">
                <a:solidFill>
                  <a:srgbClr val="000000"/>
                </a:solidFill>
              </a:rPr>
              <a:t>(a[i]); </a:t>
            </a:r>
          </a:p>
          <a:p>
            <a:pPr marL="300038" lvl="1" indent="0" algn="l" eaLnBrk="1" hangingPunct="1">
              <a:lnSpc>
                <a:spcPct val="120000"/>
              </a:lnSpc>
              <a:buNone/>
              <a:defRPr/>
            </a:pPr>
            <a:r>
              <a:rPr lang="vi-VN" sz="1875">
                <a:solidFill>
                  <a:srgbClr val="000000"/>
                </a:solidFill>
              </a:rPr>
              <a:t>} </a:t>
            </a:r>
            <a:endParaRPr lang="en-US" sz="1875">
              <a:solidFill>
                <a:srgbClr val="000000"/>
              </a:solidFill>
            </a:endParaRPr>
          </a:p>
          <a:p>
            <a:pPr marL="342900" lvl="1" indent="0">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83</a:t>
            </a:fld>
            <a:endParaRPr lang="en-US"/>
          </a:p>
        </p:txBody>
      </p:sp>
    </p:spTree>
    <p:extLst>
      <p:ext uri="{BB962C8B-B14F-4D97-AF65-F5344CB8AC3E}">
        <p14:creationId xmlns:p14="http://schemas.microsoft.com/office/powerpoint/2010/main" val="2951031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up)">
                                      <p:cBhvr>
                                        <p:cTn id="19" dur="500"/>
                                        <p:tgtEl>
                                          <p:spTgt spid="3">
                                            <p:txEl>
                                              <p:pRg st="4" end="4"/>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up)">
                                      <p:cBhvr>
                                        <p:cTn id="22" dur="500"/>
                                        <p:tgtEl>
                                          <p:spTgt spid="3">
                                            <p:txEl>
                                              <p:pRg st="5" end="5"/>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up)">
                                      <p:cBhvr>
                                        <p:cTn id="25" dur="500"/>
                                        <p:tgtEl>
                                          <p:spTgt spid="3">
                                            <p:txEl>
                                              <p:pRg st="6" end="6"/>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up)">
                                      <p:cBhvr>
                                        <p:cTn id="2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4.2. Mảng một chiều</a:t>
            </a:r>
            <a:endParaRPr lang="en-US"/>
          </a:p>
        </p:txBody>
      </p:sp>
      <p:sp>
        <p:nvSpPr>
          <p:cNvPr id="3" name="Content Placeholder 2"/>
          <p:cNvSpPr>
            <a:spLocks noGrp="1"/>
          </p:cNvSpPr>
          <p:nvPr>
            <p:ph idx="1"/>
          </p:nvPr>
        </p:nvSpPr>
        <p:spPr/>
        <p:txBody>
          <a:bodyPr>
            <a:noAutofit/>
          </a:bodyPr>
          <a:lstStyle/>
          <a:p>
            <a:pPr>
              <a:spcBef>
                <a:spcPts val="0"/>
              </a:spcBef>
            </a:pPr>
            <a:r>
              <a:rPr lang="en-US" sz="2400" b="1">
                <a:solidFill>
                  <a:srgbClr val="003366"/>
                </a:solidFill>
                <a:latin typeface="Times New Roman" pitchFamily="18" charset="0"/>
                <a:ea typeface="+mj-ea"/>
                <a:cs typeface="Times New Roman" pitchFamily="18" charset="0"/>
              </a:rPr>
              <a:t>Nhập mảng</a:t>
            </a:r>
          </a:p>
          <a:p>
            <a:pPr marL="300038" lvl="1" indent="-42863" algn="l" eaLnBrk="1" fontAlgn="auto" hangingPunct="1">
              <a:lnSpc>
                <a:spcPct val="130000"/>
              </a:lnSpc>
              <a:spcBef>
                <a:spcPts val="0"/>
              </a:spcBef>
              <a:spcAft>
                <a:spcPts val="0"/>
              </a:spcAft>
              <a:buNone/>
            </a:pPr>
            <a:r>
              <a:rPr lang="en-US">
                <a:solidFill>
                  <a:srgbClr val="000000"/>
                </a:solidFill>
                <a:latin typeface="Times New Roman" pitchFamily="18" charset="0"/>
                <a:cs typeface="Times New Roman" pitchFamily="18" charset="0"/>
              </a:rPr>
              <a:t>System.out.print(</a:t>
            </a:r>
            <a:r>
              <a:rPr lang="en-US">
                <a:solidFill>
                  <a:srgbClr val="FF6600"/>
                </a:solidFill>
                <a:latin typeface="Times New Roman" pitchFamily="18" charset="0"/>
                <a:cs typeface="Times New Roman" pitchFamily="18" charset="0"/>
              </a:rPr>
              <a:t>"Số phần tử của mảng là "</a:t>
            </a:r>
            <a:r>
              <a:rPr lang="en-US">
                <a:solidFill>
                  <a:srgbClr val="000000"/>
                </a:solidFill>
                <a:latin typeface="Times New Roman" pitchFamily="18" charset="0"/>
                <a:cs typeface="Times New Roman" pitchFamily="18" charset="0"/>
              </a:rPr>
              <a:t>); </a:t>
            </a:r>
          </a:p>
          <a:p>
            <a:pPr marL="300038" lvl="1" indent="-42863" algn="l" eaLnBrk="1" fontAlgn="auto" hangingPunct="1">
              <a:lnSpc>
                <a:spcPct val="130000"/>
              </a:lnSpc>
              <a:spcBef>
                <a:spcPts val="0"/>
              </a:spcBef>
              <a:spcAft>
                <a:spcPts val="0"/>
              </a:spcAft>
              <a:buNone/>
            </a:pPr>
            <a:r>
              <a:rPr lang="en-US">
                <a:solidFill>
                  <a:srgbClr val="0000FF"/>
                </a:solidFill>
                <a:latin typeface="Times New Roman" pitchFamily="18" charset="0"/>
                <a:cs typeface="Times New Roman" pitchFamily="18" charset="0"/>
              </a:rPr>
              <a:t>Scanner </a:t>
            </a:r>
            <a:r>
              <a:rPr lang="en-US">
                <a:solidFill>
                  <a:srgbClr val="000000"/>
                </a:solidFill>
                <a:latin typeface="Times New Roman" pitchFamily="18" charset="0"/>
                <a:cs typeface="Times New Roman" pitchFamily="18" charset="0"/>
              </a:rPr>
              <a:t>input =</a:t>
            </a:r>
            <a:r>
              <a:rPr lang="en-US">
                <a:solidFill>
                  <a:srgbClr val="0000FF"/>
                </a:solidFill>
                <a:latin typeface="Times New Roman" pitchFamily="18" charset="0"/>
                <a:cs typeface="Times New Roman" pitchFamily="18" charset="0"/>
              </a:rPr>
              <a:t> new Scanner</a:t>
            </a:r>
            <a:r>
              <a:rPr lang="en-US">
                <a:solidFill>
                  <a:srgbClr val="000000"/>
                </a:solidFill>
                <a:latin typeface="Times New Roman" pitchFamily="18" charset="0"/>
                <a:cs typeface="Times New Roman" pitchFamily="18" charset="0"/>
              </a:rPr>
              <a:t>(System.in)</a:t>
            </a:r>
            <a:r>
              <a:rPr lang="en-US">
                <a:solidFill>
                  <a:srgbClr val="0000FF"/>
                </a:solidFill>
                <a:latin typeface="Times New Roman" pitchFamily="18" charset="0"/>
                <a:cs typeface="Times New Roman" pitchFamily="18" charset="0"/>
              </a:rPr>
              <a:t>;</a:t>
            </a:r>
          </a:p>
          <a:p>
            <a:pPr marL="300038" lvl="1" indent="-42863" algn="l" eaLnBrk="1" fontAlgn="auto" hangingPunct="1">
              <a:lnSpc>
                <a:spcPct val="130000"/>
              </a:lnSpc>
              <a:spcBef>
                <a:spcPts val="0"/>
              </a:spcBef>
              <a:spcAft>
                <a:spcPts val="0"/>
              </a:spcAft>
              <a:buNone/>
            </a:pPr>
            <a:r>
              <a:rPr lang="en-US">
                <a:solidFill>
                  <a:srgbClr val="0000FF"/>
                </a:solidFill>
                <a:latin typeface="Times New Roman" pitchFamily="18" charset="0"/>
                <a:cs typeface="Times New Roman" pitchFamily="18" charset="0"/>
              </a:rPr>
              <a:t>int</a:t>
            </a:r>
            <a:r>
              <a:rPr lang="en-US">
                <a:solidFill>
                  <a:srgbClr val="000000"/>
                </a:solidFill>
                <a:latin typeface="Times New Roman" pitchFamily="18" charset="0"/>
                <a:cs typeface="Times New Roman" pitchFamily="18" charset="0"/>
              </a:rPr>
              <a:t> </a:t>
            </a:r>
            <a:r>
              <a:rPr lang="en-US">
                <a:solidFill>
                  <a:srgbClr val="000000"/>
                </a:solidFill>
                <a:latin typeface="Times New Roman" pitchFamily="18" charset="0"/>
                <a:cs typeface="Times New Roman" pitchFamily="18" charset="0"/>
              </a:rPr>
              <a:t>n = </a:t>
            </a:r>
            <a:r>
              <a:rPr lang="en-US">
                <a:solidFill>
                  <a:srgbClr val="000000"/>
                </a:solidFill>
                <a:latin typeface="Times New Roman" pitchFamily="18" charset="0"/>
                <a:cs typeface="Times New Roman" pitchFamily="18" charset="0"/>
              </a:rPr>
              <a:t>input.</a:t>
            </a:r>
            <a:r>
              <a:rPr lang="en-US">
                <a:solidFill>
                  <a:srgbClr val="800000"/>
                </a:solidFill>
                <a:latin typeface="Times New Roman" pitchFamily="18" charset="0"/>
                <a:cs typeface="Times New Roman" pitchFamily="18" charset="0"/>
              </a:rPr>
              <a:t>nextInt</a:t>
            </a:r>
            <a:r>
              <a:rPr lang="en-US">
                <a:solidFill>
                  <a:srgbClr val="000000"/>
                </a:solidFill>
                <a:latin typeface="Times New Roman" pitchFamily="18" charset="0"/>
                <a:cs typeface="Times New Roman" pitchFamily="18" charset="0"/>
              </a:rPr>
              <a:t>(); </a:t>
            </a:r>
            <a:endParaRPr lang="en-US">
              <a:solidFill>
                <a:srgbClr val="000000"/>
              </a:solidFill>
              <a:latin typeface="Times New Roman" pitchFamily="18" charset="0"/>
              <a:cs typeface="Times New Roman" pitchFamily="18" charset="0"/>
            </a:endParaRPr>
          </a:p>
          <a:p>
            <a:pPr marL="300038" lvl="1" indent="-42863" algn="l" eaLnBrk="1" fontAlgn="auto" hangingPunct="1">
              <a:lnSpc>
                <a:spcPct val="130000"/>
              </a:lnSpc>
              <a:spcBef>
                <a:spcPts val="0"/>
              </a:spcBef>
              <a:spcAft>
                <a:spcPts val="0"/>
              </a:spcAft>
              <a:buNone/>
            </a:pPr>
            <a:r>
              <a:rPr lang="en-US">
                <a:solidFill>
                  <a:srgbClr val="0000FF"/>
                </a:solidFill>
                <a:latin typeface="Times New Roman" pitchFamily="18" charset="0"/>
                <a:cs typeface="Times New Roman" pitchFamily="18" charset="0"/>
              </a:rPr>
              <a:t>int</a:t>
            </a:r>
            <a:r>
              <a:rPr lang="en-US">
                <a:solidFill>
                  <a:srgbClr val="000000"/>
                </a:solidFill>
                <a:latin typeface="Times New Roman" pitchFamily="18" charset="0"/>
                <a:cs typeface="Times New Roman" pitchFamily="18" charset="0"/>
              </a:rPr>
              <a:t> [] a = </a:t>
            </a:r>
            <a:r>
              <a:rPr lang="en-US">
                <a:solidFill>
                  <a:srgbClr val="0000FF"/>
                </a:solidFill>
                <a:latin typeface="Times New Roman" pitchFamily="18" charset="0"/>
                <a:cs typeface="Times New Roman" pitchFamily="18" charset="0"/>
              </a:rPr>
              <a:t>new</a:t>
            </a:r>
            <a:r>
              <a:rPr lang="en-US">
                <a:solidFill>
                  <a:srgbClr val="000000"/>
                </a:solidFill>
                <a:latin typeface="Times New Roman" pitchFamily="18" charset="0"/>
                <a:cs typeface="Times New Roman" pitchFamily="18" charset="0"/>
              </a:rPr>
              <a:t> </a:t>
            </a:r>
            <a:r>
              <a:rPr lang="en-US">
                <a:solidFill>
                  <a:srgbClr val="0000FF"/>
                </a:solidFill>
                <a:latin typeface="Times New Roman" pitchFamily="18" charset="0"/>
                <a:cs typeface="Times New Roman" pitchFamily="18" charset="0"/>
              </a:rPr>
              <a:t>int</a:t>
            </a:r>
            <a:r>
              <a:rPr lang="en-US">
                <a:solidFill>
                  <a:srgbClr val="000000"/>
                </a:solidFill>
                <a:latin typeface="Times New Roman" pitchFamily="18" charset="0"/>
                <a:cs typeface="Times New Roman" pitchFamily="18" charset="0"/>
              </a:rPr>
              <a:t> [n];  </a:t>
            </a:r>
            <a:r>
              <a:rPr lang="en-US">
                <a:solidFill>
                  <a:srgbClr val="008000"/>
                </a:solidFill>
                <a:latin typeface="Times New Roman" pitchFamily="18" charset="0"/>
                <a:cs typeface="Times New Roman" pitchFamily="18" charset="0"/>
              </a:rPr>
              <a:t>//</a:t>
            </a:r>
            <a:r>
              <a:rPr lang="en-US">
                <a:solidFill>
                  <a:srgbClr val="008000"/>
                </a:solidFill>
                <a:latin typeface="Times New Roman" pitchFamily="18" charset="0"/>
                <a:cs typeface="Times New Roman" pitchFamily="18" charset="0"/>
              </a:rPr>
              <a:t>a.length </a:t>
            </a:r>
            <a:r>
              <a:rPr lang="en-US">
                <a:solidFill>
                  <a:srgbClr val="008000"/>
                </a:solidFill>
                <a:latin typeface="Times New Roman" pitchFamily="18" charset="0"/>
                <a:cs typeface="Times New Roman" pitchFamily="18" charset="0"/>
              </a:rPr>
              <a:t>= n </a:t>
            </a:r>
          </a:p>
          <a:p>
            <a:pPr marL="300038" lvl="1" indent="-42863" algn="l" eaLnBrk="1" fontAlgn="auto" hangingPunct="1">
              <a:lnSpc>
                <a:spcPct val="130000"/>
              </a:lnSpc>
              <a:spcBef>
                <a:spcPts val="0"/>
              </a:spcBef>
              <a:spcAft>
                <a:spcPts val="0"/>
              </a:spcAft>
              <a:buNone/>
            </a:pPr>
            <a:r>
              <a:rPr lang="en-US">
                <a:solidFill>
                  <a:srgbClr val="000000"/>
                </a:solidFill>
                <a:latin typeface="Times New Roman" pitchFamily="18" charset="0"/>
                <a:cs typeface="Times New Roman" pitchFamily="18" charset="0"/>
              </a:rPr>
              <a:t>for (</a:t>
            </a:r>
            <a:r>
              <a:rPr lang="en-US">
                <a:solidFill>
                  <a:srgbClr val="0000FF"/>
                </a:solidFill>
                <a:latin typeface="Times New Roman" pitchFamily="18" charset="0"/>
                <a:cs typeface="Times New Roman" pitchFamily="18" charset="0"/>
              </a:rPr>
              <a:t>int</a:t>
            </a:r>
            <a:r>
              <a:rPr lang="en-US">
                <a:solidFill>
                  <a:srgbClr val="000000"/>
                </a:solidFill>
                <a:latin typeface="Times New Roman" pitchFamily="18" charset="0"/>
                <a:cs typeface="Times New Roman" pitchFamily="18" charset="0"/>
              </a:rPr>
              <a:t> i = 0; i &lt; a.length; i++) { </a:t>
            </a:r>
          </a:p>
          <a:p>
            <a:pPr marL="642938" lvl="2" indent="-42863" eaLnBrk="1" fontAlgn="auto" hangingPunct="1">
              <a:lnSpc>
                <a:spcPct val="130000"/>
              </a:lnSpc>
              <a:spcBef>
                <a:spcPts val="0"/>
              </a:spcBef>
              <a:spcAft>
                <a:spcPts val="0"/>
              </a:spcAft>
              <a:buNone/>
            </a:pPr>
            <a:r>
              <a:rPr lang="en-US">
                <a:solidFill>
                  <a:srgbClr val="000000"/>
                </a:solidFill>
                <a:latin typeface="Times New Roman" pitchFamily="18" charset="0"/>
                <a:cs typeface="Times New Roman" pitchFamily="18" charset="0"/>
              </a:rPr>
              <a:t>System.out.print("a["+i+"]="); </a:t>
            </a:r>
          </a:p>
          <a:p>
            <a:pPr marL="642938" lvl="2" indent="-42863" eaLnBrk="1" fontAlgn="auto" hangingPunct="1">
              <a:lnSpc>
                <a:spcPct val="130000"/>
              </a:lnSpc>
              <a:spcBef>
                <a:spcPts val="0"/>
              </a:spcBef>
              <a:spcAft>
                <a:spcPts val="0"/>
              </a:spcAft>
              <a:buNone/>
            </a:pPr>
            <a:r>
              <a:rPr lang="en-US">
                <a:solidFill>
                  <a:srgbClr val="000000"/>
                </a:solidFill>
                <a:latin typeface="Times New Roman" pitchFamily="18" charset="0"/>
                <a:cs typeface="Times New Roman" pitchFamily="18" charset="0"/>
              </a:rPr>
              <a:t>a[i] = input.</a:t>
            </a:r>
            <a:r>
              <a:rPr lang="en-US">
                <a:solidFill>
                  <a:srgbClr val="800000"/>
                </a:solidFill>
                <a:latin typeface="Times New Roman" pitchFamily="18" charset="0"/>
                <a:cs typeface="Times New Roman" pitchFamily="18" charset="0"/>
              </a:rPr>
              <a:t>nextInt</a:t>
            </a:r>
            <a:r>
              <a:rPr lang="en-US" smtClean="0">
                <a:solidFill>
                  <a:srgbClr val="000000"/>
                </a:solidFill>
                <a:latin typeface="Times New Roman" pitchFamily="18" charset="0"/>
                <a:cs typeface="Times New Roman" pitchFamily="18" charset="0"/>
              </a:rPr>
              <a:t>();</a:t>
            </a:r>
            <a:endParaRPr lang="en-US">
              <a:solidFill>
                <a:srgbClr val="000000"/>
              </a:solidFill>
              <a:latin typeface="Times New Roman" pitchFamily="18" charset="0"/>
              <a:cs typeface="Times New Roman" pitchFamily="18" charset="0"/>
            </a:endParaRPr>
          </a:p>
          <a:p>
            <a:pPr marL="300038" lvl="1" indent="-42863" algn="l" eaLnBrk="1" fontAlgn="auto" hangingPunct="1">
              <a:lnSpc>
                <a:spcPct val="130000"/>
              </a:lnSpc>
              <a:spcBef>
                <a:spcPts val="0"/>
              </a:spcBef>
              <a:spcAft>
                <a:spcPts val="0"/>
              </a:spcAft>
              <a:buNone/>
            </a:pPr>
            <a:r>
              <a:rPr lang="en-US">
                <a:solidFill>
                  <a:srgbClr val="000000"/>
                </a:solidFill>
                <a:latin typeface="Times New Roman" pitchFamily="18" charset="0"/>
                <a:cs typeface="Times New Roman" pitchFamily="18" charset="0"/>
              </a:rPr>
              <a:t>} </a:t>
            </a:r>
          </a:p>
          <a:p>
            <a:pPr marL="342900" lvl="1" indent="0">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84</a:t>
            </a:fld>
            <a:endParaRPr lang="en-US"/>
          </a:p>
        </p:txBody>
      </p:sp>
    </p:spTree>
    <p:extLst>
      <p:ext uri="{BB962C8B-B14F-4D97-AF65-F5344CB8AC3E}">
        <p14:creationId xmlns:p14="http://schemas.microsoft.com/office/powerpoint/2010/main" val="309783338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4.2. Mảng một chiều</a:t>
            </a:r>
            <a:endParaRPr lang="en-US"/>
          </a:p>
        </p:txBody>
      </p:sp>
      <p:sp>
        <p:nvSpPr>
          <p:cNvPr id="3" name="Content Placeholder 2"/>
          <p:cNvSpPr>
            <a:spLocks noGrp="1"/>
          </p:cNvSpPr>
          <p:nvPr>
            <p:ph idx="1"/>
          </p:nvPr>
        </p:nvSpPr>
        <p:spPr/>
        <p:txBody>
          <a:bodyPr>
            <a:noAutofit/>
          </a:bodyPr>
          <a:lstStyle/>
          <a:p>
            <a:pPr>
              <a:lnSpc>
                <a:spcPct val="120000"/>
              </a:lnSpc>
              <a:spcBef>
                <a:spcPts val="0"/>
              </a:spcBef>
              <a:spcAft>
                <a:spcPts val="0"/>
              </a:spcAft>
            </a:pPr>
            <a:r>
              <a:rPr lang="en-US" sz="2100" b="1">
                <a:solidFill>
                  <a:srgbClr val="003366"/>
                </a:solidFill>
                <a:latin typeface="Times New Roman" pitchFamily="18" charset="0"/>
                <a:ea typeface="+mj-ea"/>
                <a:cs typeface="Times New Roman" pitchFamily="18" charset="0"/>
              </a:rPr>
              <a:t>Xuất mảng mảng</a:t>
            </a:r>
          </a:p>
          <a:p>
            <a:pPr marL="0" indent="-42863" algn="l" eaLnBrk="1" fontAlgn="auto" hangingPunct="1">
              <a:lnSpc>
                <a:spcPct val="110000"/>
              </a:lnSpc>
              <a:spcBef>
                <a:spcPts val="0"/>
              </a:spcBef>
              <a:spcAft>
                <a:spcPts val="0"/>
              </a:spcAft>
              <a:buNone/>
            </a:pPr>
            <a:r>
              <a:rPr lang="en-US" sz="2100">
                <a:solidFill>
                  <a:srgbClr val="000000"/>
                </a:solidFill>
                <a:latin typeface="Times New Roman" pitchFamily="18" charset="0"/>
                <a:cs typeface="Times New Roman" pitchFamily="18" charset="0"/>
              </a:rPr>
              <a:t>System.out.</a:t>
            </a:r>
            <a:r>
              <a:rPr lang="en-US" sz="2100">
                <a:solidFill>
                  <a:srgbClr val="800000"/>
                </a:solidFill>
                <a:latin typeface="Times New Roman" pitchFamily="18" charset="0"/>
                <a:cs typeface="Times New Roman" pitchFamily="18" charset="0"/>
              </a:rPr>
              <a:t>println</a:t>
            </a:r>
            <a:r>
              <a:rPr lang="en-US" sz="2100">
                <a:solidFill>
                  <a:srgbClr val="000000"/>
                </a:solidFill>
                <a:latin typeface="Times New Roman" pitchFamily="18" charset="0"/>
                <a:cs typeface="Times New Roman" pitchFamily="18" charset="0"/>
              </a:rPr>
              <a:t>("Số phần tử của mảng " + a.length); </a:t>
            </a:r>
          </a:p>
          <a:p>
            <a:pPr marL="0" indent="-42863" algn="l" eaLnBrk="1" fontAlgn="auto" hangingPunct="1">
              <a:lnSpc>
                <a:spcPct val="110000"/>
              </a:lnSpc>
              <a:spcBef>
                <a:spcPts val="0"/>
              </a:spcBef>
              <a:spcAft>
                <a:spcPts val="0"/>
              </a:spcAft>
              <a:buNone/>
            </a:pPr>
            <a:r>
              <a:rPr lang="en-US" sz="2100">
                <a:solidFill>
                  <a:srgbClr val="008000"/>
                </a:solidFill>
                <a:latin typeface="Times New Roman" pitchFamily="18" charset="0"/>
                <a:cs typeface="Times New Roman" pitchFamily="18" charset="0"/>
              </a:rPr>
              <a:t>//Xuất mảng dùng for </a:t>
            </a:r>
          </a:p>
          <a:p>
            <a:pPr marL="0" indent="-42863" algn="l" eaLnBrk="1" fontAlgn="auto" hangingPunct="1">
              <a:lnSpc>
                <a:spcPct val="110000"/>
              </a:lnSpc>
              <a:spcBef>
                <a:spcPts val="0"/>
              </a:spcBef>
              <a:spcAft>
                <a:spcPts val="0"/>
              </a:spcAft>
              <a:buNone/>
            </a:pPr>
            <a:r>
              <a:rPr lang="en-US" sz="2100">
                <a:solidFill>
                  <a:srgbClr val="000000"/>
                </a:solidFill>
                <a:latin typeface="Times New Roman" pitchFamily="18" charset="0"/>
                <a:cs typeface="Times New Roman" pitchFamily="18" charset="0"/>
              </a:rPr>
              <a:t>for (</a:t>
            </a:r>
            <a:r>
              <a:rPr lang="en-US" sz="2100">
                <a:solidFill>
                  <a:srgbClr val="0000CC"/>
                </a:solidFill>
                <a:latin typeface="Times New Roman" pitchFamily="18" charset="0"/>
                <a:cs typeface="Times New Roman" pitchFamily="18" charset="0"/>
              </a:rPr>
              <a:t>int</a:t>
            </a:r>
            <a:r>
              <a:rPr lang="en-US" sz="2100">
                <a:solidFill>
                  <a:srgbClr val="000000"/>
                </a:solidFill>
                <a:latin typeface="Times New Roman" pitchFamily="18" charset="0"/>
                <a:cs typeface="Times New Roman" pitchFamily="18" charset="0"/>
              </a:rPr>
              <a:t> i = 0; i &lt; a.length; i++) { </a:t>
            </a:r>
          </a:p>
          <a:p>
            <a:pPr marL="342900" lvl="2" indent="-42863" eaLnBrk="1" fontAlgn="auto" hangingPunct="1">
              <a:lnSpc>
                <a:spcPct val="110000"/>
              </a:lnSpc>
              <a:spcBef>
                <a:spcPts val="0"/>
              </a:spcBef>
              <a:spcAft>
                <a:spcPts val="0"/>
              </a:spcAft>
              <a:buNone/>
            </a:pPr>
            <a:r>
              <a:rPr lang="en-US">
                <a:solidFill>
                  <a:srgbClr val="000000"/>
                </a:solidFill>
                <a:latin typeface="Times New Roman" pitchFamily="18" charset="0"/>
                <a:cs typeface="Times New Roman" pitchFamily="18" charset="0"/>
              </a:rPr>
              <a:t>System.out.</a:t>
            </a:r>
            <a:r>
              <a:rPr lang="en-US">
                <a:solidFill>
                  <a:srgbClr val="800000"/>
                </a:solidFill>
                <a:latin typeface="Times New Roman" pitchFamily="18" charset="0"/>
                <a:cs typeface="Times New Roman" pitchFamily="18" charset="0"/>
              </a:rPr>
              <a:t>println</a:t>
            </a:r>
            <a:r>
              <a:rPr lang="en-US">
                <a:solidFill>
                  <a:srgbClr val="000000"/>
                </a:solidFill>
                <a:latin typeface="Times New Roman" pitchFamily="18" charset="0"/>
                <a:cs typeface="Times New Roman" pitchFamily="18" charset="0"/>
              </a:rPr>
              <a:t>(a[i]); </a:t>
            </a:r>
          </a:p>
          <a:p>
            <a:pPr marL="0" indent="-42863" algn="l" eaLnBrk="1" fontAlgn="auto" hangingPunct="1">
              <a:lnSpc>
                <a:spcPct val="110000"/>
              </a:lnSpc>
              <a:spcBef>
                <a:spcPts val="0"/>
              </a:spcBef>
              <a:spcAft>
                <a:spcPts val="0"/>
              </a:spcAft>
              <a:buNone/>
            </a:pPr>
            <a:r>
              <a:rPr lang="en-US" sz="2100">
                <a:solidFill>
                  <a:srgbClr val="000000"/>
                </a:solidFill>
                <a:latin typeface="Times New Roman" pitchFamily="18" charset="0"/>
                <a:cs typeface="Times New Roman" pitchFamily="18" charset="0"/>
              </a:rPr>
              <a:t>} </a:t>
            </a:r>
          </a:p>
          <a:p>
            <a:pPr marL="0" indent="-42863" algn="l" eaLnBrk="1" fontAlgn="auto" hangingPunct="1">
              <a:lnSpc>
                <a:spcPct val="110000"/>
              </a:lnSpc>
              <a:spcBef>
                <a:spcPts val="0"/>
              </a:spcBef>
              <a:spcAft>
                <a:spcPts val="0"/>
              </a:spcAft>
              <a:buNone/>
            </a:pPr>
            <a:r>
              <a:rPr lang="en-US" sz="2100">
                <a:solidFill>
                  <a:srgbClr val="008000"/>
                </a:solidFill>
                <a:latin typeface="Times New Roman" pitchFamily="18" charset="0"/>
                <a:cs typeface="Times New Roman" pitchFamily="18" charset="0"/>
              </a:rPr>
              <a:t>//Xuất mảng dùng foreach </a:t>
            </a:r>
          </a:p>
          <a:p>
            <a:pPr marL="0" indent="-42863" algn="l" eaLnBrk="1" fontAlgn="auto" hangingPunct="1">
              <a:lnSpc>
                <a:spcPct val="110000"/>
              </a:lnSpc>
              <a:spcBef>
                <a:spcPts val="0"/>
              </a:spcBef>
              <a:spcAft>
                <a:spcPts val="0"/>
              </a:spcAft>
              <a:buNone/>
            </a:pPr>
            <a:r>
              <a:rPr lang="en-US" sz="2100">
                <a:solidFill>
                  <a:srgbClr val="000000"/>
                </a:solidFill>
                <a:latin typeface="Times New Roman" pitchFamily="18" charset="0"/>
                <a:cs typeface="Times New Roman" pitchFamily="18" charset="0"/>
              </a:rPr>
              <a:t>for (</a:t>
            </a:r>
            <a:r>
              <a:rPr lang="en-US" sz="2100">
                <a:solidFill>
                  <a:srgbClr val="0000CC"/>
                </a:solidFill>
                <a:latin typeface="Times New Roman" pitchFamily="18" charset="0"/>
                <a:cs typeface="Times New Roman" pitchFamily="18" charset="0"/>
              </a:rPr>
              <a:t>int</a:t>
            </a:r>
            <a:r>
              <a:rPr lang="en-US" sz="2100">
                <a:solidFill>
                  <a:srgbClr val="000000"/>
                </a:solidFill>
                <a:latin typeface="Times New Roman" pitchFamily="18" charset="0"/>
                <a:cs typeface="Times New Roman" pitchFamily="18" charset="0"/>
              </a:rPr>
              <a:t> pt : a) { </a:t>
            </a:r>
          </a:p>
          <a:p>
            <a:pPr marL="342900" lvl="2" indent="-42863" eaLnBrk="1" fontAlgn="auto" hangingPunct="1">
              <a:lnSpc>
                <a:spcPct val="110000"/>
              </a:lnSpc>
              <a:spcBef>
                <a:spcPts val="0"/>
              </a:spcBef>
              <a:spcAft>
                <a:spcPts val="0"/>
              </a:spcAft>
              <a:buNone/>
            </a:pPr>
            <a:r>
              <a:rPr lang="en-US">
                <a:solidFill>
                  <a:srgbClr val="000000"/>
                </a:solidFill>
                <a:latin typeface="Times New Roman" pitchFamily="18" charset="0"/>
                <a:cs typeface="Times New Roman" pitchFamily="18" charset="0"/>
              </a:rPr>
              <a:t>System.out.</a:t>
            </a:r>
            <a:r>
              <a:rPr lang="en-US">
                <a:solidFill>
                  <a:srgbClr val="800000"/>
                </a:solidFill>
                <a:latin typeface="Times New Roman" pitchFamily="18" charset="0"/>
                <a:cs typeface="Times New Roman" pitchFamily="18" charset="0"/>
              </a:rPr>
              <a:t>println</a:t>
            </a:r>
            <a:r>
              <a:rPr lang="en-US">
                <a:solidFill>
                  <a:srgbClr val="000000"/>
                </a:solidFill>
                <a:latin typeface="Times New Roman" pitchFamily="18" charset="0"/>
                <a:cs typeface="Times New Roman" pitchFamily="18" charset="0"/>
              </a:rPr>
              <a:t>(pt); </a:t>
            </a:r>
          </a:p>
          <a:p>
            <a:pPr marL="0" indent="-42863" algn="l" eaLnBrk="1" fontAlgn="auto" hangingPunct="1">
              <a:lnSpc>
                <a:spcPct val="110000"/>
              </a:lnSpc>
              <a:spcBef>
                <a:spcPts val="0"/>
              </a:spcBef>
              <a:spcAft>
                <a:spcPts val="0"/>
              </a:spcAft>
              <a:buNone/>
            </a:pPr>
            <a:r>
              <a:rPr lang="en-US" sz="2100">
                <a:solidFill>
                  <a:srgbClr val="000000"/>
                </a:solidFill>
                <a:latin typeface="Times New Roman" pitchFamily="18" charset="0"/>
                <a:cs typeface="Times New Roman" pitchFamily="18" charset="0"/>
              </a:rPr>
              <a:t>} </a:t>
            </a:r>
          </a:p>
          <a:p>
            <a:pPr marL="342900" lvl="1" indent="0">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85</a:t>
            </a:fld>
            <a:endParaRPr lang="en-US"/>
          </a:p>
        </p:txBody>
      </p:sp>
    </p:spTree>
    <p:extLst>
      <p:ext uri="{BB962C8B-B14F-4D97-AF65-F5344CB8AC3E}">
        <p14:creationId xmlns:p14="http://schemas.microsoft.com/office/powerpoint/2010/main" val="323421962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4.3. Mảng hai chiều</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86</a:t>
            </a:fld>
            <a:endParaRPr lang="en-US"/>
          </a:p>
        </p:txBody>
      </p:sp>
      <p:grpSp>
        <p:nvGrpSpPr>
          <p:cNvPr id="6" name="Group 5"/>
          <p:cNvGrpSpPr/>
          <p:nvPr/>
        </p:nvGrpSpPr>
        <p:grpSpPr>
          <a:xfrm>
            <a:off x="1763688" y="2240868"/>
            <a:ext cx="2698068" cy="2322258"/>
            <a:chOff x="1453480" y="2176264"/>
            <a:chExt cx="2286000" cy="1828800"/>
          </a:xfrm>
        </p:grpSpPr>
        <p:sp>
          <p:nvSpPr>
            <p:cNvPr id="7" name="AutoShape 6"/>
            <p:cNvSpPr>
              <a:spLocks noChangeArrowheads="1"/>
            </p:cNvSpPr>
            <p:nvPr/>
          </p:nvSpPr>
          <p:spPr bwMode="gray">
            <a:xfrm>
              <a:off x="1453480" y="26334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rgbClr val="FF0000"/>
                  </a:solidFill>
                </a:rPr>
                <a:t>0</a:t>
              </a:r>
              <a:endParaRPr lang="en-US" baseline="30000">
                <a:solidFill>
                  <a:srgbClr val="FF0000"/>
                </a:solidFill>
              </a:endParaRPr>
            </a:p>
          </p:txBody>
        </p:sp>
        <p:sp>
          <p:nvSpPr>
            <p:cNvPr id="8" name="AutoShape 6"/>
            <p:cNvSpPr>
              <a:spLocks noChangeArrowheads="1"/>
            </p:cNvSpPr>
            <p:nvPr/>
          </p:nvSpPr>
          <p:spPr bwMode="gray">
            <a:xfrm rot="5400000">
              <a:off x="1529680" y="30906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rgbClr val="FF0000"/>
                  </a:solidFill>
                </a:rPr>
                <a:t>…</a:t>
              </a:r>
              <a:endParaRPr lang="en-US" baseline="30000">
                <a:solidFill>
                  <a:srgbClr val="FF0000"/>
                </a:solidFill>
              </a:endParaRPr>
            </a:p>
          </p:txBody>
        </p:sp>
        <p:sp>
          <p:nvSpPr>
            <p:cNvPr id="9" name="AutoShape 6"/>
            <p:cNvSpPr>
              <a:spLocks noChangeArrowheads="1"/>
            </p:cNvSpPr>
            <p:nvPr/>
          </p:nvSpPr>
          <p:spPr bwMode="gray">
            <a:xfrm>
              <a:off x="1453480" y="35478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rgbClr val="FF0000"/>
                  </a:solidFill>
                </a:rPr>
                <a:t>m-1</a:t>
              </a:r>
              <a:endParaRPr lang="en-US" baseline="30000">
                <a:solidFill>
                  <a:srgbClr val="FF0000"/>
                </a:solidFill>
              </a:endParaRPr>
            </a:p>
          </p:txBody>
        </p:sp>
        <p:sp>
          <p:nvSpPr>
            <p:cNvPr id="10" name="AutoShape 6"/>
            <p:cNvSpPr>
              <a:spLocks noChangeArrowheads="1"/>
            </p:cNvSpPr>
            <p:nvPr/>
          </p:nvSpPr>
          <p:spPr bwMode="gray">
            <a:xfrm>
              <a:off x="1910680" y="26334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11" name="AutoShape 6"/>
            <p:cNvSpPr>
              <a:spLocks noChangeArrowheads="1"/>
            </p:cNvSpPr>
            <p:nvPr/>
          </p:nvSpPr>
          <p:spPr bwMode="gray">
            <a:xfrm>
              <a:off x="2367880" y="26334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12" name="AutoShape 6"/>
            <p:cNvSpPr>
              <a:spLocks noChangeArrowheads="1"/>
            </p:cNvSpPr>
            <p:nvPr/>
          </p:nvSpPr>
          <p:spPr bwMode="gray">
            <a:xfrm>
              <a:off x="2825080" y="26334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13" name="AutoShape 6"/>
            <p:cNvSpPr>
              <a:spLocks noChangeArrowheads="1"/>
            </p:cNvSpPr>
            <p:nvPr/>
          </p:nvSpPr>
          <p:spPr bwMode="gray">
            <a:xfrm>
              <a:off x="3282280" y="26334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14" name="AutoShape 6"/>
            <p:cNvSpPr>
              <a:spLocks noChangeArrowheads="1"/>
            </p:cNvSpPr>
            <p:nvPr/>
          </p:nvSpPr>
          <p:spPr bwMode="gray">
            <a:xfrm>
              <a:off x="1910680" y="30906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15" name="AutoShape 6"/>
            <p:cNvSpPr>
              <a:spLocks noChangeArrowheads="1"/>
            </p:cNvSpPr>
            <p:nvPr/>
          </p:nvSpPr>
          <p:spPr bwMode="gray">
            <a:xfrm>
              <a:off x="3282280" y="30906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16" name="AutoShape 6"/>
            <p:cNvSpPr>
              <a:spLocks noChangeArrowheads="1"/>
            </p:cNvSpPr>
            <p:nvPr/>
          </p:nvSpPr>
          <p:spPr bwMode="gray">
            <a:xfrm>
              <a:off x="1910680" y="35478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17" name="AutoShape 6"/>
            <p:cNvSpPr>
              <a:spLocks noChangeArrowheads="1"/>
            </p:cNvSpPr>
            <p:nvPr/>
          </p:nvSpPr>
          <p:spPr bwMode="gray">
            <a:xfrm>
              <a:off x="2367880" y="30906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18" name="AutoShape 6"/>
            <p:cNvSpPr>
              <a:spLocks noChangeArrowheads="1"/>
            </p:cNvSpPr>
            <p:nvPr/>
          </p:nvSpPr>
          <p:spPr bwMode="gray">
            <a:xfrm>
              <a:off x="2825080" y="30906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19" name="AutoShape 6"/>
            <p:cNvSpPr>
              <a:spLocks noChangeArrowheads="1"/>
            </p:cNvSpPr>
            <p:nvPr/>
          </p:nvSpPr>
          <p:spPr bwMode="gray">
            <a:xfrm>
              <a:off x="2825080" y="35478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20" name="AutoShape 6"/>
            <p:cNvSpPr>
              <a:spLocks noChangeArrowheads="1"/>
            </p:cNvSpPr>
            <p:nvPr/>
          </p:nvSpPr>
          <p:spPr bwMode="gray">
            <a:xfrm>
              <a:off x="3282280" y="35478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21" name="AutoShape 6"/>
            <p:cNvSpPr>
              <a:spLocks noChangeArrowheads="1"/>
            </p:cNvSpPr>
            <p:nvPr/>
          </p:nvSpPr>
          <p:spPr bwMode="gray">
            <a:xfrm>
              <a:off x="2367880" y="35478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22" name="AutoShape 6"/>
            <p:cNvSpPr>
              <a:spLocks noChangeArrowheads="1"/>
            </p:cNvSpPr>
            <p:nvPr/>
          </p:nvSpPr>
          <p:spPr bwMode="gray">
            <a:xfrm>
              <a:off x="1910680" y="21762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chemeClr val="tx1">
                      <a:lumMod val="60000"/>
                      <a:lumOff val="40000"/>
                    </a:schemeClr>
                  </a:solidFill>
                </a:rPr>
                <a:t>0</a:t>
              </a:r>
              <a:endParaRPr lang="en-US" baseline="30000">
                <a:solidFill>
                  <a:schemeClr val="tx1">
                    <a:lumMod val="60000"/>
                    <a:lumOff val="40000"/>
                  </a:schemeClr>
                </a:solidFill>
              </a:endParaRPr>
            </a:p>
          </p:txBody>
        </p:sp>
        <p:sp>
          <p:nvSpPr>
            <p:cNvPr id="23" name="AutoShape 6"/>
            <p:cNvSpPr>
              <a:spLocks noChangeArrowheads="1"/>
            </p:cNvSpPr>
            <p:nvPr/>
          </p:nvSpPr>
          <p:spPr bwMode="gray">
            <a:xfrm>
              <a:off x="2367880" y="21762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chemeClr val="tx1">
                      <a:lumMod val="60000"/>
                      <a:lumOff val="40000"/>
                    </a:schemeClr>
                  </a:solidFill>
                </a:rPr>
                <a:t>1</a:t>
              </a:r>
              <a:endParaRPr lang="en-US" baseline="30000">
                <a:solidFill>
                  <a:schemeClr val="tx1">
                    <a:lumMod val="60000"/>
                    <a:lumOff val="40000"/>
                  </a:schemeClr>
                </a:solidFill>
              </a:endParaRPr>
            </a:p>
          </p:txBody>
        </p:sp>
        <p:sp>
          <p:nvSpPr>
            <p:cNvPr id="24" name="AutoShape 6"/>
            <p:cNvSpPr>
              <a:spLocks noChangeArrowheads="1"/>
            </p:cNvSpPr>
            <p:nvPr/>
          </p:nvSpPr>
          <p:spPr bwMode="gray">
            <a:xfrm>
              <a:off x="2825080" y="21762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chemeClr val="tx1">
                      <a:lumMod val="60000"/>
                      <a:lumOff val="40000"/>
                    </a:schemeClr>
                  </a:solidFill>
                </a:rPr>
                <a:t>…</a:t>
              </a:r>
              <a:endParaRPr lang="en-US" baseline="30000">
                <a:solidFill>
                  <a:schemeClr val="tx1">
                    <a:lumMod val="60000"/>
                    <a:lumOff val="40000"/>
                  </a:schemeClr>
                </a:solidFill>
              </a:endParaRPr>
            </a:p>
          </p:txBody>
        </p:sp>
        <p:sp>
          <p:nvSpPr>
            <p:cNvPr id="25" name="AutoShape 6"/>
            <p:cNvSpPr>
              <a:spLocks noChangeArrowheads="1"/>
            </p:cNvSpPr>
            <p:nvPr/>
          </p:nvSpPr>
          <p:spPr bwMode="gray">
            <a:xfrm>
              <a:off x="3282280" y="21762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chemeClr val="tx1">
                      <a:lumMod val="60000"/>
                      <a:lumOff val="40000"/>
                    </a:schemeClr>
                  </a:solidFill>
                </a:rPr>
                <a:t>n-1</a:t>
              </a:r>
              <a:endParaRPr lang="en-US" baseline="30000">
                <a:solidFill>
                  <a:schemeClr val="tx1">
                    <a:lumMod val="60000"/>
                    <a:lumOff val="40000"/>
                  </a:schemeClr>
                </a:solidFill>
              </a:endParaRPr>
            </a:p>
          </p:txBody>
        </p:sp>
      </p:grpSp>
      <p:sp>
        <p:nvSpPr>
          <p:cNvPr id="26" name="AutoShape 6"/>
          <p:cNvSpPr>
            <a:spLocks noChangeArrowheads="1"/>
          </p:cNvSpPr>
          <p:nvPr/>
        </p:nvSpPr>
        <p:spPr bwMode="gray">
          <a:xfrm>
            <a:off x="1439656" y="3206130"/>
            <a:ext cx="481965" cy="469776"/>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sz="2100" b="1">
                <a:solidFill>
                  <a:srgbClr val="FF0000"/>
                </a:solidFill>
              </a:rPr>
              <a:t>A</a:t>
            </a:r>
            <a:r>
              <a:rPr lang="en-US" sz="2100" b="1" baseline="-25000">
                <a:solidFill>
                  <a:srgbClr val="FF0000"/>
                </a:solidFill>
              </a:rPr>
              <a:t>m,n</a:t>
            </a:r>
          </a:p>
        </p:txBody>
      </p:sp>
      <p:sp>
        <p:nvSpPr>
          <p:cNvPr id="27" name="AutoShape 6"/>
          <p:cNvSpPr>
            <a:spLocks noChangeArrowheads="1"/>
          </p:cNvSpPr>
          <p:nvPr/>
        </p:nvSpPr>
        <p:spPr bwMode="gray">
          <a:xfrm>
            <a:off x="4680012" y="3410136"/>
            <a:ext cx="342900" cy="3429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sz="2100" b="1">
                <a:solidFill>
                  <a:srgbClr val="FF0000"/>
                </a:solidFill>
              </a:rPr>
              <a:t>A</a:t>
            </a:r>
            <a:r>
              <a:rPr lang="en-US" sz="2100" b="1" baseline="-25000">
                <a:solidFill>
                  <a:srgbClr val="FF0000"/>
                </a:solidFill>
              </a:rPr>
              <a:t>n</a:t>
            </a:r>
          </a:p>
        </p:txBody>
      </p:sp>
      <p:grpSp>
        <p:nvGrpSpPr>
          <p:cNvPr id="28" name="Group 27"/>
          <p:cNvGrpSpPr/>
          <p:nvPr/>
        </p:nvGrpSpPr>
        <p:grpSpPr>
          <a:xfrm>
            <a:off x="4896036" y="2262318"/>
            <a:ext cx="2674620" cy="2192796"/>
            <a:chOff x="5263480" y="2176264"/>
            <a:chExt cx="1828800" cy="1828800"/>
          </a:xfrm>
        </p:grpSpPr>
        <p:sp>
          <p:nvSpPr>
            <p:cNvPr id="29" name="AutoShape 6"/>
            <p:cNvSpPr>
              <a:spLocks noChangeArrowheads="1"/>
            </p:cNvSpPr>
            <p:nvPr/>
          </p:nvSpPr>
          <p:spPr bwMode="gray">
            <a:xfrm>
              <a:off x="5263480" y="26334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rgbClr val="FF0000"/>
                  </a:solidFill>
                </a:rPr>
                <a:t>0</a:t>
              </a:r>
              <a:endParaRPr lang="en-US" baseline="30000">
                <a:solidFill>
                  <a:srgbClr val="FF0000"/>
                </a:solidFill>
              </a:endParaRPr>
            </a:p>
          </p:txBody>
        </p:sp>
        <p:sp>
          <p:nvSpPr>
            <p:cNvPr id="30" name="AutoShape 6"/>
            <p:cNvSpPr>
              <a:spLocks noChangeArrowheads="1"/>
            </p:cNvSpPr>
            <p:nvPr/>
          </p:nvSpPr>
          <p:spPr bwMode="gray">
            <a:xfrm rot="5400000">
              <a:off x="5339680" y="30906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rgbClr val="FF0000"/>
                  </a:solidFill>
                </a:rPr>
                <a:t>…</a:t>
              </a:r>
              <a:endParaRPr lang="en-US" baseline="30000">
                <a:solidFill>
                  <a:srgbClr val="FF0000"/>
                </a:solidFill>
              </a:endParaRPr>
            </a:p>
          </p:txBody>
        </p:sp>
        <p:sp>
          <p:nvSpPr>
            <p:cNvPr id="31" name="AutoShape 6"/>
            <p:cNvSpPr>
              <a:spLocks noChangeArrowheads="1"/>
            </p:cNvSpPr>
            <p:nvPr/>
          </p:nvSpPr>
          <p:spPr bwMode="gray">
            <a:xfrm>
              <a:off x="5263480" y="35478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rgbClr val="FF0000"/>
                  </a:solidFill>
                </a:rPr>
                <a:t>n-1</a:t>
              </a:r>
              <a:endParaRPr lang="en-US" baseline="30000">
                <a:solidFill>
                  <a:srgbClr val="FF0000"/>
                </a:solidFill>
              </a:endParaRPr>
            </a:p>
          </p:txBody>
        </p:sp>
        <p:sp>
          <p:nvSpPr>
            <p:cNvPr id="32" name="AutoShape 6"/>
            <p:cNvSpPr>
              <a:spLocks noChangeArrowheads="1"/>
            </p:cNvSpPr>
            <p:nvPr/>
          </p:nvSpPr>
          <p:spPr bwMode="gray">
            <a:xfrm>
              <a:off x="5720680" y="26334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33" name="AutoShape 6"/>
            <p:cNvSpPr>
              <a:spLocks noChangeArrowheads="1"/>
            </p:cNvSpPr>
            <p:nvPr/>
          </p:nvSpPr>
          <p:spPr bwMode="gray">
            <a:xfrm>
              <a:off x="6177880" y="26334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34" name="AutoShape 6"/>
            <p:cNvSpPr>
              <a:spLocks noChangeArrowheads="1"/>
            </p:cNvSpPr>
            <p:nvPr/>
          </p:nvSpPr>
          <p:spPr bwMode="gray">
            <a:xfrm>
              <a:off x="6635080" y="26334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35" name="AutoShape 6"/>
            <p:cNvSpPr>
              <a:spLocks noChangeArrowheads="1"/>
            </p:cNvSpPr>
            <p:nvPr/>
          </p:nvSpPr>
          <p:spPr bwMode="gray">
            <a:xfrm>
              <a:off x="5720680" y="30906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36" name="AutoShape 6"/>
            <p:cNvSpPr>
              <a:spLocks noChangeArrowheads="1"/>
            </p:cNvSpPr>
            <p:nvPr/>
          </p:nvSpPr>
          <p:spPr bwMode="gray">
            <a:xfrm>
              <a:off x="5720680" y="35478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37" name="AutoShape 6"/>
            <p:cNvSpPr>
              <a:spLocks noChangeArrowheads="1"/>
            </p:cNvSpPr>
            <p:nvPr/>
          </p:nvSpPr>
          <p:spPr bwMode="gray">
            <a:xfrm>
              <a:off x="6177880" y="30906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38" name="AutoShape 6"/>
            <p:cNvSpPr>
              <a:spLocks noChangeArrowheads="1"/>
            </p:cNvSpPr>
            <p:nvPr/>
          </p:nvSpPr>
          <p:spPr bwMode="gray">
            <a:xfrm>
              <a:off x="6635080" y="30906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39" name="AutoShape 6"/>
            <p:cNvSpPr>
              <a:spLocks noChangeArrowheads="1"/>
            </p:cNvSpPr>
            <p:nvPr/>
          </p:nvSpPr>
          <p:spPr bwMode="gray">
            <a:xfrm>
              <a:off x="6635080" y="35478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40" name="AutoShape 6"/>
            <p:cNvSpPr>
              <a:spLocks noChangeArrowheads="1"/>
            </p:cNvSpPr>
            <p:nvPr/>
          </p:nvSpPr>
          <p:spPr bwMode="gray">
            <a:xfrm>
              <a:off x="6177880" y="3547864"/>
              <a:ext cx="457200" cy="4572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endParaRPr lang="en-US"/>
            </a:p>
          </p:txBody>
        </p:sp>
        <p:sp>
          <p:nvSpPr>
            <p:cNvPr id="41" name="AutoShape 6"/>
            <p:cNvSpPr>
              <a:spLocks noChangeArrowheads="1"/>
            </p:cNvSpPr>
            <p:nvPr/>
          </p:nvSpPr>
          <p:spPr bwMode="gray">
            <a:xfrm>
              <a:off x="5720680" y="21762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chemeClr val="tx1">
                      <a:lumMod val="60000"/>
                      <a:lumOff val="40000"/>
                    </a:schemeClr>
                  </a:solidFill>
                </a:rPr>
                <a:t>0</a:t>
              </a:r>
              <a:endParaRPr lang="en-US" baseline="30000">
                <a:solidFill>
                  <a:schemeClr val="tx1">
                    <a:lumMod val="60000"/>
                    <a:lumOff val="40000"/>
                  </a:schemeClr>
                </a:solidFill>
              </a:endParaRPr>
            </a:p>
          </p:txBody>
        </p:sp>
        <p:sp>
          <p:nvSpPr>
            <p:cNvPr id="42" name="AutoShape 6"/>
            <p:cNvSpPr>
              <a:spLocks noChangeArrowheads="1"/>
            </p:cNvSpPr>
            <p:nvPr/>
          </p:nvSpPr>
          <p:spPr bwMode="gray">
            <a:xfrm>
              <a:off x="6177880" y="21762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chemeClr val="tx1">
                      <a:lumMod val="60000"/>
                      <a:lumOff val="40000"/>
                    </a:schemeClr>
                  </a:solidFill>
                </a:rPr>
                <a:t>…</a:t>
              </a:r>
              <a:endParaRPr lang="en-US" baseline="30000">
                <a:solidFill>
                  <a:schemeClr val="tx1">
                    <a:lumMod val="60000"/>
                    <a:lumOff val="40000"/>
                  </a:schemeClr>
                </a:solidFill>
              </a:endParaRPr>
            </a:p>
          </p:txBody>
        </p:sp>
        <p:sp>
          <p:nvSpPr>
            <p:cNvPr id="43" name="AutoShape 6"/>
            <p:cNvSpPr>
              <a:spLocks noChangeArrowheads="1"/>
            </p:cNvSpPr>
            <p:nvPr/>
          </p:nvSpPr>
          <p:spPr bwMode="gray">
            <a:xfrm>
              <a:off x="6635080" y="2176264"/>
              <a:ext cx="457200" cy="457200"/>
            </a:xfrm>
            <a:prstGeom prst="roundRect">
              <a:avLst>
                <a:gd name="adj" fmla="val 16667"/>
              </a:avLst>
            </a:prstGeom>
            <a:ln>
              <a:noFill/>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chemeClr val="tx1">
                      <a:lumMod val="60000"/>
                      <a:lumOff val="40000"/>
                    </a:schemeClr>
                  </a:solidFill>
                </a:rPr>
                <a:t>n-1</a:t>
              </a:r>
              <a:endParaRPr lang="en-US" baseline="30000">
                <a:solidFill>
                  <a:schemeClr val="tx1">
                    <a:lumMod val="60000"/>
                    <a:lumOff val="40000"/>
                  </a:schemeClr>
                </a:solidFill>
              </a:endParaRPr>
            </a:p>
          </p:txBody>
        </p:sp>
      </p:grpSp>
    </p:spTree>
    <p:extLst>
      <p:ext uri="{BB962C8B-B14F-4D97-AF65-F5344CB8AC3E}">
        <p14:creationId xmlns:p14="http://schemas.microsoft.com/office/powerpoint/2010/main" val="191040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4.3. Mảng hai chiều</a:t>
            </a:r>
            <a:endParaRPr lang="en-US"/>
          </a:p>
        </p:txBody>
      </p:sp>
      <p:sp>
        <p:nvSpPr>
          <p:cNvPr id="3" name="Content Placeholder 2"/>
          <p:cNvSpPr>
            <a:spLocks noGrp="1"/>
          </p:cNvSpPr>
          <p:nvPr>
            <p:ph idx="1"/>
          </p:nvPr>
        </p:nvSpPr>
        <p:spPr/>
        <p:txBody>
          <a:bodyPr>
            <a:normAutofit/>
          </a:bodyPr>
          <a:lstStyle/>
          <a:p>
            <a:pPr latinLnBrk="0"/>
            <a:r>
              <a:rPr lang="en-US" sz="2400" b="1">
                <a:solidFill>
                  <a:srgbClr val="003366"/>
                </a:solidFill>
                <a:latin typeface="Times New Roman" pitchFamily="18" charset="0"/>
                <a:ea typeface="+mj-ea"/>
                <a:cs typeface="Times New Roman" pitchFamily="18" charset="0"/>
              </a:rPr>
              <a:t>Khai báo</a:t>
            </a:r>
          </a:p>
          <a:p>
            <a:pPr lvl="1"/>
            <a:r>
              <a:rPr lang="fr-FR">
                <a:solidFill>
                  <a:srgbClr val="0000FF"/>
                </a:solidFill>
              </a:rPr>
              <a:t>KieuDuLieu</a:t>
            </a:r>
            <a:r>
              <a:rPr lang="fr-FR"/>
              <a:t> [][] tenBien; </a:t>
            </a:r>
          </a:p>
          <a:p>
            <a:pPr lvl="1"/>
            <a:r>
              <a:rPr lang="fr-FR"/>
              <a:t>Hoặc </a:t>
            </a:r>
            <a:r>
              <a:rPr lang="fr-FR">
                <a:solidFill>
                  <a:srgbClr val="0000FF"/>
                </a:solidFill>
              </a:rPr>
              <a:t>KieuDuLieu</a:t>
            </a:r>
            <a:r>
              <a:rPr lang="fr-FR"/>
              <a:t> tenBien [][]; </a:t>
            </a:r>
            <a:endParaRPr lang="fr-FR" smtClean="0"/>
          </a:p>
          <a:p>
            <a:r>
              <a:rPr lang="en-US" sz="2400" b="1">
                <a:solidFill>
                  <a:srgbClr val="003366"/>
                </a:solidFill>
                <a:latin typeface="Times New Roman" pitchFamily="18" charset="0"/>
                <a:ea typeface="+mj-ea"/>
                <a:cs typeface="Times New Roman" pitchFamily="18" charset="0"/>
              </a:rPr>
              <a:t>Ví dụ</a:t>
            </a:r>
          </a:p>
          <a:p>
            <a:pPr marL="300038" lvl="1" indent="0" algn="l" eaLnBrk="1" fontAlgn="auto" hangingPunct="1">
              <a:spcBef>
                <a:spcPts val="375"/>
              </a:spcBef>
              <a:spcAft>
                <a:spcPts val="0"/>
              </a:spcAft>
              <a:buNone/>
            </a:pPr>
            <a:r>
              <a:rPr lang="pt-BR">
                <a:solidFill>
                  <a:srgbClr val="007F00"/>
                </a:solidFill>
                <a:latin typeface="Times New Roman" pitchFamily="18" charset="0"/>
                <a:cs typeface="Times New Roman" pitchFamily="18" charset="0"/>
              </a:rPr>
              <a:t>//Khai báo mảng hai chiều kiểu int </a:t>
            </a:r>
          </a:p>
          <a:p>
            <a:pPr marL="300038" lvl="1" indent="0" algn="l" eaLnBrk="1" fontAlgn="auto" hangingPunct="1">
              <a:spcBef>
                <a:spcPts val="375"/>
              </a:spcBef>
              <a:spcAft>
                <a:spcPts val="0"/>
              </a:spcAft>
              <a:buNone/>
            </a:pPr>
            <a:r>
              <a:rPr lang="pt-BR">
                <a:solidFill>
                  <a:srgbClr val="0000FF"/>
                </a:solidFill>
                <a:latin typeface="Times New Roman" pitchFamily="18" charset="0"/>
                <a:cs typeface="Times New Roman" pitchFamily="18" charset="0"/>
              </a:rPr>
              <a:t>int</a:t>
            </a:r>
            <a:r>
              <a:rPr lang="pt-BR">
                <a:solidFill>
                  <a:srgbClr val="000000"/>
                </a:solidFill>
                <a:latin typeface="Times New Roman" pitchFamily="18" charset="0"/>
                <a:cs typeface="Times New Roman" pitchFamily="18" charset="0"/>
              </a:rPr>
              <a:t>[][] arr1; </a:t>
            </a:r>
          </a:p>
          <a:p>
            <a:pPr marL="300038" lvl="1" indent="0" algn="l" eaLnBrk="1" fontAlgn="auto" hangingPunct="1">
              <a:spcBef>
                <a:spcPts val="375"/>
              </a:spcBef>
              <a:spcAft>
                <a:spcPts val="0"/>
              </a:spcAft>
              <a:buNone/>
            </a:pPr>
            <a:r>
              <a:rPr lang="pt-BR">
                <a:solidFill>
                  <a:srgbClr val="007F00"/>
                </a:solidFill>
                <a:latin typeface="Times New Roman" pitchFamily="18" charset="0"/>
                <a:cs typeface="Times New Roman" pitchFamily="18" charset="0"/>
              </a:rPr>
              <a:t>//Khai báo mảng hai chiều kiểu long </a:t>
            </a:r>
          </a:p>
          <a:p>
            <a:pPr marL="300038" lvl="1" indent="0" algn="l" eaLnBrk="1" fontAlgn="auto" hangingPunct="1">
              <a:spcBef>
                <a:spcPts val="375"/>
              </a:spcBef>
              <a:spcAft>
                <a:spcPts val="0"/>
              </a:spcAft>
              <a:buNone/>
            </a:pPr>
            <a:r>
              <a:rPr lang="pt-BR">
                <a:solidFill>
                  <a:srgbClr val="0000FF"/>
                </a:solidFill>
                <a:latin typeface="Times New Roman" pitchFamily="18" charset="0"/>
                <a:cs typeface="Times New Roman" pitchFamily="18" charset="0"/>
              </a:rPr>
              <a:t>long</a:t>
            </a:r>
            <a:r>
              <a:rPr lang="pt-BR">
                <a:solidFill>
                  <a:srgbClr val="000000"/>
                </a:solidFill>
                <a:latin typeface="Times New Roman" pitchFamily="18" charset="0"/>
                <a:cs typeface="Times New Roman" pitchFamily="18" charset="0"/>
              </a:rPr>
              <a:t>[][] arr2; </a:t>
            </a:r>
          </a:p>
          <a:p>
            <a:pPr marL="300038" lvl="1" indent="0" algn="l" eaLnBrk="1" fontAlgn="auto" hangingPunct="1">
              <a:spcBef>
                <a:spcPts val="375"/>
              </a:spcBef>
              <a:spcAft>
                <a:spcPts val="0"/>
              </a:spcAft>
              <a:buNone/>
            </a:pPr>
            <a:r>
              <a:rPr lang="pt-BR">
                <a:solidFill>
                  <a:srgbClr val="007F00"/>
                </a:solidFill>
                <a:latin typeface="Times New Roman" pitchFamily="18" charset="0"/>
                <a:cs typeface="Times New Roman" pitchFamily="18" charset="0"/>
              </a:rPr>
              <a:t>//Khai báo mảng hai chiều kiểu float </a:t>
            </a:r>
          </a:p>
          <a:p>
            <a:pPr marL="300038" lvl="1" indent="0" algn="l" eaLnBrk="1" fontAlgn="auto" hangingPunct="1">
              <a:spcBef>
                <a:spcPts val="375"/>
              </a:spcBef>
              <a:spcAft>
                <a:spcPts val="0"/>
              </a:spcAft>
              <a:buNone/>
            </a:pPr>
            <a:r>
              <a:rPr lang="pt-BR">
                <a:solidFill>
                  <a:srgbClr val="0000FF"/>
                </a:solidFill>
                <a:latin typeface="Times New Roman" pitchFamily="18" charset="0"/>
                <a:cs typeface="Times New Roman" pitchFamily="18" charset="0"/>
              </a:rPr>
              <a:t>float</a:t>
            </a:r>
            <a:r>
              <a:rPr lang="pt-BR">
                <a:solidFill>
                  <a:srgbClr val="000000"/>
                </a:solidFill>
                <a:latin typeface="Times New Roman" pitchFamily="18" charset="0"/>
                <a:cs typeface="Times New Roman" pitchFamily="18" charset="0"/>
              </a:rPr>
              <a:t>[][] arr3; </a:t>
            </a:r>
          </a:p>
          <a:p>
            <a:pPr lvl="1"/>
            <a:endParaRPr lang="en-US" sz="2400" b="1">
              <a:solidFill>
                <a:srgbClr val="003366"/>
              </a:solidFill>
              <a:latin typeface="Times New Roman" pitchFamily="18" charset="0"/>
              <a:ea typeface="+mj-ea"/>
              <a:cs typeface="Times New Roman" pitchFamily="18" charset="0"/>
            </a:endParaRPr>
          </a:p>
          <a:p>
            <a:pPr marL="0" indent="-42863" algn="l" eaLnBrk="1" hangingPunct="1">
              <a:lnSpc>
                <a:spcPct val="110000"/>
              </a:lnSpc>
              <a:spcBef>
                <a:spcPts val="375"/>
              </a:spcBef>
              <a:buNone/>
              <a:defRPr/>
            </a:pPr>
            <a:endParaRPr lang="en-US">
              <a:solidFill>
                <a:srgbClr val="00B05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87</a:t>
            </a:fld>
            <a:endParaRPr lang="en-US"/>
          </a:p>
        </p:txBody>
      </p:sp>
    </p:spTree>
    <p:extLst>
      <p:ext uri="{BB962C8B-B14F-4D97-AF65-F5344CB8AC3E}">
        <p14:creationId xmlns:p14="http://schemas.microsoft.com/office/powerpoint/2010/main" val="3852132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up)">
                                      <p:cBhvr>
                                        <p:cTn id="18" dur="500"/>
                                        <p:tgtEl>
                                          <p:spTgt spid="3">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up)">
                                      <p:cBhvr>
                                        <p:cTn id="21" dur="500"/>
                                        <p:tgtEl>
                                          <p:spTgt spid="3">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up)">
                                      <p:cBhvr>
                                        <p:cTn id="24" dur="500"/>
                                        <p:tgtEl>
                                          <p:spTgt spid="3">
                                            <p:txEl>
                                              <p:pRg st="5" end="5"/>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up)">
                                      <p:cBhvr>
                                        <p:cTn id="27" dur="500"/>
                                        <p:tgtEl>
                                          <p:spTgt spid="3">
                                            <p:txEl>
                                              <p:pRg st="6" end="6"/>
                                            </p:tx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wipe(up)">
                                      <p:cBhvr>
                                        <p:cTn id="30" dur="500"/>
                                        <p:tgtEl>
                                          <p:spTgt spid="3">
                                            <p:txEl>
                                              <p:pRg st="7" end="7"/>
                                            </p:txEl>
                                          </p:spTgt>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wipe(up)">
                                      <p:cBhvr>
                                        <p:cTn id="33" dur="500"/>
                                        <p:tgtEl>
                                          <p:spTgt spid="3">
                                            <p:txEl>
                                              <p:pRg st="8" end="8"/>
                                            </p:txEl>
                                          </p:spTgt>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wipe(up)">
                                      <p:cBhvr>
                                        <p:cTn id="3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4.3. Mảng hai chiều</a:t>
            </a:r>
            <a:endParaRPr lang="en-US"/>
          </a:p>
        </p:txBody>
      </p:sp>
      <p:sp>
        <p:nvSpPr>
          <p:cNvPr id="3" name="Content Placeholder 2"/>
          <p:cNvSpPr>
            <a:spLocks noGrp="1"/>
          </p:cNvSpPr>
          <p:nvPr>
            <p:ph idx="1"/>
          </p:nvPr>
        </p:nvSpPr>
        <p:spPr/>
        <p:txBody>
          <a:bodyPr>
            <a:normAutofit/>
          </a:bodyPr>
          <a:lstStyle/>
          <a:p>
            <a:pPr latinLnBrk="0"/>
            <a:r>
              <a:rPr lang="en-US" sz="2400" b="1">
                <a:solidFill>
                  <a:srgbClr val="003366"/>
                </a:solidFill>
                <a:latin typeface="Times New Roman" pitchFamily="18" charset="0"/>
                <a:ea typeface="+mj-ea"/>
                <a:cs typeface="Times New Roman" pitchFamily="18" charset="0"/>
              </a:rPr>
              <a:t>Khai báo và cấp phát vùng nhớ</a:t>
            </a:r>
          </a:p>
          <a:p>
            <a:pPr marL="427435" lvl="1"/>
            <a:r>
              <a:rPr lang="fr-FR" smtClean="0">
                <a:latin typeface="Times New Roman" pitchFamily="18" charset="0"/>
                <a:cs typeface="Times New Roman" pitchFamily="18" charset="0"/>
              </a:rPr>
              <a:t>Cách 1:</a:t>
            </a:r>
          </a:p>
          <a:p>
            <a:pPr marL="213122" lvl="1" indent="0" algn="ctr">
              <a:buNone/>
            </a:pPr>
            <a:r>
              <a:rPr lang="en-US">
                <a:solidFill>
                  <a:srgbClr val="0000FF"/>
                </a:solidFill>
                <a:latin typeface="Times New Roman" pitchFamily="18" charset="0"/>
                <a:cs typeface="Times New Roman" pitchFamily="18" charset="0"/>
              </a:rPr>
              <a:t>KieuDuLieu</a:t>
            </a:r>
            <a:r>
              <a:rPr lang="en-US">
                <a:latin typeface="Times New Roman" pitchFamily="18" charset="0"/>
                <a:cs typeface="Times New Roman" pitchFamily="18" charset="0"/>
              </a:rPr>
              <a:t>[][] tenMang = </a:t>
            </a:r>
            <a:r>
              <a:rPr lang="en-US">
                <a:solidFill>
                  <a:srgbClr val="0000FF"/>
                </a:solidFill>
                <a:latin typeface="Times New Roman" pitchFamily="18" charset="0"/>
                <a:cs typeface="Times New Roman" pitchFamily="18" charset="0"/>
              </a:rPr>
              <a:t>new KieuDuLieu </a:t>
            </a:r>
            <a:r>
              <a:rPr lang="en-US">
                <a:latin typeface="Times New Roman" pitchFamily="18" charset="0"/>
                <a:cs typeface="Times New Roman" pitchFamily="18" charset="0"/>
              </a:rPr>
              <a:t>[m][n]; </a:t>
            </a:r>
            <a:endParaRPr lang="en-US">
              <a:latin typeface="Times New Roman" pitchFamily="18" charset="0"/>
              <a:cs typeface="Times New Roman" pitchFamily="18" charset="0"/>
            </a:endParaRPr>
          </a:p>
          <a:p>
            <a:pPr marL="427435" lvl="1"/>
            <a:r>
              <a:rPr lang="fr-FR">
                <a:latin typeface="Times New Roman" pitchFamily="18" charset="0"/>
                <a:cs typeface="Times New Roman" pitchFamily="18" charset="0"/>
              </a:rPr>
              <a:t>Cách 2: </a:t>
            </a:r>
          </a:p>
          <a:p>
            <a:pPr marL="342900" lvl="1" indent="0">
              <a:buNone/>
            </a:pPr>
            <a:r>
              <a:rPr lang="en-US">
                <a:solidFill>
                  <a:srgbClr val="0000FF"/>
                </a:solidFill>
                <a:latin typeface="Times New Roman" pitchFamily="18" charset="0"/>
                <a:cs typeface="Times New Roman" pitchFamily="18" charset="0"/>
              </a:rPr>
              <a:t>	KieuDuLieu</a:t>
            </a:r>
            <a:r>
              <a:rPr lang="en-US">
                <a:latin typeface="Times New Roman" pitchFamily="18" charset="0"/>
                <a:cs typeface="Times New Roman" pitchFamily="18" charset="0"/>
              </a:rPr>
              <a:t>[][] tenMang; </a:t>
            </a:r>
          </a:p>
          <a:p>
            <a:pPr marL="342900" lvl="1" indent="0">
              <a:buNone/>
            </a:pPr>
            <a:r>
              <a:rPr lang="en-US">
                <a:latin typeface="Times New Roman" pitchFamily="18" charset="0"/>
                <a:cs typeface="Times New Roman" pitchFamily="18" charset="0"/>
              </a:rPr>
              <a:t>	tenMang = new </a:t>
            </a:r>
            <a:r>
              <a:rPr lang="en-US">
                <a:solidFill>
                  <a:srgbClr val="0000FF"/>
                </a:solidFill>
                <a:latin typeface="Times New Roman" pitchFamily="18" charset="0"/>
                <a:cs typeface="Times New Roman" pitchFamily="18" charset="0"/>
              </a:rPr>
              <a:t>KieuDuLieu </a:t>
            </a:r>
            <a:r>
              <a:rPr lang="en-US" smtClean="0">
                <a:latin typeface="Times New Roman" pitchFamily="18" charset="0"/>
                <a:cs typeface="Times New Roman" pitchFamily="18" charset="0"/>
              </a:rPr>
              <a:t>[m][n]; </a:t>
            </a:r>
            <a:endParaRPr lang="en-US">
              <a:latin typeface="Times New Roman" pitchFamily="18" charset="0"/>
              <a:cs typeface="Times New Roman" pitchFamily="18" charset="0"/>
            </a:endParaRPr>
          </a:p>
          <a:p>
            <a:pPr lvl="2" latinLnBrk="0"/>
            <a:r>
              <a:rPr lang="en-US" smtClean="0">
                <a:latin typeface="Times New Roman" pitchFamily="18" charset="0"/>
                <a:cs typeface="Times New Roman" pitchFamily="18" charset="0"/>
              </a:rPr>
              <a:t>m: </a:t>
            </a:r>
            <a:r>
              <a:rPr lang="en-US">
                <a:latin typeface="Times New Roman" pitchFamily="18" charset="0"/>
                <a:cs typeface="Times New Roman" pitchFamily="18" charset="0"/>
              </a:rPr>
              <a:t>số dòng (tenMang.length)</a:t>
            </a:r>
          </a:p>
          <a:p>
            <a:pPr lvl="2" latinLnBrk="0"/>
            <a:r>
              <a:rPr lang="en-US" smtClean="0">
                <a:latin typeface="Times New Roman" pitchFamily="18" charset="0"/>
                <a:cs typeface="Times New Roman" pitchFamily="18" charset="0"/>
              </a:rPr>
              <a:t>n: </a:t>
            </a:r>
            <a:r>
              <a:rPr lang="en-US">
                <a:latin typeface="Times New Roman" pitchFamily="18" charset="0"/>
                <a:cs typeface="Times New Roman" pitchFamily="18" charset="0"/>
              </a:rPr>
              <a:t>số cột (tenMang[i].length)</a:t>
            </a:r>
          </a:p>
          <a:p>
            <a:pPr lvl="1"/>
            <a:endParaRPr lang="en-US" sz="2400" b="1">
              <a:solidFill>
                <a:srgbClr val="003366"/>
              </a:solidFill>
              <a:latin typeface="Times New Roman" pitchFamily="18" charset="0"/>
              <a:ea typeface="+mj-ea"/>
              <a:cs typeface="Times New Roman" pitchFamily="18" charset="0"/>
            </a:endParaRPr>
          </a:p>
          <a:p>
            <a:pPr marL="0" indent="-42863" algn="l" eaLnBrk="1" hangingPunct="1">
              <a:lnSpc>
                <a:spcPct val="110000"/>
              </a:lnSpc>
              <a:spcBef>
                <a:spcPts val="375"/>
              </a:spcBef>
              <a:buNone/>
              <a:defRPr/>
            </a:pPr>
            <a:endParaRPr lang="en-US">
              <a:solidFill>
                <a:srgbClr val="00B05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88</a:t>
            </a:fld>
            <a:endParaRPr lang="en-US"/>
          </a:p>
        </p:txBody>
      </p:sp>
    </p:spTree>
    <p:extLst>
      <p:ext uri="{BB962C8B-B14F-4D97-AF65-F5344CB8AC3E}">
        <p14:creationId xmlns:p14="http://schemas.microsoft.com/office/powerpoint/2010/main" val="1794894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up)">
                                      <p:cBhvr>
                                        <p:cTn id="19" dur="500"/>
                                        <p:tgtEl>
                                          <p:spTgt spid="3">
                                            <p:txEl>
                                              <p:pRg st="4" end="4"/>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up)">
                                      <p:cBhvr>
                                        <p:cTn id="22" dur="500"/>
                                        <p:tgtEl>
                                          <p:spTgt spid="3">
                                            <p:txEl>
                                              <p:pRg st="5" end="5"/>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up)">
                                      <p:cBhvr>
                                        <p:cTn id="25" dur="500"/>
                                        <p:tgtEl>
                                          <p:spTgt spid="3">
                                            <p:txEl>
                                              <p:pRg st="6" end="6"/>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up)">
                                      <p:cBhvr>
                                        <p:cTn id="2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4.3. Mảng hai chiều</a:t>
            </a:r>
            <a:endParaRPr lang="en-US"/>
          </a:p>
        </p:txBody>
      </p:sp>
      <p:sp>
        <p:nvSpPr>
          <p:cNvPr id="3" name="Content Placeholder 2"/>
          <p:cNvSpPr>
            <a:spLocks noGrp="1"/>
          </p:cNvSpPr>
          <p:nvPr>
            <p:ph idx="1"/>
          </p:nvPr>
        </p:nvSpPr>
        <p:spPr/>
        <p:txBody>
          <a:bodyPr>
            <a:normAutofit/>
          </a:bodyPr>
          <a:lstStyle/>
          <a:p>
            <a:pPr latinLnBrk="0"/>
            <a:r>
              <a:rPr lang="en-US" sz="2400" b="1">
                <a:solidFill>
                  <a:srgbClr val="003366"/>
                </a:solidFill>
                <a:latin typeface="Times New Roman" pitchFamily="18" charset="0"/>
                <a:ea typeface="+mj-ea"/>
                <a:cs typeface="Times New Roman" pitchFamily="18" charset="0"/>
              </a:rPr>
              <a:t>Khai báo và cấp phát vùng nhớ</a:t>
            </a:r>
          </a:p>
          <a:p>
            <a:pPr marL="300038" lvl="1" indent="0" algn="l" eaLnBrk="1" fontAlgn="auto" hangingPunct="1">
              <a:lnSpc>
                <a:spcPct val="110000"/>
              </a:lnSpc>
              <a:spcBef>
                <a:spcPts val="375"/>
              </a:spcBef>
              <a:spcAft>
                <a:spcPts val="0"/>
              </a:spcAft>
              <a:buNone/>
            </a:pPr>
            <a:r>
              <a:rPr lang="fr-FR">
                <a:solidFill>
                  <a:srgbClr val="007F00"/>
                </a:solidFill>
                <a:latin typeface="Times New Roman" pitchFamily="18" charset="0"/>
                <a:cs typeface="Times New Roman" pitchFamily="18" charset="0"/>
              </a:rPr>
              <a:t>//Khai báo và cấp phát mảng hai chiều kiểu int </a:t>
            </a:r>
          </a:p>
          <a:p>
            <a:pPr marL="300038" lvl="1" indent="0" algn="l" eaLnBrk="1" fontAlgn="auto" hangingPunct="1">
              <a:lnSpc>
                <a:spcPct val="110000"/>
              </a:lnSpc>
              <a:spcBef>
                <a:spcPts val="375"/>
              </a:spcBef>
              <a:spcAft>
                <a:spcPts val="0"/>
              </a:spcAft>
              <a:buNone/>
            </a:pPr>
            <a:r>
              <a:rPr lang="fr-FR">
                <a:solidFill>
                  <a:srgbClr val="0000FF"/>
                </a:solidFill>
                <a:latin typeface="Times New Roman" pitchFamily="18" charset="0"/>
                <a:cs typeface="Times New Roman" pitchFamily="18" charset="0"/>
              </a:rPr>
              <a:t>int</a:t>
            </a:r>
            <a:r>
              <a:rPr lang="fr-FR">
                <a:solidFill>
                  <a:srgbClr val="000000"/>
                </a:solidFill>
                <a:latin typeface="Times New Roman" pitchFamily="18" charset="0"/>
                <a:cs typeface="Times New Roman" pitchFamily="18" charset="0"/>
              </a:rPr>
              <a:t>[][] arr1 = </a:t>
            </a:r>
            <a:r>
              <a:rPr lang="fr-FR">
                <a:solidFill>
                  <a:srgbClr val="0000FF"/>
                </a:solidFill>
                <a:latin typeface="Times New Roman" pitchFamily="18" charset="0"/>
                <a:cs typeface="Times New Roman" pitchFamily="18" charset="0"/>
              </a:rPr>
              <a:t>new int</a:t>
            </a:r>
            <a:r>
              <a:rPr lang="fr-FR">
                <a:solidFill>
                  <a:srgbClr val="000000"/>
                </a:solidFill>
                <a:latin typeface="Times New Roman" pitchFamily="18" charset="0"/>
                <a:cs typeface="Times New Roman" pitchFamily="18" charset="0"/>
              </a:rPr>
              <a:t>[3][5]; </a:t>
            </a:r>
          </a:p>
          <a:p>
            <a:pPr marL="300038" lvl="1" indent="0" algn="l" eaLnBrk="1" fontAlgn="auto" hangingPunct="1">
              <a:lnSpc>
                <a:spcPct val="110000"/>
              </a:lnSpc>
              <a:spcBef>
                <a:spcPts val="375"/>
              </a:spcBef>
              <a:spcAft>
                <a:spcPts val="0"/>
              </a:spcAft>
              <a:buNone/>
            </a:pPr>
            <a:r>
              <a:rPr lang="fr-FR">
                <a:solidFill>
                  <a:srgbClr val="0000FF"/>
                </a:solidFill>
                <a:latin typeface="Times New Roman" pitchFamily="18" charset="0"/>
                <a:cs typeface="Times New Roman" pitchFamily="18" charset="0"/>
              </a:rPr>
              <a:t>int </a:t>
            </a:r>
            <a:r>
              <a:rPr lang="fr-FR">
                <a:solidFill>
                  <a:srgbClr val="000000"/>
                </a:solidFill>
                <a:latin typeface="Times New Roman" pitchFamily="18" charset="0"/>
                <a:cs typeface="Times New Roman" pitchFamily="18" charset="0"/>
              </a:rPr>
              <a:t>soDong = a.length; </a:t>
            </a:r>
            <a:r>
              <a:rPr lang="fr-FR">
                <a:solidFill>
                  <a:srgbClr val="007F00"/>
                </a:solidFill>
                <a:latin typeface="Times New Roman" pitchFamily="18" charset="0"/>
                <a:cs typeface="Times New Roman" pitchFamily="18" charset="0"/>
              </a:rPr>
              <a:t>//soDong = 3 </a:t>
            </a:r>
          </a:p>
          <a:p>
            <a:pPr marL="300038" lvl="1" indent="0" algn="l" eaLnBrk="1" fontAlgn="auto" hangingPunct="1">
              <a:lnSpc>
                <a:spcPct val="110000"/>
              </a:lnSpc>
              <a:spcBef>
                <a:spcPts val="375"/>
              </a:spcBef>
              <a:spcAft>
                <a:spcPts val="0"/>
              </a:spcAft>
              <a:buNone/>
            </a:pPr>
            <a:r>
              <a:rPr lang="fr-FR">
                <a:solidFill>
                  <a:srgbClr val="0000FF"/>
                </a:solidFill>
                <a:latin typeface="Times New Roman" pitchFamily="18" charset="0"/>
                <a:cs typeface="Times New Roman" pitchFamily="18" charset="0"/>
              </a:rPr>
              <a:t>int </a:t>
            </a:r>
            <a:r>
              <a:rPr lang="fr-FR">
                <a:solidFill>
                  <a:srgbClr val="000000"/>
                </a:solidFill>
                <a:latin typeface="Times New Roman" pitchFamily="18" charset="0"/>
                <a:cs typeface="Times New Roman" pitchFamily="18" charset="0"/>
              </a:rPr>
              <a:t>soCot = a[i].length; </a:t>
            </a:r>
            <a:r>
              <a:rPr lang="fr-FR">
                <a:solidFill>
                  <a:srgbClr val="007F00"/>
                </a:solidFill>
                <a:latin typeface="Times New Roman" pitchFamily="18" charset="0"/>
                <a:cs typeface="Times New Roman" pitchFamily="18" charset="0"/>
              </a:rPr>
              <a:t>//soCot = 5 </a:t>
            </a:r>
          </a:p>
          <a:p>
            <a:pPr marL="300038" lvl="1" indent="0" algn="l" eaLnBrk="1" fontAlgn="auto" hangingPunct="1">
              <a:lnSpc>
                <a:spcPct val="110000"/>
              </a:lnSpc>
              <a:spcBef>
                <a:spcPts val="375"/>
              </a:spcBef>
              <a:spcAft>
                <a:spcPts val="0"/>
              </a:spcAft>
              <a:buNone/>
            </a:pPr>
            <a:r>
              <a:rPr lang="fr-FR">
                <a:solidFill>
                  <a:srgbClr val="007F00"/>
                </a:solidFill>
                <a:latin typeface="Times New Roman" pitchFamily="18" charset="0"/>
                <a:cs typeface="Times New Roman" pitchFamily="18" charset="0"/>
              </a:rPr>
              <a:t>//Khai báo và cấp phát mảng kiểu long </a:t>
            </a:r>
          </a:p>
          <a:p>
            <a:pPr marL="300038" lvl="1" indent="0" algn="l" eaLnBrk="1" fontAlgn="auto" hangingPunct="1">
              <a:lnSpc>
                <a:spcPct val="110000"/>
              </a:lnSpc>
              <a:spcBef>
                <a:spcPts val="375"/>
              </a:spcBef>
              <a:spcAft>
                <a:spcPts val="0"/>
              </a:spcAft>
              <a:buNone/>
            </a:pPr>
            <a:r>
              <a:rPr lang="fr-FR">
                <a:solidFill>
                  <a:srgbClr val="0000FF"/>
                </a:solidFill>
                <a:latin typeface="Times New Roman" pitchFamily="18" charset="0"/>
                <a:cs typeface="Times New Roman" pitchFamily="18" charset="0"/>
              </a:rPr>
              <a:t>long</a:t>
            </a:r>
            <a:r>
              <a:rPr lang="fr-FR">
                <a:solidFill>
                  <a:srgbClr val="000000"/>
                </a:solidFill>
                <a:latin typeface="Times New Roman" pitchFamily="18" charset="0"/>
                <a:cs typeface="Times New Roman" pitchFamily="18" charset="0"/>
              </a:rPr>
              <a:t>[][] arr2 = </a:t>
            </a:r>
            <a:r>
              <a:rPr lang="fr-FR">
                <a:solidFill>
                  <a:srgbClr val="0000FF"/>
                </a:solidFill>
                <a:latin typeface="Times New Roman" pitchFamily="18" charset="0"/>
                <a:cs typeface="Times New Roman" pitchFamily="18" charset="0"/>
              </a:rPr>
              <a:t>new long</a:t>
            </a:r>
            <a:r>
              <a:rPr lang="fr-FR">
                <a:solidFill>
                  <a:srgbClr val="000000"/>
                </a:solidFill>
                <a:latin typeface="Times New Roman" pitchFamily="18" charset="0"/>
                <a:cs typeface="Times New Roman" pitchFamily="18" charset="0"/>
              </a:rPr>
              <a:t>[5][6]; </a:t>
            </a:r>
          </a:p>
          <a:p>
            <a:pPr marL="300038" lvl="1" indent="0" algn="l" eaLnBrk="1" fontAlgn="auto" hangingPunct="1">
              <a:lnSpc>
                <a:spcPct val="110000"/>
              </a:lnSpc>
              <a:spcBef>
                <a:spcPts val="375"/>
              </a:spcBef>
              <a:spcAft>
                <a:spcPts val="0"/>
              </a:spcAft>
              <a:buNone/>
            </a:pPr>
            <a:r>
              <a:rPr lang="fr-FR">
                <a:solidFill>
                  <a:srgbClr val="0000FF"/>
                </a:solidFill>
                <a:latin typeface="Times New Roman" pitchFamily="18" charset="0"/>
                <a:cs typeface="Times New Roman" pitchFamily="18" charset="0"/>
              </a:rPr>
              <a:t>int </a:t>
            </a:r>
            <a:r>
              <a:rPr lang="fr-FR">
                <a:solidFill>
                  <a:srgbClr val="000000"/>
                </a:solidFill>
                <a:latin typeface="Times New Roman" pitchFamily="18" charset="0"/>
                <a:cs typeface="Times New Roman" pitchFamily="18" charset="0"/>
              </a:rPr>
              <a:t>soDong = a.length; </a:t>
            </a:r>
            <a:r>
              <a:rPr lang="fr-FR">
                <a:solidFill>
                  <a:srgbClr val="007F00"/>
                </a:solidFill>
                <a:latin typeface="Times New Roman" pitchFamily="18" charset="0"/>
                <a:cs typeface="Times New Roman" pitchFamily="18" charset="0"/>
              </a:rPr>
              <a:t>//soDong = 5 </a:t>
            </a:r>
          </a:p>
          <a:p>
            <a:pPr marL="300038" lvl="1" indent="0" algn="l" eaLnBrk="1" fontAlgn="auto" hangingPunct="1">
              <a:lnSpc>
                <a:spcPct val="110000"/>
              </a:lnSpc>
              <a:spcBef>
                <a:spcPts val="375"/>
              </a:spcBef>
              <a:spcAft>
                <a:spcPts val="0"/>
              </a:spcAft>
              <a:buNone/>
            </a:pPr>
            <a:r>
              <a:rPr lang="fr-FR">
                <a:solidFill>
                  <a:srgbClr val="0000FF"/>
                </a:solidFill>
                <a:latin typeface="Times New Roman" pitchFamily="18" charset="0"/>
                <a:cs typeface="Times New Roman" pitchFamily="18" charset="0"/>
              </a:rPr>
              <a:t>int </a:t>
            </a:r>
            <a:r>
              <a:rPr lang="fr-FR">
                <a:solidFill>
                  <a:srgbClr val="000000"/>
                </a:solidFill>
                <a:latin typeface="Times New Roman" pitchFamily="18" charset="0"/>
                <a:cs typeface="Times New Roman" pitchFamily="18" charset="0"/>
              </a:rPr>
              <a:t>soCot = a[i].length;; </a:t>
            </a:r>
            <a:r>
              <a:rPr lang="fr-FR">
                <a:solidFill>
                  <a:srgbClr val="007F00"/>
                </a:solidFill>
                <a:latin typeface="Times New Roman" pitchFamily="18" charset="0"/>
                <a:cs typeface="Times New Roman" pitchFamily="18" charset="0"/>
              </a:rPr>
              <a:t>//soCot = </a:t>
            </a:r>
            <a:r>
              <a:rPr lang="fr-FR">
                <a:solidFill>
                  <a:srgbClr val="007F00"/>
                </a:solidFill>
                <a:latin typeface="Times New Roman" pitchFamily="18" charset="0"/>
                <a:cs typeface="Times New Roman" pitchFamily="18" charset="0"/>
              </a:rPr>
              <a:t>6 </a:t>
            </a:r>
            <a:endParaRPr lang="en-US" b="1">
              <a:solidFill>
                <a:srgbClr val="003366"/>
              </a:solidFill>
              <a:latin typeface="Times New Roman" pitchFamily="18" charset="0"/>
              <a:ea typeface="+mj-ea"/>
              <a:cs typeface="Times New Roman" pitchFamily="18" charset="0"/>
            </a:endParaRPr>
          </a:p>
          <a:p>
            <a:pPr marL="0" indent="-42863" algn="l" eaLnBrk="1" hangingPunct="1">
              <a:lnSpc>
                <a:spcPct val="110000"/>
              </a:lnSpc>
              <a:spcBef>
                <a:spcPts val="375"/>
              </a:spcBef>
              <a:buNone/>
              <a:defRPr/>
            </a:pPr>
            <a:endParaRPr lang="en-US">
              <a:solidFill>
                <a:srgbClr val="00B05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89</a:t>
            </a:fld>
            <a:endParaRPr lang="en-US"/>
          </a:p>
        </p:txBody>
      </p:sp>
    </p:spTree>
    <p:extLst>
      <p:ext uri="{BB962C8B-B14F-4D97-AF65-F5344CB8AC3E}">
        <p14:creationId xmlns:p14="http://schemas.microsoft.com/office/powerpoint/2010/main" val="311695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up)">
                                      <p:cBhvr>
                                        <p:cTn id="19" dur="500"/>
                                        <p:tgtEl>
                                          <p:spTgt spid="3">
                                            <p:txEl>
                                              <p:pRg st="4" end="4"/>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up)">
                                      <p:cBhvr>
                                        <p:cTn id="22" dur="500"/>
                                        <p:tgtEl>
                                          <p:spTgt spid="3">
                                            <p:txEl>
                                              <p:pRg st="5" end="5"/>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up)">
                                      <p:cBhvr>
                                        <p:cTn id="25" dur="500"/>
                                        <p:tgtEl>
                                          <p:spTgt spid="3">
                                            <p:txEl>
                                              <p:pRg st="6" end="6"/>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up)">
                                      <p:cBhvr>
                                        <p:cTn id="28" dur="500"/>
                                        <p:tgtEl>
                                          <p:spTgt spid="3">
                                            <p:txEl>
                                              <p:pRg st="7" end="7"/>
                                            </p:txEl>
                                          </p:spTgt>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wipe(up)">
                                      <p:cBhvr>
                                        <p:cTn id="3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4.3. Mảng hai chiều</a:t>
            </a:r>
            <a:endParaRPr lang="en-US"/>
          </a:p>
        </p:txBody>
      </p:sp>
      <p:sp>
        <p:nvSpPr>
          <p:cNvPr id="3" name="Content Placeholder 2"/>
          <p:cNvSpPr>
            <a:spLocks noGrp="1"/>
          </p:cNvSpPr>
          <p:nvPr>
            <p:ph idx="1"/>
          </p:nvPr>
        </p:nvSpPr>
        <p:spPr/>
        <p:txBody>
          <a:bodyPr>
            <a:normAutofit/>
          </a:bodyPr>
          <a:lstStyle/>
          <a:p>
            <a:pPr latinLnBrk="0"/>
            <a:r>
              <a:rPr lang="en-US" sz="2400" b="1">
                <a:solidFill>
                  <a:srgbClr val="003366"/>
                </a:solidFill>
                <a:latin typeface="Times New Roman" pitchFamily="18" charset="0"/>
                <a:ea typeface="+mj-ea"/>
                <a:cs typeface="Times New Roman" pitchFamily="18" charset="0"/>
              </a:rPr>
              <a:t>Khởi tạo giá trị</a:t>
            </a:r>
          </a:p>
          <a:p>
            <a:pPr marL="300038" lvl="1" indent="0" algn="l" eaLnBrk="1" fontAlgn="auto" hangingPunct="1">
              <a:spcBef>
                <a:spcPts val="450"/>
              </a:spcBef>
              <a:spcAft>
                <a:spcPts val="450"/>
              </a:spcAft>
              <a:buNone/>
            </a:pPr>
            <a:r>
              <a:rPr lang="en-US" sz="2400" b="1">
                <a:solidFill>
                  <a:srgbClr val="007F00"/>
                </a:solidFill>
                <a:latin typeface="Times New Roman" pitchFamily="18" charset="0"/>
                <a:cs typeface="Times New Roman" pitchFamily="18" charset="0"/>
              </a:rPr>
              <a:t>//Cách 1 </a:t>
            </a:r>
            <a:endParaRPr lang="en-US" sz="2400" b="1">
              <a:solidFill>
                <a:srgbClr val="000000"/>
              </a:solidFill>
              <a:latin typeface="Times New Roman" pitchFamily="18" charset="0"/>
              <a:cs typeface="Times New Roman" pitchFamily="18" charset="0"/>
            </a:endParaRPr>
          </a:p>
          <a:p>
            <a:pPr marL="300038" lvl="1" indent="0" algn="l" eaLnBrk="1" fontAlgn="auto" hangingPunct="1">
              <a:spcBef>
                <a:spcPts val="450"/>
              </a:spcBef>
              <a:spcAft>
                <a:spcPts val="450"/>
              </a:spcAft>
              <a:buNone/>
            </a:pPr>
            <a:r>
              <a:rPr lang="en-US" sz="2400">
                <a:solidFill>
                  <a:srgbClr val="0000FF"/>
                </a:solidFill>
                <a:latin typeface="Times New Roman" pitchFamily="18" charset="0"/>
                <a:cs typeface="Times New Roman" pitchFamily="18" charset="0"/>
              </a:rPr>
              <a:t>int</a:t>
            </a:r>
            <a:r>
              <a:rPr lang="en-US" sz="2400">
                <a:solidFill>
                  <a:srgbClr val="000000"/>
                </a:solidFill>
                <a:latin typeface="Times New Roman" pitchFamily="18" charset="0"/>
                <a:cs typeface="Times New Roman" pitchFamily="18" charset="0"/>
              </a:rPr>
              <a:t>[][] a = { </a:t>
            </a:r>
            <a:r>
              <a:rPr lang="en-US" sz="2400">
                <a:solidFill>
                  <a:srgbClr val="000000"/>
                </a:solidFill>
                <a:latin typeface="Times New Roman" pitchFamily="18" charset="0"/>
                <a:cs typeface="Times New Roman" pitchFamily="18" charset="0"/>
              </a:rPr>
              <a:t>{ </a:t>
            </a:r>
            <a:r>
              <a:rPr lang="en-US" sz="2400">
                <a:solidFill>
                  <a:srgbClr val="000000"/>
                </a:solidFill>
                <a:latin typeface="Times New Roman" pitchFamily="18" charset="0"/>
                <a:cs typeface="Times New Roman" pitchFamily="18" charset="0"/>
              </a:rPr>
              <a:t>1, 2 }, { 3, 4 }, { 5, 6 }, { 7, 8 } </a:t>
            </a:r>
            <a:r>
              <a:rPr lang="en-US" sz="2400">
                <a:solidFill>
                  <a:srgbClr val="000000"/>
                </a:solidFill>
                <a:latin typeface="Times New Roman" pitchFamily="18" charset="0"/>
                <a:cs typeface="Times New Roman" pitchFamily="18" charset="0"/>
              </a:rPr>
              <a:t>}; </a:t>
            </a:r>
            <a:endParaRPr lang="en-US" sz="2400">
              <a:solidFill>
                <a:srgbClr val="000000"/>
              </a:solidFill>
              <a:latin typeface="Times New Roman" pitchFamily="18" charset="0"/>
              <a:cs typeface="Times New Roman" pitchFamily="18" charset="0"/>
            </a:endParaRPr>
          </a:p>
          <a:p>
            <a:pPr marL="300038" lvl="1" indent="0" algn="l" eaLnBrk="1" fontAlgn="auto" hangingPunct="1">
              <a:spcBef>
                <a:spcPts val="450"/>
              </a:spcBef>
              <a:spcAft>
                <a:spcPts val="450"/>
              </a:spcAft>
              <a:buNone/>
            </a:pPr>
            <a:r>
              <a:rPr lang="en-US" sz="2400">
                <a:solidFill>
                  <a:srgbClr val="0000FF"/>
                </a:solidFill>
                <a:latin typeface="Times New Roman" pitchFamily="18" charset="0"/>
                <a:cs typeface="Times New Roman" pitchFamily="18" charset="0"/>
              </a:rPr>
              <a:t>int </a:t>
            </a:r>
            <a:r>
              <a:rPr lang="en-US" sz="2400">
                <a:solidFill>
                  <a:srgbClr val="000000"/>
                </a:solidFill>
                <a:latin typeface="Times New Roman" pitchFamily="18" charset="0"/>
                <a:cs typeface="Times New Roman" pitchFamily="18" charset="0"/>
              </a:rPr>
              <a:t>soDong = a.length; </a:t>
            </a:r>
            <a:r>
              <a:rPr lang="en-US" sz="2400">
                <a:solidFill>
                  <a:srgbClr val="007F00"/>
                </a:solidFill>
                <a:latin typeface="Times New Roman" pitchFamily="18" charset="0"/>
                <a:cs typeface="Times New Roman" pitchFamily="18" charset="0"/>
              </a:rPr>
              <a:t>//soDong = 4 </a:t>
            </a:r>
          </a:p>
          <a:p>
            <a:pPr marL="300038" lvl="1" indent="0" algn="l" eaLnBrk="1" fontAlgn="auto" hangingPunct="1">
              <a:spcBef>
                <a:spcPts val="450"/>
              </a:spcBef>
              <a:spcAft>
                <a:spcPts val="450"/>
              </a:spcAft>
              <a:buNone/>
            </a:pPr>
            <a:r>
              <a:rPr lang="en-US" sz="2400">
                <a:solidFill>
                  <a:srgbClr val="0000FF"/>
                </a:solidFill>
                <a:latin typeface="Times New Roman" pitchFamily="18" charset="0"/>
                <a:cs typeface="Times New Roman" pitchFamily="18" charset="0"/>
              </a:rPr>
              <a:t>int </a:t>
            </a:r>
            <a:r>
              <a:rPr lang="en-US" sz="2400">
                <a:solidFill>
                  <a:srgbClr val="000000"/>
                </a:solidFill>
                <a:latin typeface="Times New Roman" pitchFamily="18" charset="0"/>
                <a:cs typeface="Times New Roman" pitchFamily="18" charset="0"/>
              </a:rPr>
              <a:t>soCot = a[i].length; </a:t>
            </a:r>
            <a:r>
              <a:rPr lang="en-US" sz="2400">
                <a:solidFill>
                  <a:srgbClr val="007F00"/>
                </a:solidFill>
                <a:latin typeface="Times New Roman" pitchFamily="18" charset="0"/>
                <a:cs typeface="Times New Roman" pitchFamily="18" charset="0"/>
              </a:rPr>
              <a:t>//soCot = 2 </a:t>
            </a:r>
          </a:p>
          <a:p>
            <a:pPr marL="0" indent="-42863" algn="l" eaLnBrk="1" hangingPunct="1">
              <a:lnSpc>
                <a:spcPct val="110000"/>
              </a:lnSpc>
              <a:spcBef>
                <a:spcPts val="375"/>
              </a:spcBef>
              <a:buNone/>
              <a:defRPr/>
            </a:pPr>
            <a:endParaRPr lang="en-US">
              <a:solidFill>
                <a:srgbClr val="00B05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90</a:t>
            </a:fld>
            <a:endParaRPr lang="en-US"/>
          </a:p>
        </p:txBody>
      </p:sp>
    </p:spTree>
    <p:extLst>
      <p:ext uri="{BB962C8B-B14F-4D97-AF65-F5344CB8AC3E}">
        <p14:creationId xmlns:p14="http://schemas.microsoft.com/office/powerpoint/2010/main" val="1364014964"/>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4.3. Mảng hai chiều</a:t>
            </a:r>
            <a:endParaRPr lang="en-US"/>
          </a:p>
        </p:txBody>
      </p:sp>
      <p:sp>
        <p:nvSpPr>
          <p:cNvPr id="3" name="Content Placeholder 2"/>
          <p:cNvSpPr>
            <a:spLocks noGrp="1"/>
          </p:cNvSpPr>
          <p:nvPr>
            <p:ph idx="1"/>
          </p:nvPr>
        </p:nvSpPr>
        <p:spPr/>
        <p:txBody>
          <a:bodyPr>
            <a:noAutofit/>
          </a:bodyPr>
          <a:lstStyle/>
          <a:p>
            <a:pPr latinLnBrk="0"/>
            <a:r>
              <a:rPr lang="en-US" sz="2400" b="1">
                <a:solidFill>
                  <a:srgbClr val="003366"/>
                </a:solidFill>
                <a:latin typeface="Times New Roman" pitchFamily="18" charset="0"/>
                <a:ea typeface="+mj-ea"/>
                <a:cs typeface="Times New Roman" pitchFamily="18" charset="0"/>
              </a:rPr>
              <a:t>Khởi tạo giá trị</a:t>
            </a:r>
          </a:p>
          <a:p>
            <a:pPr marL="0" indent="0" algn="l" eaLnBrk="1" fontAlgn="auto" hangingPunct="1">
              <a:lnSpc>
                <a:spcPct val="110000"/>
              </a:lnSpc>
              <a:spcBef>
                <a:spcPts val="0"/>
              </a:spcBef>
              <a:spcAft>
                <a:spcPts val="0"/>
              </a:spcAft>
              <a:buNone/>
            </a:pPr>
            <a:r>
              <a:rPr lang="en-US" b="1" kern="1200" smtClean="0">
                <a:solidFill>
                  <a:srgbClr val="007F00"/>
                </a:solidFill>
                <a:latin typeface="Times New Roman" pitchFamily="18" charset="0"/>
                <a:cs typeface="Times New Roman" pitchFamily="18" charset="0"/>
              </a:rPr>
              <a:t>//</a:t>
            </a:r>
            <a:r>
              <a:rPr lang="en-US" b="1" kern="1200">
                <a:solidFill>
                  <a:srgbClr val="007F00"/>
                </a:solidFill>
                <a:latin typeface="Times New Roman" pitchFamily="18" charset="0"/>
                <a:cs typeface="Times New Roman" pitchFamily="18" charset="0"/>
              </a:rPr>
              <a:t>Cách 2 </a:t>
            </a:r>
          </a:p>
          <a:p>
            <a:pPr marL="300038" lvl="1" indent="0" algn="l" eaLnBrk="1" fontAlgn="auto" hangingPunct="1">
              <a:lnSpc>
                <a:spcPct val="110000"/>
              </a:lnSpc>
              <a:spcBef>
                <a:spcPts val="0"/>
              </a:spcBef>
              <a:spcAft>
                <a:spcPts val="0"/>
              </a:spcAft>
              <a:buNone/>
            </a:pPr>
            <a:r>
              <a:rPr lang="en-US">
                <a:solidFill>
                  <a:srgbClr val="0000FF"/>
                </a:solidFill>
                <a:latin typeface="Times New Roman" pitchFamily="18" charset="0"/>
                <a:cs typeface="Times New Roman" pitchFamily="18" charset="0"/>
              </a:rPr>
              <a:t>int </a:t>
            </a:r>
            <a:r>
              <a:rPr lang="en-US">
                <a:solidFill>
                  <a:srgbClr val="000000"/>
                </a:solidFill>
                <a:latin typeface="Times New Roman" pitchFamily="18" charset="0"/>
                <a:cs typeface="Times New Roman" pitchFamily="18" charset="0"/>
              </a:rPr>
              <a:t>[][] a = </a:t>
            </a:r>
            <a:r>
              <a:rPr lang="en-US">
                <a:solidFill>
                  <a:srgbClr val="0000FF"/>
                </a:solidFill>
                <a:latin typeface="Times New Roman" pitchFamily="18" charset="0"/>
                <a:cs typeface="Times New Roman" pitchFamily="18" charset="0"/>
              </a:rPr>
              <a:t>new int</a:t>
            </a:r>
            <a:r>
              <a:rPr lang="en-US">
                <a:solidFill>
                  <a:srgbClr val="000000"/>
                </a:solidFill>
                <a:latin typeface="Times New Roman" pitchFamily="18" charset="0"/>
                <a:cs typeface="Times New Roman" pitchFamily="18" charset="0"/>
              </a:rPr>
              <a:t>[4][2]; </a:t>
            </a:r>
          </a:p>
          <a:p>
            <a:pPr marL="300038" lvl="1" indent="0" algn="l" eaLnBrk="1" fontAlgn="auto" hangingPunct="1">
              <a:lnSpc>
                <a:spcPct val="110000"/>
              </a:lnSpc>
              <a:spcBef>
                <a:spcPts val="0"/>
              </a:spcBef>
              <a:spcAft>
                <a:spcPts val="0"/>
              </a:spcAft>
              <a:buNone/>
            </a:pPr>
            <a:r>
              <a:rPr lang="en-US">
                <a:solidFill>
                  <a:srgbClr val="0000FF"/>
                </a:solidFill>
                <a:latin typeface="Times New Roman" pitchFamily="18" charset="0"/>
                <a:cs typeface="Times New Roman" pitchFamily="18" charset="0"/>
              </a:rPr>
              <a:t>int </a:t>
            </a:r>
            <a:r>
              <a:rPr lang="en-US">
                <a:solidFill>
                  <a:srgbClr val="000000"/>
                </a:solidFill>
                <a:latin typeface="Times New Roman" pitchFamily="18" charset="0"/>
                <a:cs typeface="Times New Roman" pitchFamily="18" charset="0"/>
              </a:rPr>
              <a:t>soDong = a.length; </a:t>
            </a:r>
            <a:r>
              <a:rPr lang="en-US">
                <a:solidFill>
                  <a:srgbClr val="007F00"/>
                </a:solidFill>
                <a:latin typeface="Times New Roman" pitchFamily="18" charset="0"/>
                <a:cs typeface="Times New Roman" pitchFamily="18" charset="0"/>
              </a:rPr>
              <a:t>//soDong = 4 </a:t>
            </a:r>
          </a:p>
          <a:p>
            <a:pPr marL="300038" lvl="1" indent="0" algn="l" eaLnBrk="1" fontAlgn="auto" hangingPunct="1">
              <a:lnSpc>
                <a:spcPct val="110000"/>
              </a:lnSpc>
              <a:spcBef>
                <a:spcPts val="0"/>
              </a:spcBef>
              <a:spcAft>
                <a:spcPts val="0"/>
              </a:spcAft>
              <a:buNone/>
            </a:pPr>
            <a:r>
              <a:rPr lang="en-US">
                <a:solidFill>
                  <a:srgbClr val="0000FF"/>
                </a:solidFill>
                <a:latin typeface="Times New Roman" pitchFamily="18" charset="0"/>
                <a:cs typeface="Times New Roman" pitchFamily="18" charset="0"/>
              </a:rPr>
              <a:t>int </a:t>
            </a:r>
            <a:r>
              <a:rPr lang="en-US">
                <a:solidFill>
                  <a:srgbClr val="000000"/>
                </a:solidFill>
                <a:latin typeface="Times New Roman" pitchFamily="18" charset="0"/>
                <a:cs typeface="Times New Roman" pitchFamily="18" charset="0"/>
              </a:rPr>
              <a:t>soCot = a[0].length; </a:t>
            </a:r>
            <a:r>
              <a:rPr lang="en-US">
                <a:solidFill>
                  <a:srgbClr val="007F00"/>
                </a:solidFill>
                <a:latin typeface="Times New Roman" pitchFamily="18" charset="0"/>
                <a:cs typeface="Times New Roman" pitchFamily="18" charset="0"/>
              </a:rPr>
              <a:t>//soCot = 2 </a:t>
            </a:r>
          </a:p>
          <a:p>
            <a:pPr marL="300038" lvl="1" indent="0" algn="l" eaLnBrk="1" fontAlgn="auto" hangingPunct="1">
              <a:lnSpc>
                <a:spcPct val="110000"/>
              </a:lnSpc>
              <a:spcBef>
                <a:spcPts val="0"/>
              </a:spcBef>
              <a:spcAft>
                <a:spcPts val="0"/>
              </a:spcAft>
              <a:buNone/>
            </a:pPr>
            <a:r>
              <a:rPr lang="en-US">
                <a:solidFill>
                  <a:srgbClr val="0000FF"/>
                </a:solidFill>
                <a:latin typeface="Times New Roman" pitchFamily="18" charset="0"/>
                <a:cs typeface="Times New Roman" pitchFamily="18" charset="0"/>
              </a:rPr>
              <a:t>int </a:t>
            </a:r>
            <a:r>
              <a:rPr lang="en-US">
                <a:solidFill>
                  <a:srgbClr val="000000"/>
                </a:solidFill>
                <a:latin typeface="Times New Roman" pitchFamily="18" charset="0"/>
                <a:cs typeface="Times New Roman" pitchFamily="18" charset="0"/>
              </a:rPr>
              <a:t>k = 1; </a:t>
            </a:r>
          </a:p>
          <a:p>
            <a:pPr marL="300038" lvl="1" indent="0" algn="l" eaLnBrk="1" fontAlgn="auto" hangingPunct="1">
              <a:lnSpc>
                <a:spcPct val="110000"/>
              </a:lnSpc>
              <a:spcBef>
                <a:spcPts val="0"/>
              </a:spcBef>
              <a:spcAft>
                <a:spcPts val="0"/>
              </a:spcAft>
              <a:buNone/>
            </a:pPr>
            <a:r>
              <a:rPr lang="en-US">
                <a:solidFill>
                  <a:srgbClr val="0000FF"/>
                </a:solidFill>
                <a:latin typeface="Times New Roman" pitchFamily="18" charset="0"/>
                <a:cs typeface="Times New Roman" pitchFamily="18" charset="0"/>
              </a:rPr>
              <a:t>for </a:t>
            </a:r>
            <a:r>
              <a:rPr lang="en-US">
                <a:solidFill>
                  <a:srgbClr val="000000"/>
                </a:solidFill>
                <a:latin typeface="Times New Roman" pitchFamily="18" charset="0"/>
                <a:cs typeface="Times New Roman" pitchFamily="18" charset="0"/>
              </a:rPr>
              <a:t>(</a:t>
            </a:r>
            <a:r>
              <a:rPr lang="en-US">
                <a:solidFill>
                  <a:srgbClr val="0000FF"/>
                </a:solidFill>
                <a:latin typeface="Times New Roman" pitchFamily="18" charset="0"/>
                <a:cs typeface="Times New Roman" pitchFamily="18" charset="0"/>
              </a:rPr>
              <a:t>int </a:t>
            </a:r>
            <a:r>
              <a:rPr lang="en-US">
                <a:solidFill>
                  <a:srgbClr val="000000"/>
                </a:solidFill>
                <a:latin typeface="Times New Roman" pitchFamily="18" charset="0"/>
                <a:cs typeface="Times New Roman" pitchFamily="18" charset="0"/>
              </a:rPr>
              <a:t>i = 0; i &lt; soDong; i++) { </a:t>
            </a:r>
          </a:p>
          <a:p>
            <a:pPr marL="642938" lvl="2" indent="0" eaLnBrk="1" fontAlgn="auto" hangingPunct="1">
              <a:lnSpc>
                <a:spcPct val="110000"/>
              </a:lnSpc>
              <a:spcBef>
                <a:spcPts val="0"/>
              </a:spcBef>
              <a:spcAft>
                <a:spcPts val="0"/>
              </a:spcAft>
              <a:buNone/>
            </a:pPr>
            <a:r>
              <a:rPr lang="en-US" kern="1200">
                <a:solidFill>
                  <a:srgbClr val="0000FF"/>
                </a:solidFill>
                <a:latin typeface="Times New Roman" pitchFamily="18" charset="0"/>
                <a:cs typeface="Times New Roman" pitchFamily="18" charset="0"/>
              </a:rPr>
              <a:t>for </a:t>
            </a:r>
            <a:r>
              <a:rPr lang="en-US" kern="1200">
                <a:solidFill>
                  <a:srgbClr val="000000"/>
                </a:solidFill>
                <a:latin typeface="Times New Roman" pitchFamily="18" charset="0"/>
                <a:cs typeface="Times New Roman" pitchFamily="18" charset="0"/>
              </a:rPr>
              <a:t>(</a:t>
            </a:r>
            <a:r>
              <a:rPr lang="en-US" kern="1200">
                <a:solidFill>
                  <a:srgbClr val="0000FF"/>
                </a:solidFill>
                <a:latin typeface="Times New Roman" pitchFamily="18" charset="0"/>
                <a:cs typeface="Times New Roman" pitchFamily="18" charset="0"/>
              </a:rPr>
              <a:t>int </a:t>
            </a:r>
            <a:r>
              <a:rPr lang="en-US" kern="1200">
                <a:solidFill>
                  <a:srgbClr val="000000"/>
                </a:solidFill>
                <a:latin typeface="Times New Roman" pitchFamily="18" charset="0"/>
                <a:cs typeface="Times New Roman" pitchFamily="18" charset="0"/>
              </a:rPr>
              <a:t>j = 0; j &lt; soCot; j++) { </a:t>
            </a:r>
          </a:p>
          <a:p>
            <a:pPr marL="1028700" lvl="3" indent="0" eaLnBrk="1" fontAlgn="auto" hangingPunct="1">
              <a:lnSpc>
                <a:spcPct val="110000"/>
              </a:lnSpc>
              <a:spcBef>
                <a:spcPts val="0"/>
              </a:spcBef>
              <a:spcAft>
                <a:spcPts val="0"/>
              </a:spcAft>
              <a:buNone/>
            </a:pPr>
            <a:r>
              <a:rPr lang="en-US" sz="2100">
                <a:solidFill>
                  <a:srgbClr val="000000"/>
                </a:solidFill>
                <a:latin typeface="Times New Roman" pitchFamily="18" charset="0"/>
                <a:cs typeface="Times New Roman" pitchFamily="18" charset="0"/>
              </a:rPr>
              <a:t>a[i][j]=k++; </a:t>
            </a:r>
          </a:p>
          <a:p>
            <a:pPr marL="642938" lvl="2" indent="0" eaLnBrk="1" fontAlgn="auto" hangingPunct="1">
              <a:lnSpc>
                <a:spcPct val="110000"/>
              </a:lnSpc>
              <a:spcBef>
                <a:spcPts val="0"/>
              </a:spcBef>
              <a:spcAft>
                <a:spcPts val="0"/>
              </a:spcAft>
              <a:buNone/>
            </a:pPr>
            <a:r>
              <a:rPr lang="en-US" kern="1200">
                <a:solidFill>
                  <a:srgbClr val="000000"/>
                </a:solidFill>
                <a:latin typeface="Times New Roman" pitchFamily="18" charset="0"/>
                <a:cs typeface="Times New Roman" pitchFamily="18" charset="0"/>
              </a:rPr>
              <a:t>}</a:t>
            </a:r>
          </a:p>
          <a:p>
            <a:pPr marL="300038" lvl="1" indent="0" algn="l" eaLnBrk="1" fontAlgn="auto" hangingPunct="1">
              <a:lnSpc>
                <a:spcPct val="110000"/>
              </a:lnSpc>
              <a:spcBef>
                <a:spcPts val="0"/>
              </a:spcBef>
              <a:spcAft>
                <a:spcPts val="0"/>
              </a:spcAft>
              <a:buNone/>
            </a:pPr>
            <a:r>
              <a:rPr lang="en-US" kern="1200">
                <a:solidFill>
                  <a:srgbClr val="000000"/>
                </a:solidFill>
                <a:latin typeface="Times New Roman" pitchFamily="18" charset="0"/>
                <a:cs typeface="Times New Roman" pitchFamily="18" charset="0"/>
              </a:rPr>
              <a:t>} </a:t>
            </a:r>
          </a:p>
          <a:p>
            <a:pPr marL="0" indent="-42863" algn="l" eaLnBrk="1" hangingPunct="1">
              <a:lnSpc>
                <a:spcPct val="110000"/>
              </a:lnSpc>
              <a:spcBef>
                <a:spcPts val="375"/>
              </a:spcBef>
              <a:buNone/>
              <a:defRPr/>
            </a:pPr>
            <a:endParaRPr lang="en-US">
              <a:solidFill>
                <a:srgbClr val="00B05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91</a:t>
            </a:fld>
            <a:endParaRPr lang="en-US"/>
          </a:p>
        </p:txBody>
      </p:sp>
    </p:spTree>
    <p:extLst>
      <p:ext uri="{BB962C8B-B14F-4D97-AF65-F5344CB8AC3E}">
        <p14:creationId xmlns:p14="http://schemas.microsoft.com/office/powerpoint/2010/main" val="55704719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4.3. Mảng hai chiều</a:t>
            </a:r>
            <a:endParaRPr lang="en-US"/>
          </a:p>
        </p:txBody>
      </p:sp>
      <p:sp>
        <p:nvSpPr>
          <p:cNvPr id="3" name="Content Placeholder 2"/>
          <p:cNvSpPr>
            <a:spLocks noGrp="1"/>
          </p:cNvSpPr>
          <p:nvPr>
            <p:ph idx="1"/>
          </p:nvPr>
        </p:nvSpPr>
        <p:spPr/>
        <p:txBody>
          <a:bodyPr>
            <a:noAutofit/>
          </a:bodyPr>
          <a:lstStyle/>
          <a:p>
            <a:pPr latinLnBrk="0"/>
            <a:r>
              <a:rPr lang="en-US" sz="2400" b="1">
                <a:solidFill>
                  <a:srgbClr val="003366"/>
                </a:solidFill>
                <a:latin typeface="Times New Roman" pitchFamily="18" charset="0"/>
                <a:ea typeface="+mj-ea"/>
                <a:cs typeface="Times New Roman" pitchFamily="18" charset="0"/>
              </a:rPr>
              <a:t>Nhập mảng 2 chiều</a:t>
            </a:r>
          </a:p>
          <a:p>
            <a:pPr marL="0" indent="0" algn="l" eaLnBrk="1" fontAlgn="auto" hangingPunct="1">
              <a:lnSpc>
                <a:spcPct val="120000"/>
              </a:lnSpc>
              <a:spcBef>
                <a:spcPts val="0"/>
              </a:spcBef>
              <a:spcAft>
                <a:spcPts val="0"/>
              </a:spcAft>
              <a:buNone/>
            </a:pPr>
            <a:r>
              <a:rPr lang="nl-NL" sz="2400">
                <a:solidFill>
                  <a:srgbClr val="007F00"/>
                </a:solidFill>
                <a:latin typeface="Times New Roman" pitchFamily="18" charset="0"/>
                <a:cs typeface="Times New Roman" pitchFamily="18" charset="0"/>
              </a:rPr>
              <a:t>//Nhập số dòng: m</a:t>
            </a:r>
          </a:p>
          <a:p>
            <a:pPr marL="0" indent="0" algn="l" eaLnBrk="1" fontAlgn="auto" hangingPunct="1">
              <a:lnSpc>
                <a:spcPct val="120000"/>
              </a:lnSpc>
              <a:spcBef>
                <a:spcPts val="0"/>
              </a:spcBef>
              <a:spcAft>
                <a:spcPts val="0"/>
              </a:spcAft>
              <a:buNone/>
            </a:pPr>
            <a:r>
              <a:rPr lang="nl-NL" sz="2400">
                <a:solidFill>
                  <a:srgbClr val="007F00"/>
                </a:solidFill>
                <a:latin typeface="Times New Roman" pitchFamily="18" charset="0"/>
                <a:cs typeface="Times New Roman" pitchFamily="18" charset="0"/>
              </a:rPr>
              <a:t>//Nhập số cột: n</a:t>
            </a:r>
          </a:p>
          <a:p>
            <a:pPr marL="0" indent="0" algn="l" eaLnBrk="1" fontAlgn="auto" hangingPunct="1">
              <a:lnSpc>
                <a:spcPct val="120000"/>
              </a:lnSpc>
              <a:spcBef>
                <a:spcPts val="0"/>
              </a:spcBef>
              <a:spcAft>
                <a:spcPts val="0"/>
              </a:spcAft>
              <a:buNone/>
            </a:pPr>
            <a:r>
              <a:rPr lang="nl-NL" sz="2100">
                <a:solidFill>
                  <a:srgbClr val="0000FF"/>
                </a:solidFill>
                <a:latin typeface="Times New Roman" pitchFamily="18" charset="0"/>
                <a:cs typeface="Times New Roman" pitchFamily="18" charset="0"/>
              </a:rPr>
              <a:t>int</a:t>
            </a:r>
            <a:r>
              <a:rPr lang="nl-NL" sz="2100">
                <a:solidFill>
                  <a:srgbClr val="000000"/>
                </a:solidFill>
                <a:latin typeface="Times New Roman" pitchFamily="18" charset="0"/>
                <a:cs typeface="Times New Roman" pitchFamily="18" charset="0"/>
              </a:rPr>
              <a:t>[][] a=</a:t>
            </a:r>
            <a:r>
              <a:rPr lang="nl-NL" sz="2100">
                <a:solidFill>
                  <a:srgbClr val="0000FF"/>
                </a:solidFill>
                <a:latin typeface="Times New Roman" pitchFamily="18" charset="0"/>
                <a:cs typeface="Times New Roman" pitchFamily="18" charset="0"/>
              </a:rPr>
              <a:t>new int</a:t>
            </a:r>
            <a:r>
              <a:rPr lang="nl-NL" sz="2100">
                <a:solidFill>
                  <a:srgbClr val="000000"/>
                </a:solidFill>
                <a:latin typeface="Times New Roman" pitchFamily="18" charset="0"/>
                <a:cs typeface="Times New Roman" pitchFamily="18" charset="0"/>
              </a:rPr>
              <a:t>[m][n]; </a:t>
            </a:r>
            <a:endParaRPr lang="nl-NL" sz="2100">
              <a:solidFill>
                <a:srgbClr val="000000"/>
              </a:solidFill>
              <a:latin typeface="Times New Roman" pitchFamily="18" charset="0"/>
              <a:cs typeface="Times New Roman" pitchFamily="18" charset="0"/>
            </a:endParaRPr>
          </a:p>
          <a:p>
            <a:pPr marL="0" indent="0" algn="l" eaLnBrk="1" fontAlgn="auto" hangingPunct="1">
              <a:lnSpc>
                <a:spcPct val="120000"/>
              </a:lnSpc>
              <a:spcBef>
                <a:spcPts val="0"/>
              </a:spcBef>
              <a:spcAft>
                <a:spcPts val="0"/>
              </a:spcAft>
              <a:buNone/>
            </a:pPr>
            <a:r>
              <a:rPr lang="nl-NL" sz="2100">
                <a:solidFill>
                  <a:srgbClr val="0000FF"/>
                </a:solidFill>
                <a:latin typeface="Times New Roman" pitchFamily="18" charset="0"/>
                <a:cs typeface="Times New Roman" pitchFamily="18" charset="0"/>
              </a:rPr>
              <a:t>for </a:t>
            </a:r>
            <a:r>
              <a:rPr lang="nl-NL" sz="2100">
                <a:solidFill>
                  <a:srgbClr val="000000"/>
                </a:solidFill>
                <a:latin typeface="Times New Roman" pitchFamily="18" charset="0"/>
                <a:cs typeface="Times New Roman" pitchFamily="18" charset="0"/>
              </a:rPr>
              <a:t>(</a:t>
            </a:r>
            <a:r>
              <a:rPr lang="nl-NL" sz="2100">
                <a:solidFill>
                  <a:srgbClr val="0000FF"/>
                </a:solidFill>
                <a:latin typeface="Times New Roman" pitchFamily="18" charset="0"/>
                <a:cs typeface="Times New Roman" pitchFamily="18" charset="0"/>
              </a:rPr>
              <a:t>int </a:t>
            </a:r>
            <a:r>
              <a:rPr lang="nl-NL" sz="2100">
                <a:solidFill>
                  <a:srgbClr val="000000"/>
                </a:solidFill>
                <a:latin typeface="Times New Roman" pitchFamily="18" charset="0"/>
                <a:cs typeface="Times New Roman" pitchFamily="18" charset="0"/>
              </a:rPr>
              <a:t>i = 0; i &lt; a.length; i++){ </a:t>
            </a:r>
          </a:p>
          <a:p>
            <a:pPr marL="342900" lvl="1" indent="0" algn="l" eaLnBrk="1" fontAlgn="auto" hangingPunct="1">
              <a:lnSpc>
                <a:spcPct val="120000"/>
              </a:lnSpc>
              <a:spcBef>
                <a:spcPts val="0"/>
              </a:spcBef>
              <a:spcAft>
                <a:spcPts val="0"/>
              </a:spcAft>
              <a:buNone/>
            </a:pPr>
            <a:r>
              <a:rPr lang="nl-NL">
                <a:solidFill>
                  <a:srgbClr val="0000FF"/>
                </a:solidFill>
                <a:latin typeface="Times New Roman" pitchFamily="18" charset="0"/>
                <a:cs typeface="Times New Roman" pitchFamily="18" charset="0"/>
              </a:rPr>
              <a:t>for </a:t>
            </a:r>
            <a:r>
              <a:rPr lang="nl-NL">
                <a:solidFill>
                  <a:srgbClr val="000000"/>
                </a:solidFill>
                <a:latin typeface="Times New Roman" pitchFamily="18" charset="0"/>
                <a:cs typeface="Times New Roman" pitchFamily="18" charset="0"/>
              </a:rPr>
              <a:t>(</a:t>
            </a:r>
            <a:r>
              <a:rPr lang="nl-NL">
                <a:solidFill>
                  <a:srgbClr val="0000FF"/>
                </a:solidFill>
                <a:latin typeface="Times New Roman" pitchFamily="18" charset="0"/>
                <a:cs typeface="Times New Roman" pitchFamily="18" charset="0"/>
              </a:rPr>
              <a:t>int </a:t>
            </a:r>
            <a:r>
              <a:rPr lang="nl-NL">
                <a:solidFill>
                  <a:srgbClr val="000000"/>
                </a:solidFill>
                <a:latin typeface="Times New Roman" pitchFamily="18" charset="0"/>
                <a:cs typeface="Times New Roman" pitchFamily="18" charset="0"/>
              </a:rPr>
              <a:t>j = 0; j &lt; a[i].length; j++){ </a:t>
            </a:r>
          </a:p>
          <a:p>
            <a:pPr marL="685800" lvl="2" indent="0" eaLnBrk="1" fontAlgn="auto" hangingPunct="1">
              <a:lnSpc>
                <a:spcPct val="120000"/>
              </a:lnSpc>
              <a:spcBef>
                <a:spcPts val="0"/>
              </a:spcBef>
              <a:spcAft>
                <a:spcPts val="0"/>
              </a:spcAft>
              <a:buNone/>
            </a:pPr>
            <a:r>
              <a:rPr lang="nl-NL" kern="1200">
                <a:solidFill>
                  <a:srgbClr val="288EAD"/>
                </a:solidFill>
                <a:latin typeface="Times New Roman" pitchFamily="18" charset="0"/>
                <a:cs typeface="Times New Roman" pitchFamily="18" charset="0"/>
              </a:rPr>
              <a:t>System.out.print</a:t>
            </a:r>
            <a:r>
              <a:rPr lang="nl-NL" kern="1200">
                <a:solidFill>
                  <a:srgbClr val="000000"/>
                </a:solidFill>
                <a:latin typeface="Times New Roman" pitchFamily="18" charset="0"/>
                <a:cs typeface="Times New Roman" pitchFamily="18" charset="0"/>
              </a:rPr>
              <a:t>(</a:t>
            </a:r>
            <a:r>
              <a:rPr lang="en-US" kern="1200">
                <a:solidFill>
                  <a:srgbClr val="A01414"/>
                </a:solidFill>
                <a:latin typeface="Times New Roman" pitchFamily="18" charset="0"/>
                <a:cs typeface="Times New Roman" pitchFamily="18" charset="0"/>
              </a:rPr>
              <a:t>"</a:t>
            </a:r>
            <a:r>
              <a:rPr lang="nl-NL" kern="1200">
                <a:solidFill>
                  <a:srgbClr val="A01414"/>
                </a:solidFill>
                <a:latin typeface="Times New Roman" pitchFamily="18" charset="0"/>
                <a:cs typeface="Times New Roman" pitchFamily="18" charset="0"/>
              </a:rPr>
              <a:t>a[</a:t>
            </a:r>
            <a:r>
              <a:rPr lang="en-US" kern="1200">
                <a:solidFill>
                  <a:srgbClr val="A01414"/>
                </a:solidFill>
                <a:latin typeface="Times New Roman" pitchFamily="18" charset="0"/>
                <a:cs typeface="Times New Roman" pitchFamily="18" charset="0"/>
              </a:rPr>
              <a:t>"</a:t>
            </a:r>
            <a:r>
              <a:rPr lang="nl-NL" kern="1200">
                <a:solidFill>
                  <a:srgbClr val="A01414"/>
                </a:solidFill>
                <a:latin typeface="Times New Roman" pitchFamily="18" charset="0"/>
                <a:cs typeface="Times New Roman" pitchFamily="18" charset="0"/>
              </a:rPr>
              <a:t>+i+</a:t>
            </a:r>
            <a:r>
              <a:rPr lang="en-US" kern="1200">
                <a:solidFill>
                  <a:srgbClr val="A01414"/>
                </a:solidFill>
                <a:latin typeface="Times New Roman" pitchFamily="18" charset="0"/>
                <a:cs typeface="Times New Roman" pitchFamily="18" charset="0"/>
              </a:rPr>
              <a:t>"</a:t>
            </a:r>
            <a:r>
              <a:rPr lang="nl-NL" kern="1200">
                <a:solidFill>
                  <a:srgbClr val="A01414"/>
                </a:solidFill>
                <a:latin typeface="Times New Roman" pitchFamily="18" charset="0"/>
                <a:cs typeface="Times New Roman" pitchFamily="18" charset="0"/>
              </a:rPr>
              <a:t>][</a:t>
            </a:r>
            <a:r>
              <a:rPr lang="en-US" kern="1200">
                <a:solidFill>
                  <a:srgbClr val="A01414"/>
                </a:solidFill>
                <a:latin typeface="Times New Roman" pitchFamily="18" charset="0"/>
                <a:cs typeface="Times New Roman" pitchFamily="18" charset="0"/>
              </a:rPr>
              <a:t>"</a:t>
            </a:r>
            <a:r>
              <a:rPr lang="nl-NL" kern="1200">
                <a:solidFill>
                  <a:srgbClr val="A01414"/>
                </a:solidFill>
                <a:latin typeface="Times New Roman" pitchFamily="18" charset="0"/>
                <a:cs typeface="Times New Roman" pitchFamily="18" charset="0"/>
              </a:rPr>
              <a:t>+j+</a:t>
            </a:r>
            <a:r>
              <a:rPr lang="en-US" kern="1200">
                <a:solidFill>
                  <a:srgbClr val="A01414"/>
                </a:solidFill>
                <a:latin typeface="Times New Roman" pitchFamily="18" charset="0"/>
                <a:cs typeface="Times New Roman" pitchFamily="18" charset="0"/>
              </a:rPr>
              <a:t>"</a:t>
            </a:r>
            <a:r>
              <a:rPr lang="nl-NL" kern="1200">
                <a:solidFill>
                  <a:srgbClr val="A01414"/>
                </a:solidFill>
                <a:latin typeface="Times New Roman" pitchFamily="18" charset="0"/>
                <a:cs typeface="Times New Roman" pitchFamily="18" charset="0"/>
              </a:rPr>
              <a:t>]=</a:t>
            </a:r>
            <a:r>
              <a:rPr lang="en-US" kern="1200">
                <a:solidFill>
                  <a:srgbClr val="A01414"/>
                </a:solidFill>
                <a:latin typeface="Times New Roman" pitchFamily="18" charset="0"/>
                <a:cs typeface="Times New Roman" pitchFamily="18" charset="0"/>
              </a:rPr>
              <a:t>"</a:t>
            </a:r>
            <a:r>
              <a:rPr lang="nl-NL" kern="1200">
                <a:solidFill>
                  <a:srgbClr val="000000"/>
                </a:solidFill>
                <a:latin typeface="Times New Roman" pitchFamily="18" charset="0"/>
                <a:cs typeface="Times New Roman" pitchFamily="18" charset="0"/>
              </a:rPr>
              <a:t>); </a:t>
            </a:r>
          </a:p>
          <a:p>
            <a:pPr marL="685800" lvl="2" indent="0" eaLnBrk="1" fontAlgn="auto" hangingPunct="1">
              <a:lnSpc>
                <a:spcPct val="120000"/>
              </a:lnSpc>
              <a:spcBef>
                <a:spcPts val="0"/>
              </a:spcBef>
              <a:spcAft>
                <a:spcPts val="0"/>
              </a:spcAft>
              <a:buNone/>
            </a:pPr>
            <a:r>
              <a:rPr lang="nl-NL" kern="1200">
                <a:solidFill>
                  <a:srgbClr val="000000"/>
                </a:solidFill>
                <a:latin typeface="Times New Roman" pitchFamily="18" charset="0"/>
                <a:cs typeface="Times New Roman" pitchFamily="18" charset="0"/>
              </a:rPr>
              <a:t>a[i][j] = input.</a:t>
            </a:r>
            <a:r>
              <a:rPr lang="nl-NL" kern="1200" smtClean="0">
                <a:solidFill>
                  <a:srgbClr val="288EAD"/>
                </a:solidFill>
                <a:latin typeface="Times New Roman" pitchFamily="18" charset="0"/>
                <a:cs typeface="Times New Roman" pitchFamily="18" charset="0"/>
              </a:rPr>
              <a:t>nextInt</a:t>
            </a:r>
            <a:r>
              <a:rPr lang="nl-NL" kern="1200" smtClean="0">
                <a:solidFill>
                  <a:srgbClr val="000000"/>
                </a:solidFill>
                <a:latin typeface="Times New Roman" pitchFamily="18" charset="0"/>
                <a:cs typeface="Times New Roman" pitchFamily="18" charset="0"/>
              </a:rPr>
              <a:t>(); </a:t>
            </a:r>
            <a:endParaRPr lang="nl-NL" kern="1200">
              <a:solidFill>
                <a:srgbClr val="000000"/>
              </a:solidFill>
              <a:latin typeface="Times New Roman" pitchFamily="18" charset="0"/>
              <a:cs typeface="Times New Roman" pitchFamily="18" charset="0"/>
            </a:endParaRPr>
          </a:p>
          <a:p>
            <a:pPr marL="342900" lvl="1" indent="0" algn="l" eaLnBrk="1" fontAlgn="auto" hangingPunct="1">
              <a:lnSpc>
                <a:spcPct val="120000"/>
              </a:lnSpc>
              <a:spcBef>
                <a:spcPts val="0"/>
              </a:spcBef>
              <a:spcAft>
                <a:spcPts val="0"/>
              </a:spcAft>
              <a:buNone/>
            </a:pPr>
            <a:r>
              <a:rPr lang="nl-NL">
                <a:solidFill>
                  <a:srgbClr val="000000"/>
                </a:solidFill>
                <a:latin typeface="Times New Roman" pitchFamily="18" charset="0"/>
                <a:cs typeface="Times New Roman" pitchFamily="18" charset="0"/>
              </a:rPr>
              <a:t>} </a:t>
            </a:r>
          </a:p>
          <a:p>
            <a:pPr marL="0" indent="0" algn="l" eaLnBrk="1" fontAlgn="auto" hangingPunct="1">
              <a:lnSpc>
                <a:spcPct val="120000"/>
              </a:lnSpc>
              <a:spcBef>
                <a:spcPts val="0"/>
              </a:spcBef>
              <a:spcAft>
                <a:spcPts val="0"/>
              </a:spcAft>
              <a:buNone/>
            </a:pPr>
            <a:r>
              <a:rPr lang="nl-NL" sz="2100">
                <a:solidFill>
                  <a:srgbClr val="000000"/>
                </a:solidFill>
                <a:latin typeface="Times New Roman" pitchFamily="18" charset="0"/>
                <a:cs typeface="Times New Roman" pitchFamily="18" charset="0"/>
              </a:rPr>
              <a:t>} </a:t>
            </a:r>
          </a:p>
          <a:p>
            <a:pPr marL="0" indent="-42863" algn="l" eaLnBrk="1" hangingPunct="1">
              <a:lnSpc>
                <a:spcPct val="110000"/>
              </a:lnSpc>
              <a:spcBef>
                <a:spcPts val="375"/>
              </a:spcBef>
              <a:buNone/>
              <a:defRPr/>
            </a:pPr>
            <a:endParaRPr lang="en-US">
              <a:solidFill>
                <a:srgbClr val="00B05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92</a:t>
            </a:fld>
            <a:endParaRPr lang="en-US"/>
          </a:p>
        </p:txBody>
      </p:sp>
    </p:spTree>
    <p:extLst>
      <p:ext uri="{BB962C8B-B14F-4D97-AF65-F5344CB8AC3E}">
        <p14:creationId xmlns:p14="http://schemas.microsoft.com/office/powerpoint/2010/main" val="1904411527"/>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4.3. Mảng hai chiều</a:t>
            </a:r>
            <a:endParaRPr lang="en-US"/>
          </a:p>
        </p:txBody>
      </p:sp>
      <p:sp>
        <p:nvSpPr>
          <p:cNvPr id="3" name="Content Placeholder 2"/>
          <p:cNvSpPr>
            <a:spLocks noGrp="1"/>
          </p:cNvSpPr>
          <p:nvPr>
            <p:ph idx="1"/>
          </p:nvPr>
        </p:nvSpPr>
        <p:spPr/>
        <p:txBody>
          <a:bodyPr>
            <a:noAutofit/>
          </a:bodyPr>
          <a:lstStyle/>
          <a:p>
            <a:pPr latinLnBrk="0"/>
            <a:r>
              <a:rPr lang="en-US" sz="2400" b="1">
                <a:solidFill>
                  <a:srgbClr val="003366"/>
                </a:solidFill>
                <a:latin typeface="Times New Roman" pitchFamily="18" charset="0"/>
                <a:ea typeface="+mj-ea"/>
                <a:cs typeface="Times New Roman" pitchFamily="18" charset="0"/>
              </a:rPr>
              <a:t>Xuất mảng 2 chiều</a:t>
            </a:r>
          </a:p>
          <a:p>
            <a:pPr marL="472679" indent="0" algn="l" eaLnBrk="1" fontAlgn="auto" hangingPunct="1">
              <a:lnSpc>
                <a:spcPct val="120000"/>
              </a:lnSpc>
              <a:spcBef>
                <a:spcPts val="0"/>
              </a:spcBef>
              <a:spcAft>
                <a:spcPts val="0"/>
              </a:spcAft>
              <a:buNone/>
            </a:pPr>
            <a:r>
              <a:rPr lang="ro-RO" sz="2100">
                <a:solidFill>
                  <a:srgbClr val="288EAD"/>
                </a:solidFill>
                <a:latin typeface="Times New Roman" pitchFamily="18" charset="0"/>
                <a:cs typeface="Times New Roman" pitchFamily="18" charset="0"/>
              </a:rPr>
              <a:t>System.out.println</a:t>
            </a:r>
            <a:r>
              <a:rPr lang="ro-RO" sz="2100">
                <a:solidFill>
                  <a:srgbClr val="000000"/>
                </a:solidFill>
                <a:latin typeface="Times New Roman" pitchFamily="18" charset="0"/>
                <a:cs typeface="Times New Roman" pitchFamily="18" charset="0"/>
              </a:rPr>
              <a:t>(</a:t>
            </a:r>
            <a:r>
              <a:rPr lang="en-US" sz="2100">
                <a:solidFill>
                  <a:srgbClr val="A01414"/>
                </a:solidFill>
                <a:latin typeface="Times New Roman" pitchFamily="18" charset="0"/>
                <a:cs typeface="Times New Roman" pitchFamily="18" charset="0"/>
              </a:rPr>
              <a:t>"</a:t>
            </a:r>
            <a:r>
              <a:rPr lang="ro-RO" sz="2100">
                <a:solidFill>
                  <a:srgbClr val="A01414"/>
                </a:solidFill>
                <a:latin typeface="Times New Roman" pitchFamily="18" charset="0"/>
                <a:cs typeface="Times New Roman" pitchFamily="18" charset="0"/>
              </a:rPr>
              <a:t>Xuất mảng</a:t>
            </a:r>
            <a:r>
              <a:rPr lang="en-US" sz="2100">
                <a:solidFill>
                  <a:srgbClr val="A01414"/>
                </a:solidFill>
                <a:latin typeface="Times New Roman" pitchFamily="18" charset="0"/>
                <a:cs typeface="Times New Roman" pitchFamily="18" charset="0"/>
              </a:rPr>
              <a:t>"</a:t>
            </a:r>
            <a:r>
              <a:rPr lang="ro-RO" sz="2100">
                <a:solidFill>
                  <a:srgbClr val="000000"/>
                </a:solidFill>
                <a:latin typeface="Times New Roman" pitchFamily="18" charset="0"/>
                <a:cs typeface="Times New Roman" pitchFamily="18" charset="0"/>
              </a:rPr>
              <a:t>); </a:t>
            </a:r>
          </a:p>
          <a:p>
            <a:pPr marL="472679" indent="0" algn="l" eaLnBrk="1" fontAlgn="auto" hangingPunct="1">
              <a:lnSpc>
                <a:spcPct val="120000"/>
              </a:lnSpc>
              <a:spcBef>
                <a:spcPts val="0"/>
              </a:spcBef>
              <a:spcAft>
                <a:spcPts val="0"/>
              </a:spcAft>
              <a:buNone/>
            </a:pPr>
            <a:r>
              <a:rPr lang="ro-RO" sz="2100">
                <a:solidFill>
                  <a:srgbClr val="288EAD"/>
                </a:solidFill>
                <a:latin typeface="Times New Roman" pitchFamily="18" charset="0"/>
                <a:cs typeface="Times New Roman" pitchFamily="18" charset="0"/>
              </a:rPr>
              <a:t>System.out.println</a:t>
            </a:r>
            <a:r>
              <a:rPr lang="ro-RO" sz="2100">
                <a:solidFill>
                  <a:srgbClr val="000000"/>
                </a:solidFill>
                <a:latin typeface="Times New Roman" pitchFamily="18" charset="0"/>
                <a:cs typeface="Times New Roman" pitchFamily="18" charset="0"/>
              </a:rPr>
              <a:t>(</a:t>
            </a:r>
            <a:r>
              <a:rPr lang="en-US" sz="2100">
                <a:solidFill>
                  <a:srgbClr val="A01414"/>
                </a:solidFill>
                <a:latin typeface="Times New Roman" pitchFamily="18" charset="0"/>
                <a:cs typeface="Times New Roman" pitchFamily="18" charset="0"/>
              </a:rPr>
              <a:t>"</a:t>
            </a:r>
            <a:r>
              <a:rPr lang="ro-RO" sz="2100">
                <a:solidFill>
                  <a:srgbClr val="A01414"/>
                </a:solidFill>
                <a:latin typeface="Times New Roman" pitchFamily="18" charset="0"/>
                <a:cs typeface="Times New Roman" pitchFamily="18" charset="0"/>
              </a:rPr>
              <a:t>Số dòng :</a:t>
            </a:r>
            <a:r>
              <a:rPr lang="en-US" sz="2100">
                <a:solidFill>
                  <a:srgbClr val="A01414"/>
                </a:solidFill>
                <a:latin typeface="Times New Roman" pitchFamily="18" charset="0"/>
                <a:cs typeface="Times New Roman" pitchFamily="18" charset="0"/>
              </a:rPr>
              <a:t>"</a:t>
            </a:r>
            <a:r>
              <a:rPr lang="ro-RO" sz="2100">
                <a:solidFill>
                  <a:srgbClr val="A01414"/>
                </a:solidFill>
                <a:latin typeface="Times New Roman" pitchFamily="18" charset="0"/>
                <a:cs typeface="Times New Roman" pitchFamily="18" charset="0"/>
              </a:rPr>
              <a:t> </a:t>
            </a:r>
            <a:r>
              <a:rPr lang="ro-RO" sz="2100">
                <a:solidFill>
                  <a:srgbClr val="000000"/>
                </a:solidFill>
                <a:latin typeface="Times New Roman" pitchFamily="18" charset="0"/>
                <a:cs typeface="Times New Roman" pitchFamily="18" charset="0"/>
              </a:rPr>
              <a:t>+ a.length); </a:t>
            </a:r>
          </a:p>
          <a:p>
            <a:pPr marL="472679" indent="0" algn="l" eaLnBrk="1" fontAlgn="auto" hangingPunct="1">
              <a:lnSpc>
                <a:spcPct val="120000"/>
              </a:lnSpc>
              <a:spcBef>
                <a:spcPts val="0"/>
              </a:spcBef>
              <a:spcAft>
                <a:spcPts val="0"/>
              </a:spcAft>
              <a:buNone/>
            </a:pPr>
            <a:r>
              <a:rPr lang="ro-RO" sz="2100">
                <a:solidFill>
                  <a:srgbClr val="288EAD"/>
                </a:solidFill>
                <a:latin typeface="Times New Roman" pitchFamily="18" charset="0"/>
                <a:cs typeface="Times New Roman" pitchFamily="18" charset="0"/>
              </a:rPr>
              <a:t>System.out.println</a:t>
            </a:r>
            <a:r>
              <a:rPr lang="ro-RO" sz="2100">
                <a:solidFill>
                  <a:srgbClr val="000000"/>
                </a:solidFill>
                <a:latin typeface="Times New Roman" pitchFamily="18" charset="0"/>
                <a:cs typeface="Times New Roman" pitchFamily="18" charset="0"/>
              </a:rPr>
              <a:t>(</a:t>
            </a:r>
            <a:r>
              <a:rPr lang="en-US" sz="2100">
                <a:solidFill>
                  <a:srgbClr val="A01414"/>
                </a:solidFill>
                <a:latin typeface="Times New Roman" pitchFamily="18" charset="0"/>
                <a:cs typeface="Times New Roman" pitchFamily="18" charset="0"/>
              </a:rPr>
              <a:t>"</a:t>
            </a:r>
            <a:r>
              <a:rPr lang="ro-RO" sz="2100">
                <a:solidFill>
                  <a:srgbClr val="A01414"/>
                </a:solidFill>
                <a:latin typeface="Times New Roman" pitchFamily="18" charset="0"/>
                <a:cs typeface="Times New Roman" pitchFamily="18" charset="0"/>
              </a:rPr>
              <a:t>Số cột </a:t>
            </a:r>
            <a:r>
              <a:rPr lang="ro-RO" sz="2100">
                <a:solidFill>
                  <a:srgbClr val="A01414"/>
                </a:solidFill>
                <a:latin typeface="Times New Roman" pitchFamily="18" charset="0"/>
                <a:cs typeface="Times New Roman" pitchFamily="18" charset="0"/>
              </a:rPr>
              <a:t>:</a:t>
            </a:r>
            <a:r>
              <a:rPr lang="en-US" sz="2100">
                <a:solidFill>
                  <a:srgbClr val="A01414"/>
                </a:solidFill>
                <a:latin typeface="Times New Roman" pitchFamily="18" charset="0"/>
                <a:cs typeface="Times New Roman" pitchFamily="18" charset="0"/>
              </a:rPr>
              <a:t> "</a:t>
            </a:r>
            <a:r>
              <a:rPr lang="en-US" sz="2100">
                <a:solidFill>
                  <a:srgbClr val="A01414"/>
                </a:solidFill>
                <a:latin typeface="Times New Roman" pitchFamily="18" charset="0"/>
                <a:cs typeface="Times New Roman" pitchFamily="18" charset="0"/>
              </a:rPr>
              <a:t> +</a:t>
            </a:r>
            <a:r>
              <a:rPr lang="ro-RO" sz="2100">
                <a:solidFill>
                  <a:srgbClr val="000000"/>
                </a:solidFill>
                <a:latin typeface="Times New Roman" pitchFamily="18" charset="0"/>
                <a:cs typeface="Times New Roman" pitchFamily="18" charset="0"/>
              </a:rPr>
              <a:t> </a:t>
            </a:r>
            <a:r>
              <a:rPr lang="en-US" sz="2100">
                <a:solidFill>
                  <a:srgbClr val="000000"/>
                </a:solidFill>
                <a:latin typeface="Times New Roman" pitchFamily="18" charset="0"/>
                <a:cs typeface="Times New Roman" pitchFamily="18" charset="0"/>
              </a:rPr>
              <a:t> </a:t>
            </a:r>
            <a:r>
              <a:rPr lang="ro-RO" sz="2100">
                <a:solidFill>
                  <a:srgbClr val="000000"/>
                </a:solidFill>
                <a:latin typeface="Times New Roman" pitchFamily="18" charset="0"/>
                <a:cs typeface="Times New Roman" pitchFamily="18" charset="0"/>
              </a:rPr>
              <a:t>a[0].length); </a:t>
            </a:r>
          </a:p>
          <a:p>
            <a:pPr marL="472679" indent="0" algn="l" eaLnBrk="1" fontAlgn="auto" hangingPunct="1">
              <a:lnSpc>
                <a:spcPct val="120000"/>
              </a:lnSpc>
              <a:spcBef>
                <a:spcPts val="0"/>
              </a:spcBef>
              <a:spcAft>
                <a:spcPts val="0"/>
              </a:spcAft>
              <a:buNone/>
            </a:pPr>
            <a:r>
              <a:rPr lang="ro-RO" sz="2100">
                <a:solidFill>
                  <a:srgbClr val="0000FF"/>
                </a:solidFill>
                <a:latin typeface="Times New Roman" pitchFamily="18" charset="0"/>
                <a:cs typeface="Times New Roman" pitchFamily="18" charset="0"/>
              </a:rPr>
              <a:t>for </a:t>
            </a:r>
            <a:r>
              <a:rPr lang="ro-RO" sz="2100">
                <a:solidFill>
                  <a:srgbClr val="000000"/>
                </a:solidFill>
                <a:latin typeface="Times New Roman" pitchFamily="18" charset="0"/>
                <a:cs typeface="Times New Roman" pitchFamily="18" charset="0"/>
              </a:rPr>
              <a:t>(</a:t>
            </a:r>
            <a:r>
              <a:rPr lang="ro-RO" sz="2100">
                <a:solidFill>
                  <a:srgbClr val="0000FF"/>
                </a:solidFill>
                <a:latin typeface="Times New Roman" pitchFamily="18" charset="0"/>
                <a:cs typeface="Times New Roman" pitchFamily="18" charset="0"/>
              </a:rPr>
              <a:t>int </a:t>
            </a:r>
            <a:r>
              <a:rPr lang="ro-RO" sz="2100">
                <a:solidFill>
                  <a:srgbClr val="000000"/>
                </a:solidFill>
                <a:latin typeface="Times New Roman" pitchFamily="18" charset="0"/>
                <a:cs typeface="Times New Roman" pitchFamily="18" charset="0"/>
              </a:rPr>
              <a:t>i = 0; i &lt; a.length; i++){ </a:t>
            </a:r>
          </a:p>
          <a:p>
            <a:pPr marL="472679" lvl="1" indent="0" algn="l" eaLnBrk="1" fontAlgn="auto" hangingPunct="1">
              <a:lnSpc>
                <a:spcPct val="120000"/>
              </a:lnSpc>
              <a:spcBef>
                <a:spcPts val="0"/>
              </a:spcBef>
              <a:spcAft>
                <a:spcPts val="0"/>
              </a:spcAft>
              <a:buNone/>
            </a:pPr>
            <a:r>
              <a:rPr lang="en-US">
                <a:solidFill>
                  <a:srgbClr val="0000FF"/>
                </a:solidFill>
                <a:latin typeface="Times New Roman" pitchFamily="18" charset="0"/>
                <a:cs typeface="Times New Roman" pitchFamily="18" charset="0"/>
              </a:rPr>
              <a:t>	</a:t>
            </a:r>
            <a:r>
              <a:rPr lang="ro-RO">
                <a:solidFill>
                  <a:srgbClr val="0000FF"/>
                </a:solidFill>
                <a:latin typeface="Times New Roman" pitchFamily="18" charset="0"/>
                <a:cs typeface="Times New Roman" pitchFamily="18" charset="0"/>
              </a:rPr>
              <a:t>for </a:t>
            </a:r>
            <a:r>
              <a:rPr lang="ro-RO">
                <a:solidFill>
                  <a:srgbClr val="000000"/>
                </a:solidFill>
                <a:latin typeface="Times New Roman" pitchFamily="18" charset="0"/>
                <a:cs typeface="Times New Roman" pitchFamily="18" charset="0"/>
              </a:rPr>
              <a:t>(</a:t>
            </a:r>
            <a:r>
              <a:rPr lang="ro-RO">
                <a:solidFill>
                  <a:srgbClr val="0000FF"/>
                </a:solidFill>
                <a:latin typeface="Times New Roman" pitchFamily="18" charset="0"/>
                <a:cs typeface="Times New Roman" pitchFamily="18" charset="0"/>
              </a:rPr>
              <a:t>int </a:t>
            </a:r>
            <a:r>
              <a:rPr lang="ro-RO">
                <a:solidFill>
                  <a:srgbClr val="000000"/>
                </a:solidFill>
                <a:latin typeface="Times New Roman" pitchFamily="18" charset="0"/>
                <a:cs typeface="Times New Roman" pitchFamily="18" charset="0"/>
              </a:rPr>
              <a:t>j = 0; j &lt; a[i].length; j++) { </a:t>
            </a:r>
          </a:p>
          <a:p>
            <a:pPr marL="472679" lvl="2" indent="0" eaLnBrk="1" fontAlgn="auto" hangingPunct="1">
              <a:spcBef>
                <a:spcPts val="0"/>
              </a:spcBef>
              <a:spcAft>
                <a:spcPts val="0"/>
              </a:spcAft>
              <a:buNone/>
            </a:pPr>
            <a:r>
              <a:rPr lang="en-US" kern="1200" smtClean="0">
                <a:solidFill>
                  <a:srgbClr val="288EAD"/>
                </a:solidFill>
                <a:latin typeface="Times New Roman" pitchFamily="18" charset="0"/>
                <a:cs typeface="Times New Roman" pitchFamily="18" charset="0"/>
              </a:rPr>
              <a:t>		</a:t>
            </a:r>
            <a:r>
              <a:rPr lang="ro-RO" kern="1200" smtClean="0">
                <a:solidFill>
                  <a:srgbClr val="288EAD"/>
                </a:solidFill>
                <a:latin typeface="Times New Roman" pitchFamily="18" charset="0"/>
                <a:cs typeface="Times New Roman" pitchFamily="18" charset="0"/>
              </a:rPr>
              <a:t>System.out.print</a:t>
            </a:r>
            <a:r>
              <a:rPr lang="ro-RO" kern="1200" smtClean="0">
                <a:solidFill>
                  <a:srgbClr val="000000"/>
                </a:solidFill>
                <a:latin typeface="Times New Roman" pitchFamily="18" charset="0"/>
                <a:cs typeface="Times New Roman" pitchFamily="18" charset="0"/>
              </a:rPr>
              <a:t>(a[i</a:t>
            </a:r>
            <a:r>
              <a:rPr lang="ro-RO" kern="1200">
                <a:solidFill>
                  <a:srgbClr val="000000"/>
                </a:solidFill>
                <a:latin typeface="Times New Roman" pitchFamily="18" charset="0"/>
                <a:cs typeface="Times New Roman" pitchFamily="18" charset="0"/>
              </a:rPr>
              <a:t>][j]+</a:t>
            </a:r>
            <a:r>
              <a:rPr lang="en-US" kern="1200">
                <a:solidFill>
                  <a:srgbClr val="000000"/>
                </a:solidFill>
                <a:latin typeface="Times New Roman" pitchFamily="18" charset="0"/>
                <a:cs typeface="Times New Roman" pitchFamily="18" charset="0"/>
              </a:rPr>
              <a:t>"</a:t>
            </a:r>
            <a:r>
              <a:rPr lang="ro-RO" kern="1200">
                <a:solidFill>
                  <a:srgbClr val="000000"/>
                </a:solidFill>
                <a:latin typeface="Times New Roman" pitchFamily="18" charset="0"/>
                <a:cs typeface="Times New Roman" pitchFamily="18" charset="0"/>
              </a:rPr>
              <a:t>\t</a:t>
            </a:r>
            <a:r>
              <a:rPr lang="en-US" kern="1200">
                <a:solidFill>
                  <a:srgbClr val="000000"/>
                </a:solidFill>
                <a:latin typeface="Times New Roman" pitchFamily="18" charset="0"/>
                <a:cs typeface="Times New Roman" pitchFamily="18" charset="0"/>
              </a:rPr>
              <a:t>"</a:t>
            </a:r>
            <a:r>
              <a:rPr lang="ro-RO" kern="1200">
                <a:solidFill>
                  <a:srgbClr val="000000"/>
                </a:solidFill>
                <a:latin typeface="Times New Roman" pitchFamily="18" charset="0"/>
                <a:cs typeface="Times New Roman" pitchFamily="18" charset="0"/>
              </a:rPr>
              <a:t>); </a:t>
            </a:r>
          </a:p>
          <a:p>
            <a:pPr marL="472679" lvl="1" indent="0" algn="l" eaLnBrk="1" fontAlgn="auto" hangingPunct="1">
              <a:spcBef>
                <a:spcPts val="0"/>
              </a:spcBef>
              <a:spcAft>
                <a:spcPts val="0"/>
              </a:spcAft>
              <a:buNone/>
            </a:pPr>
            <a:r>
              <a:rPr lang="en-US">
                <a:solidFill>
                  <a:srgbClr val="000000"/>
                </a:solidFill>
                <a:latin typeface="Times New Roman" pitchFamily="18" charset="0"/>
                <a:cs typeface="Times New Roman" pitchFamily="18" charset="0"/>
              </a:rPr>
              <a:t>	</a:t>
            </a:r>
            <a:r>
              <a:rPr lang="ro-RO">
                <a:solidFill>
                  <a:srgbClr val="000000"/>
                </a:solidFill>
                <a:latin typeface="Times New Roman" pitchFamily="18" charset="0"/>
                <a:cs typeface="Times New Roman" pitchFamily="18" charset="0"/>
              </a:rPr>
              <a:t>} </a:t>
            </a:r>
            <a:endParaRPr lang="ro-RO">
              <a:solidFill>
                <a:srgbClr val="000000"/>
              </a:solidFill>
              <a:latin typeface="Times New Roman" pitchFamily="18" charset="0"/>
              <a:cs typeface="Times New Roman" pitchFamily="18" charset="0"/>
            </a:endParaRPr>
          </a:p>
          <a:p>
            <a:pPr marL="472679" lvl="1" indent="0" algn="l" eaLnBrk="1" fontAlgn="auto" hangingPunct="1">
              <a:spcBef>
                <a:spcPts val="0"/>
              </a:spcBef>
              <a:spcAft>
                <a:spcPts val="0"/>
              </a:spcAft>
              <a:buNone/>
            </a:pPr>
            <a:r>
              <a:rPr lang="en-US">
                <a:solidFill>
                  <a:srgbClr val="288EAD"/>
                </a:solidFill>
                <a:latin typeface="Times New Roman" pitchFamily="18" charset="0"/>
                <a:cs typeface="Times New Roman" pitchFamily="18" charset="0"/>
              </a:rPr>
              <a:t>	</a:t>
            </a:r>
            <a:r>
              <a:rPr lang="ro-RO">
                <a:solidFill>
                  <a:srgbClr val="288EAD"/>
                </a:solidFill>
                <a:latin typeface="Times New Roman" pitchFamily="18" charset="0"/>
                <a:cs typeface="Times New Roman" pitchFamily="18" charset="0"/>
              </a:rPr>
              <a:t>System.out.println</a:t>
            </a:r>
            <a:r>
              <a:rPr lang="ro-RO">
                <a:solidFill>
                  <a:srgbClr val="000000"/>
                </a:solidFill>
                <a:latin typeface="Times New Roman" pitchFamily="18" charset="0"/>
                <a:cs typeface="Times New Roman" pitchFamily="18" charset="0"/>
              </a:rPr>
              <a:t>(); </a:t>
            </a:r>
          </a:p>
          <a:p>
            <a:pPr marL="472679" indent="0" algn="l" eaLnBrk="1" fontAlgn="auto" hangingPunct="1">
              <a:spcBef>
                <a:spcPts val="0"/>
              </a:spcBef>
              <a:spcAft>
                <a:spcPts val="0"/>
              </a:spcAft>
              <a:buNone/>
            </a:pPr>
            <a:r>
              <a:rPr lang="ro-RO" sz="2100">
                <a:solidFill>
                  <a:srgbClr val="000000"/>
                </a:solidFill>
                <a:latin typeface="Times New Roman" pitchFamily="18" charset="0"/>
                <a:cs typeface="Times New Roman" pitchFamily="18" charset="0"/>
              </a:rPr>
              <a:t>} </a:t>
            </a:r>
          </a:p>
          <a:p>
            <a:pPr marL="0" indent="-42863" algn="l" eaLnBrk="1" hangingPunct="1">
              <a:lnSpc>
                <a:spcPct val="110000"/>
              </a:lnSpc>
              <a:spcBef>
                <a:spcPts val="375"/>
              </a:spcBef>
              <a:buNone/>
              <a:defRPr/>
            </a:pPr>
            <a:endParaRPr lang="en-US">
              <a:solidFill>
                <a:srgbClr val="00B05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93</a:t>
            </a:fld>
            <a:endParaRPr lang="en-US"/>
          </a:p>
        </p:txBody>
      </p:sp>
    </p:spTree>
    <p:extLst>
      <p:ext uri="{BB962C8B-B14F-4D97-AF65-F5344CB8AC3E}">
        <p14:creationId xmlns:p14="http://schemas.microsoft.com/office/powerpoint/2010/main" val="2435095545"/>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5. Nhập xuất dữ liệu đơn giản</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marL="0" indent="0">
              <a:spcAft>
                <a:spcPts val="450"/>
              </a:spcAft>
              <a:buNone/>
            </a:pPr>
            <a:r>
              <a:rPr lang="en-US" smtClean="0"/>
              <a:t>5.1. Nhập dữ liệu từ bàn phím</a:t>
            </a:r>
          </a:p>
          <a:p>
            <a:pPr marL="0" indent="0">
              <a:spcAft>
                <a:spcPts val="450"/>
              </a:spcAft>
              <a:buNone/>
            </a:pPr>
            <a:r>
              <a:rPr lang="en-US" smtClean="0"/>
              <a:t>5.2 Xuất dữ liệu ra màn hình</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94</a:t>
            </a:fld>
            <a:endParaRPr lang="en-US"/>
          </a:p>
        </p:txBody>
      </p:sp>
    </p:spTree>
    <p:extLst>
      <p:ext uri="{BB962C8B-B14F-4D97-AF65-F5344CB8AC3E}">
        <p14:creationId xmlns:p14="http://schemas.microsoft.com/office/powerpoint/2010/main" val="357623056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5.1. Nhập dữ liệu từ bàn phím</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lvl="0" latinLnBrk="0"/>
            <a:r>
              <a:rPr lang="en-US">
                <a:effectLst>
                  <a:glow>
                    <a:srgbClr val="000000"/>
                  </a:glow>
                  <a:outerShdw sx="0" sy="0">
                    <a:srgbClr val="000000"/>
                  </a:outerShdw>
                  <a:reflection stA="0" endPos="0" fadeDir="0" sx="0" sy="0"/>
                </a:effectLst>
              </a:rPr>
              <a:t>Import gói java.util.Scanner vào đầu chương trình</a:t>
            </a:r>
          </a:p>
          <a:p>
            <a:pPr marL="0" indent="0" algn="ctr">
              <a:buNone/>
            </a:pPr>
            <a:r>
              <a:rPr lang="en-US" sz="2100">
                <a:latin typeface="Courier New" pitchFamily="49" charset="0"/>
                <a:cs typeface="Courier New" pitchFamily="49" charset="0"/>
              </a:rPr>
              <a:t>import java.util.Scanner;</a:t>
            </a:r>
          </a:p>
          <a:p>
            <a:pPr lvl="0" latinLnBrk="0"/>
            <a:r>
              <a:rPr lang="en-US">
                <a:effectLst>
                  <a:glow>
                    <a:srgbClr val="000000"/>
                  </a:glow>
                  <a:outerShdw sx="0" sy="0">
                    <a:srgbClr val="000000"/>
                  </a:outerShdw>
                  <a:reflection stA="0" endPos="0" fadeDir="0" sx="0" sy="0"/>
                </a:effectLst>
              </a:rPr>
              <a:t>Tạo đối tượng thuộc lớp Scanner</a:t>
            </a:r>
          </a:p>
          <a:p>
            <a:pPr marL="0" indent="0" algn="ctr">
              <a:buNone/>
            </a:pPr>
            <a:r>
              <a:rPr lang="en-US" sz="2100">
                <a:latin typeface="Courier New" pitchFamily="49" charset="0"/>
                <a:cs typeface="Courier New" pitchFamily="49" charset="0"/>
              </a:rPr>
              <a:t>Scanner input = new Scanner(System.in);</a:t>
            </a:r>
          </a:p>
          <a:p>
            <a:pPr lvl="0" latinLnBrk="0"/>
            <a:r>
              <a:rPr lang="en-US">
                <a:effectLst>
                  <a:glow>
                    <a:srgbClr val="000000"/>
                  </a:glow>
                  <a:outerShdw sx="0" sy="0">
                    <a:srgbClr val="000000"/>
                  </a:outerShdw>
                  <a:reflection stA="0" endPos="0" fadeDir="0" sx="0" sy="0"/>
                </a:effectLst>
              </a:rPr>
              <a:t>Sử dụng đối tượng scanner gọi phương thức đọc dữ liệu phù hợp với yêu cầu.</a:t>
            </a:r>
          </a:p>
          <a:p>
            <a:pPr lvl="1" latinLnBrk="0"/>
            <a:r>
              <a:rPr lang="en-US"/>
              <a:t>Ví dụ: Đọc dòng văn bản </a:t>
            </a:r>
            <a:endParaRPr lang="en-US" smtClean="0"/>
          </a:p>
          <a:p>
            <a:pPr marL="342900" lvl="1" indent="0" algn="ctr">
              <a:buNone/>
            </a:pPr>
            <a:r>
              <a:rPr lang="en-US">
                <a:latin typeface="Courier New" pitchFamily="49" charset="0"/>
                <a:cs typeface="Courier New" pitchFamily="49" charset="0"/>
              </a:rPr>
              <a:t>String str = input.nextLine();</a:t>
            </a:r>
          </a:p>
          <a:p>
            <a:pPr marL="342900" lvl="1" indent="0">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95</a:t>
            </a:fld>
            <a:endParaRPr lang="en-US"/>
          </a:p>
        </p:txBody>
      </p:sp>
    </p:spTree>
    <p:extLst>
      <p:ext uri="{BB962C8B-B14F-4D97-AF65-F5344CB8AC3E}">
        <p14:creationId xmlns:p14="http://schemas.microsoft.com/office/powerpoint/2010/main" val="397717838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5.1. Nhập dữ liệu từ bàn phím</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a:lnSpc>
                <a:spcPct val="150000"/>
              </a:lnSpc>
              <a:spcAft>
                <a:spcPts val="450"/>
              </a:spcAft>
            </a:pPr>
            <a:r>
              <a:rPr lang="en-US"/>
              <a:t>Tương tự, để đọc các giá trị số nguyên, số thực có thể dùng:</a:t>
            </a:r>
          </a:p>
          <a:p>
            <a:pPr marL="0" indent="0" algn="ctr">
              <a:lnSpc>
                <a:spcPct val="150000"/>
              </a:lnSpc>
              <a:spcAft>
                <a:spcPts val="450"/>
              </a:spcAft>
              <a:buNone/>
            </a:pPr>
            <a:r>
              <a:rPr lang="en-US">
                <a:latin typeface="Courier New" pitchFamily="49" charset="0"/>
                <a:cs typeface="Courier New" pitchFamily="49" charset="0"/>
              </a:rPr>
              <a:t>int n = input.nextInt();</a:t>
            </a:r>
          </a:p>
          <a:p>
            <a:pPr marL="0" indent="0" algn="ctr">
              <a:lnSpc>
                <a:spcPct val="150000"/>
              </a:lnSpc>
              <a:spcAft>
                <a:spcPts val="450"/>
              </a:spcAft>
              <a:buNone/>
            </a:pPr>
            <a:r>
              <a:rPr lang="en-US">
                <a:latin typeface="Courier New" pitchFamily="49" charset="0"/>
                <a:cs typeface="Courier New" pitchFamily="49" charset="0"/>
              </a:rPr>
              <a:t>float f = input.nextFloat();</a:t>
            </a:r>
          </a:p>
        </p:txBody>
      </p:sp>
      <p:sp>
        <p:nvSpPr>
          <p:cNvPr id="4" name="Slide Number Placeholder 3"/>
          <p:cNvSpPr>
            <a:spLocks noGrp="1"/>
          </p:cNvSpPr>
          <p:nvPr>
            <p:ph type="sldNum" sz="quarter" idx="12"/>
          </p:nvPr>
        </p:nvSpPr>
        <p:spPr/>
        <p:txBody>
          <a:bodyPr/>
          <a:lstStyle/>
          <a:p>
            <a:fld id="{E3E8E051-591C-4566-9813-B4BB16D377BD}" type="slidenum">
              <a:rPr lang="en-US" smtClean="0"/>
              <a:pPr/>
              <a:t>96</a:t>
            </a:fld>
            <a:endParaRPr lang="en-US"/>
          </a:p>
        </p:txBody>
      </p:sp>
    </p:spTree>
    <p:extLst>
      <p:ext uri="{BB962C8B-B14F-4D97-AF65-F5344CB8AC3E}">
        <p14:creationId xmlns:p14="http://schemas.microsoft.com/office/powerpoint/2010/main" val="2473149092"/>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5.2. Xuất dữ liệu ra màn hình</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a:lnSpc>
                <a:spcPct val="150000"/>
              </a:lnSpc>
            </a:pPr>
            <a:r>
              <a:rPr lang="en-US"/>
              <a:t>Sử dụng System.out.print(“”); hoặc System.out.println(“”);</a:t>
            </a:r>
          </a:p>
          <a:p>
            <a:pPr>
              <a:lnSpc>
                <a:spcPct val="150000"/>
              </a:lnSpc>
            </a:pPr>
            <a:r>
              <a:rPr lang="en-US"/>
              <a:t>Ví dụ:</a:t>
            </a:r>
          </a:p>
          <a:p>
            <a:pPr lvl="1" algn="l">
              <a:lnSpc>
                <a:spcPct val="150000"/>
              </a:lnSpc>
            </a:pPr>
            <a:r>
              <a:rPr lang="en-US">
                <a:latin typeface="Courier New" pitchFamily="49" charset="0"/>
                <a:cs typeface="Courier New" pitchFamily="49" charset="0"/>
              </a:rPr>
              <a:t>System.out.print(“Hello World”);</a:t>
            </a:r>
          </a:p>
          <a:p>
            <a:pPr lvl="1" algn="l">
              <a:lnSpc>
                <a:spcPct val="150000"/>
              </a:lnSpc>
            </a:pPr>
            <a:r>
              <a:rPr lang="en-US">
                <a:latin typeface="Courier New" pitchFamily="49" charset="0"/>
                <a:cs typeface="Courier New" pitchFamily="49" charset="0"/>
              </a:rPr>
              <a:t>String s = “Hello World”;</a:t>
            </a:r>
          </a:p>
          <a:p>
            <a:pPr lvl="1" algn="l">
              <a:lnSpc>
                <a:spcPct val="150000"/>
              </a:lnSpc>
            </a:pPr>
            <a:r>
              <a:rPr lang="en-US">
                <a:latin typeface="Courier New" pitchFamily="49" charset="0"/>
                <a:cs typeface="Courier New" pitchFamily="49" charset="0"/>
              </a:rPr>
              <a:t>System.out.println(s);</a:t>
            </a:r>
          </a:p>
        </p:txBody>
      </p:sp>
      <p:sp>
        <p:nvSpPr>
          <p:cNvPr id="4" name="Slide Number Placeholder 3"/>
          <p:cNvSpPr>
            <a:spLocks noGrp="1"/>
          </p:cNvSpPr>
          <p:nvPr>
            <p:ph type="sldNum" sz="quarter" idx="12"/>
          </p:nvPr>
        </p:nvSpPr>
        <p:spPr/>
        <p:txBody>
          <a:bodyPr/>
          <a:lstStyle/>
          <a:p>
            <a:fld id="{E3E8E051-591C-4566-9813-B4BB16D377BD}" type="slidenum">
              <a:rPr lang="en-US" smtClean="0"/>
              <a:pPr/>
              <a:t>97</a:t>
            </a:fld>
            <a:endParaRPr lang="en-US"/>
          </a:p>
        </p:txBody>
      </p:sp>
    </p:spTree>
    <p:extLst>
      <p:ext uri="{BB962C8B-B14F-4D97-AF65-F5344CB8AC3E}">
        <p14:creationId xmlns:p14="http://schemas.microsoft.com/office/powerpoint/2010/main" val="740690185"/>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6. Lập trình hướng đối tượng trong Java</a:t>
            </a:r>
            <a:endParaRPr lang="en-US" sz="2400"/>
          </a:p>
        </p:txBody>
      </p:sp>
      <p:sp>
        <p:nvSpPr>
          <p:cNvPr id="3" name="Content Placeholder 2"/>
          <p:cNvSpPr>
            <a:spLocks noGrp="1"/>
          </p:cNvSpPr>
          <p:nvPr>
            <p:ph idx="1"/>
          </p:nvPr>
        </p:nvSpPr>
        <p:spPr>
          <a:xfrm>
            <a:off x="1385646" y="1808820"/>
            <a:ext cx="6372708" cy="1677330"/>
          </a:xfrm>
        </p:spPr>
        <p:txBody>
          <a:bodyPr wrap="square">
            <a:noAutofit/>
          </a:bodyPr>
          <a:lstStyle/>
          <a:p>
            <a:pPr marL="0" indent="0">
              <a:spcBef>
                <a:spcPts val="0"/>
              </a:spcBef>
              <a:spcAft>
                <a:spcPts val="0"/>
              </a:spcAft>
              <a:buNone/>
            </a:pPr>
            <a:r>
              <a:rPr lang="en-US" sz="1800"/>
              <a:t>Object-oriented programming is a </a:t>
            </a:r>
            <a:r>
              <a:rPr lang="en-US" sz="1800" b="1"/>
              <a:t>method</a:t>
            </a:r>
            <a:r>
              <a:rPr lang="en-US" sz="1800"/>
              <a:t> of implememtation in which programs are organized as </a:t>
            </a:r>
            <a:r>
              <a:rPr lang="en-US" sz="1800" b="1"/>
              <a:t>cooperative collections of objects</a:t>
            </a:r>
            <a:r>
              <a:rPr lang="en-US" sz="1800"/>
              <a:t>, each of which represents an </a:t>
            </a:r>
            <a:r>
              <a:rPr lang="en-US" sz="1800" b="1"/>
              <a:t>instance of some class</a:t>
            </a:r>
            <a:r>
              <a:rPr lang="en-US" sz="1800"/>
              <a:t>, and whose classes are all members of a hierarchy of classes united via inheritance relationships.</a:t>
            </a:r>
          </a:p>
          <a:p>
            <a:pPr marL="0" indent="0" algn="r">
              <a:spcBef>
                <a:spcPts val="0"/>
              </a:spcBef>
              <a:spcAft>
                <a:spcPts val="0"/>
              </a:spcAft>
              <a:buNone/>
            </a:pPr>
            <a:r>
              <a:rPr lang="en-US" sz="1800"/>
              <a:t>(</a:t>
            </a:r>
            <a:r>
              <a:rPr lang="en-US" sz="1800" i="1"/>
              <a:t>Grady Booch et al</a:t>
            </a:r>
            <a:r>
              <a:rPr lang="en-US" sz="1800"/>
              <a:t>)</a:t>
            </a:r>
            <a:endParaRPr lang="vi-VN" sz="1800"/>
          </a:p>
        </p:txBody>
      </p:sp>
      <p:sp>
        <p:nvSpPr>
          <p:cNvPr id="4" name="Slide Number Placeholder 3"/>
          <p:cNvSpPr>
            <a:spLocks noGrp="1"/>
          </p:cNvSpPr>
          <p:nvPr>
            <p:ph type="sldNum" sz="quarter" idx="12"/>
          </p:nvPr>
        </p:nvSpPr>
        <p:spPr/>
        <p:txBody>
          <a:bodyPr/>
          <a:lstStyle/>
          <a:p>
            <a:fld id="{E3E8E051-591C-4566-9813-B4BB16D377BD}" type="slidenum">
              <a:rPr lang="en-US" smtClean="0"/>
              <a:pPr/>
              <a:t>98</a:t>
            </a:fld>
            <a:endParaRPr lang="en-US"/>
          </a:p>
        </p:txBody>
      </p:sp>
      <p:sp>
        <p:nvSpPr>
          <p:cNvPr id="6" name="object 6"/>
          <p:cNvSpPr/>
          <p:nvPr/>
        </p:nvSpPr>
        <p:spPr>
          <a:xfrm>
            <a:off x="2457450" y="3577495"/>
            <a:ext cx="3086100" cy="2053256"/>
          </a:xfrm>
          <a:prstGeom prst="rect">
            <a:avLst/>
          </a:prstGeom>
          <a:blipFill>
            <a:blip r:embed="rId3" cstate="print"/>
            <a:stretch>
              <a:fillRect/>
            </a:stretch>
          </a:blipFill>
        </p:spPr>
        <p:txBody>
          <a:bodyPr wrap="square" lIns="0" tIns="0" rIns="0" bIns="0" rtlCol="0">
            <a:noAutofit/>
          </a:bodyPr>
          <a:lstStyle/>
          <a:p>
            <a:endParaRPr/>
          </a:p>
        </p:txBody>
      </p:sp>
    </p:spTree>
    <p:extLst>
      <p:ext uri="{BB962C8B-B14F-4D97-AF65-F5344CB8AC3E}">
        <p14:creationId xmlns:p14="http://schemas.microsoft.com/office/powerpoint/2010/main" val="398151019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Lập trình cổ điển và Lập trình HĐT</a:t>
            </a:r>
            <a:endParaRPr lang="en-US"/>
          </a:p>
        </p:txBody>
      </p:sp>
      <p:sp>
        <p:nvSpPr>
          <p:cNvPr id="3" name="Content Placeholder 2"/>
          <p:cNvSpPr>
            <a:spLocks noGrp="1"/>
          </p:cNvSpPr>
          <p:nvPr>
            <p:ph idx="1"/>
          </p:nvPr>
        </p:nvSpPr>
        <p:spPr>
          <a:xfrm>
            <a:off x="1385646" y="1808820"/>
            <a:ext cx="6372708" cy="420030"/>
          </a:xfrm>
        </p:spPr>
        <p:txBody>
          <a:bodyPr wrap="square">
            <a:noAutofit/>
          </a:bodyPr>
          <a:lstStyle/>
          <a:p>
            <a:pPr marL="0" indent="0">
              <a:spcAft>
                <a:spcPts val="450"/>
              </a:spcAft>
              <a:buNone/>
            </a:pPr>
            <a:r>
              <a:rPr lang="en-US" smtClean="0"/>
              <a:t>Lập trình cổ điển</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99</a:t>
            </a:fld>
            <a:endParaRPr lang="en-US"/>
          </a:p>
        </p:txBody>
      </p:sp>
      <p:pic>
        <p:nvPicPr>
          <p:cNvPr id="5" name="Picture 4"/>
          <p:cNvPicPr>
            <a:picLocks noChangeAspect="1"/>
          </p:cNvPicPr>
          <p:nvPr/>
        </p:nvPicPr>
        <p:blipFill>
          <a:blip r:embed="rId3"/>
          <a:stretch>
            <a:fillRect/>
          </a:stretch>
        </p:blipFill>
        <p:spPr>
          <a:xfrm>
            <a:off x="1586154" y="2243137"/>
            <a:ext cx="6172200" cy="3216128"/>
          </a:xfrm>
          <a:prstGeom prst="rect">
            <a:avLst/>
          </a:prstGeom>
        </p:spPr>
      </p:pic>
    </p:spTree>
    <p:extLst>
      <p:ext uri="{BB962C8B-B14F-4D97-AF65-F5344CB8AC3E}">
        <p14:creationId xmlns:p14="http://schemas.microsoft.com/office/powerpoint/2010/main" val="225607941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Lập trình cổ điển và Lập trình HĐT</a:t>
            </a:r>
            <a:endParaRPr lang="en-US"/>
          </a:p>
        </p:txBody>
      </p:sp>
      <p:sp>
        <p:nvSpPr>
          <p:cNvPr id="3" name="Content Placeholder 2"/>
          <p:cNvSpPr>
            <a:spLocks noGrp="1"/>
          </p:cNvSpPr>
          <p:nvPr>
            <p:ph idx="1"/>
          </p:nvPr>
        </p:nvSpPr>
        <p:spPr>
          <a:xfrm>
            <a:off x="1385646" y="1808820"/>
            <a:ext cx="6372708" cy="420030"/>
          </a:xfrm>
        </p:spPr>
        <p:txBody>
          <a:bodyPr wrap="square">
            <a:noAutofit/>
          </a:bodyPr>
          <a:lstStyle/>
          <a:p>
            <a:pPr marL="0" indent="0">
              <a:spcAft>
                <a:spcPts val="450"/>
              </a:spcAft>
              <a:buNone/>
            </a:pPr>
            <a:r>
              <a:rPr lang="en-US" smtClean="0"/>
              <a:t>Lập trình hướng đối tượng</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100</a:t>
            </a:fld>
            <a:endParaRPr lang="en-US"/>
          </a:p>
        </p:txBody>
      </p:sp>
      <p:pic>
        <p:nvPicPr>
          <p:cNvPr id="6" name="Picture 5"/>
          <p:cNvPicPr>
            <a:picLocks noChangeAspect="1"/>
          </p:cNvPicPr>
          <p:nvPr/>
        </p:nvPicPr>
        <p:blipFill>
          <a:blip r:embed="rId3"/>
          <a:stretch>
            <a:fillRect/>
          </a:stretch>
        </p:blipFill>
        <p:spPr>
          <a:xfrm>
            <a:off x="1771650" y="2228850"/>
            <a:ext cx="5897880" cy="3194001"/>
          </a:xfrm>
          <a:prstGeom prst="rect">
            <a:avLst/>
          </a:prstGeom>
        </p:spPr>
      </p:pic>
    </p:spTree>
    <p:extLst>
      <p:ext uri="{BB962C8B-B14F-4D97-AF65-F5344CB8AC3E}">
        <p14:creationId xmlns:p14="http://schemas.microsoft.com/office/powerpoint/2010/main" val="2633273926"/>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6.1. Đối tượng và lớp</a:t>
            </a:r>
            <a:endParaRPr lang="en-US"/>
          </a:p>
        </p:txBody>
      </p:sp>
      <p:sp>
        <p:nvSpPr>
          <p:cNvPr id="3" name="Content Placeholder 2"/>
          <p:cNvSpPr>
            <a:spLocks noGrp="1"/>
          </p:cNvSpPr>
          <p:nvPr>
            <p:ph idx="1"/>
          </p:nvPr>
        </p:nvSpPr>
        <p:spPr>
          <a:xfrm>
            <a:off x="1385646" y="1808820"/>
            <a:ext cx="6372708" cy="420030"/>
          </a:xfrm>
        </p:spPr>
        <p:txBody>
          <a:bodyPr wrap="square">
            <a:noAutofit/>
          </a:bodyPr>
          <a:lstStyle/>
          <a:p>
            <a:pPr>
              <a:spcBef>
                <a:spcPts val="450"/>
              </a:spcBef>
              <a:spcAft>
                <a:spcPts val="450"/>
              </a:spcAft>
            </a:pPr>
            <a:r>
              <a:rPr lang="en-US" smtClean="0"/>
              <a:t>Đối tượng (Object)</a:t>
            </a:r>
            <a:endParaRPr lang="vi-VN"/>
          </a:p>
        </p:txBody>
      </p:sp>
      <p:sp>
        <p:nvSpPr>
          <p:cNvPr id="4" name="Slide Number Placeholder 3"/>
          <p:cNvSpPr>
            <a:spLocks noGrp="1"/>
          </p:cNvSpPr>
          <p:nvPr>
            <p:ph type="sldNum" sz="quarter" idx="12"/>
          </p:nvPr>
        </p:nvSpPr>
        <p:spPr/>
        <p:txBody>
          <a:bodyPr/>
          <a:lstStyle/>
          <a:p>
            <a:fld id="{E3E8E051-591C-4566-9813-B4BB16D377BD}" type="slidenum">
              <a:rPr lang="en-US" smtClean="0"/>
              <a:pPr/>
              <a:t>101</a:t>
            </a:fld>
            <a:endParaRPr lang="en-US"/>
          </a:p>
        </p:txBody>
      </p:sp>
      <p:pic>
        <p:nvPicPr>
          <p:cNvPr id="5" name="Picture 4"/>
          <p:cNvPicPr>
            <a:picLocks noChangeAspect="1"/>
          </p:cNvPicPr>
          <p:nvPr/>
        </p:nvPicPr>
        <p:blipFill>
          <a:blip r:embed="rId3"/>
          <a:stretch>
            <a:fillRect/>
          </a:stretch>
        </p:blipFill>
        <p:spPr>
          <a:xfrm>
            <a:off x="1885950" y="2200275"/>
            <a:ext cx="5086350" cy="3619940"/>
          </a:xfrm>
          <a:prstGeom prst="rect">
            <a:avLst/>
          </a:prstGeom>
        </p:spPr>
      </p:pic>
    </p:spTree>
    <p:extLst>
      <p:ext uri="{BB962C8B-B14F-4D97-AF65-F5344CB8AC3E}">
        <p14:creationId xmlns:p14="http://schemas.microsoft.com/office/powerpoint/2010/main" val="2420941266"/>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6.1. Đối tượng và lớp</a:t>
            </a:r>
          </a:p>
        </p:txBody>
      </p:sp>
      <p:sp>
        <p:nvSpPr>
          <p:cNvPr id="3" name="Content Placeholder 2"/>
          <p:cNvSpPr>
            <a:spLocks noGrp="1"/>
          </p:cNvSpPr>
          <p:nvPr>
            <p:ph idx="1"/>
          </p:nvPr>
        </p:nvSpPr>
        <p:spPr>
          <a:xfrm>
            <a:off x="1385646" y="1808820"/>
            <a:ext cx="6372708" cy="420030"/>
          </a:xfrm>
        </p:spPr>
        <p:txBody>
          <a:bodyPr wrap="square">
            <a:noAutofit/>
          </a:bodyPr>
          <a:lstStyle/>
          <a:p>
            <a:pPr>
              <a:spcBef>
                <a:spcPts val="450"/>
              </a:spcBef>
              <a:spcAft>
                <a:spcPts val="450"/>
              </a:spcAft>
            </a:pPr>
            <a:r>
              <a:rPr lang="en-US" smtClean="0"/>
              <a:t>Đối tượng (Object)</a:t>
            </a:r>
            <a:endParaRPr lang="vi-VN"/>
          </a:p>
        </p:txBody>
      </p:sp>
      <p:sp>
        <p:nvSpPr>
          <p:cNvPr id="4" name="Slide Number Placeholder 3"/>
          <p:cNvSpPr>
            <a:spLocks noGrp="1"/>
          </p:cNvSpPr>
          <p:nvPr>
            <p:ph type="sldNum" sz="quarter" idx="12"/>
          </p:nvPr>
        </p:nvSpPr>
        <p:spPr/>
        <p:txBody>
          <a:bodyPr/>
          <a:lstStyle/>
          <a:p>
            <a:fld id="{E3E8E051-591C-4566-9813-B4BB16D377BD}" type="slidenum">
              <a:rPr lang="en-US" smtClean="0"/>
              <a:pPr/>
              <a:t>102</a:t>
            </a:fld>
            <a:endParaRPr lang="en-US"/>
          </a:p>
        </p:txBody>
      </p:sp>
      <p:pic>
        <p:nvPicPr>
          <p:cNvPr id="5" name="Picture 4"/>
          <p:cNvPicPr>
            <a:picLocks noChangeAspect="1"/>
          </p:cNvPicPr>
          <p:nvPr/>
        </p:nvPicPr>
        <p:blipFill>
          <a:blip r:embed="rId3"/>
          <a:stretch>
            <a:fillRect/>
          </a:stretch>
        </p:blipFill>
        <p:spPr>
          <a:xfrm>
            <a:off x="1772283" y="2231812"/>
            <a:ext cx="5486400" cy="3392704"/>
          </a:xfrm>
          <a:prstGeom prst="rect">
            <a:avLst/>
          </a:prstGeom>
        </p:spPr>
      </p:pic>
    </p:spTree>
    <p:extLst>
      <p:ext uri="{BB962C8B-B14F-4D97-AF65-F5344CB8AC3E}">
        <p14:creationId xmlns:p14="http://schemas.microsoft.com/office/powerpoint/2010/main" val="4072879723"/>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6.1. Đối tượng và lớp</a:t>
            </a:r>
          </a:p>
        </p:txBody>
      </p:sp>
      <p:sp>
        <p:nvSpPr>
          <p:cNvPr id="3" name="Content Placeholder 2"/>
          <p:cNvSpPr>
            <a:spLocks noGrp="1"/>
          </p:cNvSpPr>
          <p:nvPr>
            <p:ph idx="1"/>
          </p:nvPr>
        </p:nvSpPr>
        <p:spPr>
          <a:xfrm>
            <a:off x="1385646" y="1808820"/>
            <a:ext cx="6372708" cy="420030"/>
          </a:xfrm>
        </p:spPr>
        <p:txBody>
          <a:bodyPr wrap="square">
            <a:noAutofit/>
          </a:bodyPr>
          <a:lstStyle/>
          <a:p>
            <a:pPr>
              <a:spcBef>
                <a:spcPts val="450"/>
              </a:spcBef>
              <a:spcAft>
                <a:spcPts val="450"/>
              </a:spcAft>
            </a:pPr>
            <a:r>
              <a:rPr lang="en-US" smtClean="0"/>
              <a:t>Lớp (Class)</a:t>
            </a:r>
            <a:endParaRPr lang="vi-VN"/>
          </a:p>
        </p:txBody>
      </p:sp>
      <p:sp>
        <p:nvSpPr>
          <p:cNvPr id="4" name="Slide Number Placeholder 3"/>
          <p:cNvSpPr>
            <a:spLocks noGrp="1"/>
          </p:cNvSpPr>
          <p:nvPr>
            <p:ph type="sldNum" sz="quarter" idx="12"/>
          </p:nvPr>
        </p:nvSpPr>
        <p:spPr/>
        <p:txBody>
          <a:bodyPr/>
          <a:lstStyle/>
          <a:p>
            <a:fld id="{E3E8E051-591C-4566-9813-B4BB16D377BD}" type="slidenum">
              <a:rPr lang="en-US" smtClean="0"/>
              <a:pPr/>
              <a:t>103</a:t>
            </a:fld>
            <a:endParaRPr lang="en-US"/>
          </a:p>
        </p:txBody>
      </p:sp>
      <p:pic>
        <p:nvPicPr>
          <p:cNvPr id="5" name="Picture 4"/>
          <p:cNvPicPr>
            <a:picLocks noChangeAspect="1"/>
          </p:cNvPicPr>
          <p:nvPr/>
        </p:nvPicPr>
        <p:blipFill>
          <a:blip r:embed="rId3"/>
          <a:stretch>
            <a:fillRect/>
          </a:stretch>
        </p:blipFill>
        <p:spPr>
          <a:xfrm>
            <a:off x="2320923" y="2228853"/>
            <a:ext cx="4937760" cy="3584390"/>
          </a:xfrm>
          <a:prstGeom prst="rect">
            <a:avLst/>
          </a:prstGeom>
        </p:spPr>
      </p:pic>
    </p:spTree>
    <p:extLst>
      <p:ext uri="{BB962C8B-B14F-4D97-AF65-F5344CB8AC3E}">
        <p14:creationId xmlns:p14="http://schemas.microsoft.com/office/powerpoint/2010/main" val="60937396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6.1. Đối tượng và lớp</a:t>
            </a:r>
          </a:p>
        </p:txBody>
      </p:sp>
      <p:sp>
        <p:nvSpPr>
          <p:cNvPr id="3" name="Content Placeholder 2"/>
          <p:cNvSpPr>
            <a:spLocks noGrp="1"/>
          </p:cNvSpPr>
          <p:nvPr>
            <p:ph idx="1"/>
          </p:nvPr>
        </p:nvSpPr>
        <p:spPr>
          <a:xfrm>
            <a:off x="1385646" y="1808820"/>
            <a:ext cx="6372708" cy="420030"/>
          </a:xfrm>
        </p:spPr>
        <p:txBody>
          <a:bodyPr wrap="square">
            <a:noAutofit/>
          </a:bodyPr>
          <a:lstStyle/>
          <a:p>
            <a:pPr>
              <a:spcBef>
                <a:spcPts val="450"/>
              </a:spcBef>
              <a:spcAft>
                <a:spcPts val="450"/>
              </a:spcAft>
            </a:pPr>
            <a:r>
              <a:rPr lang="en-US" smtClean="0"/>
              <a:t>Lớp (Class)</a:t>
            </a:r>
            <a:endParaRPr lang="vi-VN"/>
          </a:p>
        </p:txBody>
      </p:sp>
      <p:sp>
        <p:nvSpPr>
          <p:cNvPr id="4" name="Slide Number Placeholder 3"/>
          <p:cNvSpPr>
            <a:spLocks noGrp="1"/>
          </p:cNvSpPr>
          <p:nvPr>
            <p:ph type="sldNum" sz="quarter" idx="12"/>
          </p:nvPr>
        </p:nvSpPr>
        <p:spPr/>
        <p:txBody>
          <a:bodyPr/>
          <a:lstStyle/>
          <a:p>
            <a:fld id="{E3E8E051-591C-4566-9813-B4BB16D377BD}" type="slidenum">
              <a:rPr lang="en-US" smtClean="0"/>
              <a:pPr/>
              <a:t>104</a:t>
            </a:fld>
            <a:endParaRPr lang="en-US"/>
          </a:p>
        </p:txBody>
      </p:sp>
      <p:pic>
        <p:nvPicPr>
          <p:cNvPr id="5" name="Picture 4"/>
          <p:cNvPicPr>
            <a:picLocks noChangeAspect="1"/>
          </p:cNvPicPr>
          <p:nvPr/>
        </p:nvPicPr>
        <p:blipFill>
          <a:blip r:embed="rId3"/>
          <a:stretch>
            <a:fillRect/>
          </a:stretch>
        </p:blipFill>
        <p:spPr>
          <a:xfrm>
            <a:off x="2120265" y="2254025"/>
            <a:ext cx="5074920" cy="3478839"/>
          </a:xfrm>
          <a:prstGeom prst="rect">
            <a:avLst/>
          </a:prstGeom>
        </p:spPr>
      </p:pic>
    </p:spTree>
    <p:extLst>
      <p:ext uri="{BB962C8B-B14F-4D97-AF65-F5344CB8AC3E}">
        <p14:creationId xmlns:p14="http://schemas.microsoft.com/office/powerpoint/2010/main" val="3327982499"/>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6.1.1. Xây dựng lớp</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105</a:t>
            </a:fld>
            <a:endParaRPr lang="en-US"/>
          </a:p>
        </p:txBody>
      </p:sp>
      <p:grpSp>
        <p:nvGrpSpPr>
          <p:cNvPr id="6" name="Group 5"/>
          <p:cNvGrpSpPr>
            <a:grpSpLocks/>
          </p:cNvGrpSpPr>
          <p:nvPr/>
        </p:nvGrpSpPr>
        <p:grpSpPr bwMode="auto">
          <a:xfrm>
            <a:off x="2457450" y="2914650"/>
            <a:ext cx="1485900" cy="2343150"/>
            <a:chOff x="1104" y="1536"/>
            <a:chExt cx="1248" cy="1968"/>
          </a:xfrm>
        </p:grpSpPr>
        <p:sp>
          <p:nvSpPr>
            <p:cNvPr id="7" name="Rectangle 6"/>
            <p:cNvSpPr>
              <a:spLocks noChangeArrowheads="1"/>
            </p:cNvSpPr>
            <p:nvPr/>
          </p:nvSpPr>
          <p:spPr bwMode="auto">
            <a:xfrm>
              <a:off x="1104" y="1536"/>
              <a:ext cx="1248" cy="38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r>
                <a:rPr lang="en-US" b="1">
                  <a:solidFill>
                    <a:srgbClr val="FF0000"/>
                  </a:solidFill>
                  <a:effectLst>
                    <a:outerShdw blurRad="38100" dist="38100" dir="2700000" algn="tl">
                      <a:srgbClr val="C0C0C0"/>
                    </a:outerShdw>
                  </a:effectLst>
                  <a:latin typeface="Arial" charset="0"/>
                  <a:cs typeface="Arial" charset="0"/>
                </a:rPr>
                <a:t>TÊN LỚP</a:t>
              </a:r>
            </a:p>
          </p:txBody>
        </p:sp>
        <p:sp>
          <p:nvSpPr>
            <p:cNvPr id="8" name="Rectangle 7"/>
            <p:cNvSpPr>
              <a:spLocks noChangeArrowheads="1"/>
            </p:cNvSpPr>
            <p:nvPr/>
          </p:nvSpPr>
          <p:spPr bwMode="auto">
            <a:xfrm>
              <a:off x="1104" y="1920"/>
              <a:ext cx="1248" cy="816"/>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8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v"/>
                <a:defRPr sz="28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sz="1350">
                  <a:solidFill>
                    <a:srgbClr val="0070C0"/>
                  </a:solidFill>
                </a:rPr>
                <a:t>Thuộc tính</a:t>
              </a:r>
              <a:endParaRPr lang="en-US" sz="1350">
                <a:solidFill>
                  <a:srgbClr val="0070C0"/>
                </a:solidFill>
              </a:endParaRPr>
            </a:p>
            <a:p>
              <a:pPr algn="ctr" eaLnBrk="1" hangingPunct="1">
                <a:spcBef>
                  <a:spcPct val="0"/>
                </a:spcBef>
                <a:buClrTx/>
                <a:buSzTx/>
                <a:buFontTx/>
                <a:buNone/>
              </a:pPr>
              <a:r>
                <a:rPr lang="en-US" sz="1350">
                  <a:solidFill>
                    <a:srgbClr val="0070C0"/>
                  </a:solidFill>
                </a:rPr>
                <a:t>thành viên</a:t>
              </a:r>
            </a:p>
          </p:txBody>
        </p:sp>
        <p:sp>
          <p:nvSpPr>
            <p:cNvPr id="9" name="Rectangle 9"/>
            <p:cNvSpPr>
              <a:spLocks noChangeArrowheads="1"/>
            </p:cNvSpPr>
            <p:nvPr/>
          </p:nvSpPr>
          <p:spPr bwMode="auto">
            <a:xfrm>
              <a:off x="1104" y="2736"/>
              <a:ext cx="1248" cy="768"/>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8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v"/>
                <a:defRPr sz="28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sz="1350">
                  <a:solidFill>
                    <a:srgbClr val="7030A0"/>
                  </a:solidFill>
                </a:rPr>
                <a:t>Phương thức</a:t>
              </a:r>
              <a:endParaRPr lang="en-US" sz="1350">
                <a:solidFill>
                  <a:srgbClr val="7030A0"/>
                </a:solidFill>
              </a:endParaRPr>
            </a:p>
            <a:p>
              <a:pPr algn="ctr" eaLnBrk="1" hangingPunct="1">
                <a:spcBef>
                  <a:spcPct val="0"/>
                </a:spcBef>
                <a:buClrTx/>
                <a:buSzTx/>
                <a:buFontTx/>
                <a:buNone/>
              </a:pPr>
              <a:r>
                <a:rPr lang="en-US" sz="1350">
                  <a:solidFill>
                    <a:srgbClr val="7030A0"/>
                  </a:solidFill>
                </a:rPr>
                <a:t>thành viên</a:t>
              </a:r>
            </a:p>
          </p:txBody>
        </p:sp>
      </p:grpSp>
      <p:sp>
        <p:nvSpPr>
          <p:cNvPr id="10" name="Text Box 12"/>
          <p:cNvSpPr txBox="1">
            <a:spLocks noChangeArrowheads="1"/>
          </p:cNvSpPr>
          <p:nvPr/>
        </p:nvSpPr>
        <p:spPr bwMode="auto">
          <a:xfrm>
            <a:off x="4229100" y="3005860"/>
            <a:ext cx="3257550" cy="2723823"/>
          </a:xfrm>
          <a:prstGeom prst="rect">
            <a:avLst/>
          </a:prstGeom>
          <a:noFill/>
          <a:ln w="19050">
            <a:solidFill>
              <a:schemeClr val="tx1"/>
            </a:solidFill>
            <a:prstDash val="dash"/>
            <a:miter lim="800000"/>
            <a:headEnd/>
            <a:tailEnd/>
          </a:ln>
          <a:effectLst/>
          <a:extLst/>
        </p:spPr>
        <p:txBody>
          <a:bodyPr wrap="square">
            <a:spAutoFit/>
          </a:bodyPr>
          <a:lstStyle/>
          <a:p>
            <a:pPr eaLnBrk="1" hangingPunct="1">
              <a:lnSpc>
                <a:spcPct val="120000"/>
              </a:lnSpc>
              <a:defRPr/>
            </a:pPr>
            <a:r>
              <a:rPr lang="en-US" sz="375">
                <a:latin typeface="Arial" charset="0"/>
                <a:cs typeface="Arial" charset="0"/>
              </a:rPr>
              <a:t>  </a:t>
            </a:r>
          </a:p>
          <a:p>
            <a:pPr eaLnBrk="1" hangingPunct="1">
              <a:lnSpc>
                <a:spcPct val="120000"/>
              </a:lnSpc>
              <a:defRPr/>
            </a:pPr>
            <a:r>
              <a:rPr lang="en-US">
                <a:latin typeface="Arial" charset="0"/>
                <a:cs typeface="Arial" charset="0"/>
              </a:rPr>
              <a:t> </a:t>
            </a:r>
            <a:r>
              <a:rPr lang="en-US" smtClean="0">
                <a:latin typeface="Arial" charset="0"/>
                <a:cs typeface="Arial" charset="0"/>
              </a:rPr>
              <a:t>[&lt;từ khóa truy cập&gt;] </a:t>
            </a:r>
            <a:r>
              <a:rPr lang="en-US" b="1" smtClean="0">
                <a:solidFill>
                  <a:srgbClr val="CC3300"/>
                </a:solidFill>
                <a:latin typeface="Arial" charset="0"/>
                <a:cs typeface="Arial" charset="0"/>
              </a:rPr>
              <a:t>class</a:t>
            </a:r>
            <a:r>
              <a:rPr lang="en-US" smtClean="0">
                <a:latin typeface="Arial" charset="0"/>
                <a:cs typeface="Arial" charset="0"/>
              </a:rPr>
              <a:t> &lt;</a:t>
            </a:r>
            <a:r>
              <a:rPr lang="en-US" b="1" smtClean="0">
                <a:solidFill>
                  <a:srgbClr val="FF0000"/>
                </a:solidFill>
                <a:effectLst>
                  <a:outerShdw blurRad="38100" dist="38100" dir="2700000" algn="tl">
                    <a:srgbClr val="FFFFFF"/>
                  </a:outerShdw>
                </a:effectLst>
                <a:latin typeface="Arial" charset="0"/>
                <a:cs typeface="Arial" charset="0"/>
              </a:rPr>
              <a:t>TÊNLỚP</a:t>
            </a:r>
            <a:r>
              <a:rPr lang="en-US" b="1" smtClean="0">
                <a:effectLst>
                  <a:outerShdw blurRad="38100" dist="38100" dir="2700000" algn="tl">
                    <a:srgbClr val="FFFFFF"/>
                  </a:outerShdw>
                </a:effectLst>
                <a:latin typeface="Arial" charset="0"/>
                <a:cs typeface="Arial" charset="0"/>
              </a:rPr>
              <a:t>&gt;</a:t>
            </a:r>
            <a:r>
              <a:rPr lang="en-US" smtClean="0">
                <a:latin typeface="Arial" charset="0"/>
                <a:cs typeface="Arial" charset="0"/>
              </a:rPr>
              <a:t> </a:t>
            </a:r>
            <a:endParaRPr lang="en-US">
              <a:latin typeface="Arial" charset="0"/>
              <a:cs typeface="Arial" charset="0"/>
            </a:endParaRPr>
          </a:p>
          <a:p>
            <a:pPr eaLnBrk="1" hangingPunct="1">
              <a:lnSpc>
                <a:spcPct val="120000"/>
              </a:lnSpc>
              <a:defRPr/>
            </a:pPr>
            <a:r>
              <a:rPr lang="en-US">
                <a:latin typeface="Arial" charset="0"/>
                <a:cs typeface="Arial" charset="0"/>
              </a:rPr>
              <a:t>    </a:t>
            </a:r>
            <a:r>
              <a:rPr lang="en-US" b="1">
                <a:solidFill>
                  <a:srgbClr val="CC3300"/>
                </a:solidFill>
                <a:latin typeface="Arial" charset="0"/>
                <a:cs typeface="Arial" charset="0"/>
              </a:rPr>
              <a:t>{</a:t>
            </a:r>
          </a:p>
          <a:p>
            <a:pPr eaLnBrk="1" hangingPunct="1">
              <a:lnSpc>
                <a:spcPct val="120000"/>
              </a:lnSpc>
              <a:defRPr/>
            </a:pPr>
            <a:r>
              <a:rPr lang="en-US">
                <a:latin typeface="Arial" charset="0"/>
                <a:cs typeface="Arial" charset="0"/>
              </a:rPr>
              <a:t>	</a:t>
            </a:r>
            <a:r>
              <a:rPr lang="en-US" sz="1500">
                <a:solidFill>
                  <a:srgbClr val="0070C0"/>
                </a:solidFill>
                <a:latin typeface="Arial" charset="0"/>
                <a:cs typeface="Arial" charset="0"/>
              </a:rPr>
              <a:t>&lt;thành phần thuộc tính&gt;;</a:t>
            </a:r>
          </a:p>
          <a:p>
            <a:pPr eaLnBrk="1" hangingPunct="1">
              <a:lnSpc>
                <a:spcPct val="120000"/>
              </a:lnSpc>
              <a:defRPr/>
            </a:pPr>
            <a:endParaRPr lang="en-US" sz="1500">
              <a:latin typeface="Arial" charset="0"/>
              <a:cs typeface="Arial" charset="0"/>
            </a:endParaRPr>
          </a:p>
          <a:p>
            <a:pPr eaLnBrk="1" hangingPunct="1">
              <a:lnSpc>
                <a:spcPct val="120000"/>
              </a:lnSpc>
              <a:defRPr/>
            </a:pPr>
            <a:r>
              <a:rPr lang="en-US" sz="1500">
                <a:latin typeface="Arial" charset="0"/>
                <a:cs typeface="Arial" charset="0"/>
              </a:rPr>
              <a:t>	</a:t>
            </a:r>
            <a:r>
              <a:rPr lang="en-US" sz="1500">
                <a:solidFill>
                  <a:srgbClr val="7030A0"/>
                </a:solidFill>
                <a:latin typeface="Arial" charset="0"/>
                <a:cs typeface="Arial" charset="0"/>
              </a:rPr>
              <a:t>&lt;thành phần phương thức&gt;;</a:t>
            </a:r>
            <a:endParaRPr lang="en-US" sz="1500">
              <a:solidFill>
                <a:srgbClr val="7030A0"/>
              </a:solidFill>
              <a:latin typeface="Arial" charset="0"/>
              <a:cs typeface="Arial" charset="0"/>
            </a:endParaRPr>
          </a:p>
          <a:p>
            <a:pPr eaLnBrk="1" hangingPunct="1">
              <a:lnSpc>
                <a:spcPct val="120000"/>
              </a:lnSpc>
              <a:defRPr/>
            </a:pPr>
            <a:r>
              <a:rPr lang="en-US">
                <a:latin typeface="Arial" charset="0"/>
                <a:cs typeface="Arial" charset="0"/>
              </a:rPr>
              <a:t>   </a:t>
            </a:r>
            <a:r>
              <a:rPr lang="en-US" b="1">
                <a:solidFill>
                  <a:srgbClr val="CC3300"/>
                </a:solidFill>
                <a:latin typeface="Arial" charset="0"/>
                <a:cs typeface="Arial" charset="0"/>
              </a:rPr>
              <a:t>};</a:t>
            </a:r>
          </a:p>
          <a:p>
            <a:pPr eaLnBrk="1" hangingPunct="1">
              <a:lnSpc>
                <a:spcPct val="120000"/>
              </a:lnSpc>
              <a:defRPr/>
            </a:pPr>
            <a:r>
              <a:rPr lang="en-US" sz="375" b="1">
                <a:solidFill>
                  <a:srgbClr val="CC3300"/>
                </a:solidFill>
                <a:latin typeface="Arial" charset="0"/>
                <a:cs typeface="Arial" charset="0"/>
              </a:rPr>
              <a:t>;</a:t>
            </a:r>
            <a:endParaRPr lang="en-US" sz="375" b="1">
              <a:solidFill>
                <a:srgbClr val="CC3300"/>
              </a:solidFill>
              <a:latin typeface="Arial" charset="0"/>
              <a:cs typeface="Arial" charset="0"/>
            </a:endParaRPr>
          </a:p>
        </p:txBody>
      </p:sp>
      <p:grpSp>
        <p:nvGrpSpPr>
          <p:cNvPr id="11" name="Group 13"/>
          <p:cNvGrpSpPr>
            <a:grpSpLocks/>
          </p:cNvGrpSpPr>
          <p:nvPr/>
        </p:nvGrpSpPr>
        <p:grpSpPr bwMode="auto">
          <a:xfrm>
            <a:off x="5257800" y="2057521"/>
            <a:ext cx="2457450" cy="1116806"/>
            <a:chOff x="3936" y="838"/>
            <a:chExt cx="1680" cy="938"/>
          </a:xfrm>
        </p:grpSpPr>
        <p:sp>
          <p:nvSpPr>
            <p:cNvPr id="12" name="Rectangle 14"/>
            <p:cNvSpPr>
              <a:spLocks noChangeArrowheads="1"/>
            </p:cNvSpPr>
            <p:nvPr/>
          </p:nvSpPr>
          <p:spPr bwMode="auto">
            <a:xfrm>
              <a:off x="4678" y="838"/>
              <a:ext cx="938" cy="746"/>
            </a:xfrm>
            <a:prstGeom prst="rect">
              <a:avLst/>
            </a:prstGeom>
            <a:solidFill>
              <a:srgbClr val="FFFF99"/>
            </a:solidFill>
            <a:ln w="25400" cmpd="dbl">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8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v"/>
                <a:defRPr sz="28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hlink"/>
                </a:buClr>
                <a:buSzPct val="6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SzPct val="4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SzPct val="4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SzPct val="4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SzPct val="4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SzPct val="40000"/>
                <a:buFont typeface="Wingdings" panose="05000000000000000000" pitchFamily="2" charset="2"/>
                <a:buChar char="l"/>
                <a:defRPr sz="28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sz="1800">
                  <a:solidFill>
                    <a:schemeClr val="bg2">
                      <a:lumMod val="25000"/>
                    </a:schemeClr>
                  </a:solidFill>
                </a:rPr>
                <a:t>private</a:t>
              </a:r>
            </a:p>
            <a:p>
              <a:pPr algn="ctr" eaLnBrk="1" hangingPunct="1">
                <a:spcBef>
                  <a:spcPct val="0"/>
                </a:spcBef>
                <a:buClrTx/>
                <a:buSzTx/>
                <a:buFontTx/>
                <a:buNone/>
              </a:pPr>
              <a:r>
                <a:rPr lang="en-US" sz="1800">
                  <a:solidFill>
                    <a:schemeClr val="bg2">
                      <a:lumMod val="25000"/>
                    </a:schemeClr>
                  </a:solidFill>
                </a:rPr>
                <a:t>protected</a:t>
              </a:r>
            </a:p>
            <a:p>
              <a:pPr algn="ctr" eaLnBrk="1" hangingPunct="1">
                <a:spcBef>
                  <a:spcPct val="0"/>
                </a:spcBef>
                <a:buClrTx/>
                <a:buSzTx/>
                <a:buFontTx/>
                <a:buNone/>
              </a:pPr>
              <a:r>
                <a:rPr lang="en-US" sz="1800">
                  <a:solidFill>
                    <a:schemeClr val="bg2">
                      <a:lumMod val="25000"/>
                    </a:schemeClr>
                  </a:solidFill>
                </a:rPr>
                <a:t>public</a:t>
              </a:r>
              <a:endParaRPr lang="en-US" sz="1800">
                <a:solidFill>
                  <a:schemeClr val="bg2">
                    <a:lumMod val="25000"/>
                  </a:schemeClr>
                </a:solidFill>
              </a:endParaRPr>
            </a:p>
          </p:txBody>
        </p:sp>
        <p:sp>
          <p:nvSpPr>
            <p:cNvPr id="13" name="Line 15"/>
            <p:cNvSpPr>
              <a:spLocks noChangeShapeType="1"/>
            </p:cNvSpPr>
            <p:nvPr/>
          </p:nvSpPr>
          <p:spPr bwMode="auto">
            <a:xfrm flipH="1">
              <a:off x="4368" y="1152"/>
              <a:ext cx="48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6"/>
            <p:cNvSpPr>
              <a:spLocks noChangeShapeType="1"/>
            </p:cNvSpPr>
            <p:nvPr/>
          </p:nvSpPr>
          <p:spPr bwMode="auto">
            <a:xfrm flipH="1">
              <a:off x="3936" y="1152"/>
              <a:ext cx="432" cy="624"/>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2457691546"/>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6.1.1. Xây dựng lớp</a:t>
            </a:r>
            <a:endParaRPr lang="en-US"/>
          </a:p>
        </p:txBody>
      </p:sp>
      <p:sp>
        <p:nvSpPr>
          <p:cNvPr id="3" name="Content Placeholder 2"/>
          <p:cNvSpPr>
            <a:spLocks noGrp="1"/>
          </p:cNvSpPr>
          <p:nvPr>
            <p:ph idx="1"/>
          </p:nvPr>
        </p:nvSpPr>
        <p:spPr>
          <a:xfrm>
            <a:off x="1385646" y="1808820"/>
            <a:ext cx="6372708" cy="420030"/>
          </a:xfrm>
        </p:spPr>
        <p:txBody>
          <a:bodyPr wrap="square">
            <a:noAutofit/>
          </a:bodyPr>
          <a:lstStyle/>
          <a:p>
            <a:pPr>
              <a:spcAft>
                <a:spcPts val="450"/>
              </a:spcAft>
            </a:pPr>
            <a:r>
              <a:rPr lang="en-US" smtClean="0"/>
              <a:t>Tạo phương thức</a:t>
            </a:r>
          </a:p>
          <a:p>
            <a:pPr marL="0" indent="0">
              <a:spcAft>
                <a:spcPts val="450"/>
              </a:spcAft>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106</a:t>
            </a:fld>
            <a:endParaRPr lang="en-US"/>
          </a:p>
        </p:txBody>
      </p:sp>
      <p:sp>
        <p:nvSpPr>
          <p:cNvPr id="5" name="Rectangle 4"/>
          <p:cNvSpPr/>
          <p:nvPr/>
        </p:nvSpPr>
        <p:spPr>
          <a:xfrm>
            <a:off x="1492923" y="2396745"/>
            <a:ext cx="6158154" cy="3106491"/>
          </a:xfrm>
          <a:prstGeom prst="rect">
            <a:avLst/>
          </a:prstGeom>
        </p:spPr>
        <p:txBody>
          <a:bodyPr wrap="square">
            <a:spAutoFit/>
          </a:bodyPr>
          <a:lstStyle/>
          <a:p>
            <a:pPr lvl="1">
              <a:spcBef>
                <a:spcPct val="20000"/>
              </a:spcBef>
              <a:spcAft>
                <a:spcPts val="450"/>
              </a:spcAft>
              <a:buClr>
                <a:srgbClr val="3B812F"/>
              </a:buClr>
              <a:buSzPct val="60000"/>
            </a:pPr>
            <a:r>
              <a:rPr lang="en-US" sz="2100">
                <a:solidFill>
                  <a:srgbClr val="00B050"/>
                </a:solidFill>
              </a:rPr>
              <a:t>[&lt;</a:t>
            </a:r>
            <a:r>
              <a:rPr lang="en-US" sz="2100">
                <a:solidFill>
                  <a:srgbClr val="00B050"/>
                </a:solidFill>
              </a:rPr>
              <a:t>Từ khóa truy cập&gt;] </a:t>
            </a:r>
            <a:r>
              <a:rPr lang="en-US" sz="2100">
                <a:solidFill>
                  <a:srgbClr val="FF0000"/>
                </a:solidFill>
              </a:rPr>
              <a:t>&lt;kiểu trả về&gt;</a:t>
            </a:r>
            <a:r>
              <a:rPr lang="en-US" sz="2100">
                <a:solidFill>
                  <a:srgbClr val="000000"/>
                </a:solidFill>
              </a:rPr>
              <a:t> </a:t>
            </a:r>
            <a:r>
              <a:rPr lang="en-US" sz="2100">
                <a:solidFill>
                  <a:schemeClr val="accent5">
                    <a:lumMod val="75000"/>
                  </a:schemeClr>
                </a:solidFill>
              </a:rPr>
              <a:t>&lt;tên phương thức&gt;</a:t>
            </a:r>
            <a:r>
              <a:rPr lang="en-US" sz="2100">
                <a:solidFill>
                  <a:srgbClr val="000000"/>
                </a:solidFill>
              </a:rPr>
              <a:t>(</a:t>
            </a:r>
            <a:r>
              <a:rPr lang="en-US" sz="2100">
                <a:solidFill>
                  <a:srgbClr val="7030A0"/>
                </a:solidFill>
              </a:rPr>
              <a:t>[&lt;ds tham số</a:t>
            </a:r>
            <a:r>
              <a:rPr lang="en-US" sz="2100">
                <a:solidFill>
                  <a:srgbClr val="7030A0"/>
                </a:solidFill>
              </a:rPr>
              <a:t>&gt;]</a:t>
            </a:r>
            <a:r>
              <a:rPr lang="en-US" sz="2100">
                <a:solidFill>
                  <a:srgbClr val="000000"/>
                </a:solidFill>
              </a:rPr>
              <a:t>)</a:t>
            </a:r>
            <a:r>
              <a:rPr lang="en-US" sz="2100" b="1">
                <a:solidFill>
                  <a:srgbClr val="000000"/>
                </a:solidFill>
              </a:rPr>
              <a:t> </a:t>
            </a:r>
            <a:r>
              <a:rPr lang="en-US" sz="2100">
                <a:solidFill>
                  <a:srgbClr val="000000"/>
                </a:solidFill>
              </a:rPr>
              <a:t>	{</a:t>
            </a:r>
            <a:br>
              <a:rPr lang="en-US" sz="2100">
                <a:solidFill>
                  <a:srgbClr val="000000"/>
                </a:solidFill>
              </a:rPr>
            </a:br>
            <a:r>
              <a:rPr lang="en-US" sz="2100">
                <a:solidFill>
                  <a:srgbClr val="000000"/>
                </a:solidFill>
              </a:rPr>
              <a:t>    // </a:t>
            </a:r>
            <a:r>
              <a:rPr lang="en-US" sz="2100" b="1">
                <a:solidFill>
                  <a:srgbClr val="000000"/>
                </a:solidFill>
              </a:rPr>
              <a:t>thân phương thức</a:t>
            </a:r>
            <a:r>
              <a:rPr lang="en-US" sz="2100">
                <a:solidFill>
                  <a:srgbClr val="000000"/>
                </a:solidFill>
              </a:rPr>
              <a:t/>
            </a:r>
            <a:br>
              <a:rPr lang="en-US" sz="2100">
                <a:solidFill>
                  <a:srgbClr val="000000"/>
                </a:solidFill>
              </a:rPr>
            </a:br>
            <a:r>
              <a:rPr lang="en-US" sz="2100">
                <a:solidFill>
                  <a:srgbClr val="000000"/>
                </a:solidFill>
              </a:rPr>
              <a:t>}</a:t>
            </a:r>
          </a:p>
          <a:p>
            <a:pPr lvl="1">
              <a:spcBef>
                <a:spcPct val="20000"/>
              </a:spcBef>
              <a:spcAft>
                <a:spcPts val="450"/>
              </a:spcAft>
              <a:buClr>
                <a:srgbClr val="3B812F"/>
              </a:buClr>
              <a:buSzPct val="60000"/>
            </a:pPr>
            <a:r>
              <a:rPr lang="en-US" sz="2100">
                <a:solidFill>
                  <a:srgbClr val="000000"/>
                </a:solidFill>
              </a:rPr>
              <a:t>Ví dụ:</a:t>
            </a:r>
            <a:br>
              <a:rPr lang="en-US" sz="2100">
                <a:solidFill>
                  <a:srgbClr val="000000"/>
                </a:solidFill>
              </a:rPr>
            </a:br>
            <a:r>
              <a:rPr lang="en-US" sz="2100" b="1">
                <a:solidFill>
                  <a:srgbClr val="000000"/>
                </a:solidFill>
              </a:rPr>
              <a:t>public float </a:t>
            </a:r>
            <a:r>
              <a:rPr lang="en-US" sz="2100">
                <a:solidFill>
                  <a:srgbClr val="000000"/>
                </a:solidFill>
              </a:rPr>
              <a:t>calculateCharge(</a:t>
            </a:r>
            <a:r>
              <a:rPr lang="en-US" sz="2100" b="1">
                <a:solidFill>
                  <a:srgbClr val="000000"/>
                </a:solidFill>
              </a:rPr>
              <a:t>float </a:t>
            </a:r>
            <a:r>
              <a:rPr lang="en-US" sz="2100">
                <a:solidFill>
                  <a:srgbClr val="000000"/>
                </a:solidFill>
              </a:rPr>
              <a:t>hours</a:t>
            </a:r>
            <a:r>
              <a:rPr lang="en-US" sz="2100">
                <a:solidFill>
                  <a:srgbClr val="000000"/>
                </a:solidFill>
              </a:rPr>
              <a:t>) {</a:t>
            </a:r>
            <a:r>
              <a:rPr lang="en-US" sz="2100">
                <a:solidFill>
                  <a:srgbClr val="000000"/>
                </a:solidFill>
              </a:rPr>
              <a:t/>
            </a:r>
            <a:br>
              <a:rPr lang="en-US" sz="2100">
                <a:solidFill>
                  <a:srgbClr val="000000"/>
                </a:solidFill>
              </a:rPr>
            </a:br>
            <a:r>
              <a:rPr lang="en-US" sz="2100">
                <a:solidFill>
                  <a:srgbClr val="000000"/>
                </a:solidFill>
              </a:rPr>
              <a:t>        </a:t>
            </a:r>
            <a:r>
              <a:rPr lang="en-US" sz="2100" b="1">
                <a:solidFill>
                  <a:srgbClr val="000000"/>
                </a:solidFill>
              </a:rPr>
              <a:t>return</a:t>
            </a:r>
            <a:r>
              <a:rPr lang="en-US" sz="2100">
                <a:solidFill>
                  <a:srgbClr val="000000"/>
                </a:solidFill>
              </a:rPr>
              <a:t>(hours * billingRate);</a:t>
            </a:r>
            <a:br>
              <a:rPr lang="en-US" sz="2100">
                <a:solidFill>
                  <a:srgbClr val="000000"/>
                </a:solidFill>
              </a:rPr>
            </a:br>
            <a:r>
              <a:rPr lang="en-US" sz="2100">
                <a:solidFill>
                  <a:srgbClr val="000000"/>
                </a:solidFill>
              </a:rPr>
              <a:t> </a:t>
            </a:r>
            <a:r>
              <a:rPr lang="en-US" sz="2100">
                <a:solidFill>
                  <a:srgbClr val="000000"/>
                </a:solidFill>
              </a:rPr>
              <a:t>}</a:t>
            </a:r>
            <a:r>
              <a:rPr lang="en-US" sz="1950">
                <a:solidFill>
                  <a:srgbClr val="000000"/>
                </a:solidFill>
              </a:rPr>
              <a:t/>
            </a:r>
            <a:br>
              <a:rPr lang="en-US" sz="1950">
                <a:solidFill>
                  <a:srgbClr val="000000"/>
                </a:solidFill>
              </a:rPr>
            </a:br>
            <a:endParaRPr lang="en-US" sz="1950" dirty="0">
              <a:solidFill>
                <a:srgbClr val="000000"/>
              </a:solidFill>
            </a:endParaRPr>
          </a:p>
        </p:txBody>
      </p:sp>
    </p:spTree>
    <p:extLst>
      <p:ext uri="{BB962C8B-B14F-4D97-AF65-F5344CB8AC3E}">
        <p14:creationId xmlns:p14="http://schemas.microsoft.com/office/powerpoint/2010/main" val="4174099871"/>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6.1.1. Xây dựng lớp</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107</a:t>
            </a:fld>
            <a:endParaRPr lang="en-US"/>
          </a:p>
        </p:txBody>
      </p:sp>
      <p:pic>
        <p:nvPicPr>
          <p:cNvPr id="7" name="Picture 6"/>
          <p:cNvPicPr/>
          <p:nvPr/>
        </p:nvPicPr>
        <p:blipFill>
          <a:blip r:embed="rId3"/>
          <a:stretch>
            <a:fillRect/>
          </a:stretch>
        </p:blipFill>
        <p:spPr>
          <a:xfrm>
            <a:off x="2000254" y="1824645"/>
            <a:ext cx="5401067" cy="3799870"/>
          </a:xfrm>
          <a:prstGeom prst="rect">
            <a:avLst/>
          </a:prstGeom>
          <a:ln>
            <a:solidFill>
              <a:schemeClr val="tx1"/>
            </a:solidFill>
          </a:ln>
        </p:spPr>
      </p:pic>
    </p:spTree>
    <p:extLst>
      <p:ext uri="{BB962C8B-B14F-4D97-AF65-F5344CB8AC3E}">
        <p14:creationId xmlns:p14="http://schemas.microsoft.com/office/powerpoint/2010/main" val="2939595172"/>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6.1.1. Xây dựng lớp</a:t>
            </a:r>
            <a:endParaRPr lang="en-US"/>
          </a:p>
        </p:txBody>
      </p:sp>
      <p:sp>
        <p:nvSpPr>
          <p:cNvPr id="3" name="Content Placeholder 2"/>
          <p:cNvSpPr>
            <a:spLocks noGrp="1"/>
          </p:cNvSpPr>
          <p:nvPr>
            <p:ph idx="1"/>
          </p:nvPr>
        </p:nvSpPr>
        <p:spPr>
          <a:xfrm>
            <a:off x="1385646" y="1808820"/>
            <a:ext cx="6372708" cy="1105830"/>
          </a:xfrm>
        </p:spPr>
        <p:txBody>
          <a:bodyPr wrap="square">
            <a:noAutofit/>
          </a:bodyPr>
          <a:lstStyle/>
          <a:p>
            <a:pPr>
              <a:spcAft>
                <a:spcPts val="450"/>
              </a:spcAft>
            </a:pPr>
            <a:r>
              <a:rPr lang="en-US" smtClean="0"/>
              <a:t>Ví dụ: tạo lớp </a:t>
            </a:r>
            <a:r>
              <a:rPr lang="en-US" sz="2100"/>
              <a:t>Xây dựng lớp HinhTron </a:t>
            </a:r>
            <a:r>
              <a:rPr lang="en-US" sz="2100"/>
              <a:t>có thuộc tính bán kính và </a:t>
            </a:r>
            <a:r>
              <a:rPr lang="en-US" sz="2100"/>
              <a:t>phương thức tính chu </a:t>
            </a:r>
            <a:r>
              <a:rPr lang="en-US" sz="2100"/>
              <a:t>vi, tính diện tích.</a:t>
            </a:r>
            <a:endParaRPr lang="en-US" sz="2100">
              <a:solidFill>
                <a:srgbClr val="000000"/>
              </a:solidFill>
            </a:endParaRPr>
          </a:p>
          <a:p>
            <a:pPr>
              <a:spcAft>
                <a:spcPts val="450"/>
              </a:spcAft>
            </a:pPr>
            <a:endParaRPr lang="en-US" smtClean="0"/>
          </a:p>
          <a:p>
            <a:pPr marL="0" indent="0">
              <a:spcAft>
                <a:spcPts val="450"/>
              </a:spcAft>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108</a:t>
            </a:fld>
            <a:endParaRPr lang="en-US"/>
          </a:p>
        </p:txBody>
      </p:sp>
      <p:pic>
        <p:nvPicPr>
          <p:cNvPr id="6" name="Picture 5"/>
          <p:cNvPicPr>
            <a:picLocks noChangeAspect="1"/>
          </p:cNvPicPr>
          <p:nvPr/>
        </p:nvPicPr>
        <p:blipFill>
          <a:blip r:embed="rId3"/>
          <a:stretch>
            <a:fillRect/>
          </a:stretch>
        </p:blipFill>
        <p:spPr>
          <a:xfrm>
            <a:off x="1520190" y="2882510"/>
            <a:ext cx="6103620" cy="2775347"/>
          </a:xfrm>
          <a:prstGeom prst="rect">
            <a:avLst/>
          </a:prstGeom>
        </p:spPr>
      </p:pic>
    </p:spTree>
    <p:extLst>
      <p:ext uri="{BB962C8B-B14F-4D97-AF65-F5344CB8AC3E}">
        <p14:creationId xmlns:p14="http://schemas.microsoft.com/office/powerpoint/2010/main" val="1395681887"/>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6.1.2. Khai báo và sử dụng đối tượng</a:t>
            </a:r>
            <a:endParaRPr lang="en-US" sz="2400"/>
          </a:p>
        </p:txBody>
      </p:sp>
      <p:sp>
        <p:nvSpPr>
          <p:cNvPr id="3" name="Content Placeholder 2"/>
          <p:cNvSpPr>
            <a:spLocks noGrp="1"/>
          </p:cNvSpPr>
          <p:nvPr>
            <p:ph idx="1"/>
          </p:nvPr>
        </p:nvSpPr>
        <p:spPr>
          <a:xfrm>
            <a:off x="1385646" y="1808826"/>
            <a:ext cx="6372708" cy="3815693"/>
          </a:xfrm>
        </p:spPr>
        <p:txBody>
          <a:bodyPr wrap="square">
            <a:noAutofit/>
          </a:bodyPr>
          <a:lstStyle/>
          <a:p>
            <a:pPr>
              <a:lnSpc>
                <a:spcPct val="120000"/>
              </a:lnSpc>
              <a:spcBef>
                <a:spcPts val="450"/>
              </a:spcBef>
              <a:spcAft>
                <a:spcPts val="450"/>
              </a:spcAft>
              <a:buClr>
                <a:srgbClr val="CC9900"/>
              </a:buClr>
              <a:buSzPct val="100000"/>
            </a:pPr>
            <a:r>
              <a:rPr lang="en-US" sz="2400"/>
              <a:t>Khai báo đối tượng của lớp</a:t>
            </a:r>
          </a:p>
          <a:p>
            <a:pPr marL="245269" lvl="1" indent="0" algn="ctr">
              <a:lnSpc>
                <a:spcPct val="120000"/>
              </a:lnSpc>
              <a:spcBef>
                <a:spcPts val="450"/>
              </a:spcBef>
              <a:spcAft>
                <a:spcPts val="450"/>
              </a:spcAft>
              <a:buClr>
                <a:srgbClr val="CC9900"/>
              </a:buClr>
              <a:buSzPct val="65000"/>
              <a:buNone/>
            </a:pPr>
            <a:r>
              <a:rPr lang="en-US">
                <a:solidFill>
                  <a:srgbClr val="FF0000"/>
                </a:solidFill>
              </a:rPr>
              <a:t>&lt;Tên lớp&gt; &lt;tên đối tượng&gt;=new &lt;tên lớp</a:t>
            </a:r>
            <a:r>
              <a:rPr lang="en-US" smtClean="0">
                <a:solidFill>
                  <a:srgbClr val="FF0000"/>
                </a:solidFill>
              </a:rPr>
              <a:t>&gt;();</a:t>
            </a:r>
          </a:p>
          <a:p>
            <a:pPr marL="245269" lvl="1" indent="0" algn="ctr">
              <a:lnSpc>
                <a:spcPct val="120000"/>
              </a:lnSpc>
              <a:spcBef>
                <a:spcPts val="450"/>
              </a:spcBef>
              <a:spcAft>
                <a:spcPts val="450"/>
              </a:spcAft>
              <a:buClr>
                <a:srgbClr val="CC9900"/>
              </a:buClr>
              <a:buSzPct val="65000"/>
              <a:buNone/>
            </a:pPr>
            <a:r>
              <a:rPr lang="en-US" sz="2400">
                <a:solidFill>
                  <a:srgbClr val="0070C0"/>
                </a:solidFill>
              </a:rPr>
              <a:t>Ví dụ: </a:t>
            </a:r>
            <a:r>
              <a:rPr lang="en-US" sz="2400">
                <a:solidFill>
                  <a:srgbClr val="0070C0"/>
                </a:solidFill>
              </a:rPr>
              <a:t>HinhTron ht=new HinhTron();</a:t>
            </a:r>
          </a:p>
          <a:p>
            <a:pPr>
              <a:lnSpc>
                <a:spcPct val="120000"/>
              </a:lnSpc>
              <a:spcBef>
                <a:spcPts val="450"/>
              </a:spcBef>
              <a:spcAft>
                <a:spcPts val="450"/>
              </a:spcAft>
              <a:buClr>
                <a:srgbClr val="CC9900"/>
              </a:buClr>
              <a:buSzPct val="100000"/>
            </a:pPr>
            <a:r>
              <a:rPr lang="en-US" sz="2400"/>
              <a:t>Truy xuất thành phần của đối </a:t>
            </a:r>
            <a:r>
              <a:rPr lang="en-US" sz="2400"/>
              <a:t>tượng</a:t>
            </a:r>
          </a:p>
          <a:p>
            <a:pPr marL="0" indent="0" algn="ctr">
              <a:lnSpc>
                <a:spcPct val="120000"/>
              </a:lnSpc>
              <a:spcBef>
                <a:spcPts val="450"/>
              </a:spcBef>
              <a:spcAft>
                <a:spcPts val="450"/>
              </a:spcAft>
              <a:buClr>
                <a:srgbClr val="CC9900"/>
              </a:buClr>
              <a:buSzPct val="100000"/>
              <a:buNone/>
            </a:pPr>
            <a:r>
              <a:rPr lang="en-US" sz="2100">
                <a:solidFill>
                  <a:srgbClr val="FF0000"/>
                </a:solidFill>
              </a:rPr>
              <a:t>&lt;tên </a:t>
            </a:r>
            <a:r>
              <a:rPr lang="en-US" sz="2100">
                <a:solidFill>
                  <a:srgbClr val="FF0000"/>
                </a:solidFill>
              </a:rPr>
              <a:t>đối tượng&gt;.&lt;tên thành phần</a:t>
            </a:r>
            <a:r>
              <a:rPr lang="en-US" sz="2100">
                <a:solidFill>
                  <a:srgbClr val="FF0000"/>
                </a:solidFill>
              </a:rPr>
              <a:t>&gt;;</a:t>
            </a:r>
          </a:p>
          <a:p>
            <a:pPr marL="0" indent="0" algn="ctr">
              <a:lnSpc>
                <a:spcPct val="120000"/>
              </a:lnSpc>
              <a:spcBef>
                <a:spcPts val="450"/>
              </a:spcBef>
              <a:spcAft>
                <a:spcPts val="450"/>
              </a:spcAft>
              <a:buClr>
                <a:srgbClr val="CC9900"/>
              </a:buClr>
              <a:buSzPct val="100000"/>
              <a:buNone/>
            </a:pPr>
            <a:r>
              <a:rPr lang="en-US" sz="2400">
                <a:solidFill>
                  <a:srgbClr val="0070C0"/>
                </a:solidFill>
              </a:rPr>
              <a:t>Ví dụ: Gọi </a:t>
            </a:r>
            <a:r>
              <a:rPr lang="en-US" sz="2400">
                <a:solidFill>
                  <a:srgbClr val="0070C0"/>
                </a:solidFill>
              </a:rPr>
              <a:t>phương thức chu vi của đối tượng ht.tinhChuVi();</a:t>
            </a:r>
          </a:p>
        </p:txBody>
      </p:sp>
      <p:sp>
        <p:nvSpPr>
          <p:cNvPr id="4" name="Slide Number Placeholder 3"/>
          <p:cNvSpPr>
            <a:spLocks noGrp="1"/>
          </p:cNvSpPr>
          <p:nvPr>
            <p:ph type="sldNum" sz="quarter" idx="12"/>
          </p:nvPr>
        </p:nvSpPr>
        <p:spPr/>
        <p:txBody>
          <a:bodyPr/>
          <a:lstStyle/>
          <a:p>
            <a:fld id="{E3E8E051-591C-4566-9813-B4BB16D377BD}" type="slidenum">
              <a:rPr lang="en-US" smtClean="0"/>
              <a:pPr/>
              <a:t>109</a:t>
            </a:fld>
            <a:endParaRPr lang="en-US"/>
          </a:p>
        </p:txBody>
      </p:sp>
    </p:spTree>
    <p:extLst>
      <p:ext uri="{BB962C8B-B14F-4D97-AF65-F5344CB8AC3E}">
        <p14:creationId xmlns:p14="http://schemas.microsoft.com/office/powerpoint/2010/main" val="2423428452"/>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6.1.3. Phương thức get, set</a:t>
            </a:r>
            <a:endParaRPr lang="en-US" sz="2400"/>
          </a:p>
        </p:txBody>
      </p:sp>
      <p:sp>
        <p:nvSpPr>
          <p:cNvPr id="3" name="Content Placeholder 2"/>
          <p:cNvSpPr>
            <a:spLocks noGrp="1"/>
          </p:cNvSpPr>
          <p:nvPr>
            <p:ph idx="1"/>
          </p:nvPr>
        </p:nvSpPr>
        <p:spPr>
          <a:xfrm>
            <a:off x="1385646" y="1808826"/>
            <a:ext cx="6372708" cy="3815693"/>
          </a:xfrm>
        </p:spPr>
        <p:txBody>
          <a:bodyPr wrap="square">
            <a:noAutofit/>
          </a:bodyPr>
          <a:lstStyle/>
          <a:p>
            <a:pPr>
              <a:lnSpc>
                <a:spcPct val="120000"/>
              </a:lnSpc>
              <a:spcBef>
                <a:spcPts val="450"/>
              </a:spcBef>
              <a:spcAft>
                <a:spcPts val="450"/>
              </a:spcAft>
              <a:buSzPct val="100000"/>
            </a:pPr>
            <a:r>
              <a:rPr lang="en-US" sz="2400"/>
              <a:t>Get</a:t>
            </a:r>
          </a:p>
          <a:p>
            <a:pPr marL="0" indent="0">
              <a:lnSpc>
                <a:spcPct val="120000"/>
              </a:lnSpc>
              <a:spcBef>
                <a:spcPts val="450"/>
              </a:spcBef>
              <a:spcAft>
                <a:spcPts val="450"/>
              </a:spcAft>
              <a:buSzPct val="100000"/>
              <a:buNone/>
            </a:pPr>
            <a:endParaRPr lang="en-US" sz="2400"/>
          </a:p>
          <a:p>
            <a:pPr marL="0" indent="0">
              <a:lnSpc>
                <a:spcPct val="120000"/>
              </a:lnSpc>
              <a:spcBef>
                <a:spcPts val="450"/>
              </a:spcBef>
              <a:spcAft>
                <a:spcPts val="450"/>
              </a:spcAft>
              <a:buSzPct val="100000"/>
              <a:buNone/>
            </a:pPr>
            <a:endParaRPr lang="en-US" sz="2400"/>
          </a:p>
          <a:p>
            <a:pPr>
              <a:lnSpc>
                <a:spcPct val="120000"/>
              </a:lnSpc>
              <a:spcBef>
                <a:spcPts val="450"/>
              </a:spcBef>
              <a:spcAft>
                <a:spcPts val="450"/>
              </a:spcAft>
              <a:buSzPct val="100000"/>
            </a:pPr>
            <a:r>
              <a:rPr lang="en-US" sz="2400"/>
              <a:t>Set</a:t>
            </a:r>
            <a:endParaRPr lang="en-US" sz="2400">
              <a:solidFill>
                <a:srgbClr val="0070C0"/>
              </a:solidFill>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110</a:t>
            </a:fld>
            <a:endParaRPr lang="en-US"/>
          </a:p>
        </p:txBody>
      </p:sp>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3716" y="2228854"/>
            <a:ext cx="3533534" cy="1170483"/>
          </a:xfrm>
          <a:prstGeom prst="rect">
            <a:avLst/>
          </a:prstGeom>
          <a:ln w="19050">
            <a:solidFill>
              <a:schemeClr val="tx1"/>
            </a:solidFill>
          </a:ln>
        </p:spPr>
      </p:pic>
      <p:pic>
        <p:nvPicPr>
          <p:cNvPr id="6" name="Picture 5"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3720" y="3885351"/>
            <a:ext cx="3924299" cy="1257300"/>
          </a:xfrm>
          <a:prstGeom prst="rect">
            <a:avLst/>
          </a:prstGeom>
          <a:ln w="19050">
            <a:solidFill>
              <a:schemeClr val="tx1"/>
            </a:solidFill>
          </a:ln>
        </p:spPr>
      </p:pic>
    </p:spTree>
    <p:extLst>
      <p:ext uri="{BB962C8B-B14F-4D97-AF65-F5344CB8AC3E}">
        <p14:creationId xmlns:p14="http://schemas.microsoft.com/office/powerpoint/2010/main" val="160327973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6.1.3. Phương thức get, set</a:t>
            </a:r>
            <a:endParaRPr lang="en-US" sz="2400"/>
          </a:p>
        </p:txBody>
      </p:sp>
      <p:sp>
        <p:nvSpPr>
          <p:cNvPr id="4" name="Slide Number Placeholder 3"/>
          <p:cNvSpPr>
            <a:spLocks noGrp="1"/>
          </p:cNvSpPr>
          <p:nvPr>
            <p:ph type="sldNum" sz="quarter" idx="12"/>
          </p:nvPr>
        </p:nvSpPr>
        <p:spPr/>
        <p:txBody>
          <a:bodyPr/>
          <a:lstStyle/>
          <a:p>
            <a:fld id="{E3E8E051-591C-4566-9813-B4BB16D377BD}" type="slidenum">
              <a:rPr lang="en-US" smtClean="0"/>
              <a:pPr/>
              <a:t>111</a:t>
            </a:fld>
            <a:endParaRPr lang="en-US"/>
          </a:p>
        </p:txBody>
      </p:sp>
      <p:pic>
        <p:nvPicPr>
          <p:cNvPr id="8" name="Picture 7"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917" y="1849588"/>
            <a:ext cx="5486400" cy="3668089"/>
          </a:xfrm>
          <a:prstGeom prst="rect">
            <a:avLst/>
          </a:prstGeom>
          <a:ln w="19050">
            <a:solidFill>
              <a:schemeClr val="tx1"/>
            </a:solidFill>
          </a:ln>
        </p:spPr>
      </p:pic>
    </p:spTree>
    <p:extLst>
      <p:ext uri="{BB962C8B-B14F-4D97-AF65-F5344CB8AC3E}">
        <p14:creationId xmlns:p14="http://schemas.microsoft.com/office/powerpoint/2010/main" val="1246174025"/>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6.1.4. Phương thức khởi tạo</a:t>
            </a:r>
            <a:endParaRPr lang="en-US"/>
          </a:p>
        </p:txBody>
      </p:sp>
      <p:sp>
        <p:nvSpPr>
          <p:cNvPr id="3" name="Content Placeholder 2"/>
          <p:cNvSpPr>
            <a:spLocks noGrp="1"/>
          </p:cNvSpPr>
          <p:nvPr>
            <p:ph idx="1"/>
          </p:nvPr>
        </p:nvSpPr>
        <p:spPr>
          <a:xfrm>
            <a:off x="1385646" y="1808826"/>
            <a:ext cx="6372708" cy="3815693"/>
          </a:xfrm>
        </p:spPr>
        <p:txBody>
          <a:bodyPr wrap="square">
            <a:noAutofit/>
          </a:bodyPr>
          <a:lstStyle/>
          <a:p>
            <a:pPr>
              <a:spcBef>
                <a:spcPts val="450"/>
              </a:spcBef>
              <a:spcAft>
                <a:spcPts val="0"/>
              </a:spcAft>
              <a:buSzPct val="100000"/>
              <a:tabLst>
                <a:tab pos="473869" algn="l"/>
              </a:tabLst>
            </a:pPr>
            <a:r>
              <a:rPr lang="en-US"/>
              <a:t>Phương thức khởi tạo dùng để khởi tạo giá trị ban đầu cho các thành phần dữ liệu của đối tượng.</a:t>
            </a:r>
          </a:p>
          <a:p>
            <a:pPr>
              <a:spcBef>
                <a:spcPts val="450"/>
              </a:spcBef>
              <a:spcAft>
                <a:spcPts val="0"/>
              </a:spcAft>
              <a:buSzPct val="100000"/>
              <a:tabLst>
                <a:tab pos="473869" algn="l"/>
              </a:tabLst>
            </a:pPr>
            <a:r>
              <a:rPr lang="en-US"/>
              <a:t>Đặc điểm của phương thức khởi </a:t>
            </a:r>
            <a:r>
              <a:rPr lang="en-US" smtClean="0"/>
              <a:t>tạo</a:t>
            </a:r>
          </a:p>
          <a:p>
            <a:pPr lvl="1">
              <a:spcBef>
                <a:spcPts val="450"/>
              </a:spcBef>
              <a:spcAft>
                <a:spcPts val="0"/>
              </a:spcAft>
              <a:buSzPct val="100000"/>
              <a:tabLst>
                <a:tab pos="473869" algn="l"/>
              </a:tabLst>
            </a:pPr>
            <a:r>
              <a:rPr lang="en-US" sz="2250"/>
              <a:t>Không có kiểu trả </a:t>
            </a:r>
            <a:r>
              <a:rPr lang="en-US" sz="2250"/>
              <a:t>về;</a:t>
            </a:r>
            <a:endParaRPr lang="en-US" sz="2250"/>
          </a:p>
          <a:p>
            <a:pPr lvl="1">
              <a:spcBef>
                <a:spcPts val="450"/>
              </a:spcBef>
              <a:spcAft>
                <a:spcPts val="0"/>
              </a:spcAft>
              <a:buSzPct val="100000"/>
              <a:tabLst>
                <a:tab pos="473869" algn="l"/>
              </a:tabLst>
            </a:pPr>
            <a:r>
              <a:rPr lang="en-US" sz="2250"/>
              <a:t>Trùng </a:t>
            </a:r>
            <a:r>
              <a:rPr lang="en-US" sz="2250"/>
              <a:t>tên với tên </a:t>
            </a:r>
            <a:r>
              <a:rPr lang="en-US" sz="2250"/>
              <a:t>lớp;</a:t>
            </a:r>
          </a:p>
          <a:p>
            <a:pPr lvl="1">
              <a:spcBef>
                <a:spcPts val="450"/>
              </a:spcBef>
              <a:spcAft>
                <a:spcPts val="0"/>
              </a:spcAft>
              <a:buSzPct val="100000"/>
              <a:tabLst>
                <a:tab pos="473869" algn="l"/>
              </a:tabLst>
            </a:pPr>
            <a:r>
              <a:rPr lang="en-US" sz="2250"/>
              <a:t>Phạm </a:t>
            </a:r>
            <a:r>
              <a:rPr lang="en-US" sz="2250"/>
              <a:t>vi truy xuất thường là </a:t>
            </a:r>
            <a:r>
              <a:rPr lang="en-US" sz="2250"/>
              <a:t>public;</a:t>
            </a:r>
          </a:p>
          <a:p>
            <a:pPr lvl="1">
              <a:spcBef>
                <a:spcPts val="450"/>
              </a:spcBef>
              <a:spcAft>
                <a:spcPts val="0"/>
              </a:spcAft>
              <a:buSzPct val="100000"/>
              <a:tabLst>
                <a:tab pos="473869" algn="l"/>
              </a:tabLst>
            </a:pPr>
            <a:r>
              <a:rPr lang="en-US" sz="2250"/>
              <a:t>Một </a:t>
            </a:r>
            <a:r>
              <a:rPr lang="en-US" sz="2250"/>
              <a:t>lớp có thể có nhiều phương thức khởi </a:t>
            </a:r>
            <a:r>
              <a:rPr lang="en-US" sz="2250"/>
              <a:t>tạo;</a:t>
            </a:r>
          </a:p>
          <a:p>
            <a:pPr lvl="1">
              <a:spcBef>
                <a:spcPts val="450"/>
              </a:spcBef>
              <a:spcAft>
                <a:spcPts val="0"/>
              </a:spcAft>
              <a:buSzPct val="100000"/>
              <a:tabLst>
                <a:tab pos="473869" algn="l"/>
              </a:tabLst>
            </a:pPr>
            <a:r>
              <a:rPr lang="en-US" sz="2250"/>
              <a:t>Được </a:t>
            </a:r>
            <a:r>
              <a:rPr lang="en-US" sz="2250"/>
              <a:t>tự động gọi khi đối tượng được tạo ra.</a:t>
            </a:r>
          </a:p>
          <a:p>
            <a:pPr>
              <a:spcAft>
                <a:spcPts val="450"/>
              </a:spcAft>
            </a:pPr>
            <a:endParaRPr lang="en-US" smtClean="0"/>
          </a:p>
          <a:p>
            <a:pPr marL="0" indent="0">
              <a:spcAft>
                <a:spcPts val="450"/>
              </a:spcAft>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112</a:t>
            </a:fld>
            <a:endParaRPr lang="en-US"/>
          </a:p>
        </p:txBody>
      </p:sp>
    </p:spTree>
    <p:extLst>
      <p:ext uri="{BB962C8B-B14F-4D97-AF65-F5344CB8AC3E}">
        <p14:creationId xmlns:p14="http://schemas.microsoft.com/office/powerpoint/2010/main" val="2778706064"/>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6.1.4. Phương thức khởi tạo</a:t>
            </a:r>
            <a:endParaRPr lang="en-US"/>
          </a:p>
        </p:txBody>
      </p:sp>
      <p:sp>
        <p:nvSpPr>
          <p:cNvPr id="3" name="Content Placeholder 2"/>
          <p:cNvSpPr>
            <a:spLocks noGrp="1"/>
          </p:cNvSpPr>
          <p:nvPr>
            <p:ph idx="1"/>
          </p:nvPr>
        </p:nvSpPr>
        <p:spPr>
          <a:xfrm>
            <a:off x="1385646" y="1808826"/>
            <a:ext cx="6372708" cy="3815693"/>
          </a:xfrm>
        </p:spPr>
        <p:txBody>
          <a:bodyPr wrap="square">
            <a:noAutofit/>
          </a:bodyPr>
          <a:lstStyle/>
          <a:p>
            <a:pPr>
              <a:spcBef>
                <a:spcPts val="450"/>
              </a:spcBef>
              <a:spcAft>
                <a:spcPts val="0"/>
              </a:spcAft>
              <a:buSzPct val="100000"/>
              <a:tabLst>
                <a:tab pos="473869" algn="l"/>
              </a:tabLst>
            </a:pPr>
            <a:r>
              <a:rPr lang="en-US" smtClean="0"/>
              <a:t>Phương thức khởi tạo mặc định</a:t>
            </a:r>
          </a:p>
          <a:p>
            <a:pPr>
              <a:spcBef>
                <a:spcPts val="450"/>
              </a:spcBef>
              <a:spcAft>
                <a:spcPts val="0"/>
              </a:spcAft>
              <a:buSzPct val="100000"/>
              <a:tabLst>
                <a:tab pos="473869" algn="l"/>
              </a:tabLst>
            </a:pPr>
            <a:r>
              <a:rPr lang="en-US"/>
              <a:t>Phương thức khởi tạo có tham số</a:t>
            </a:r>
          </a:p>
          <a:p>
            <a:pPr>
              <a:spcBef>
                <a:spcPts val="450"/>
              </a:spcBef>
              <a:spcAft>
                <a:spcPts val="0"/>
              </a:spcAft>
              <a:buSzPct val="100000"/>
              <a:tabLst>
                <a:tab pos="473869" algn="l"/>
              </a:tabLst>
            </a:pPr>
            <a:r>
              <a:rPr lang="en-US" smtClean="0"/>
              <a:t>Phương thức khởi tạo sao chép</a:t>
            </a:r>
            <a:endParaRPr lang="en-US"/>
          </a:p>
          <a:p>
            <a:pPr>
              <a:spcAft>
                <a:spcPts val="450"/>
              </a:spcAft>
            </a:pPr>
            <a:endParaRPr lang="en-US" smtClean="0"/>
          </a:p>
          <a:p>
            <a:pPr marL="0" indent="0">
              <a:spcAft>
                <a:spcPts val="450"/>
              </a:spcAft>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113</a:t>
            </a:fld>
            <a:endParaRPr lang="en-US"/>
          </a:p>
        </p:txBody>
      </p:sp>
    </p:spTree>
    <p:extLst>
      <p:ext uri="{BB962C8B-B14F-4D97-AF65-F5344CB8AC3E}">
        <p14:creationId xmlns:p14="http://schemas.microsoft.com/office/powerpoint/2010/main" val="3420070777"/>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6.1.4. Phương thức khởi tạo</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114</a:t>
            </a:fld>
            <a:endParaRPr lang="en-US"/>
          </a:p>
        </p:txBody>
      </p:sp>
      <p:pic>
        <p:nvPicPr>
          <p:cNvPr id="6" name="Picture 5"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2050" y="3171828"/>
            <a:ext cx="2971800" cy="1471042"/>
          </a:xfrm>
          <a:prstGeom prst="rect">
            <a:avLst/>
          </a:prstGeom>
          <a:ln w="12700">
            <a:solidFill>
              <a:srgbClr val="0070C0"/>
            </a:solidFill>
          </a:ln>
        </p:spPr>
      </p:pic>
      <p:pic>
        <p:nvPicPr>
          <p:cNvPr id="7" name="Picture 6"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4457" y="1885159"/>
            <a:ext cx="3474383" cy="3658715"/>
          </a:xfrm>
          <a:prstGeom prst="rect">
            <a:avLst/>
          </a:prstGeom>
          <a:ln w="12700">
            <a:solidFill>
              <a:srgbClr val="0070C0"/>
            </a:solidFill>
          </a:ln>
        </p:spPr>
      </p:pic>
      <p:sp>
        <p:nvSpPr>
          <p:cNvPr id="8" name="Oval 7"/>
          <p:cNvSpPr/>
          <p:nvPr/>
        </p:nvSpPr>
        <p:spPr>
          <a:xfrm>
            <a:off x="1314450" y="2598479"/>
            <a:ext cx="2400300" cy="1200150"/>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314450" y="3992855"/>
            <a:ext cx="3371850" cy="1200150"/>
          </a:xfrm>
          <a:prstGeom prst="ellips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ine Callout 2 9"/>
          <p:cNvSpPr/>
          <p:nvPr/>
        </p:nvSpPr>
        <p:spPr>
          <a:xfrm>
            <a:off x="5715001" y="1828804"/>
            <a:ext cx="1864518" cy="975633"/>
          </a:xfrm>
          <a:prstGeom prst="borderCallout2">
            <a:avLst>
              <a:gd name="adj1" fmla="val 22934"/>
              <a:gd name="adj2" fmla="val -13"/>
              <a:gd name="adj3" fmla="val 32655"/>
              <a:gd name="adj4" fmla="val -59072"/>
              <a:gd name="adj5" fmla="val 117332"/>
              <a:gd name="adj6" fmla="val -118349"/>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a:t>Phương thức khởi tạo không tham số </a:t>
            </a:r>
          </a:p>
          <a:p>
            <a:pPr algn="ctr"/>
            <a:r>
              <a:rPr lang="en-US"/>
              <a:t>(PTKT mặc định) </a:t>
            </a:r>
            <a:endParaRPr lang="en-US"/>
          </a:p>
        </p:txBody>
      </p:sp>
      <p:sp>
        <p:nvSpPr>
          <p:cNvPr id="11" name="Line Callout 2 10"/>
          <p:cNvSpPr/>
          <p:nvPr/>
        </p:nvSpPr>
        <p:spPr>
          <a:xfrm>
            <a:off x="5739494" y="4751619"/>
            <a:ext cx="1864518" cy="975633"/>
          </a:xfrm>
          <a:prstGeom prst="borderCallout2">
            <a:avLst>
              <a:gd name="adj1" fmla="val 52223"/>
              <a:gd name="adj2" fmla="val -889"/>
              <a:gd name="adj3" fmla="val 62781"/>
              <a:gd name="adj4" fmla="val -54693"/>
              <a:gd name="adj5" fmla="val 31238"/>
              <a:gd name="adj6" fmla="val -5823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Phương thức khởi tạo có tham số </a:t>
            </a:r>
          </a:p>
          <a:p>
            <a:pPr algn="ctr"/>
            <a:r>
              <a:rPr lang="en-US"/>
              <a:t>(2 tham số) </a:t>
            </a:r>
            <a:endParaRPr lang="en-US"/>
          </a:p>
        </p:txBody>
      </p:sp>
      <p:cxnSp>
        <p:nvCxnSpPr>
          <p:cNvPr id="12" name="Elbow Connector 11"/>
          <p:cNvCxnSpPr/>
          <p:nvPr/>
        </p:nvCxnSpPr>
        <p:spPr>
          <a:xfrm rot="10800000">
            <a:off x="3714750" y="3286125"/>
            <a:ext cx="3200400" cy="400050"/>
          </a:xfrm>
          <a:prstGeom prst="bentConnector3">
            <a:avLst>
              <a:gd name="adj1" fmla="val -420"/>
            </a:avLst>
          </a:prstGeom>
          <a:ln w="28575">
            <a:solidFill>
              <a:srgbClr val="990099"/>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p:nvPr/>
        </p:nvCxnSpPr>
        <p:spPr>
          <a:xfrm rot="10800000" flipV="1">
            <a:off x="4686300" y="4276049"/>
            <a:ext cx="2400300" cy="338818"/>
          </a:xfrm>
          <a:prstGeom prst="bentConnector3">
            <a:avLst>
              <a:gd name="adj1" fmla="val -340"/>
            </a:avLst>
          </a:prstGeom>
          <a:ln w="28575">
            <a:solidFill>
              <a:srgbClr val="99009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0644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righ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right)">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6.1.4. Phương thức khởi tạo</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115</a:t>
            </a:fld>
            <a:endParaRPr lang="en-US"/>
          </a:p>
        </p:txBody>
      </p:sp>
      <p:pic>
        <p:nvPicPr>
          <p:cNvPr id="3" name="Picture 2"/>
          <p:cNvPicPr>
            <a:picLocks noChangeAspect="1"/>
          </p:cNvPicPr>
          <p:nvPr/>
        </p:nvPicPr>
        <p:blipFill>
          <a:blip r:embed="rId3"/>
          <a:stretch>
            <a:fillRect/>
          </a:stretch>
        </p:blipFill>
        <p:spPr>
          <a:xfrm>
            <a:off x="1521620" y="1810103"/>
            <a:ext cx="6309360" cy="3817427"/>
          </a:xfrm>
          <a:prstGeom prst="rect">
            <a:avLst/>
          </a:prstGeom>
        </p:spPr>
      </p:pic>
    </p:spTree>
    <p:extLst>
      <p:ext uri="{BB962C8B-B14F-4D97-AF65-F5344CB8AC3E}">
        <p14:creationId xmlns:p14="http://schemas.microsoft.com/office/powerpoint/2010/main" val="2760750595"/>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6.1.4. Phương thức khởi tạo</a:t>
            </a:r>
            <a:endParaRPr lang="en-US"/>
          </a:p>
        </p:txBody>
      </p:sp>
      <p:sp>
        <p:nvSpPr>
          <p:cNvPr id="3" name="Content Placeholder 2"/>
          <p:cNvSpPr>
            <a:spLocks noGrp="1"/>
          </p:cNvSpPr>
          <p:nvPr>
            <p:ph idx="1"/>
          </p:nvPr>
        </p:nvSpPr>
        <p:spPr>
          <a:xfrm>
            <a:off x="1385646" y="1808826"/>
            <a:ext cx="6372708" cy="1963081"/>
          </a:xfrm>
        </p:spPr>
        <p:txBody>
          <a:bodyPr wrap="square">
            <a:noAutofit/>
          </a:bodyPr>
          <a:lstStyle/>
          <a:p>
            <a:pPr>
              <a:spcBef>
                <a:spcPts val="450"/>
              </a:spcBef>
              <a:spcAft>
                <a:spcPts val="0"/>
              </a:spcAft>
              <a:buSzPct val="100000"/>
              <a:tabLst>
                <a:tab pos="473869" algn="l"/>
              </a:tabLst>
            </a:pPr>
            <a:r>
              <a:rPr lang="en-US" smtClean="0"/>
              <a:t>Phương thức khởi tạo sao chép (copy contructor)</a:t>
            </a:r>
          </a:p>
          <a:p>
            <a:pPr lvl="1">
              <a:spcBef>
                <a:spcPts val="450"/>
              </a:spcBef>
              <a:spcAft>
                <a:spcPts val="0"/>
              </a:spcAft>
              <a:buSzPct val="100000"/>
              <a:tabLst>
                <a:tab pos="473869" algn="l"/>
              </a:tabLst>
            </a:pPr>
            <a:r>
              <a:rPr lang="en-US" smtClean="0"/>
              <a:t>Có tham số là một đối tượng cùng lớp</a:t>
            </a:r>
          </a:p>
          <a:p>
            <a:pPr lvl="1">
              <a:spcBef>
                <a:spcPts val="450"/>
              </a:spcBef>
              <a:spcAft>
                <a:spcPts val="0"/>
              </a:spcAft>
              <a:buSzPct val="100000"/>
              <a:tabLst>
                <a:tab pos="473869" algn="l"/>
              </a:tabLst>
            </a:pPr>
            <a:r>
              <a:rPr lang="en-US" smtClean="0"/>
              <a:t>Được sử dụng để tạo ra một đối tượng mới “giống” với đối tượng đã có.</a:t>
            </a:r>
          </a:p>
          <a:p>
            <a:pPr lvl="1">
              <a:spcBef>
                <a:spcPts val="450"/>
              </a:spcBef>
              <a:spcAft>
                <a:spcPts val="0"/>
              </a:spcAft>
              <a:buSzPct val="100000"/>
              <a:tabLst>
                <a:tab pos="473869" algn="l"/>
              </a:tabLst>
            </a:pPr>
            <a:endParaRPr lang="en-US"/>
          </a:p>
          <a:p>
            <a:pPr>
              <a:spcAft>
                <a:spcPts val="450"/>
              </a:spcAft>
            </a:pPr>
            <a:endParaRPr lang="en-US" smtClean="0"/>
          </a:p>
          <a:p>
            <a:pPr marL="0" indent="0">
              <a:spcAft>
                <a:spcPts val="450"/>
              </a:spcAft>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116</a:t>
            </a:fld>
            <a:endParaRPr lang="en-US"/>
          </a:p>
        </p:txBody>
      </p:sp>
      <p:pic>
        <p:nvPicPr>
          <p:cNvPr id="6" name="Picture 5"/>
          <p:cNvPicPr>
            <a:picLocks noChangeAspect="1"/>
          </p:cNvPicPr>
          <p:nvPr/>
        </p:nvPicPr>
        <p:blipFill>
          <a:blip r:embed="rId3"/>
          <a:stretch>
            <a:fillRect/>
          </a:stretch>
        </p:blipFill>
        <p:spPr>
          <a:xfrm>
            <a:off x="1743077" y="4007057"/>
            <a:ext cx="6054472" cy="1250746"/>
          </a:xfrm>
          <a:prstGeom prst="rect">
            <a:avLst/>
          </a:prstGeom>
        </p:spPr>
      </p:pic>
    </p:spTree>
    <p:extLst>
      <p:ext uri="{BB962C8B-B14F-4D97-AF65-F5344CB8AC3E}">
        <p14:creationId xmlns:p14="http://schemas.microsoft.com/office/powerpoint/2010/main" val="1729569628"/>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4450" y="971550"/>
            <a:ext cx="6572250" cy="857250"/>
          </a:xfrm>
        </p:spPr>
        <p:txBody>
          <a:bodyPr/>
          <a:lstStyle/>
          <a:p>
            <a:r>
              <a:rPr lang="en-US" sz="2400"/>
              <a:t>6.1.5. Nạp chồng phương thức (overload)</a:t>
            </a:r>
            <a:endParaRPr lang="en-US"/>
          </a:p>
        </p:txBody>
      </p:sp>
      <p:sp>
        <p:nvSpPr>
          <p:cNvPr id="3" name="Content Placeholder 2"/>
          <p:cNvSpPr>
            <a:spLocks noGrp="1"/>
          </p:cNvSpPr>
          <p:nvPr>
            <p:ph idx="1"/>
          </p:nvPr>
        </p:nvSpPr>
        <p:spPr>
          <a:xfrm>
            <a:off x="1385646" y="1808819"/>
            <a:ext cx="6372708" cy="3815694"/>
          </a:xfrm>
        </p:spPr>
        <p:txBody>
          <a:bodyPr wrap="square">
            <a:noAutofit/>
          </a:bodyPr>
          <a:lstStyle/>
          <a:p>
            <a:pPr>
              <a:spcBef>
                <a:spcPts val="450"/>
              </a:spcBef>
              <a:spcAft>
                <a:spcPts val="0"/>
              </a:spcAft>
              <a:buSzPct val="100000"/>
              <a:tabLst>
                <a:tab pos="473869" algn="l"/>
              </a:tabLst>
            </a:pPr>
            <a:r>
              <a:rPr lang="en-US" smtClean="0"/>
              <a:t>Định nghĩa nhiều phương thức trùng tên cùng tồn tại trong một lớp.</a:t>
            </a:r>
          </a:p>
          <a:p>
            <a:pPr>
              <a:spcBef>
                <a:spcPts val="450"/>
              </a:spcBef>
              <a:spcAft>
                <a:spcPts val="0"/>
              </a:spcAft>
              <a:buSzPct val="100000"/>
              <a:tabLst>
                <a:tab pos="473869" algn="l"/>
              </a:tabLst>
            </a:pPr>
            <a:r>
              <a:rPr lang="en-US" smtClean="0"/>
              <a:t>Các phương thức trùng tên phải khác nhau về tham số</a:t>
            </a:r>
          </a:p>
          <a:p>
            <a:pPr lvl="1">
              <a:spcBef>
                <a:spcPts val="450"/>
              </a:spcBef>
              <a:spcAft>
                <a:spcPts val="0"/>
              </a:spcAft>
              <a:buSzPct val="100000"/>
              <a:tabLst>
                <a:tab pos="473869" algn="l"/>
              </a:tabLst>
            </a:pPr>
            <a:r>
              <a:rPr lang="en-US" smtClean="0"/>
              <a:t>Khác nhau về số lượng tham số</a:t>
            </a:r>
          </a:p>
          <a:p>
            <a:pPr lvl="1">
              <a:spcBef>
                <a:spcPts val="450"/>
              </a:spcBef>
              <a:spcAft>
                <a:spcPts val="0"/>
              </a:spcAft>
              <a:buSzPct val="100000"/>
              <a:tabLst>
                <a:tab pos="473869" algn="l"/>
              </a:tabLst>
            </a:pPr>
            <a:r>
              <a:rPr lang="en-US" smtClean="0"/>
              <a:t>Khác nhau về kiểu tham số</a:t>
            </a:r>
          </a:p>
          <a:p>
            <a:pPr lvl="1">
              <a:spcBef>
                <a:spcPts val="450"/>
              </a:spcBef>
              <a:spcAft>
                <a:spcPts val="0"/>
              </a:spcAft>
              <a:buSzPct val="100000"/>
              <a:tabLst>
                <a:tab pos="473869" algn="l"/>
              </a:tabLst>
            </a:pPr>
            <a:r>
              <a:rPr lang="en-US" smtClean="0"/>
              <a:t>Khác nhau về thứ tự các tham số</a:t>
            </a:r>
          </a:p>
          <a:p>
            <a:pPr>
              <a:spcBef>
                <a:spcPts val="450"/>
              </a:spcBef>
              <a:spcAft>
                <a:spcPts val="0"/>
              </a:spcAft>
              <a:buSzPct val="100000"/>
              <a:tabLst>
                <a:tab pos="473869" algn="l"/>
              </a:tabLst>
            </a:pPr>
            <a:r>
              <a:rPr lang="en-US" smtClean="0"/>
              <a:t>Lưu ý</a:t>
            </a:r>
          </a:p>
          <a:p>
            <a:pPr lvl="1">
              <a:spcBef>
                <a:spcPts val="450"/>
              </a:spcBef>
              <a:spcAft>
                <a:spcPts val="0"/>
              </a:spcAft>
              <a:buSzPct val="100000"/>
              <a:tabLst>
                <a:tab pos="473869" algn="l"/>
              </a:tabLst>
            </a:pPr>
            <a:r>
              <a:rPr lang="en-US" smtClean="0"/>
              <a:t>Không quan tâm đến kiểu tra về của phương thức và tên của tham số.</a:t>
            </a:r>
          </a:p>
          <a:p>
            <a:pPr lvl="1">
              <a:spcBef>
                <a:spcPts val="450"/>
              </a:spcBef>
              <a:spcAft>
                <a:spcPts val="0"/>
              </a:spcAft>
              <a:buSzPct val="100000"/>
              <a:tabLst>
                <a:tab pos="473869" algn="l"/>
              </a:tabLst>
            </a:pPr>
            <a:endParaRPr lang="en-US" smtClean="0"/>
          </a:p>
          <a:p>
            <a:pPr lvl="1">
              <a:spcBef>
                <a:spcPts val="450"/>
              </a:spcBef>
              <a:spcAft>
                <a:spcPts val="0"/>
              </a:spcAft>
              <a:buSzPct val="100000"/>
              <a:tabLst>
                <a:tab pos="473869" algn="l"/>
              </a:tabLst>
            </a:pPr>
            <a:endParaRPr lang="en-US"/>
          </a:p>
          <a:p>
            <a:pPr>
              <a:spcAft>
                <a:spcPts val="450"/>
              </a:spcAft>
            </a:pPr>
            <a:endParaRPr lang="en-US" smtClean="0"/>
          </a:p>
          <a:p>
            <a:pPr marL="0" indent="0">
              <a:spcAft>
                <a:spcPts val="450"/>
              </a:spcAft>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117</a:t>
            </a:fld>
            <a:endParaRPr lang="en-US"/>
          </a:p>
        </p:txBody>
      </p:sp>
    </p:spTree>
    <p:extLst>
      <p:ext uri="{BB962C8B-B14F-4D97-AF65-F5344CB8AC3E}">
        <p14:creationId xmlns:p14="http://schemas.microsoft.com/office/powerpoint/2010/main" val="712334985"/>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4450" y="971550"/>
            <a:ext cx="6572250" cy="857250"/>
          </a:xfrm>
        </p:spPr>
        <p:txBody>
          <a:bodyPr/>
          <a:lstStyle/>
          <a:p>
            <a:r>
              <a:rPr lang="en-US" sz="2400"/>
              <a:t>6.1.5. Nạp chồng phương thức (overload)</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118</a:t>
            </a:fld>
            <a:endParaRPr lang="en-US"/>
          </a:p>
        </p:txBody>
      </p:sp>
      <p:pic>
        <p:nvPicPr>
          <p:cNvPr id="6" name="Picture 5"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1985770"/>
            <a:ext cx="2800350" cy="3462595"/>
          </a:xfrm>
          <a:prstGeom prst="rect">
            <a:avLst/>
          </a:prstGeom>
          <a:ln w="15875">
            <a:solidFill>
              <a:schemeClr val="accent1"/>
            </a:solidFill>
          </a:ln>
        </p:spPr>
      </p:pic>
      <p:sp>
        <p:nvSpPr>
          <p:cNvPr id="7" name="object 35"/>
          <p:cNvSpPr txBox="1"/>
          <p:nvPr/>
        </p:nvSpPr>
        <p:spPr>
          <a:xfrm>
            <a:off x="3285737" y="1828800"/>
            <a:ext cx="4600967" cy="1730502"/>
          </a:xfrm>
          <a:prstGeom prst="rect">
            <a:avLst/>
          </a:prstGeom>
        </p:spPr>
        <p:style>
          <a:lnRef idx="2">
            <a:schemeClr val="accent1"/>
          </a:lnRef>
          <a:fillRef idx="1">
            <a:schemeClr val="lt1"/>
          </a:fillRef>
          <a:effectRef idx="0">
            <a:schemeClr val="accent1"/>
          </a:effectRef>
          <a:fontRef idx="minor">
            <a:schemeClr val="dk1"/>
          </a:fontRef>
        </p:style>
        <p:txBody>
          <a:bodyPr wrap="square" lIns="0" tIns="0" rIns="0" bIns="0" rtlCol="0">
            <a:noAutofit/>
          </a:bodyPr>
          <a:lstStyle/>
          <a:p>
            <a:pPr marL="69266">
              <a:lnSpc>
                <a:spcPct val="97574"/>
              </a:lnSpc>
              <a:spcBef>
                <a:spcPts val="304"/>
              </a:spcBef>
            </a:pPr>
            <a:r>
              <a:rPr sz="1200" b="1" dirty="0">
                <a:solidFill>
                  <a:srgbClr val="0E6F00"/>
                </a:solidFill>
                <a:latin typeface="Consolas"/>
                <a:cs typeface="Consolas"/>
              </a:rPr>
              <a:t>class</a:t>
            </a:r>
            <a:r>
              <a:rPr sz="1200" b="1" spc="-32" dirty="0">
                <a:solidFill>
                  <a:srgbClr val="0E6F00"/>
                </a:solidFill>
                <a:latin typeface="Consolas"/>
                <a:cs typeface="Consolas"/>
              </a:rPr>
              <a:t> </a:t>
            </a:r>
            <a:r>
              <a:rPr sz="1200" b="1" dirty="0">
                <a:solidFill>
                  <a:srgbClr val="0000FF"/>
                </a:solidFill>
                <a:latin typeface="Consolas"/>
                <a:cs typeface="Consolas"/>
              </a:rPr>
              <a:t>Point2D</a:t>
            </a:r>
            <a:r>
              <a:rPr sz="1200" b="1" spc="-57" dirty="0">
                <a:solidFill>
                  <a:srgbClr val="0000FF"/>
                </a:solidFill>
                <a:latin typeface="Consolas"/>
                <a:cs typeface="Consolas"/>
              </a:rPr>
              <a:t> </a:t>
            </a:r>
            <a:r>
              <a:rPr sz="1200" dirty="0">
                <a:solidFill>
                  <a:srgbClr val="525252"/>
                </a:solidFill>
                <a:latin typeface="Consolas"/>
                <a:cs typeface="Consolas"/>
              </a:rPr>
              <a:t>{</a:t>
            </a:r>
            <a:endParaRPr sz="1200">
              <a:latin typeface="Consolas"/>
              <a:cs typeface="Consolas"/>
            </a:endParaRPr>
          </a:p>
          <a:p>
            <a:pPr marL="236144">
              <a:lnSpc>
                <a:spcPct val="97574"/>
              </a:lnSpc>
              <a:spcBef>
                <a:spcPts val="34"/>
              </a:spcBef>
            </a:pPr>
            <a:r>
              <a:rPr sz="1200" b="1" spc="-3" dirty="0">
                <a:solidFill>
                  <a:srgbClr val="0E6F00"/>
                </a:solidFill>
                <a:latin typeface="Consolas"/>
                <a:cs typeface="Consolas"/>
              </a:rPr>
              <a:t>publi</a:t>
            </a:r>
            <a:r>
              <a:rPr sz="1200" b="1" dirty="0">
                <a:solidFill>
                  <a:srgbClr val="0E6F00"/>
                </a:solidFill>
                <a:latin typeface="Consolas"/>
                <a:cs typeface="Consolas"/>
              </a:rPr>
              <a:t>c</a:t>
            </a:r>
            <a:r>
              <a:rPr sz="1200" b="1" spc="-39" dirty="0">
                <a:solidFill>
                  <a:srgbClr val="0E6F00"/>
                </a:solidFill>
                <a:latin typeface="Consolas"/>
                <a:cs typeface="Consolas"/>
              </a:rPr>
              <a:t> </a:t>
            </a:r>
            <a:r>
              <a:rPr sz="1200" spc="-3" dirty="0">
                <a:solidFill>
                  <a:srgbClr val="9E0030"/>
                </a:solidFill>
                <a:latin typeface="Consolas"/>
                <a:cs typeface="Consolas"/>
              </a:rPr>
              <a:t>voi</a:t>
            </a:r>
            <a:r>
              <a:rPr sz="1200" dirty="0">
                <a:solidFill>
                  <a:srgbClr val="9E0030"/>
                </a:solidFill>
                <a:latin typeface="Consolas"/>
                <a:cs typeface="Consolas"/>
              </a:rPr>
              <a:t>d</a:t>
            </a:r>
            <a:r>
              <a:rPr sz="1200" spc="-41" dirty="0">
                <a:solidFill>
                  <a:srgbClr val="9E0030"/>
                </a:solidFill>
                <a:latin typeface="Consolas"/>
                <a:cs typeface="Consolas"/>
              </a:rPr>
              <a:t> </a:t>
            </a:r>
            <a:r>
              <a:rPr sz="1200" spc="-3" dirty="0">
                <a:solidFill>
                  <a:srgbClr val="0000FF"/>
                </a:solidFill>
                <a:latin typeface="Consolas"/>
                <a:cs typeface="Consolas"/>
              </a:rPr>
              <a:t>hienth</a:t>
            </a:r>
            <a:r>
              <a:rPr sz="1200" dirty="0">
                <a:solidFill>
                  <a:srgbClr val="0000FF"/>
                </a:solidFill>
                <a:latin typeface="Consolas"/>
                <a:cs typeface="Consolas"/>
              </a:rPr>
              <a:t>i</a:t>
            </a:r>
            <a:r>
              <a:rPr sz="1200" spc="-3" dirty="0">
                <a:solidFill>
                  <a:srgbClr val="525252"/>
                </a:solidFill>
                <a:latin typeface="Consolas"/>
                <a:cs typeface="Consolas"/>
              </a:rPr>
              <a:t>(</a:t>
            </a:r>
            <a:r>
              <a:rPr sz="1200" dirty="0">
                <a:solidFill>
                  <a:srgbClr val="525252"/>
                </a:solidFill>
                <a:latin typeface="Consolas"/>
                <a:cs typeface="Consolas"/>
              </a:rPr>
              <a:t>)</a:t>
            </a:r>
            <a:r>
              <a:rPr sz="1200" spc="-59" dirty="0">
                <a:solidFill>
                  <a:srgbClr val="525252"/>
                </a:solidFill>
                <a:latin typeface="Consolas"/>
                <a:cs typeface="Consolas"/>
              </a:rPr>
              <a:t> </a:t>
            </a:r>
            <a:r>
              <a:rPr sz="1200" dirty="0">
                <a:solidFill>
                  <a:srgbClr val="525252"/>
                </a:solidFill>
                <a:latin typeface="Consolas"/>
                <a:cs typeface="Consolas"/>
              </a:rPr>
              <a:t>{</a:t>
            </a:r>
            <a:endParaRPr sz="1200">
              <a:latin typeface="Consolas"/>
              <a:cs typeface="Consolas"/>
            </a:endParaRPr>
          </a:p>
          <a:p>
            <a:pPr marL="403003">
              <a:lnSpc>
                <a:spcPct val="97574"/>
              </a:lnSpc>
              <a:spcBef>
                <a:spcPts val="34"/>
              </a:spcBef>
            </a:pPr>
            <a:r>
              <a:rPr sz="1200" dirty="0">
                <a:latin typeface="Consolas"/>
                <a:cs typeface="Consolas"/>
              </a:rPr>
              <a:t>System</a:t>
            </a:r>
            <a:r>
              <a:rPr sz="1200" dirty="0">
                <a:solidFill>
                  <a:srgbClr val="525252"/>
                </a:solidFill>
                <a:latin typeface="Consolas"/>
                <a:cs typeface="Consolas"/>
              </a:rPr>
              <a:t>.</a:t>
            </a:r>
            <a:r>
              <a:rPr sz="1200" dirty="0">
                <a:solidFill>
                  <a:srgbClr val="6A801F"/>
                </a:solidFill>
                <a:latin typeface="Consolas"/>
                <a:cs typeface="Consolas"/>
              </a:rPr>
              <a:t>ou</a:t>
            </a:r>
            <a:r>
              <a:rPr sz="1200" spc="-11" dirty="0">
                <a:solidFill>
                  <a:srgbClr val="6A801F"/>
                </a:solidFill>
                <a:latin typeface="Consolas"/>
                <a:cs typeface="Consolas"/>
              </a:rPr>
              <a:t>t</a:t>
            </a:r>
            <a:r>
              <a:rPr sz="1200" dirty="0">
                <a:solidFill>
                  <a:srgbClr val="525252"/>
                </a:solidFill>
                <a:latin typeface="Consolas"/>
                <a:cs typeface="Consolas"/>
              </a:rPr>
              <a:t>.</a:t>
            </a:r>
            <a:r>
              <a:rPr sz="1200" dirty="0">
                <a:solidFill>
                  <a:srgbClr val="6A801F"/>
                </a:solidFill>
                <a:latin typeface="Consolas"/>
                <a:cs typeface="Consolas"/>
              </a:rPr>
              <a:t>printl</a:t>
            </a:r>
            <a:r>
              <a:rPr sz="1200" spc="3" dirty="0">
                <a:solidFill>
                  <a:srgbClr val="6A801F"/>
                </a:solidFill>
                <a:latin typeface="Consolas"/>
                <a:cs typeface="Consolas"/>
              </a:rPr>
              <a:t>n</a:t>
            </a:r>
            <a:r>
              <a:rPr sz="1200" dirty="0">
                <a:solidFill>
                  <a:srgbClr val="525252"/>
                </a:solidFill>
                <a:latin typeface="Consolas"/>
                <a:cs typeface="Consolas"/>
              </a:rPr>
              <a:t>(</a:t>
            </a:r>
            <a:r>
              <a:rPr sz="1200" dirty="0">
                <a:solidFill>
                  <a:srgbClr val="A90D1A"/>
                </a:solidFill>
                <a:latin typeface="Consolas"/>
                <a:cs typeface="Consolas"/>
              </a:rPr>
              <a:t>"("</a:t>
            </a:r>
            <a:r>
              <a:rPr sz="1200" spc="-145" dirty="0">
                <a:solidFill>
                  <a:srgbClr val="A90D1A"/>
                </a:solidFill>
                <a:latin typeface="Consolas"/>
                <a:cs typeface="Consolas"/>
              </a:rPr>
              <a:t> </a:t>
            </a:r>
            <a:r>
              <a:rPr sz="1200" dirty="0">
                <a:solidFill>
                  <a:srgbClr val="525252"/>
                </a:solidFill>
                <a:latin typeface="Consolas"/>
                <a:cs typeface="Consolas"/>
              </a:rPr>
              <a:t>+</a:t>
            </a:r>
            <a:r>
              <a:rPr sz="1200" spc="-17" dirty="0">
                <a:solidFill>
                  <a:srgbClr val="525252"/>
                </a:solidFill>
                <a:latin typeface="Consolas"/>
                <a:cs typeface="Consolas"/>
              </a:rPr>
              <a:t> </a:t>
            </a:r>
            <a:r>
              <a:rPr sz="1200" dirty="0">
                <a:latin typeface="Consolas"/>
                <a:cs typeface="Consolas"/>
              </a:rPr>
              <a:t>x</a:t>
            </a:r>
            <a:r>
              <a:rPr sz="1200" spc="-6" dirty="0">
                <a:latin typeface="Consolas"/>
                <a:cs typeface="Consolas"/>
              </a:rPr>
              <a:t> </a:t>
            </a:r>
            <a:r>
              <a:rPr sz="1200" dirty="0">
                <a:solidFill>
                  <a:srgbClr val="525252"/>
                </a:solidFill>
                <a:latin typeface="Consolas"/>
                <a:cs typeface="Consolas"/>
              </a:rPr>
              <a:t>+</a:t>
            </a:r>
            <a:r>
              <a:rPr sz="1200" spc="-6" dirty="0">
                <a:solidFill>
                  <a:srgbClr val="525252"/>
                </a:solidFill>
                <a:latin typeface="Consolas"/>
                <a:cs typeface="Consolas"/>
              </a:rPr>
              <a:t> </a:t>
            </a:r>
            <a:r>
              <a:rPr sz="1200" dirty="0">
                <a:solidFill>
                  <a:srgbClr val="A90D1A"/>
                </a:solidFill>
                <a:latin typeface="Consolas"/>
                <a:cs typeface="Consolas"/>
              </a:rPr>
              <a:t>",</a:t>
            </a:r>
            <a:r>
              <a:rPr sz="1200" spc="-13" dirty="0">
                <a:solidFill>
                  <a:srgbClr val="A90D1A"/>
                </a:solidFill>
                <a:latin typeface="Consolas"/>
                <a:cs typeface="Consolas"/>
              </a:rPr>
              <a:t> </a:t>
            </a:r>
            <a:r>
              <a:rPr sz="1200" dirty="0">
                <a:solidFill>
                  <a:srgbClr val="A90D1A"/>
                </a:solidFill>
                <a:latin typeface="Consolas"/>
                <a:cs typeface="Consolas"/>
              </a:rPr>
              <a:t>"</a:t>
            </a:r>
            <a:r>
              <a:rPr sz="1200" spc="-6" dirty="0">
                <a:solidFill>
                  <a:srgbClr val="A90D1A"/>
                </a:solidFill>
                <a:latin typeface="Consolas"/>
                <a:cs typeface="Consolas"/>
              </a:rPr>
              <a:t> </a:t>
            </a:r>
            <a:r>
              <a:rPr sz="1200" dirty="0">
                <a:solidFill>
                  <a:srgbClr val="525252"/>
                </a:solidFill>
                <a:latin typeface="Consolas"/>
                <a:cs typeface="Consolas"/>
              </a:rPr>
              <a:t>+</a:t>
            </a:r>
            <a:r>
              <a:rPr sz="1200" spc="-6" dirty="0">
                <a:solidFill>
                  <a:srgbClr val="525252"/>
                </a:solidFill>
                <a:latin typeface="Consolas"/>
                <a:cs typeface="Consolas"/>
              </a:rPr>
              <a:t> </a:t>
            </a:r>
            <a:r>
              <a:rPr sz="1200" dirty="0">
                <a:latin typeface="Consolas"/>
                <a:cs typeface="Consolas"/>
              </a:rPr>
              <a:t>y</a:t>
            </a:r>
            <a:r>
              <a:rPr sz="1200" spc="-17" dirty="0">
                <a:latin typeface="Consolas"/>
                <a:cs typeface="Consolas"/>
              </a:rPr>
              <a:t> </a:t>
            </a:r>
            <a:r>
              <a:rPr sz="1200" dirty="0">
                <a:solidFill>
                  <a:srgbClr val="525252"/>
                </a:solidFill>
                <a:latin typeface="Consolas"/>
                <a:cs typeface="Consolas"/>
              </a:rPr>
              <a:t>+</a:t>
            </a:r>
            <a:r>
              <a:rPr sz="1200" spc="-6" dirty="0">
                <a:solidFill>
                  <a:srgbClr val="525252"/>
                </a:solidFill>
                <a:latin typeface="Consolas"/>
                <a:cs typeface="Consolas"/>
              </a:rPr>
              <a:t> </a:t>
            </a:r>
            <a:r>
              <a:rPr sz="1200" dirty="0">
                <a:solidFill>
                  <a:srgbClr val="A90D1A"/>
                </a:solidFill>
                <a:latin typeface="Consolas"/>
                <a:cs typeface="Consolas"/>
              </a:rPr>
              <a:t>")"</a:t>
            </a:r>
            <a:r>
              <a:rPr sz="1200" dirty="0">
                <a:solidFill>
                  <a:srgbClr val="525252"/>
                </a:solidFill>
                <a:latin typeface="Consolas"/>
                <a:cs typeface="Consolas"/>
              </a:rPr>
              <a:t>);</a:t>
            </a:r>
            <a:endParaRPr sz="1200">
              <a:latin typeface="Consolas"/>
              <a:cs typeface="Consolas"/>
            </a:endParaRPr>
          </a:p>
          <a:p>
            <a:pPr marL="236144">
              <a:lnSpc>
                <a:spcPct val="97574"/>
              </a:lnSpc>
              <a:spcBef>
                <a:spcPts val="34"/>
              </a:spcBef>
            </a:pPr>
            <a:r>
              <a:rPr sz="1200" dirty="0">
                <a:solidFill>
                  <a:srgbClr val="525252"/>
                </a:solidFill>
                <a:latin typeface="Consolas"/>
                <a:cs typeface="Consolas"/>
              </a:rPr>
              <a:t>}</a:t>
            </a:r>
            <a:endParaRPr sz="1200">
              <a:latin typeface="Consolas"/>
              <a:cs typeface="Consolas"/>
            </a:endParaRPr>
          </a:p>
          <a:p>
            <a:pPr marL="236144">
              <a:lnSpc>
                <a:spcPct val="97574"/>
              </a:lnSpc>
              <a:spcBef>
                <a:spcPts val="1475"/>
              </a:spcBef>
            </a:pPr>
            <a:r>
              <a:rPr sz="1200" b="1" dirty="0">
                <a:solidFill>
                  <a:srgbClr val="0E6F00"/>
                </a:solidFill>
                <a:latin typeface="Consolas"/>
                <a:cs typeface="Consolas"/>
              </a:rPr>
              <a:t>public</a:t>
            </a:r>
            <a:r>
              <a:rPr sz="1200" b="1" spc="-39" dirty="0">
                <a:solidFill>
                  <a:srgbClr val="0E6F00"/>
                </a:solidFill>
                <a:latin typeface="Consolas"/>
                <a:cs typeface="Consolas"/>
              </a:rPr>
              <a:t> </a:t>
            </a:r>
            <a:r>
              <a:rPr sz="1200" dirty="0">
                <a:solidFill>
                  <a:srgbClr val="9E0030"/>
                </a:solidFill>
                <a:latin typeface="Consolas"/>
                <a:cs typeface="Consolas"/>
              </a:rPr>
              <a:t>void</a:t>
            </a:r>
            <a:r>
              <a:rPr sz="1200" spc="-38" dirty="0">
                <a:solidFill>
                  <a:srgbClr val="9E0030"/>
                </a:solidFill>
                <a:latin typeface="Consolas"/>
                <a:cs typeface="Consolas"/>
              </a:rPr>
              <a:t> </a:t>
            </a:r>
            <a:r>
              <a:rPr sz="1200" dirty="0">
                <a:solidFill>
                  <a:srgbClr val="0000FF"/>
                </a:solidFill>
                <a:latin typeface="Consolas"/>
                <a:cs typeface="Consolas"/>
              </a:rPr>
              <a:t>hienth</a:t>
            </a:r>
            <a:r>
              <a:rPr sz="1200" spc="3" dirty="0">
                <a:solidFill>
                  <a:srgbClr val="0000FF"/>
                </a:solidFill>
                <a:latin typeface="Consolas"/>
                <a:cs typeface="Consolas"/>
              </a:rPr>
              <a:t>i</a:t>
            </a:r>
            <a:r>
              <a:rPr sz="1200" dirty="0">
                <a:solidFill>
                  <a:srgbClr val="525252"/>
                </a:solidFill>
                <a:latin typeface="Consolas"/>
                <a:cs typeface="Consolas"/>
              </a:rPr>
              <a:t>(</a:t>
            </a:r>
            <a:r>
              <a:rPr sz="1200" dirty="0">
                <a:latin typeface="Consolas"/>
                <a:cs typeface="Consolas"/>
              </a:rPr>
              <a:t>St</a:t>
            </a:r>
            <a:r>
              <a:rPr sz="1200" spc="-3" dirty="0">
                <a:latin typeface="Consolas"/>
                <a:cs typeface="Consolas"/>
              </a:rPr>
              <a:t>r</a:t>
            </a:r>
            <a:r>
              <a:rPr sz="1200" dirty="0">
                <a:latin typeface="Consolas"/>
                <a:cs typeface="Consolas"/>
              </a:rPr>
              <a:t>ing</a:t>
            </a:r>
            <a:r>
              <a:rPr sz="1200" spc="-107" dirty="0">
                <a:latin typeface="Consolas"/>
                <a:cs typeface="Consolas"/>
              </a:rPr>
              <a:t> </a:t>
            </a:r>
            <a:r>
              <a:rPr sz="1200" spc="-3" dirty="0">
                <a:latin typeface="Consolas"/>
                <a:cs typeface="Consolas"/>
              </a:rPr>
              <a:t>s</a:t>
            </a:r>
            <a:r>
              <a:rPr sz="1200" dirty="0">
                <a:solidFill>
                  <a:srgbClr val="525252"/>
                </a:solidFill>
                <a:latin typeface="Consolas"/>
                <a:cs typeface="Consolas"/>
              </a:rPr>
              <a:t>)</a:t>
            </a:r>
            <a:r>
              <a:rPr sz="1200" spc="-13" dirty="0">
                <a:solidFill>
                  <a:srgbClr val="525252"/>
                </a:solidFill>
                <a:latin typeface="Consolas"/>
                <a:cs typeface="Consolas"/>
              </a:rPr>
              <a:t> </a:t>
            </a:r>
            <a:r>
              <a:rPr sz="1200" dirty="0">
                <a:solidFill>
                  <a:srgbClr val="525252"/>
                </a:solidFill>
                <a:latin typeface="Consolas"/>
                <a:cs typeface="Consolas"/>
              </a:rPr>
              <a:t>{</a:t>
            </a:r>
            <a:endParaRPr sz="1200">
              <a:latin typeface="Consolas"/>
              <a:cs typeface="Consolas"/>
            </a:endParaRPr>
          </a:p>
          <a:p>
            <a:pPr marL="403003">
              <a:lnSpc>
                <a:spcPct val="97574"/>
              </a:lnSpc>
              <a:spcBef>
                <a:spcPts val="34"/>
              </a:spcBef>
            </a:pPr>
            <a:r>
              <a:rPr sz="1200" spc="-3" dirty="0">
                <a:latin typeface="Consolas"/>
                <a:cs typeface="Consolas"/>
              </a:rPr>
              <a:t>Syste</a:t>
            </a:r>
            <a:r>
              <a:rPr sz="1200" dirty="0">
                <a:latin typeface="Consolas"/>
                <a:cs typeface="Consolas"/>
              </a:rPr>
              <a:t>m</a:t>
            </a:r>
            <a:r>
              <a:rPr sz="1200" spc="-3" dirty="0">
                <a:solidFill>
                  <a:srgbClr val="525252"/>
                </a:solidFill>
                <a:latin typeface="Consolas"/>
                <a:cs typeface="Consolas"/>
              </a:rPr>
              <a:t>.</a:t>
            </a:r>
            <a:r>
              <a:rPr sz="1200" spc="-3" dirty="0">
                <a:solidFill>
                  <a:srgbClr val="6A801F"/>
                </a:solidFill>
                <a:latin typeface="Consolas"/>
                <a:cs typeface="Consolas"/>
              </a:rPr>
              <a:t>ou</a:t>
            </a:r>
            <a:r>
              <a:rPr sz="1200" spc="-11" dirty="0">
                <a:solidFill>
                  <a:srgbClr val="6A801F"/>
                </a:solidFill>
                <a:latin typeface="Consolas"/>
                <a:cs typeface="Consolas"/>
              </a:rPr>
              <a:t>t</a:t>
            </a:r>
            <a:r>
              <a:rPr sz="1200" spc="-3" dirty="0">
                <a:solidFill>
                  <a:srgbClr val="525252"/>
                </a:solidFill>
                <a:latin typeface="Consolas"/>
                <a:cs typeface="Consolas"/>
              </a:rPr>
              <a:t>.</a:t>
            </a:r>
            <a:r>
              <a:rPr sz="1200" spc="-3" dirty="0">
                <a:solidFill>
                  <a:srgbClr val="6A801F"/>
                </a:solidFill>
                <a:latin typeface="Consolas"/>
                <a:cs typeface="Consolas"/>
              </a:rPr>
              <a:t>printl</a:t>
            </a:r>
            <a:r>
              <a:rPr sz="1200" dirty="0">
                <a:solidFill>
                  <a:srgbClr val="6A801F"/>
                </a:solidFill>
                <a:latin typeface="Consolas"/>
                <a:cs typeface="Consolas"/>
              </a:rPr>
              <a:t>n</a:t>
            </a:r>
            <a:r>
              <a:rPr sz="1200" spc="-3" dirty="0">
                <a:solidFill>
                  <a:srgbClr val="525252"/>
                </a:solidFill>
                <a:latin typeface="Consolas"/>
                <a:cs typeface="Consolas"/>
              </a:rPr>
              <a:t>(</a:t>
            </a:r>
            <a:r>
              <a:rPr sz="1200" dirty="0">
                <a:latin typeface="Consolas"/>
                <a:cs typeface="Consolas"/>
              </a:rPr>
              <a:t>s</a:t>
            </a:r>
            <a:r>
              <a:rPr sz="1200" spc="-131" dirty="0">
                <a:latin typeface="Consolas"/>
                <a:cs typeface="Consolas"/>
              </a:rPr>
              <a:t> </a:t>
            </a:r>
            <a:r>
              <a:rPr sz="1200" dirty="0">
                <a:solidFill>
                  <a:srgbClr val="525252"/>
                </a:solidFill>
                <a:latin typeface="Consolas"/>
                <a:cs typeface="Consolas"/>
              </a:rPr>
              <a:t>+</a:t>
            </a:r>
            <a:r>
              <a:rPr sz="1200" spc="-6" dirty="0">
                <a:solidFill>
                  <a:srgbClr val="525252"/>
                </a:solidFill>
                <a:latin typeface="Consolas"/>
                <a:cs typeface="Consolas"/>
              </a:rPr>
              <a:t> </a:t>
            </a:r>
            <a:r>
              <a:rPr sz="1200" spc="-11" dirty="0">
                <a:solidFill>
                  <a:srgbClr val="A90D1A"/>
                </a:solidFill>
                <a:latin typeface="Consolas"/>
                <a:cs typeface="Consolas"/>
              </a:rPr>
              <a:t>"</a:t>
            </a:r>
            <a:r>
              <a:rPr sz="1200" dirty="0">
                <a:solidFill>
                  <a:srgbClr val="A90D1A"/>
                </a:solidFill>
                <a:latin typeface="Consolas"/>
                <a:cs typeface="Consolas"/>
              </a:rPr>
              <a:t>("</a:t>
            </a:r>
            <a:r>
              <a:rPr sz="1200" spc="-27" dirty="0">
                <a:solidFill>
                  <a:srgbClr val="A90D1A"/>
                </a:solidFill>
                <a:latin typeface="Consolas"/>
                <a:cs typeface="Consolas"/>
              </a:rPr>
              <a:t> </a:t>
            </a:r>
            <a:r>
              <a:rPr sz="1200" dirty="0">
                <a:solidFill>
                  <a:srgbClr val="525252"/>
                </a:solidFill>
                <a:latin typeface="Consolas"/>
                <a:cs typeface="Consolas"/>
              </a:rPr>
              <a:t>+</a:t>
            </a:r>
            <a:r>
              <a:rPr sz="1200" spc="-6" dirty="0">
                <a:solidFill>
                  <a:srgbClr val="525252"/>
                </a:solidFill>
                <a:latin typeface="Consolas"/>
                <a:cs typeface="Consolas"/>
              </a:rPr>
              <a:t> </a:t>
            </a:r>
            <a:r>
              <a:rPr sz="1200" dirty="0">
                <a:latin typeface="Consolas"/>
                <a:cs typeface="Consolas"/>
              </a:rPr>
              <a:t>x</a:t>
            </a:r>
            <a:r>
              <a:rPr sz="1200" spc="-6" dirty="0">
                <a:latin typeface="Consolas"/>
                <a:cs typeface="Consolas"/>
              </a:rPr>
              <a:t> </a:t>
            </a:r>
            <a:r>
              <a:rPr sz="1200" dirty="0">
                <a:solidFill>
                  <a:srgbClr val="525252"/>
                </a:solidFill>
                <a:latin typeface="Consolas"/>
                <a:cs typeface="Consolas"/>
              </a:rPr>
              <a:t>+</a:t>
            </a:r>
            <a:r>
              <a:rPr sz="1200" spc="-6" dirty="0">
                <a:solidFill>
                  <a:srgbClr val="525252"/>
                </a:solidFill>
                <a:latin typeface="Consolas"/>
                <a:cs typeface="Consolas"/>
              </a:rPr>
              <a:t> </a:t>
            </a:r>
            <a:r>
              <a:rPr sz="1200" spc="-3" dirty="0">
                <a:solidFill>
                  <a:srgbClr val="A90D1A"/>
                </a:solidFill>
                <a:latin typeface="Consolas"/>
                <a:cs typeface="Consolas"/>
              </a:rPr>
              <a:t>"</a:t>
            </a:r>
            <a:r>
              <a:rPr sz="1200" dirty="0">
                <a:solidFill>
                  <a:srgbClr val="A90D1A"/>
                </a:solidFill>
                <a:latin typeface="Consolas"/>
                <a:cs typeface="Consolas"/>
              </a:rPr>
              <a:t>,</a:t>
            </a:r>
            <a:r>
              <a:rPr sz="1200" spc="-13" dirty="0">
                <a:solidFill>
                  <a:srgbClr val="A90D1A"/>
                </a:solidFill>
                <a:latin typeface="Consolas"/>
                <a:cs typeface="Consolas"/>
              </a:rPr>
              <a:t> </a:t>
            </a:r>
            <a:r>
              <a:rPr sz="1200" dirty="0">
                <a:solidFill>
                  <a:srgbClr val="A90D1A"/>
                </a:solidFill>
                <a:latin typeface="Consolas"/>
                <a:cs typeface="Consolas"/>
              </a:rPr>
              <a:t>"</a:t>
            </a:r>
            <a:r>
              <a:rPr sz="1200" spc="-21" dirty="0">
                <a:solidFill>
                  <a:srgbClr val="A90D1A"/>
                </a:solidFill>
                <a:latin typeface="Consolas"/>
                <a:cs typeface="Consolas"/>
              </a:rPr>
              <a:t> </a:t>
            </a:r>
            <a:r>
              <a:rPr sz="1200" dirty="0">
                <a:solidFill>
                  <a:srgbClr val="525252"/>
                </a:solidFill>
                <a:latin typeface="Consolas"/>
                <a:cs typeface="Consolas"/>
              </a:rPr>
              <a:t>+</a:t>
            </a:r>
            <a:r>
              <a:rPr sz="1200" spc="-6" dirty="0">
                <a:solidFill>
                  <a:srgbClr val="525252"/>
                </a:solidFill>
                <a:latin typeface="Consolas"/>
                <a:cs typeface="Consolas"/>
              </a:rPr>
              <a:t> </a:t>
            </a:r>
            <a:r>
              <a:rPr sz="1200" dirty="0">
                <a:latin typeface="Consolas"/>
                <a:cs typeface="Consolas"/>
              </a:rPr>
              <a:t>y</a:t>
            </a:r>
            <a:r>
              <a:rPr sz="1200" spc="-6" dirty="0">
                <a:latin typeface="Consolas"/>
                <a:cs typeface="Consolas"/>
              </a:rPr>
              <a:t> </a:t>
            </a:r>
            <a:r>
              <a:rPr sz="1200" dirty="0">
                <a:solidFill>
                  <a:srgbClr val="525252"/>
                </a:solidFill>
                <a:latin typeface="Consolas"/>
                <a:cs typeface="Consolas"/>
              </a:rPr>
              <a:t>+</a:t>
            </a:r>
            <a:r>
              <a:rPr sz="1200" spc="-6" dirty="0">
                <a:solidFill>
                  <a:srgbClr val="525252"/>
                </a:solidFill>
                <a:latin typeface="Consolas"/>
                <a:cs typeface="Consolas"/>
              </a:rPr>
              <a:t> </a:t>
            </a:r>
            <a:r>
              <a:rPr sz="1200" spc="-3" dirty="0">
                <a:solidFill>
                  <a:srgbClr val="A90D1A"/>
                </a:solidFill>
                <a:latin typeface="Consolas"/>
                <a:cs typeface="Consolas"/>
              </a:rPr>
              <a:t>")</a:t>
            </a:r>
            <a:r>
              <a:rPr sz="1200" dirty="0">
                <a:solidFill>
                  <a:srgbClr val="A90D1A"/>
                </a:solidFill>
                <a:latin typeface="Consolas"/>
                <a:cs typeface="Consolas"/>
              </a:rPr>
              <a:t>"</a:t>
            </a:r>
            <a:r>
              <a:rPr sz="1200" dirty="0">
                <a:solidFill>
                  <a:srgbClr val="525252"/>
                </a:solidFill>
                <a:latin typeface="Consolas"/>
                <a:cs typeface="Consolas"/>
              </a:rPr>
              <a:t>);</a:t>
            </a:r>
            <a:endParaRPr sz="1200">
              <a:latin typeface="Consolas"/>
              <a:cs typeface="Consolas"/>
            </a:endParaRPr>
          </a:p>
          <a:p>
            <a:pPr marL="236144">
              <a:lnSpc>
                <a:spcPct val="97574"/>
              </a:lnSpc>
              <a:spcBef>
                <a:spcPts val="34"/>
              </a:spcBef>
            </a:pPr>
            <a:r>
              <a:rPr sz="1200" dirty="0">
                <a:solidFill>
                  <a:srgbClr val="525252"/>
                </a:solidFill>
                <a:latin typeface="Consolas"/>
                <a:cs typeface="Consolas"/>
              </a:rPr>
              <a:t>}</a:t>
            </a:r>
            <a:endParaRPr sz="1200">
              <a:latin typeface="Consolas"/>
              <a:cs typeface="Consolas"/>
            </a:endParaRPr>
          </a:p>
          <a:p>
            <a:pPr marL="69266">
              <a:lnSpc>
                <a:spcPct val="97574"/>
              </a:lnSpc>
              <a:spcBef>
                <a:spcPts val="34"/>
              </a:spcBef>
            </a:pPr>
            <a:r>
              <a:rPr sz="1200" dirty="0">
                <a:solidFill>
                  <a:srgbClr val="525252"/>
                </a:solidFill>
                <a:latin typeface="Consolas"/>
                <a:cs typeface="Consolas"/>
              </a:rPr>
              <a:t>}</a:t>
            </a:r>
            <a:endParaRPr sz="1200">
              <a:latin typeface="Consolas"/>
              <a:cs typeface="Consolas"/>
            </a:endParaRPr>
          </a:p>
        </p:txBody>
      </p:sp>
    </p:spTree>
    <p:extLst>
      <p:ext uri="{BB962C8B-B14F-4D97-AF65-F5344CB8AC3E}">
        <p14:creationId xmlns:p14="http://schemas.microsoft.com/office/powerpoint/2010/main" val="3576495774"/>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6.1.6. Thành phần tĩnh (static members)</a:t>
            </a:r>
            <a:endParaRPr lang="en-US" sz="2400"/>
          </a:p>
        </p:txBody>
      </p:sp>
      <p:sp>
        <p:nvSpPr>
          <p:cNvPr id="3" name="Content Placeholder 2"/>
          <p:cNvSpPr>
            <a:spLocks noGrp="1"/>
          </p:cNvSpPr>
          <p:nvPr>
            <p:ph idx="1"/>
          </p:nvPr>
        </p:nvSpPr>
        <p:spPr>
          <a:xfrm>
            <a:off x="1385646" y="1808819"/>
            <a:ext cx="6372708" cy="3815694"/>
          </a:xfrm>
        </p:spPr>
        <p:txBody>
          <a:bodyPr wrap="square">
            <a:noAutofit/>
          </a:bodyPr>
          <a:lstStyle/>
          <a:p>
            <a:pPr>
              <a:spcBef>
                <a:spcPts val="450"/>
              </a:spcBef>
              <a:spcAft>
                <a:spcPts val="0"/>
              </a:spcAft>
              <a:buSzPct val="100000"/>
              <a:tabLst>
                <a:tab pos="473869" algn="l"/>
              </a:tabLst>
            </a:pPr>
            <a:r>
              <a:rPr lang="en-US" smtClean="0"/>
              <a:t>Còn được gọi là thành phần “của lớp”.</a:t>
            </a:r>
          </a:p>
          <a:p>
            <a:pPr>
              <a:spcBef>
                <a:spcPts val="450"/>
              </a:spcBef>
              <a:spcAft>
                <a:spcPts val="0"/>
              </a:spcAft>
              <a:buSzPct val="100000"/>
              <a:tabLst>
                <a:tab pos="473869" algn="l"/>
              </a:tabLst>
            </a:pPr>
            <a:r>
              <a:rPr lang="en-US" smtClean="0"/>
              <a:t>Khai báo:</a:t>
            </a:r>
          </a:p>
          <a:p>
            <a:pPr lvl="1">
              <a:spcBef>
                <a:spcPts val="450"/>
              </a:spcBef>
              <a:spcAft>
                <a:spcPts val="0"/>
              </a:spcAft>
              <a:buSzPct val="100000"/>
              <a:tabLst>
                <a:tab pos="473869" algn="l"/>
              </a:tabLst>
            </a:pPr>
            <a:r>
              <a:rPr lang="en-US" smtClean="0"/>
              <a:t>Thêm từ khóa </a:t>
            </a:r>
            <a:r>
              <a:rPr lang="en-US" smtClean="0">
                <a:solidFill>
                  <a:srgbClr val="FF0000"/>
                </a:solidFill>
              </a:rPr>
              <a:t>static</a:t>
            </a:r>
            <a:r>
              <a:rPr lang="en-US" smtClean="0"/>
              <a:t> sau thuộc tính truy xuất</a:t>
            </a:r>
          </a:p>
          <a:p>
            <a:pPr>
              <a:spcBef>
                <a:spcPts val="450"/>
              </a:spcBef>
              <a:spcAft>
                <a:spcPts val="0"/>
              </a:spcAft>
              <a:buSzPct val="100000"/>
              <a:tabLst>
                <a:tab pos="473869" algn="l"/>
              </a:tabLst>
            </a:pPr>
            <a:r>
              <a:rPr lang="en-US" smtClean="0"/>
              <a:t>Tồn tại độc lập với các đối tượng</a:t>
            </a:r>
          </a:p>
          <a:p>
            <a:pPr lvl="1">
              <a:spcBef>
                <a:spcPts val="450"/>
              </a:spcBef>
              <a:spcAft>
                <a:spcPts val="0"/>
              </a:spcAft>
              <a:buSzPct val="100000"/>
              <a:tabLst>
                <a:tab pos="473869" algn="l"/>
              </a:tabLst>
            </a:pPr>
            <a:r>
              <a:rPr lang="en-US" smtClean="0"/>
              <a:t>Có bao nhiêu đối tượng được tạo ra thì vẫn chỉ có 1 bản (copy) của thành phần tĩnh trong bộ nhớ.</a:t>
            </a:r>
          </a:p>
          <a:p>
            <a:pPr>
              <a:spcBef>
                <a:spcPts val="450"/>
              </a:spcBef>
              <a:spcAft>
                <a:spcPts val="0"/>
              </a:spcAft>
              <a:buSzPct val="100000"/>
              <a:tabLst>
                <a:tab pos="473869" algn="l"/>
              </a:tabLst>
            </a:pPr>
            <a:r>
              <a:rPr lang="en-US" smtClean="0"/>
              <a:t>Truy xuất trực tiếp thông qua tên lớp</a:t>
            </a:r>
          </a:p>
          <a:p>
            <a:pPr marL="0" indent="0" algn="ctr">
              <a:spcBef>
                <a:spcPts val="450"/>
              </a:spcBef>
              <a:spcAft>
                <a:spcPts val="0"/>
              </a:spcAft>
              <a:buSzPct val="100000"/>
              <a:buNone/>
              <a:tabLst>
                <a:tab pos="473869" algn="l"/>
              </a:tabLst>
            </a:pPr>
            <a:r>
              <a:rPr lang="en-US" sz="2100">
                <a:solidFill>
                  <a:srgbClr val="00B050"/>
                </a:solidFill>
              </a:rPr>
              <a:t>&lt;tên lớp&gt;.&lt;tên thành phần tĩnh&gt;</a:t>
            </a:r>
          </a:p>
          <a:p>
            <a:pPr>
              <a:spcBef>
                <a:spcPts val="450"/>
              </a:spcBef>
              <a:spcAft>
                <a:spcPts val="0"/>
              </a:spcAft>
              <a:buSzPct val="100000"/>
              <a:tabLst>
                <a:tab pos="473869" algn="l"/>
              </a:tabLst>
            </a:pPr>
            <a:r>
              <a:rPr lang="en-US" smtClean="0"/>
              <a:t>Các phương thức static chỉ được truy xuất các thành phần static.</a:t>
            </a:r>
          </a:p>
          <a:p>
            <a:pPr lvl="1">
              <a:spcBef>
                <a:spcPts val="450"/>
              </a:spcBef>
              <a:spcAft>
                <a:spcPts val="0"/>
              </a:spcAft>
              <a:buSzPct val="100000"/>
              <a:tabLst>
                <a:tab pos="473869" algn="l"/>
              </a:tabLst>
            </a:pPr>
            <a:endParaRPr lang="en-US"/>
          </a:p>
          <a:p>
            <a:pPr>
              <a:spcAft>
                <a:spcPts val="450"/>
              </a:spcAft>
            </a:pPr>
            <a:endParaRPr lang="en-US" smtClean="0"/>
          </a:p>
          <a:p>
            <a:pPr marL="0" indent="0">
              <a:spcAft>
                <a:spcPts val="450"/>
              </a:spcAft>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119</a:t>
            </a:fld>
            <a:endParaRPr lang="en-US"/>
          </a:p>
        </p:txBody>
      </p:sp>
    </p:spTree>
    <p:extLst>
      <p:ext uri="{BB962C8B-B14F-4D97-AF65-F5344CB8AC3E}">
        <p14:creationId xmlns:p14="http://schemas.microsoft.com/office/powerpoint/2010/main" val="520160811"/>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6.1.6. Thành phần tĩnh (static members)</a:t>
            </a:r>
            <a:endParaRPr lang="en-US" sz="2400"/>
          </a:p>
        </p:txBody>
      </p:sp>
      <p:sp>
        <p:nvSpPr>
          <p:cNvPr id="4" name="Slide Number Placeholder 3"/>
          <p:cNvSpPr>
            <a:spLocks noGrp="1"/>
          </p:cNvSpPr>
          <p:nvPr>
            <p:ph type="sldNum" sz="quarter" idx="12"/>
          </p:nvPr>
        </p:nvSpPr>
        <p:spPr/>
        <p:txBody>
          <a:bodyPr/>
          <a:lstStyle/>
          <a:p>
            <a:fld id="{E3E8E051-591C-4566-9813-B4BB16D377BD}" type="slidenum">
              <a:rPr lang="en-US" smtClean="0"/>
              <a:pPr/>
              <a:t>120</a:t>
            </a:fld>
            <a:endParaRPr lang="en-US"/>
          </a:p>
        </p:txBody>
      </p:sp>
      <p:sp>
        <p:nvSpPr>
          <p:cNvPr id="6" name="Rectangle 5"/>
          <p:cNvSpPr/>
          <p:nvPr/>
        </p:nvSpPr>
        <p:spPr>
          <a:xfrm>
            <a:off x="6156530" y="3395432"/>
            <a:ext cx="651102" cy="4907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solidFill>
                  <a:srgbClr val="FF0000"/>
                </a:solidFill>
              </a:rPr>
              <a:t>X</a:t>
            </a:r>
            <a:endParaRPr lang="en-US">
              <a:solidFill>
                <a:srgbClr val="FF0000"/>
              </a:solidFill>
            </a:endParaRPr>
          </a:p>
        </p:txBody>
      </p:sp>
      <p:sp>
        <p:nvSpPr>
          <p:cNvPr id="7" name="Rectangle 6"/>
          <p:cNvSpPr/>
          <p:nvPr/>
        </p:nvSpPr>
        <p:spPr>
          <a:xfrm>
            <a:off x="6972300" y="3395432"/>
            <a:ext cx="628650" cy="4907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solidFill>
                  <a:srgbClr val="FF0000"/>
                </a:solidFill>
              </a:rPr>
              <a:t>x</a:t>
            </a:r>
            <a:endParaRPr lang="en-US">
              <a:solidFill>
                <a:srgbClr val="FF0000"/>
              </a:solidFill>
            </a:endParaRPr>
          </a:p>
        </p:txBody>
      </p:sp>
      <p:sp>
        <p:nvSpPr>
          <p:cNvPr id="8" name="TextBox 7"/>
          <p:cNvSpPr txBox="1"/>
          <p:nvPr/>
        </p:nvSpPr>
        <p:spPr>
          <a:xfrm>
            <a:off x="6664757" y="2416823"/>
            <a:ext cx="365352" cy="369332"/>
          </a:xfrm>
          <a:prstGeom prst="rect">
            <a:avLst/>
          </a:prstGeom>
          <a:solidFill>
            <a:schemeClr val="bg1"/>
          </a:solidFill>
          <a:ln w="15875">
            <a:solidFill>
              <a:schemeClr val="accent1">
                <a:shade val="50000"/>
              </a:schemeClr>
            </a:solidFill>
          </a:ln>
        </p:spPr>
        <p:txBody>
          <a:bodyPr wrap="square" rtlCol="0">
            <a:spAutoFit/>
          </a:bodyPr>
          <a:lstStyle/>
          <a:p>
            <a:pPr algn="ctr"/>
            <a:r>
              <a:rPr lang="en-US"/>
              <a:t>y</a:t>
            </a:r>
            <a:endParaRPr lang="en-US" smtClean="0"/>
          </a:p>
        </p:txBody>
      </p:sp>
      <p:sp>
        <p:nvSpPr>
          <p:cNvPr id="9" name="TextBox 8"/>
          <p:cNvSpPr txBox="1"/>
          <p:nvPr/>
        </p:nvSpPr>
        <p:spPr>
          <a:xfrm>
            <a:off x="7103949" y="3073035"/>
            <a:ext cx="365352" cy="646331"/>
          </a:xfrm>
          <a:prstGeom prst="rect">
            <a:avLst/>
          </a:prstGeom>
          <a:noFill/>
        </p:spPr>
        <p:txBody>
          <a:bodyPr wrap="square" rtlCol="0">
            <a:spAutoFit/>
          </a:bodyPr>
          <a:lstStyle/>
          <a:p>
            <a:r>
              <a:rPr lang="en-US" smtClean="0"/>
              <a:t>P2</a:t>
            </a:r>
          </a:p>
        </p:txBody>
      </p:sp>
      <p:sp>
        <p:nvSpPr>
          <p:cNvPr id="10" name="TextBox 9"/>
          <p:cNvSpPr txBox="1"/>
          <p:nvPr/>
        </p:nvSpPr>
        <p:spPr>
          <a:xfrm>
            <a:off x="6299405" y="3050025"/>
            <a:ext cx="365352" cy="646331"/>
          </a:xfrm>
          <a:prstGeom prst="rect">
            <a:avLst/>
          </a:prstGeom>
          <a:noFill/>
        </p:spPr>
        <p:txBody>
          <a:bodyPr wrap="square" rtlCol="0">
            <a:spAutoFit/>
          </a:bodyPr>
          <a:lstStyle/>
          <a:p>
            <a:r>
              <a:rPr lang="en-US" smtClean="0"/>
              <a:t>P1</a:t>
            </a:r>
          </a:p>
        </p:txBody>
      </p:sp>
      <p:cxnSp>
        <p:nvCxnSpPr>
          <p:cNvPr id="11" name="Straight Arrow Connector 10"/>
          <p:cNvCxnSpPr>
            <a:stCxn id="6" idx="0"/>
            <a:endCxn id="8" idx="2"/>
          </p:cNvCxnSpPr>
          <p:nvPr/>
        </p:nvCxnSpPr>
        <p:spPr>
          <a:xfrm flipV="1">
            <a:off x="6482081" y="2786159"/>
            <a:ext cx="365352" cy="609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7" idx="0"/>
          </p:cNvCxnSpPr>
          <p:nvPr/>
        </p:nvCxnSpPr>
        <p:spPr>
          <a:xfrm flipH="1" flipV="1">
            <a:off x="6921931" y="2693828"/>
            <a:ext cx="364694" cy="7016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3" name="Picture 1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9724" y="1916072"/>
            <a:ext cx="3665708" cy="1410953"/>
          </a:xfrm>
          <a:prstGeom prst="rect">
            <a:avLst/>
          </a:prstGeom>
          <a:ln w="12700">
            <a:solidFill>
              <a:schemeClr val="accent1"/>
            </a:solidFill>
          </a:ln>
        </p:spPr>
      </p:pic>
      <p:pic>
        <p:nvPicPr>
          <p:cNvPr id="14" name="Picture 13"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1296" y="3983684"/>
            <a:ext cx="4886338" cy="1350495"/>
          </a:xfrm>
          <a:prstGeom prst="rect">
            <a:avLst/>
          </a:prstGeom>
          <a:ln w="12700">
            <a:solidFill>
              <a:schemeClr val="accent1"/>
            </a:solidFill>
          </a:ln>
        </p:spPr>
      </p:pic>
    </p:spTree>
    <p:extLst>
      <p:ext uri="{BB962C8B-B14F-4D97-AF65-F5344CB8AC3E}">
        <p14:creationId xmlns:p14="http://schemas.microsoft.com/office/powerpoint/2010/main" val="2742697074"/>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6.1.6. Thành phần tĩnh (static members)</a:t>
            </a:r>
            <a:endParaRPr lang="en-US" sz="2400"/>
          </a:p>
        </p:txBody>
      </p:sp>
      <p:sp>
        <p:nvSpPr>
          <p:cNvPr id="4" name="Slide Number Placeholder 3"/>
          <p:cNvSpPr>
            <a:spLocks noGrp="1"/>
          </p:cNvSpPr>
          <p:nvPr>
            <p:ph type="sldNum" sz="quarter" idx="12"/>
          </p:nvPr>
        </p:nvSpPr>
        <p:spPr/>
        <p:txBody>
          <a:bodyPr/>
          <a:lstStyle/>
          <a:p>
            <a:fld id="{E3E8E051-591C-4566-9813-B4BB16D377BD}" type="slidenum">
              <a:rPr lang="en-US" smtClean="0"/>
              <a:pPr/>
              <a:t>121</a:t>
            </a:fld>
            <a:endParaRPr lang="en-US"/>
          </a:p>
        </p:txBody>
      </p:sp>
      <p:pic>
        <p:nvPicPr>
          <p:cNvPr id="3" name="Picture 2"/>
          <p:cNvPicPr>
            <a:picLocks noChangeAspect="1"/>
          </p:cNvPicPr>
          <p:nvPr/>
        </p:nvPicPr>
        <p:blipFill>
          <a:blip r:embed="rId3"/>
          <a:stretch>
            <a:fillRect/>
          </a:stretch>
        </p:blipFill>
        <p:spPr>
          <a:xfrm>
            <a:off x="1703462" y="1920688"/>
            <a:ext cx="5897880" cy="3611951"/>
          </a:xfrm>
          <a:prstGeom prst="rect">
            <a:avLst/>
          </a:prstGeom>
        </p:spPr>
      </p:pic>
    </p:spTree>
    <p:extLst>
      <p:ext uri="{BB962C8B-B14F-4D97-AF65-F5344CB8AC3E}">
        <p14:creationId xmlns:p14="http://schemas.microsoft.com/office/powerpoint/2010/main" val="2878988059"/>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6.1.7. Biến tham chiếu this</a:t>
            </a:r>
            <a:endParaRPr lang="en-US" sz="2400"/>
          </a:p>
        </p:txBody>
      </p:sp>
      <p:sp>
        <p:nvSpPr>
          <p:cNvPr id="3" name="Content Placeholder 2"/>
          <p:cNvSpPr>
            <a:spLocks noGrp="1"/>
          </p:cNvSpPr>
          <p:nvPr>
            <p:ph idx="1"/>
          </p:nvPr>
        </p:nvSpPr>
        <p:spPr>
          <a:xfrm>
            <a:off x="1385646" y="1808826"/>
            <a:ext cx="6372708" cy="1505881"/>
          </a:xfrm>
        </p:spPr>
        <p:txBody>
          <a:bodyPr wrap="square">
            <a:noAutofit/>
          </a:bodyPr>
          <a:lstStyle/>
          <a:p>
            <a:pPr>
              <a:spcBef>
                <a:spcPts val="450"/>
              </a:spcBef>
              <a:spcAft>
                <a:spcPts val="0"/>
              </a:spcAft>
              <a:buSzPct val="100000"/>
              <a:tabLst>
                <a:tab pos="473869" algn="l"/>
              </a:tabLst>
            </a:pPr>
            <a:r>
              <a:rPr lang="en-US" smtClean="0"/>
              <a:t>Là một biến tham chiếu đặc biệt, tồn tại trong tất cả </a:t>
            </a:r>
            <a:r>
              <a:rPr lang="en-US" smtClean="0">
                <a:solidFill>
                  <a:srgbClr val="00B050"/>
                </a:solidFill>
              </a:rPr>
              <a:t>các phương thức không tĩnh </a:t>
            </a:r>
            <a:r>
              <a:rPr lang="en-US" smtClean="0"/>
              <a:t>của lớp.</a:t>
            </a:r>
          </a:p>
          <a:p>
            <a:pPr>
              <a:spcBef>
                <a:spcPts val="450"/>
              </a:spcBef>
              <a:spcAft>
                <a:spcPts val="0"/>
              </a:spcAft>
              <a:buSzPct val="100000"/>
              <a:tabLst>
                <a:tab pos="473869" algn="l"/>
              </a:tabLst>
            </a:pPr>
            <a:r>
              <a:rPr lang="en-US" smtClean="0"/>
              <a:t>Biến này tham chiếu đến đối tượng đang gọi phương thức.</a:t>
            </a:r>
            <a:endParaRPr lang="en-US"/>
          </a:p>
          <a:p>
            <a:pPr>
              <a:spcAft>
                <a:spcPts val="450"/>
              </a:spcAft>
            </a:pPr>
            <a:endParaRPr lang="en-US" smtClean="0"/>
          </a:p>
          <a:p>
            <a:pPr marL="0" indent="0">
              <a:spcAft>
                <a:spcPts val="450"/>
              </a:spcAft>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122</a:t>
            </a:fld>
            <a:endParaRPr lang="en-US"/>
          </a:p>
        </p:txBody>
      </p:sp>
      <p:pic>
        <p:nvPicPr>
          <p:cNvPr id="7" name="Picture 6"/>
          <p:cNvPicPr>
            <a:picLocks noChangeAspect="1"/>
          </p:cNvPicPr>
          <p:nvPr/>
        </p:nvPicPr>
        <p:blipFill>
          <a:blip r:embed="rId3"/>
          <a:stretch>
            <a:fillRect/>
          </a:stretch>
        </p:blipFill>
        <p:spPr>
          <a:xfrm>
            <a:off x="1690993" y="3429003"/>
            <a:ext cx="5897880" cy="1862056"/>
          </a:xfrm>
          <a:prstGeom prst="rect">
            <a:avLst/>
          </a:prstGeom>
        </p:spPr>
      </p:pic>
    </p:spTree>
    <p:extLst>
      <p:ext uri="{BB962C8B-B14F-4D97-AF65-F5344CB8AC3E}">
        <p14:creationId xmlns:p14="http://schemas.microsoft.com/office/powerpoint/2010/main" val="763096254"/>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6.1.7. Biến tham chiếu this</a:t>
            </a:r>
            <a:endParaRPr lang="en-US" sz="2400"/>
          </a:p>
        </p:txBody>
      </p:sp>
      <p:sp>
        <p:nvSpPr>
          <p:cNvPr id="3" name="Content Placeholder 2"/>
          <p:cNvSpPr>
            <a:spLocks noGrp="1"/>
          </p:cNvSpPr>
          <p:nvPr>
            <p:ph idx="1"/>
          </p:nvPr>
        </p:nvSpPr>
        <p:spPr>
          <a:xfrm>
            <a:off x="1385646" y="1808826"/>
            <a:ext cx="6372708" cy="1391581"/>
          </a:xfrm>
        </p:spPr>
        <p:txBody>
          <a:bodyPr wrap="square">
            <a:noAutofit/>
          </a:bodyPr>
          <a:lstStyle/>
          <a:p>
            <a:pPr>
              <a:spcBef>
                <a:spcPts val="450"/>
              </a:spcBef>
              <a:spcAft>
                <a:spcPts val="0"/>
              </a:spcAft>
              <a:buSzPct val="100000"/>
              <a:tabLst>
                <a:tab pos="473869" algn="l"/>
              </a:tabLst>
            </a:pPr>
            <a:r>
              <a:rPr lang="en-US" smtClean="0"/>
              <a:t>Trong tất cả các phương thức </a:t>
            </a:r>
            <a:r>
              <a:rPr lang="en-US" smtClean="0">
                <a:solidFill>
                  <a:srgbClr val="00B050"/>
                </a:solidFill>
              </a:rPr>
              <a:t>không tĩnh</a:t>
            </a:r>
            <a:r>
              <a:rPr lang="en-US" smtClean="0"/>
              <a:t>, tất cả các lệnh truy xuất vào các dữ liệu thành viên không tĩnh sẽ được </a:t>
            </a:r>
            <a:r>
              <a:rPr lang="en-US" smtClean="0">
                <a:solidFill>
                  <a:srgbClr val="00B050"/>
                </a:solidFill>
              </a:rPr>
              <a:t>tự động thêm vào </a:t>
            </a:r>
            <a:r>
              <a:rPr lang="en-US" smtClean="0"/>
              <a:t>tham chiếu this.</a:t>
            </a:r>
          </a:p>
          <a:p>
            <a:pPr>
              <a:spcBef>
                <a:spcPts val="450"/>
              </a:spcBef>
              <a:spcAft>
                <a:spcPts val="0"/>
              </a:spcAft>
              <a:buSzPct val="100000"/>
              <a:tabLst>
                <a:tab pos="473869" algn="l"/>
              </a:tabLst>
            </a:pPr>
            <a:endParaRPr lang="en-US"/>
          </a:p>
          <a:p>
            <a:pPr>
              <a:spcAft>
                <a:spcPts val="450"/>
              </a:spcAft>
            </a:pPr>
            <a:endParaRPr lang="en-US" smtClean="0"/>
          </a:p>
          <a:p>
            <a:pPr marL="0" indent="0">
              <a:spcAft>
                <a:spcPts val="450"/>
              </a:spcAft>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123</a:t>
            </a:fld>
            <a:endParaRPr lang="en-US"/>
          </a:p>
        </p:txBody>
      </p:sp>
      <p:pic>
        <p:nvPicPr>
          <p:cNvPr id="5" name="Picture 4"/>
          <p:cNvPicPr>
            <a:picLocks noChangeAspect="1"/>
          </p:cNvPicPr>
          <p:nvPr/>
        </p:nvPicPr>
        <p:blipFill>
          <a:blip r:embed="rId3"/>
          <a:stretch>
            <a:fillRect/>
          </a:stretch>
        </p:blipFill>
        <p:spPr>
          <a:xfrm>
            <a:off x="1771649" y="3340899"/>
            <a:ext cx="5692140" cy="2286001"/>
          </a:xfrm>
          <a:prstGeom prst="rect">
            <a:avLst/>
          </a:prstGeom>
        </p:spPr>
      </p:pic>
    </p:spTree>
    <p:extLst>
      <p:ext uri="{BB962C8B-B14F-4D97-AF65-F5344CB8AC3E}">
        <p14:creationId xmlns:p14="http://schemas.microsoft.com/office/powerpoint/2010/main" val="1890975735"/>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6.1.7. Biến tham chiếu this</a:t>
            </a:r>
            <a:endParaRPr lang="en-US" sz="2400"/>
          </a:p>
        </p:txBody>
      </p:sp>
      <p:sp>
        <p:nvSpPr>
          <p:cNvPr id="3" name="Content Placeholder 2"/>
          <p:cNvSpPr>
            <a:spLocks noGrp="1"/>
          </p:cNvSpPr>
          <p:nvPr>
            <p:ph idx="1"/>
          </p:nvPr>
        </p:nvSpPr>
        <p:spPr>
          <a:xfrm>
            <a:off x="1385646" y="1808826"/>
            <a:ext cx="6372708" cy="820081"/>
          </a:xfrm>
        </p:spPr>
        <p:txBody>
          <a:bodyPr wrap="square">
            <a:noAutofit/>
          </a:bodyPr>
          <a:lstStyle/>
          <a:p>
            <a:pPr>
              <a:lnSpc>
                <a:spcPct val="120000"/>
              </a:lnSpc>
              <a:spcBef>
                <a:spcPts val="450"/>
              </a:spcBef>
              <a:spcAft>
                <a:spcPts val="0"/>
              </a:spcAft>
              <a:buSzPct val="100000"/>
              <a:tabLst>
                <a:tab pos="473869" algn="l"/>
              </a:tabLst>
            </a:pPr>
            <a:r>
              <a:rPr lang="en-US" smtClean="0"/>
              <a:t>Biến tham chiếu this thường được sử dụng một cách tường minh để tránh trùng tên.</a:t>
            </a:r>
          </a:p>
          <a:p>
            <a:pPr>
              <a:spcBef>
                <a:spcPts val="450"/>
              </a:spcBef>
              <a:spcAft>
                <a:spcPts val="0"/>
              </a:spcAft>
              <a:buSzPct val="100000"/>
              <a:tabLst>
                <a:tab pos="473869" algn="l"/>
              </a:tabLst>
            </a:pPr>
            <a:endParaRPr lang="en-US"/>
          </a:p>
          <a:p>
            <a:pPr>
              <a:spcAft>
                <a:spcPts val="450"/>
              </a:spcAft>
            </a:pPr>
            <a:endParaRPr lang="en-US" smtClean="0"/>
          </a:p>
          <a:p>
            <a:pPr marL="0" indent="0">
              <a:spcAft>
                <a:spcPts val="450"/>
              </a:spcAft>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124</a:t>
            </a:fld>
            <a:endParaRPr lang="en-US"/>
          </a:p>
        </p:txBody>
      </p:sp>
      <p:pic>
        <p:nvPicPr>
          <p:cNvPr id="7" name="Picture 6"/>
          <p:cNvPicPr>
            <a:picLocks noChangeAspect="1"/>
          </p:cNvPicPr>
          <p:nvPr/>
        </p:nvPicPr>
        <p:blipFill>
          <a:blip r:embed="rId3"/>
          <a:stretch>
            <a:fillRect/>
          </a:stretch>
        </p:blipFill>
        <p:spPr>
          <a:xfrm>
            <a:off x="1634882" y="2681663"/>
            <a:ext cx="5966460" cy="2444591"/>
          </a:xfrm>
          <a:prstGeom prst="rect">
            <a:avLst/>
          </a:prstGeom>
        </p:spPr>
      </p:pic>
    </p:spTree>
    <p:extLst>
      <p:ext uri="{BB962C8B-B14F-4D97-AF65-F5344CB8AC3E}">
        <p14:creationId xmlns:p14="http://schemas.microsoft.com/office/powerpoint/2010/main" val="3206036864"/>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6.2. Kế thừa (Inheritance)</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125</a:t>
            </a:fld>
            <a:endParaRPr lang="en-US"/>
          </a:p>
        </p:txBody>
      </p:sp>
      <p:sp>
        <p:nvSpPr>
          <p:cNvPr id="6" name="object 6"/>
          <p:cNvSpPr/>
          <p:nvPr/>
        </p:nvSpPr>
        <p:spPr>
          <a:xfrm>
            <a:off x="2286000" y="1943100"/>
            <a:ext cx="4286250" cy="3200400"/>
          </a:xfrm>
          <a:prstGeom prst="rect">
            <a:avLst/>
          </a:prstGeom>
          <a:blipFill>
            <a:blip r:embed="rId3" cstate="print"/>
            <a:stretch>
              <a:fillRect/>
            </a:stretch>
          </a:blipFill>
        </p:spPr>
        <p:txBody>
          <a:bodyPr wrap="square" lIns="0" tIns="0" rIns="0" bIns="0" rtlCol="0">
            <a:noAutofit/>
          </a:bodyPr>
          <a:lstStyle/>
          <a:p>
            <a:endParaRPr/>
          </a:p>
        </p:txBody>
      </p:sp>
    </p:spTree>
    <p:extLst>
      <p:ext uri="{BB962C8B-B14F-4D97-AF65-F5344CB8AC3E}">
        <p14:creationId xmlns:p14="http://schemas.microsoft.com/office/powerpoint/2010/main" val="584290491"/>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6.2. Kế thừa (Inheritance)</a:t>
            </a:r>
            <a:endParaRPr lang="en-US"/>
          </a:p>
        </p:txBody>
      </p:sp>
      <p:sp>
        <p:nvSpPr>
          <p:cNvPr id="3" name="Content Placeholder 2"/>
          <p:cNvSpPr>
            <a:spLocks noGrp="1"/>
          </p:cNvSpPr>
          <p:nvPr>
            <p:ph idx="1"/>
          </p:nvPr>
        </p:nvSpPr>
        <p:spPr>
          <a:xfrm>
            <a:off x="1385646" y="1899314"/>
            <a:ext cx="6372708" cy="3815693"/>
          </a:xfrm>
        </p:spPr>
        <p:txBody>
          <a:bodyPr wrap="square">
            <a:noAutofit/>
          </a:bodyPr>
          <a:lstStyle/>
          <a:p>
            <a:pPr>
              <a:spcBef>
                <a:spcPts val="450"/>
              </a:spcBef>
              <a:spcAft>
                <a:spcPts val="0"/>
              </a:spcAft>
            </a:pPr>
            <a:r>
              <a:rPr lang="en-US" altLang="en-US">
                <a:latin typeface="Arial" pitchFamily="34" charset="0"/>
              </a:rPr>
              <a:t>Kế thừa </a:t>
            </a:r>
            <a:r>
              <a:rPr lang="vi-VN" altLang="en-US">
                <a:latin typeface="Arial" pitchFamily="34" charset="0"/>
              </a:rPr>
              <a:t>là quá trình mà các thuộc tính và hành vi được truyền từ thực thể cha đến thực thể con</a:t>
            </a:r>
            <a:r>
              <a:rPr lang="en-US" altLang="en-US">
                <a:latin typeface="Arial" pitchFamily="34" charset="0"/>
              </a:rPr>
              <a:t>.</a:t>
            </a:r>
          </a:p>
          <a:p>
            <a:pPr>
              <a:spcBef>
                <a:spcPts val="450"/>
              </a:spcBef>
              <a:spcAft>
                <a:spcPts val="0"/>
              </a:spcAft>
            </a:pPr>
            <a:r>
              <a:rPr lang="en-US" altLang="en-US">
                <a:latin typeface="Arial" pitchFamily="34" charset="0"/>
              </a:rPr>
              <a:t>Lớp </a:t>
            </a:r>
            <a:r>
              <a:rPr lang="vi-VN" altLang="en-US">
                <a:latin typeface="Arial" pitchFamily="34" charset="0"/>
              </a:rPr>
              <a:t>kế thừa</a:t>
            </a:r>
            <a:r>
              <a:rPr lang="en-US" altLang="en-US">
                <a:latin typeface="Arial" pitchFamily="34" charset="0"/>
              </a:rPr>
              <a:t> được gọi là lớp </a:t>
            </a:r>
            <a:r>
              <a:rPr lang="en-US" altLang="en-US" smtClean="0">
                <a:latin typeface="Arial" pitchFamily="34" charset="0"/>
              </a:rPr>
              <a:t>con (subclass) </a:t>
            </a:r>
            <a:r>
              <a:rPr lang="vi-VN" altLang="en-US">
                <a:latin typeface="Arial" pitchFamily="34" charset="0"/>
              </a:rPr>
              <a:t>hay lớp dẫn xuất (devired class).</a:t>
            </a:r>
            <a:r>
              <a:rPr lang="en-US" altLang="en-US">
                <a:latin typeface="Arial" pitchFamily="34" charset="0"/>
              </a:rPr>
              <a:t> Lớp </a:t>
            </a:r>
            <a:r>
              <a:rPr lang="vi-VN" altLang="en-US">
                <a:latin typeface="Arial" pitchFamily="34" charset="0"/>
              </a:rPr>
              <a:t>cho phép lớp con kế thừa</a:t>
            </a:r>
            <a:r>
              <a:rPr lang="en-US" altLang="en-US">
                <a:latin typeface="Arial" pitchFamily="34" charset="0"/>
              </a:rPr>
              <a:t> được gọi là lớp </a:t>
            </a:r>
            <a:r>
              <a:rPr lang="en-US" altLang="en-US" smtClean="0">
                <a:latin typeface="Arial" pitchFamily="34" charset="0"/>
              </a:rPr>
              <a:t>cha </a:t>
            </a:r>
            <a:r>
              <a:rPr lang="vi-VN" altLang="en-US" smtClean="0">
                <a:latin typeface="Arial" pitchFamily="34" charset="0"/>
              </a:rPr>
              <a:t>hay </a:t>
            </a:r>
            <a:r>
              <a:rPr lang="vi-VN" altLang="en-US">
                <a:latin typeface="Arial" pitchFamily="34" charset="0"/>
              </a:rPr>
              <a:t>lớp cơ sở </a:t>
            </a:r>
            <a:r>
              <a:rPr lang="en-US" altLang="en-US">
                <a:latin typeface="Arial" pitchFamily="34" charset="0"/>
              </a:rPr>
              <a:t>(</a:t>
            </a:r>
            <a:r>
              <a:rPr lang="vi-VN" altLang="en-US">
                <a:latin typeface="Arial" pitchFamily="34" charset="0"/>
              </a:rPr>
              <a:t>super class)</a:t>
            </a:r>
            <a:r>
              <a:rPr lang="en-US" altLang="en-US">
                <a:latin typeface="Arial" pitchFamily="34" charset="0"/>
              </a:rPr>
              <a:t>.</a:t>
            </a:r>
          </a:p>
          <a:p>
            <a:pPr>
              <a:spcBef>
                <a:spcPts val="450"/>
              </a:spcBef>
              <a:spcAft>
                <a:spcPts val="0"/>
              </a:spcAft>
            </a:pPr>
            <a:r>
              <a:rPr lang="vi-VN" altLang="en-US">
                <a:latin typeface="Arial" pitchFamily="34" charset="0"/>
              </a:rPr>
              <a:t>Lớp con </a:t>
            </a:r>
            <a:r>
              <a:rPr lang="en-US" altLang="en-US" smtClean="0">
                <a:latin typeface="Arial" pitchFamily="34" charset="0"/>
              </a:rPr>
              <a:t>thừa kế (</a:t>
            </a:r>
            <a:r>
              <a:rPr lang="vi-VN" altLang="en-US" smtClean="0">
                <a:latin typeface="Arial" pitchFamily="34" charset="0"/>
              </a:rPr>
              <a:t>có</a:t>
            </a:r>
            <a:r>
              <a:rPr lang="en-US" altLang="en-US" smtClean="0">
                <a:latin typeface="Arial" pitchFamily="34" charset="0"/>
              </a:rPr>
              <a:t>)</a:t>
            </a:r>
            <a:r>
              <a:rPr lang="vi-VN" altLang="en-US" smtClean="0">
                <a:latin typeface="Arial" pitchFamily="34" charset="0"/>
              </a:rPr>
              <a:t> các </a:t>
            </a:r>
            <a:r>
              <a:rPr lang="vi-VN" altLang="en-US">
                <a:latin typeface="Arial" pitchFamily="34" charset="0"/>
              </a:rPr>
              <a:t>thành phần của lớp cha </a:t>
            </a:r>
            <a:r>
              <a:rPr lang="vi-VN" altLang="en-US">
                <a:solidFill>
                  <a:srgbClr val="FF0000"/>
                </a:solidFill>
                <a:latin typeface="Arial" pitchFamily="34" charset="0"/>
              </a:rPr>
              <a:t>ngoại trừ </a:t>
            </a:r>
            <a:r>
              <a:rPr lang="vi-VN" altLang="en-US">
                <a:latin typeface="Arial" pitchFamily="34" charset="0"/>
              </a:rPr>
              <a:t>các thành phần được khai báo truy cập là </a:t>
            </a:r>
            <a:r>
              <a:rPr lang="vi-VN" altLang="en-US">
                <a:solidFill>
                  <a:srgbClr val="FF0000"/>
                </a:solidFill>
                <a:latin typeface="Arial" pitchFamily="34" charset="0"/>
              </a:rPr>
              <a:t>private</a:t>
            </a:r>
            <a:r>
              <a:rPr lang="vi-VN" altLang="en-US">
                <a:latin typeface="Arial" pitchFamily="34" charset="0"/>
              </a:rPr>
              <a:t>.</a:t>
            </a:r>
            <a:endParaRPr lang="en-US" altLang="en-US">
              <a:latin typeface="Arial" pitchFamily="34" charset="0"/>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126</a:t>
            </a:fld>
            <a:endParaRPr lang="en-US"/>
          </a:p>
        </p:txBody>
      </p:sp>
    </p:spTree>
    <p:extLst>
      <p:ext uri="{BB962C8B-B14F-4D97-AF65-F5344CB8AC3E}">
        <p14:creationId xmlns:p14="http://schemas.microsoft.com/office/powerpoint/2010/main" val="2056989566"/>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6.2. Kế thừa (Inheritance)</a:t>
            </a:r>
            <a:endParaRPr lang="en-US"/>
          </a:p>
        </p:txBody>
      </p:sp>
      <p:sp>
        <p:nvSpPr>
          <p:cNvPr id="3" name="Content Placeholder 2"/>
          <p:cNvSpPr>
            <a:spLocks noGrp="1"/>
          </p:cNvSpPr>
          <p:nvPr>
            <p:ph idx="1"/>
          </p:nvPr>
        </p:nvSpPr>
        <p:spPr>
          <a:xfrm>
            <a:off x="1385646" y="1899314"/>
            <a:ext cx="6372708" cy="3815693"/>
          </a:xfrm>
        </p:spPr>
        <p:txBody>
          <a:bodyPr wrap="square">
            <a:noAutofit/>
          </a:bodyPr>
          <a:lstStyle/>
          <a:p>
            <a:pPr>
              <a:lnSpc>
                <a:spcPct val="120000"/>
              </a:lnSpc>
              <a:spcBef>
                <a:spcPts val="450"/>
              </a:spcBef>
              <a:spcAft>
                <a:spcPts val="0"/>
              </a:spcAft>
            </a:pPr>
            <a:r>
              <a:rPr lang="en-US" altLang="en-US">
                <a:latin typeface="Arial" pitchFamily="34" charset="0"/>
              </a:rPr>
              <a:t>Lớp con </a:t>
            </a:r>
            <a:r>
              <a:rPr lang="vi-VN" altLang="en-US">
                <a:latin typeface="Arial" pitchFamily="34" charset="0"/>
              </a:rPr>
              <a:t>cũng </a:t>
            </a:r>
            <a:r>
              <a:rPr lang="vi-VN" altLang="en-US">
                <a:solidFill>
                  <a:srgbClr val="FF0000"/>
                </a:solidFill>
                <a:latin typeface="Arial" pitchFamily="34" charset="0"/>
              </a:rPr>
              <a:t>kế thừa </a:t>
            </a:r>
            <a:r>
              <a:rPr lang="en-US" altLang="en-US">
                <a:solidFill>
                  <a:srgbClr val="FF0000"/>
                </a:solidFill>
                <a:latin typeface="Arial" pitchFamily="34" charset="0"/>
              </a:rPr>
              <a:t>các </a:t>
            </a:r>
            <a:r>
              <a:rPr lang="vi-VN" altLang="en-US">
                <a:solidFill>
                  <a:srgbClr val="FF0000"/>
                </a:solidFill>
                <a:latin typeface="Arial" pitchFamily="34" charset="0"/>
              </a:rPr>
              <a:t>thành phần </a:t>
            </a:r>
            <a:r>
              <a:rPr lang="en-US" altLang="en-US" smtClean="0">
                <a:solidFill>
                  <a:srgbClr val="FF0000"/>
                </a:solidFill>
                <a:latin typeface="Arial" pitchFamily="34" charset="0"/>
              </a:rPr>
              <a:t>default </a:t>
            </a:r>
            <a:r>
              <a:rPr lang="en-US" altLang="en-US">
                <a:latin typeface="Arial" pitchFamily="34" charset="0"/>
              </a:rPr>
              <a:t>của lớp cha nếu lớp con và lớp cha được định nghĩa </a:t>
            </a:r>
            <a:r>
              <a:rPr lang="vi-VN" altLang="en-US">
                <a:latin typeface="Arial" pitchFamily="34" charset="0"/>
              </a:rPr>
              <a:t>trong </a:t>
            </a:r>
            <a:r>
              <a:rPr lang="en-US" altLang="en-US">
                <a:solidFill>
                  <a:srgbClr val="FF0000"/>
                </a:solidFill>
                <a:latin typeface="Arial" pitchFamily="34" charset="0"/>
              </a:rPr>
              <a:t>cùng </a:t>
            </a:r>
            <a:r>
              <a:rPr lang="vi-VN" altLang="en-US">
                <a:solidFill>
                  <a:srgbClr val="FF0000"/>
                </a:solidFill>
                <a:latin typeface="Arial" pitchFamily="34" charset="0"/>
              </a:rPr>
              <a:t>pakage</a:t>
            </a:r>
            <a:r>
              <a:rPr lang="vi-VN" altLang="en-US">
                <a:latin typeface="Arial" pitchFamily="34" charset="0"/>
              </a:rPr>
              <a:t>.</a:t>
            </a:r>
            <a:endParaRPr lang="en-US" altLang="en-US">
              <a:latin typeface="Arial" pitchFamily="34" charset="0"/>
            </a:endParaRPr>
          </a:p>
          <a:p>
            <a:pPr>
              <a:lnSpc>
                <a:spcPct val="120000"/>
              </a:lnSpc>
              <a:spcBef>
                <a:spcPts val="450"/>
              </a:spcBef>
              <a:spcAft>
                <a:spcPts val="0"/>
              </a:spcAft>
            </a:pPr>
            <a:r>
              <a:rPr lang="en-US" altLang="en-US">
                <a:latin typeface="Arial" pitchFamily="34" charset="0"/>
              </a:rPr>
              <a:t>Lớp con </a:t>
            </a:r>
            <a:r>
              <a:rPr lang="vi-VN" altLang="en-US">
                <a:solidFill>
                  <a:srgbClr val="FF0000"/>
                </a:solidFill>
                <a:latin typeface="Arial" pitchFamily="34" charset="0"/>
              </a:rPr>
              <a:t>khôn</a:t>
            </a:r>
            <a:r>
              <a:rPr lang="en-US" altLang="en-US">
                <a:solidFill>
                  <a:srgbClr val="FF0000"/>
                </a:solidFill>
                <a:latin typeface="Arial" pitchFamily="34" charset="0"/>
              </a:rPr>
              <a:t>g kế thừa </a:t>
            </a:r>
            <a:r>
              <a:rPr lang="vi-VN" altLang="en-US">
                <a:solidFill>
                  <a:srgbClr val="FF0000"/>
                </a:solidFill>
                <a:latin typeface="Arial" pitchFamily="34" charset="0"/>
              </a:rPr>
              <a:t>constructor</a:t>
            </a:r>
            <a:r>
              <a:rPr lang="vi-VN" altLang="en-US">
                <a:latin typeface="Arial" pitchFamily="34" charset="0"/>
              </a:rPr>
              <a:t> </a:t>
            </a:r>
            <a:r>
              <a:rPr lang="en-US" altLang="en-US">
                <a:latin typeface="Arial" pitchFamily="34" charset="0"/>
              </a:rPr>
              <a:t>của lớp cha</a:t>
            </a:r>
            <a:r>
              <a:rPr lang="en-US" altLang="en-US" smtClean="0">
                <a:latin typeface="Arial" pitchFamily="34" charset="0"/>
              </a:rPr>
              <a:t>.</a:t>
            </a:r>
          </a:p>
          <a:p>
            <a:pPr>
              <a:lnSpc>
                <a:spcPct val="120000"/>
              </a:lnSpc>
              <a:spcBef>
                <a:spcPts val="450"/>
              </a:spcBef>
              <a:spcAft>
                <a:spcPts val="0"/>
              </a:spcAft>
            </a:pPr>
            <a:r>
              <a:rPr lang="en-US" altLang="en-US" smtClean="0">
                <a:latin typeface="Arial" pitchFamily="34" charset="0"/>
              </a:rPr>
              <a:t>Lớp con có thể </a:t>
            </a:r>
            <a:r>
              <a:rPr lang="en-US" altLang="en-US" smtClean="0">
                <a:solidFill>
                  <a:srgbClr val="FF0000"/>
                </a:solidFill>
                <a:latin typeface="Arial" pitchFamily="34" charset="0"/>
              </a:rPr>
              <a:t>nạp đè </a:t>
            </a:r>
            <a:r>
              <a:rPr lang="en-US" altLang="en-US" smtClean="0">
                <a:latin typeface="Arial" pitchFamily="34" charset="0"/>
              </a:rPr>
              <a:t>(overriding) các phương thức của lớp cha.</a:t>
            </a:r>
            <a:endParaRPr lang="en-US" altLang="en-US">
              <a:latin typeface="Arial" pitchFamily="34" charset="0"/>
            </a:endParaRPr>
          </a:p>
          <a:p>
            <a:pPr>
              <a:lnSpc>
                <a:spcPct val="120000"/>
              </a:lnSpc>
              <a:spcBef>
                <a:spcPts val="450"/>
              </a:spcBef>
              <a:spcAft>
                <a:spcPts val="0"/>
              </a:spcAft>
            </a:pPr>
            <a:r>
              <a:rPr lang="vi-VN" altLang="en-US">
                <a:latin typeface="Arial" pitchFamily="34" charset="0"/>
              </a:rPr>
              <a:t>Nếu một lớp không kế thừa từ lớp cha nào thì mặc định nó kế thừa từ lớp Object.</a:t>
            </a:r>
            <a:endParaRPr lang="en-US" altLang="en-US">
              <a:latin typeface="Arial" pitchFamily="34" charset="0"/>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127</a:t>
            </a:fld>
            <a:endParaRPr lang="en-US"/>
          </a:p>
        </p:txBody>
      </p:sp>
    </p:spTree>
    <p:extLst>
      <p:ext uri="{BB962C8B-B14F-4D97-AF65-F5344CB8AC3E}">
        <p14:creationId xmlns:p14="http://schemas.microsoft.com/office/powerpoint/2010/main" val="2989511085"/>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6.2.1. Tạo lớp kế thừa</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128</a:t>
            </a:fld>
            <a:endParaRPr lang="en-US"/>
          </a:p>
        </p:txBody>
      </p:sp>
      <p:sp>
        <p:nvSpPr>
          <p:cNvPr id="5" name="Content Placeholder 4"/>
          <p:cNvSpPr>
            <a:spLocks noGrp="1"/>
          </p:cNvSpPr>
          <p:nvPr>
            <p:ph idx="1"/>
          </p:nvPr>
        </p:nvSpPr>
        <p:spPr>
          <a:xfrm>
            <a:off x="1367032" y="1885951"/>
            <a:ext cx="6400731" cy="3657600"/>
          </a:xfrm>
        </p:spPr>
        <p:txBody>
          <a:bodyPr/>
          <a:lstStyle/>
          <a:p>
            <a:r>
              <a:rPr lang="en-US" smtClean="0"/>
              <a:t>Cú pháp:</a:t>
            </a:r>
          </a:p>
          <a:p>
            <a:endParaRPr lang="en-US"/>
          </a:p>
          <a:p>
            <a:endParaRPr lang="en-US" smtClean="0"/>
          </a:p>
          <a:p>
            <a:endParaRPr lang="en-US" smtClean="0"/>
          </a:p>
          <a:p>
            <a:r>
              <a:rPr lang="en-US" smtClean="0"/>
              <a:t>Ví dụ: Tạo lớp Student kế thừa từ lớp Person</a:t>
            </a:r>
            <a:endParaRPr lang="en-US"/>
          </a:p>
        </p:txBody>
      </p:sp>
      <p:pic>
        <p:nvPicPr>
          <p:cNvPr id="6" name="Picture 5"/>
          <p:cNvPicPr>
            <a:picLocks noChangeAspect="1"/>
          </p:cNvPicPr>
          <p:nvPr/>
        </p:nvPicPr>
        <p:blipFill>
          <a:blip r:embed="rId3"/>
          <a:stretch>
            <a:fillRect/>
          </a:stretch>
        </p:blipFill>
        <p:spPr>
          <a:xfrm>
            <a:off x="1485900" y="2475936"/>
            <a:ext cx="6309360" cy="1010221"/>
          </a:xfrm>
          <a:prstGeom prst="rect">
            <a:avLst/>
          </a:prstGeom>
        </p:spPr>
      </p:pic>
      <p:pic>
        <p:nvPicPr>
          <p:cNvPr id="7" name="Picture 6"/>
          <p:cNvPicPr>
            <a:picLocks noChangeAspect="1"/>
          </p:cNvPicPr>
          <p:nvPr/>
        </p:nvPicPr>
        <p:blipFill>
          <a:blip r:embed="rId4"/>
          <a:stretch>
            <a:fillRect/>
          </a:stretch>
        </p:blipFill>
        <p:spPr>
          <a:xfrm>
            <a:off x="1552474" y="4157178"/>
            <a:ext cx="4006198" cy="914400"/>
          </a:xfrm>
          <a:prstGeom prst="rect">
            <a:avLst/>
          </a:prstGeom>
        </p:spPr>
      </p:pic>
      <p:sp>
        <p:nvSpPr>
          <p:cNvPr id="8" name="object 6"/>
          <p:cNvSpPr/>
          <p:nvPr/>
        </p:nvSpPr>
        <p:spPr>
          <a:xfrm>
            <a:off x="5676714" y="3971076"/>
            <a:ext cx="1679067" cy="1612963"/>
          </a:xfrm>
          <a:prstGeom prst="rect">
            <a:avLst/>
          </a:prstGeom>
          <a:blipFill>
            <a:blip r:embed="rId5" cstate="print"/>
            <a:stretch>
              <a:fillRect/>
            </a:stretch>
          </a:blipFill>
        </p:spPr>
        <p:txBody>
          <a:bodyPr wrap="square" lIns="0" tIns="0" rIns="0" bIns="0" rtlCol="0">
            <a:noAutofit/>
          </a:bodyPr>
          <a:lstStyle/>
          <a:p>
            <a:endParaRPr/>
          </a:p>
        </p:txBody>
      </p:sp>
    </p:spTree>
    <p:extLst>
      <p:ext uri="{BB962C8B-B14F-4D97-AF65-F5344CB8AC3E}">
        <p14:creationId xmlns:p14="http://schemas.microsoft.com/office/powerpoint/2010/main" val="877478792"/>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6.2.2. Constructor trong kế thừa</a:t>
            </a:r>
            <a:endParaRPr lang="en-US"/>
          </a:p>
        </p:txBody>
      </p:sp>
      <p:sp>
        <p:nvSpPr>
          <p:cNvPr id="3" name="Content Placeholder 2"/>
          <p:cNvSpPr>
            <a:spLocks noGrp="1"/>
          </p:cNvSpPr>
          <p:nvPr>
            <p:ph idx="1"/>
          </p:nvPr>
        </p:nvSpPr>
        <p:spPr>
          <a:xfrm>
            <a:off x="1385646" y="1899314"/>
            <a:ext cx="6501054" cy="3815693"/>
          </a:xfrm>
        </p:spPr>
        <p:txBody>
          <a:bodyPr wrap="square">
            <a:noAutofit/>
          </a:bodyPr>
          <a:lstStyle/>
          <a:p>
            <a:pPr>
              <a:lnSpc>
                <a:spcPct val="120000"/>
              </a:lnSpc>
              <a:spcBef>
                <a:spcPts val="450"/>
              </a:spcBef>
              <a:spcAft>
                <a:spcPts val="0"/>
              </a:spcAft>
            </a:pPr>
            <a:r>
              <a:rPr lang="en-US" altLang="en-US" smtClean="0">
                <a:latin typeface="Arial" pitchFamily="34" charset="0"/>
              </a:rPr>
              <a:t>Khi một đối tượng thuộc lớp con được tạo ra:</a:t>
            </a:r>
          </a:p>
          <a:p>
            <a:pPr lvl="1">
              <a:lnSpc>
                <a:spcPct val="120000"/>
              </a:lnSpc>
              <a:spcBef>
                <a:spcPts val="450"/>
              </a:spcBef>
              <a:spcAft>
                <a:spcPts val="0"/>
              </a:spcAft>
            </a:pPr>
            <a:r>
              <a:rPr lang="en-US" altLang="en-US" smtClean="0">
                <a:latin typeface="Arial" pitchFamily="34" charset="0"/>
              </a:rPr>
              <a:t>Constructor tương ứng của lớp con sẽ được gọi.</a:t>
            </a:r>
          </a:p>
          <a:p>
            <a:pPr lvl="1">
              <a:lnSpc>
                <a:spcPct val="120000"/>
              </a:lnSpc>
              <a:spcBef>
                <a:spcPts val="450"/>
              </a:spcBef>
              <a:spcAft>
                <a:spcPts val="0"/>
              </a:spcAft>
            </a:pPr>
            <a:r>
              <a:rPr lang="en-US" altLang="en-US" smtClean="0">
                <a:latin typeface="Arial" pitchFamily="34" charset="0"/>
              </a:rPr>
              <a:t>Nếu constructor của lớp con không gọi constructor của lớp cha thì contructor mặc định của lớp cha sẽ tự động được gọi trước khi constructor của  lớp con được thực thi.</a:t>
            </a:r>
          </a:p>
          <a:p>
            <a:pPr>
              <a:lnSpc>
                <a:spcPct val="120000"/>
              </a:lnSpc>
              <a:spcBef>
                <a:spcPts val="450"/>
              </a:spcBef>
              <a:spcAft>
                <a:spcPts val="0"/>
              </a:spcAft>
            </a:pPr>
            <a:r>
              <a:rPr lang="en-US" altLang="en-US" smtClean="0">
                <a:latin typeface="Arial" pitchFamily="34" charset="0"/>
              </a:rPr>
              <a:t>Từ khóa </a:t>
            </a:r>
            <a:r>
              <a:rPr lang="en-US" altLang="en-US" smtClean="0">
                <a:solidFill>
                  <a:srgbClr val="FF0000"/>
                </a:solidFill>
                <a:latin typeface="Arial" pitchFamily="34" charset="0"/>
              </a:rPr>
              <a:t>super</a:t>
            </a:r>
            <a:r>
              <a:rPr lang="en-US" altLang="en-US" smtClean="0">
                <a:latin typeface="Arial" pitchFamily="34" charset="0"/>
              </a:rPr>
              <a:t> được sử dụng để gọi constructor của lớp cha:</a:t>
            </a:r>
          </a:p>
          <a:p>
            <a:pPr marL="0" indent="0" algn="ctr">
              <a:lnSpc>
                <a:spcPct val="120000"/>
              </a:lnSpc>
              <a:spcBef>
                <a:spcPts val="450"/>
              </a:spcBef>
              <a:spcAft>
                <a:spcPts val="0"/>
              </a:spcAft>
              <a:buNone/>
            </a:pPr>
            <a:r>
              <a:rPr lang="en-US" altLang="en-US" sz="2100">
                <a:solidFill>
                  <a:srgbClr val="FF0000"/>
                </a:solidFill>
                <a:latin typeface="Arial" pitchFamily="34" charset="0"/>
              </a:rPr>
              <a:t>super(</a:t>
            </a:r>
            <a:r>
              <a:rPr lang="en-US" altLang="en-US" sz="2100">
                <a:latin typeface="Arial" pitchFamily="34" charset="0"/>
              </a:rPr>
              <a:t>[các tham số co constructor của lớp cha]</a:t>
            </a:r>
            <a:r>
              <a:rPr lang="en-US" altLang="en-US" sz="2100">
                <a:solidFill>
                  <a:srgbClr val="FF0000"/>
                </a:solidFill>
                <a:latin typeface="Arial" pitchFamily="34" charset="0"/>
              </a:rPr>
              <a:t>)</a:t>
            </a:r>
            <a:r>
              <a:rPr lang="en-US" altLang="en-US" sz="2100">
                <a:latin typeface="Arial" pitchFamily="34" charset="0"/>
              </a:rPr>
              <a:t>;</a:t>
            </a:r>
          </a:p>
        </p:txBody>
      </p:sp>
      <p:sp>
        <p:nvSpPr>
          <p:cNvPr id="4" name="Slide Number Placeholder 3"/>
          <p:cNvSpPr>
            <a:spLocks noGrp="1"/>
          </p:cNvSpPr>
          <p:nvPr>
            <p:ph type="sldNum" sz="quarter" idx="12"/>
          </p:nvPr>
        </p:nvSpPr>
        <p:spPr/>
        <p:txBody>
          <a:bodyPr/>
          <a:lstStyle/>
          <a:p>
            <a:fld id="{E3E8E051-591C-4566-9813-B4BB16D377BD}" type="slidenum">
              <a:rPr lang="en-US" smtClean="0"/>
              <a:pPr/>
              <a:t>129</a:t>
            </a:fld>
            <a:endParaRPr lang="en-US"/>
          </a:p>
        </p:txBody>
      </p:sp>
    </p:spTree>
    <p:extLst>
      <p:ext uri="{BB962C8B-B14F-4D97-AF65-F5344CB8AC3E}">
        <p14:creationId xmlns:p14="http://schemas.microsoft.com/office/powerpoint/2010/main" val="728716591"/>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6.2.2. Constructor trong kế thừa</a:t>
            </a:r>
            <a:endParaRPr lang="en-US"/>
          </a:p>
        </p:txBody>
      </p:sp>
      <p:sp>
        <p:nvSpPr>
          <p:cNvPr id="3" name="Content Placeholder 2"/>
          <p:cNvSpPr>
            <a:spLocks noGrp="1"/>
          </p:cNvSpPr>
          <p:nvPr>
            <p:ph idx="1"/>
          </p:nvPr>
        </p:nvSpPr>
        <p:spPr>
          <a:xfrm>
            <a:off x="1385646" y="1899314"/>
            <a:ext cx="6501054" cy="3815693"/>
          </a:xfrm>
        </p:spPr>
        <p:txBody>
          <a:bodyPr wrap="square">
            <a:noAutofit/>
          </a:bodyPr>
          <a:lstStyle/>
          <a:p>
            <a:pPr>
              <a:lnSpc>
                <a:spcPct val="120000"/>
              </a:lnSpc>
              <a:spcBef>
                <a:spcPts val="450"/>
              </a:spcBef>
              <a:spcAft>
                <a:spcPts val="0"/>
              </a:spcAft>
            </a:pPr>
            <a:r>
              <a:rPr lang="en-US" altLang="en-US" smtClean="0">
                <a:latin typeface="Arial" pitchFamily="34" charset="0"/>
              </a:rPr>
              <a:t>Khi một đối tượng thuộc lớp con được tạo ra:</a:t>
            </a:r>
          </a:p>
          <a:p>
            <a:pPr lvl="1">
              <a:lnSpc>
                <a:spcPct val="120000"/>
              </a:lnSpc>
              <a:spcBef>
                <a:spcPts val="450"/>
              </a:spcBef>
              <a:spcAft>
                <a:spcPts val="0"/>
              </a:spcAft>
            </a:pPr>
            <a:r>
              <a:rPr lang="en-US" altLang="en-US" smtClean="0">
                <a:latin typeface="Arial" pitchFamily="34" charset="0"/>
              </a:rPr>
              <a:t>Constructor tương ứng của lớp con sẽ được gọi.</a:t>
            </a:r>
          </a:p>
          <a:p>
            <a:pPr lvl="1">
              <a:lnSpc>
                <a:spcPct val="120000"/>
              </a:lnSpc>
              <a:spcBef>
                <a:spcPts val="450"/>
              </a:spcBef>
              <a:spcAft>
                <a:spcPts val="0"/>
              </a:spcAft>
            </a:pPr>
            <a:r>
              <a:rPr lang="en-US" altLang="en-US" smtClean="0">
                <a:latin typeface="Arial" pitchFamily="34" charset="0"/>
              </a:rPr>
              <a:t>Nếu constructor của lớp con không gọi constructor của lớp cha thì contructor mặc định của lớp cha sẽ tự động được gọi trước khi constructor của  lớp con được thực thi.</a:t>
            </a:r>
          </a:p>
          <a:p>
            <a:pPr>
              <a:lnSpc>
                <a:spcPct val="120000"/>
              </a:lnSpc>
              <a:spcBef>
                <a:spcPts val="450"/>
              </a:spcBef>
              <a:spcAft>
                <a:spcPts val="0"/>
              </a:spcAft>
            </a:pPr>
            <a:r>
              <a:rPr lang="en-US" altLang="en-US" smtClean="0">
                <a:latin typeface="Arial" pitchFamily="34" charset="0"/>
              </a:rPr>
              <a:t>Từ khóa </a:t>
            </a:r>
            <a:r>
              <a:rPr lang="en-US" altLang="en-US" smtClean="0">
                <a:solidFill>
                  <a:srgbClr val="FF0000"/>
                </a:solidFill>
                <a:latin typeface="Arial" pitchFamily="34" charset="0"/>
              </a:rPr>
              <a:t>super</a:t>
            </a:r>
            <a:r>
              <a:rPr lang="en-US" altLang="en-US" smtClean="0">
                <a:latin typeface="Arial" pitchFamily="34" charset="0"/>
              </a:rPr>
              <a:t> được sử dụng để gọi constructor của lớp cha:</a:t>
            </a:r>
          </a:p>
          <a:p>
            <a:pPr marL="0" indent="0" algn="ctr">
              <a:lnSpc>
                <a:spcPct val="120000"/>
              </a:lnSpc>
              <a:spcBef>
                <a:spcPts val="450"/>
              </a:spcBef>
              <a:spcAft>
                <a:spcPts val="0"/>
              </a:spcAft>
              <a:buNone/>
            </a:pPr>
            <a:r>
              <a:rPr lang="en-US" altLang="en-US" sz="2100">
                <a:solidFill>
                  <a:srgbClr val="FF0000"/>
                </a:solidFill>
                <a:latin typeface="Arial" pitchFamily="34" charset="0"/>
              </a:rPr>
              <a:t>super(</a:t>
            </a:r>
            <a:r>
              <a:rPr lang="en-US" altLang="en-US" sz="2100">
                <a:latin typeface="Arial" pitchFamily="34" charset="0"/>
              </a:rPr>
              <a:t>[các tham số co constructor của lớp cha]</a:t>
            </a:r>
            <a:r>
              <a:rPr lang="en-US" altLang="en-US" sz="2100">
                <a:solidFill>
                  <a:srgbClr val="FF0000"/>
                </a:solidFill>
                <a:latin typeface="Arial" pitchFamily="34" charset="0"/>
              </a:rPr>
              <a:t>)</a:t>
            </a:r>
            <a:r>
              <a:rPr lang="en-US" altLang="en-US" sz="2100">
                <a:latin typeface="Arial" pitchFamily="34" charset="0"/>
              </a:rPr>
              <a:t>;</a:t>
            </a:r>
          </a:p>
        </p:txBody>
      </p:sp>
      <p:sp>
        <p:nvSpPr>
          <p:cNvPr id="4" name="Slide Number Placeholder 3"/>
          <p:cNvSpPr>
            <a:spLocks noGrp="1"/>
          </p:cNvSpPr>
          <p:nvPr>
            <p:ph type="sldNum" sz="quarter" idx="12"/>
          </p:nvPr>
        </p:nvSpPr>
        <p:spPr/>
        <p:txBody>
          <a:bodyPr/>
          <a:lstStyle/>
          <a:p>
            <a:fld id="{E3E8E051-591C-4566-9813-B4BB16D377BD}" type="slidenum">
              <a:rPr lang="en-US" smtClean="0"/>
              <a:pPr/>
              <a:t>130</a:t>
            </a:fld>
            <a:endParaRPr lang="en-US"/>
          </a:p>
        </p:txBody>
      </p:sp>
    </p:spTree>
    <p:extLst>
      <p:ext uri="{BB962C8B-B14F-4D97-AF65-F5344CB8AC3E}">
        <p14:creationId xmlns:p14="http://schemas.microsoft.com/office/powerpoint/2010/main" val="2899700215"/>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6.2.2. Constructor trong kế thừa</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131</a:t>
            </a:fld>
            <a:endParaRPr lang="en-US"/>
          </a:p>
        </p:txBody>
      </p:sp>
      <p:pic>
        <p:nvPicPr>
          <p:cNvPr id="6" name="Picture 5"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4594" y="1828800"/>
            <a:ext cx="4594728" cy="3543300"/>
          </a:xfrm>
          <a:prstGeom prst="rect">
            <a:avLst/>
          </a:prstGeom>
          <a:ln>
            <a:solidFill>
              <a:schemeClr val="accent1"/>
            </a:solidFill>
          </a:ln>
        </p:spPr>
      </p:pic>
      <p:pic>
        <p:nvPicPr>
          <p:cNvPr id="7" name="Picture 6"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32959" y="1828804"/>
            <a:ext cx="3953745" cy="1625429"/>
          </a:xfrm>
          <a:prstGeom prst="rect">
            <a:avLst/>
          </a:prstGeom>
          <a:ln>
            <a:solidFill>
              <a:schemeClr val="accent1"/>
            </a:solidFill>
          </a:ln>
        </p:spPr>
      </p:pic>
    </p:spTree>
    <p:extLst>
      <p:ext uri="{BB962C8B-B14F-4D97-AF65-F5344CB8AC3E}">
        <p14:creationId xmlns:p14="http://schemas.microsoft.com/office/powerpoint/2010/main" val="4126236227"/>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6.2.3. Các dạng kế thừa</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132</a:t>
            </a:fld>
            <a:endParaRPr 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4549" y="1863632"/>
            <a:ext cx="5116778" cy="4034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314343"/>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6.2.4. Nạp đè (Override)</a:t>
            </a:r>
            <a:endParaRPr lang="en-US"/>
          </a:p>
        </p:txBody>
      </p:sp>
      <p:sp>
        <p:nvSpPr>
          <p:cNvPr id="3" name="Content Placeholder 2"/>
          <p:cNvSpPr>
            <a:spLocks noGrp="1"/>
          </p:cNvSpPr>
          <p:nvPr>
            <p:ph idx="1"/>
          </p:nvPr>
        </p:nvSpPr>
        <p:spPr>
          <a:xfrm>
            <a:off x="1143000" y="1899314"/>
            <a:ext cx="6743700" cy="3815693"/>
          </a:xfrm>
        </p:spPr>
        <p:txBody>
          <a:bodyPr wrap="square">
            <a:noAutofit/>
          </a:bodyPr>
          <a:lstStyle/>
          <a:p>
            <a:pPr marL="425054" lvl="1" indent="-342900">
              <a:spcBef>
                <a:spcPts val="450"/>
              </a:spcBef>
              <a:spcAft>
                <a:spcPts val="450"/>
              </a:spcAft>
              <a:buFont typeface="Wingdings" panose="05000000000000000000" pitchFamily="2" charset="2"/>
              <a:buChar char="Ø"/>
            </a:pPr>
            <a:r>
              <a:rPr lang="en-US" altLang="en-US" sz="2250">
                <a:latin typeface="Times New Roman" panose="02020603050405020304" pitchFamily="18" charset="0"/>
                <a:cs typeface="Times New Roman" panose="02020603050405020304" pitchFamily="18" charset="0"/>
              </a:rPr>
              <a:t>Lớp con có thể có thành viên (</a:t>
            </a:r>
            <a:r>
              <a:rPr lang="en-US" altLang="en-US" sz="2250" i="1">
                <a:latin typeface="Times New Roman" panose="02020603050405020304" pitchFamily="18" charset="0"/>
                <a:cs typeface="Times New Roman" panose="02020603050405020304" pitchFamily="18" charset="0"/>
              </a:rPr>
              <a:t>thuộc tính/phương thức</a:t>
            </a:r>
            <a:r>
              <a:rPr lang="en-US" altLang="en-US" sz="2250">
                <a:latin typeface="Times New Roman" panose="02020603050405020304" pitchFamily="18" charset="0"/>
                <a:cs typeface="Times New Roman" panose="02020603050405020304" pitchFamily="18" charset="0"/>
              </a:rPr>
              <a:t>) trùng với thành viên của lớp cha.</a:t>
            </a:r>
          </a:p>
          <a:p>
            <a:pPr marL="425054" lvl="1" indent="-342900">
              <a:spcBef>
                <a:spcPts val="450"/>
              </a:spcBef>
              <a:spcAft>
                <a:spcPts val="450"/>
              </a:spcAft>
              <a:buFont typeface="Wingdings" panose="05000000000000000000" pitchFamily="2" charset="2"/>
              <a:buChar char="Ø"/>
            </a:pPr>
            <a:r>
              <a:rPr lang="vi-VN" altLang="en-US" sz="2250">
                <a:latin typeface="Times New Roman" panose="02020603050405020304" pitchFamily="18" charset="0"/>
                <a:cs typeface="Times New Roman" panose="02020603050405020304" pitchFamily="18" charset="0"/>
              </a:rPr>
              <a:t>Lớp con định nghĩa một phương thức </a:t>
            </a:r>
            <a:r>
              <a:rPr lang="en-US" altLang="en-US" sz="2250">
                <a:latin typeface="Times New Roman" panose="02020603050405020304" pitchFamily="18" charset="0"/>
                <a:cs typeface="Times New Roman" panose="02020603050405020304" pitchFamily="18" charset="0"/>
              </a:rPr>
              <a:t>có </a:t>
            </a:r>
            <a:r>
              <a:rPr lang="en-US" altLang="en-US" sz="2250">
                <a:solidFill>
                  <a:srgbClr val="FF0000"/>
                </a:solidFill>
                <a:latin typeface="Times New Roman" panose="02020603050405020304" pitchFamily="18" charset="0"/>
                <a:cs typeface="Times New Roman" panose="02020603050405020304" pitchFamily="18" charset="0"/>
              </a:rPr>
              <a:t>chữ ký </a:t>
            </a:r>
            <a:r>
              <a:rPr lang="en-US" altLang="en-US" sz="2250">
                <a:latin typeface="Times New Roman" panose="02020603050405020304" pitchFamily="18" charset="0"/>
                <a:cs typeface="Times New Roman" panose="02020603050405020304" pitchFamily="18" charset="0"/>
              </a:rPr>
              <a:t>(</a:t>
            </a:r>
            <a:r>
              <a:rPr lang="en-US" altLang="en-US" sz="2250" i="1">
                <a:latin typeface="Times New Roman" panose="02020603050405020304" pitchFamily="18" charset="0"/>
                <a:cs typeface="Times New Roman" panose="02020603050405020304" pitchFamily="18" charset="0"/>
              </a:rPr>
              <a:t>tên + tham số</a:t>
            </a:r>
            <a:r>
              <a:rPr lang="en-US" altLang="en-US" sz="2250">
                <a:latin typeface="Times New Roman" panose="02020603050405020304" pitchFamily="18" charset="0"/>
                <a:cs typeface="Times New Roman" panose="02020603050405020304" pitchFamily="18" charset="0"/>
              </a:rPr>
              <a:t>) trùng với phương thức thành viên của lớp cha gọi là override (</a:t>
            </a:r>
            <a:r>
              <a:rPr lang="en-US" altLang="en-US" sz="2250" i="1">
                <a:solidFill>
                  <a:srgbClr val="FF0000"/>
                </a:solidFill>
                <a:latin typeface="Times New Roman" panose="02020603050405020304" pitchFamily="18" charset="0"/>
                <a:cs typeface="Times New Roman" panose="02020603050405020304" pitchFamily="18" charset="0"/>
              </a:rPr>
              <a:t>nạp đè/ghi đè </a:t>
            </a:r>
            <a:r>
              <a:rPr lang="en-US" altLang="en-US" sz="2250" i="1">
                <a:latin typeface="Times New Roman" panose="02020603050405020304" pitchFamily="18" charset="0"/>
                <a:cs typeface="Times New Roman" panose="02020603050405020304" pitchFamily="18" charset="0"/>
              </a:rPr>
              <a:t>phương thức</a:t>
            </a:r>
            <a:r>
              <a:rPr lang="en-US" altLang="en-US" sz="2250">
                <a:latin typeface="Times New Roman" panose="02020603050405020304" pitchFamily="18" charset="0"/>
                <a:cs typeface="Times New Roman" panose="02020603050405020304" pitchFamily="18" charset="0"/>
              </a:rPr>
              <a:t>).</a:t>
            </a:r>
            <a:endParaRPr lang="vi-VN" altLang="en-US" sz="2250">
              <a:latin typeface="Times New Roman" panose="02020603050405020304" pitchFamily="18" charset="0"/>
              <a:cs typeface="Times New Roman" panose="02020603050405020304" pitchFamily="18" charset="0"/>
            </a:endParaRPr>
          </a:p>
          <a:p>
            <a:pPr marL="425054" lvl="1" indent="-342900">
              <a:spcBef>
                <a:spcPts val="450"/>
              </a:spcBef>
              <a:spcAft>
                <a:spcPts val="450"/>
              </a:spcAft>
              <a:buFont typeface="Wingdings" panose="05000000000000000000" pitchFamily="2" charset="2"/>
              <a:buChar char="Ø"/>
            </a:pPr>
            <a:r>
              <a:rPr lang="en-US" altLang="en-US" sz="2250">
                <a:latin typeface="Times New Roman" panose="02020603050405020304" pitchFamily="18" charset="0"/>
                <a:cs typeface="Times New Roman" panose="02020603050405020304" pitchFamily="18" charset="0"/>
              </a:rPr>
              <a:t>Khi một phương thức của lớp cha bị ghi đè, nó sẽ </a:t>
            </a:r>
            <a:r>
              <a:rPr lang="en-US" altLang="en-US" sz="2250">
                <a:solidFill>
                  <a:srgbClr val="FF0000"/>
                </a:solidFill>
                <a:latin typeface="Times New Roman" panose="02020603050405020304" pitchFamily="18" charset="0"/>
                <a:cs typeface="Times New Roman" panose="02020603050405020304" pitchFamily="18" charset="0"/>
              </a:rPr>
              <a:t>bị “che” </a:t>
            </a:r>
            <a:r>
              <a:rPr lang="en-US" altLang="en-US" sz="2250">
                <a:latin typeface="Times New Roman" panose="02020603050405020304" pitchFamily="18" charset="0"/>
                <a:cs typeface="Times New Roman" panose="02020603050405020304" pitchFamily="18" charset="0"/>
              </a:rPr>
              <a:t>đi bởi phương thức của lớp con.</a:t>
            </a:r>
            <a:endParaRPr lang="vi-VN" altLang="en-US" sz="2250">
              <a:latin typeface="Times New Roman" panose="02020603050405020304" pitchFamily="18" charset="0"/>
              <a:cs typeface="Times New Roman" panose="02020603050405020304" pitchFamily="18" charset="0"/>
            </a:endParaRPr>
          </a:p>
          <a:p>
            <a:pPr marL="425054" lvl="1" indent="-342900">
              <a:spcBef>
                <a:spcPts val="450"/>
              </a:spcBef>
              <a:spcAft>
                <a:spcPts val="450"/>
              </a:spcAft>
              <a:buFont typeface="Wingdings" panose="05000000000000000000" pitchFamily="2" charset="2"/>
              <a:buChar char="Ø"/>
            </a:pPr>
            <a:r>
              <a:rPr lang="en-US" altLang="en-US" sz="2250">
                <a:latin typeface="Times New Roman" panose="02020603050405020304" pitchFamily="18" charset="0"/>
                <a:cs typeface="Times New Roman" panose="02020603050405020304" pitchFamily="18" charset="0"/>
              </a:rPr>
              <a:t>Muốn gọi </a:t>
            </a:r>
            <a:r>
              <a:rPr lang="en-US" altLang="en-US" sz="2250">
                <a:latin typeface="Times New Roman" panose="02020603050405020304" pitchFamily="18" charset="0"/>
                <a:cs typeface="Times New Roman" panose="02020603050405020304" pitchFamily="18" charset="0"/>
              </a:rPr>
              <a:t>phương thức </a:t>
            </a:r>
            <a:r>
              <a:rPr lang="en-US" altLang="en-US" sz="2250">
                <a:latin typeface="Times New Roman" panose="02020603050405020304" pitchFamily="18" charset="0"/>
                <a:cs typeface="Times New Roman" panose="02020603050405020304" pitchFamily="18" charset="0"/>
              </a:rPr>
              <a:t>bị che ở lớp cha, sử dụng tham chiếu </a:t>
            </a:r>
            <a:r>
              <a:rPr lang="en-US" altLang="en-US" sz="2250">
                <a:solidFill>
                  <a:srgbClr val="FF0000"/>
                </a:solidFill>
                <a:latin typeface="Times New Roman" panose="02020603050405020304" pitchFamily="18" charset="0"/>
                <a:cs typeface="Times New Roman" panose="02020603050405020304" pitchFamily="18" charset="0"/>
              </a:rPr>
              <a:t>super</a:t>
            </a:r>
            <a:r>
              <a:rPr lang="en-US" altLang="en-US" sz="2250">
                <a:latin typeface="Times New Roman" panose="02020603050405020304" pitchFamily="18" charset="0"/>
                <a:cs typeface="Times New Roman" panose="02020603050405020304" pitchFamily="18" charset="0"/>
              </a:rPr>
              <a:t>.</a:t>
            </a:r>
            <a:endParaRPr lang="en-US" altLang="en-US" sz="1950">
              <a:latin typeface="Arial" pitchFamily="34" charset="0"/>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133</a:t>
            </a:fld>
            <a:endParaRPr lang="en-US"/>
          </a:p>
        </p:txBody>
      </p:sp>
    </p:spTree>
    <p:extLst>
      <p:ext uri="{BB962C8B-B14F-4D97-AF65-F5344CB8AC3E}">
        <p14:creationId xmlns:p14="http://schemas.microsoft.com/office/powerpoint/2010/main" val="3125224677"/>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6.2.4. Nạp đè (Override)</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134</a:t>
            </a:fld>
            <a:endParaRPr lang="en-US"/>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1834" y="2085979"/>
            <a:ext cx="5344716" cy="345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2442" y="3174209"/>
            <a:ext cx="2333625" cy="1283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816727"/>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6.2.4. Nạp đè (Override)</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135</a:t>
            </a:fld>
            <a:endParaRPr lang="en-US"/>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7307" y="1743079"/>
            <a:ext cx="5170885" cy="305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9025" y="4457704"/>
            <a:ext cx="2149078" cy="116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1939272"/>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Sự tương thích giữa tham chiếu và đối tượng</a:t>
            </a:r>
            <a:endParaRPr lang="en-US"/>
          </a:p>
        </p:txBody>
      </p:sp>
      <p:sp>
        <p:nvSpPr>
          <p:cNvPr id="3" name="Content Placeholder 2"/>
          <p:cNvSpPr>
            <a:spLocks noGrp="1"/>
          </p:cNvSpPr>
          <p:nvPr>
            <p:ph idx="1"/>
          </p:nvPr>
        </p:nvSpPr>
        <p:spPr>
          <a:xfrm>
            <a:off x="1385646" y="1828808"/>
            <a:ext cx="6501054" cy="2171699"/>
          </a:xfrm>
        </p:spPr>
        <p:txBody>
          <a:bodyPr wrap="square">
            <a:noAutofit/>
          </a:bodyPr>
          <a:lstStyle/>
          <a:p>
            <a:pPr>
              <a:spcBef>
                <a:spcPts val="450"/>
              </a:spcBef>
              <a:spcAft>
                <a:spcPts val="0"/>
              </a:spcAft>
            </a:pPr>
            <a:r>
              <a:rPr lang="en-US" altLang="en-US" smtClean="0">
                <a:solidFill>
                  <a:srgbClr val="FF0000"/>
                </a:solidFill>
                <a:latin typeface="Arial" pitchFamily="34" charset="0"/>
              </a:rPr>
              <a:t>Tham </a:t>
            </a:r>
            <a:r>
              <a:rPr lang="en-US" altLang="en-US">
                <a:solidFill>
                  <a:srgbClr val="FF0000"/>
                </a:solidFill>
                <a:latin typeface="Arial" pitchFamily="34" charset="0"/>
              </a:rPr>
              <a:t>chiếu thuộc lớp cha</a:t>
            </a:r>
            <a:r>
              <a:rPr lang="en-US" altLang="en-US">
                <a:latin typeface="Arial" pitchFamily="34" charset="0"/>
              </a:rPr>
              <a:t> có thể tham chiếu đến</a:t>
            </a:r>
            <a:r>
              <a:rPr lang="en-US" altLang="en-US" smtClean="0">
                <a:latin typeface="Arial" pitchFamily="34" charset="0"/>
              </a:rPr>
              <a:t>:</a:t>
            </a:r>
          </a:p>
          <a:p>
            <a:pPr lvl="1">
              <a:spcBef>
                <a:spcPts val="450"/>
              </a:spcBef>
              <a:spcAft>
                <a:spcPts val="0"/>
              </a:spcAft>
            </a:pPr>
            <a:r>
              <a:rPr lang="en-US" altLang="en-US" smtClean="0">
                <a:latin typeface="Arial" pitchFamily="34" charset="0"/>
              </a:rPr>
              <a:t>Đối tượng thuộc lớp cha</a:t>
            </a:r>
          </a:p>
          <a:p>
            <a:pPr lvl="1">
              <a:spcBef>
                <a:spcPts val="450"/>
              </a:spcBef>
              <a:spcAft>
                <a:spcPts val="0"/>
              </a:spcAft>
            </a:pPr>
            <a:r>
              <a:rPr lang="en-US" altLang="en-US" smtClean="0">
                <a:latin typeface="Arial" pitchFamily="34" charset="0"/>
              </a:rPr>
              <a:t>Đối tượng thuộc lớp con</a:t>
            </a:r>
          </a:p>
          <a:p>
            <a:pPr marL="257175" lvl="1" indent="-257175">
              <a:spcBef>
                <a:spcPts val="450"/>
              </a:spcBef>
              <a:spcAft>
                <a:spcPts val="0"/>
              </a:spcAft>
              <a:buFont typeface="Wingdings" pitchFamily="2" charset="2"/>
              <a:buChar char="Ø"/>
            </a:pPr>
            <a:r>
              <a:rPr lang="en-US" altLang="en-US" smtClean="0">
                <a:latin typeface="Arial" pitchFamily="34" charset="0"/>
              </a:rPr>
              <a:t>Một </a:t>
            </a:r>
            <a:r>
              <a:rPr lang="en-US" altLang="en-US">
                <a:solidFill>
                  <a:srgbClr val="FF0000"/>
                </a:solidFill>
                <a:latin typeface="Arial" pitchFamily="34" charset="0"/>
              </a:rPr>
              <a:t>tham chiếu thuộc lớp con</a:t>
            </a:r>
            <a:r>
              <a:rPr lang="en-US" altLang="en-US">
                <a:latin typeface="Arial" pitchFamily="34" charset="0"/>
              </a:rPr>
              <a:t> chỉ có thể tham chiếu đến đối tượng thuộc lớp con</a:t>
            </a:r>
            <a:r>
              <a:rPr lang="en-US" altLang="en-US" smtClean="0">
                <a:latin typeface="Arial" pitchFamily="34" charset="0"/>
              </a:rPr>
              <a:t>.</a:t>
            </a:r>
            <a:endParaRPr lang="en-US" altLang="en-US">
              <a:latin typeface="Arial" pitchFamily="34" charset="0"/>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136</a:t>
            </a:fld>
            <a:endParaRPr lang="en-US"/>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4513" y="4058788"/>
            <a:ext cx="3703320" cy="177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7084902"/>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6.3. Đa hình</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137</a:t>
            </a:fld>
            <a:endParaRPr lang="en-US"/>
          </a:p>
        </p:txBody>
      </p:sp>
      <p:sp>
        <p:nvSpPr>
          <p:cNvPr id="5" name="Content Placeholder 4"/>
          <p:cNvSpPr>
            <a:spLocks noGrp="1"/>
          </p:cNvSpPr>
          <p:nvPr>
            <p:ph idx="1"/>
          </p:nvPr>
        </p:nvSpPr>
        <p:spPr>
          <a:xfrm>
            <a:off x="1143004" y="1828800"/>
            <a:ext cx="6629331" cy="3657600"/>
          </a:xfrm>
        </p:spPr>
        <p:txBody>
          <a:bodyPr/>
          <a:lstStyle/>
          <a:p>
            <a:pPr marL="389335" lvl="1" indent="-307181">
              <a:lnSpc>
                <a:spcPct val="120000"/>
              </a:lnSpc>
              <a:spcBef>
                <a:spcPts val="0"/>
              </a:spcBef>
              <a:buFont typeface="Wingdings" panose="05000000000000000000" pitchFamily="2" charset="2"/>
              <a:buChar char="ü"/>
            </a:pPr>
            <a:r>
              <a:rPr lang="en-US" altLang="en-US" sz="2400">
                <a:latin typeface="Times New Roman" panose="02020603050405020304" pitchFamily="18" charset="0"/>
                <a:cs typeface="Times New Roman" panose="02020603050405020304" pitchFamily="18" charset="0"/>
              </a:rPr>
              <a:t>Cùng một thông điệp nhưng sẽ được xử lý khác nhau tùy vào ngữ cảnh cụ thể.</a:t>
            </a:r>
          </a:p>
          <a:p>
            <a:pPr marL="389335" lvl="1" indent="-307181">
              <a:lnSpc>
                <a:spcPct val="120000"/>
              </a:lnSpc>
              <a:spcBef>
                <a:spcPts val="0"/>
              </a:spcBef>
              <a:buFont typeface="Wingdings" panose="05000000000000000000" pitchFamily="2" charset="2"/>
              <a:buChar char="ü"/>
            </a:pPr>
            <a:r>
              <a:rPr lang="en-US" altLang="en-US" sz="2400">
                <a:latin typeface="Times New Roman" panose="02020603050405020304" pitchFamily="18" charset="0"/>
                <a:cs typeface="Times New Roman" panose="02020603050405020304" pitchFamily="18" charset="0"/>
              </a:rPr>
              <a:t>Cùng yêu cầu nhưng mỗi đối tượng có đáp ứng khác nhau.</a:t>
            </a:r>
          </a:p>
          <a:p>
            <a:pPr marL="389335" lvl="1" indent="-307181">
              <a:lnSpc>
                <a:spcPct val="120000"/>
              </a:lnSpc>
              <a:spcBef>
                <a:spcPts val="0"/>
              </a:spcBef>
              <a:buFont typeface="Wingdings" panose="05000000000000000000" pitchFamily="2" charset="2"/>
              <a:buChar char="ü"/>
            </a:pPr>
            <a:r>
              <a:rPr lang="en-US" altLang="en-US" sz="2400">
                <a:latin typeface="Times New Roman" panose="02020603050405020304" pitchFamily="18" charset="0"/>
                <a:cs typeface="Times New Roman" panose="02020603050405020304" pitchFamily="18" charset="0"/>
              </a:rPr>
              <a:t>Chỉ được thể hiện khi có sử dụng </a:t>
            </a:r>
            <a:r>
              <a:rPr lang="en-US" altLang="en-US" sz="2400">
                <a:solidFill>
                  <a:srgbClr val="FF0000"/>
                </a:solidFill>
                <a:latin typeface="Times New Roman" panose="02020603050405020304" pitchFamily="18" charset="0"/>
                <a:cs typeface="Times New Roman" panose="02020603050405020304" pitchFamily="18" charset="0"/>
              </a:rPr>
              <a:t>kế thừa</a:t>
            </a:r>
            <a:r>
              <a:rPr lang="en-US" altLang="en-US" sz="2400">
                <a:latin typeface="Times New Roman" panose="02020603050405020304" pitchFamily="18" charset="0"/>
                <a:cs typeface="Times New Roman" panose="02020603050405020304" pitchFamily="18" charset="0"/>
              </a:rPr>
              <a:t> + </a:t>
            </a:r>
            <a:r>
              <a:rPr lang="en-US" altLang="en-US" sz="2400">
                <a:solidFill>
                  <a:srgbClr val="FF0000"/>
                </a:solidFill>
                <a:latin typeface="Times New Roman" panose="02020603050405020304" pitchFamily="18" charset="0"/>
                <a:cs typeface="Times New Roman" panose="02020603050405020304" pitchFamily="18" charset="0"/>
              </a:rPr>
              <a:t>override phương thức</a:t>
            </a:r>
            <a:r>
              <a:rPr lang="en-US" altLang="en-US" sz="2400">
                <a:latin typeface="Times New Roman" panose="02020603050405020304" pitchFamily="18" charset="0"/>
                <a:cs typeface="Times New Roman" panose="02020603050405020304" pitchFamily="18" charset="0"/>
              </a:rPr>
              <a:t>.</a:t>
            </a:r>
            <a:endParaRPr lang="vi-VN" altLang="en-US" sz="2400">
              <a:latin typeface="Times New Roman" panose="02020603050405020304" pitchFamily="18" charset="0"/>
              <a:cs typeface="Times New Roman" panose="02020603050405020304" pitchFamily="18" charset="0"/>
            </a:endParaRPr>
          </a:p>
          <a:p>
            <a:endParaRPr lang="en-US"/>
          </a:p>
        </p:txBody>
      </p:sp>
      <p:sp>
        <p:nvSpPr>
          <p:cNvPr id="6" name="object 7"/>
          <p:cNvSpPr/>
          <p:nvPr/>
        </p:nvSpPr>
        <p:spPr>
          <a:xfrm>
            <a:off x="4457666" y="3999939"/>
            <a:ext cx="3028950" cy="1555518"/>
          </a:xfrm>
          <a:prstGeom prst="rect">
            <a:avLst/>
          </a:prstGeom>
          <a:blipFill>
            <a:blip r:embed="rId3" cstate="print"/>
            <a:stretch>
              <a:fillRect/>
            </a:stretch>
          </a:blipFill>
        </p:spPr>
        <p:txBody>
          <a:bodyPr wrap="square" lIns="0" tIns="0" rIns="0" bIns="0" rtlCol="0">
            <a:noAutofit/>
          </a:bodyPr>
          <a:lstStyle/>
          <a:p>
            <a:endParaRPr/>
          </a:p>
        </p:txBody>
      </p:sp>
    </p:spTree>
    <p:extLst>
      <p:ext uri="{BB962C8B-B14F-4D97-AF65-F5344CB8AC3E}">
        <p14:creationId xmlns:p14="http://schemas.microsoft.com/office/powerpoint/2010/main" val="1494178837"/>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6.3. Đa hình</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138</a:t>
            </a:fld>
            <a:endParaRPr lang="en-US"/>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2418" y="1676655"/>
            <a:ext cx="3497580" cy="912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7300" y="3196720"/>
            <a:ext cx="3634740" cy="803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57650" y="2340686"/>
            <a:ext cx="3840480" cy="859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3997025"/>
            <a:ext cx="4114800" cy="2003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72150" y="4522087"/>
            <a:ext cx="1894260" cy="735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6389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971550"/>
            <a:ext cx="6858000" cy="857250"/>
          </a:xfrm>
        </p:spPr>
        <p:txBody>
          <a:bodyPr/>
          <a:lstStyle/>
          <a:p>
            <a:r>
              <a:rPr lang="en-US" smtClean="0"/>
              <a:t>6.4. Phương thức trừu tượng và lớp trừu tượng</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139</a:t>
            </a:fld>
            <a:endParaRPr lang="en-US"/>
          </a:p>
        </p:txBody>
      </p:sp>
      <p:sp>
        <p:nvSpPr>
          <p:cNvPr id="5" name="Content Placeholder 4"/>
          <p:cNvSpPr>
            <a:spLocks noGrp="1"/>
          </p:cNvSpPr>
          <p:nvPr>
            <p:ph idx="1"/>
          </p:nvPr>
        </p:nvSpPr>
        <p:spPr/>
        <p:txBody>
          <a:bodyPr/>
          <a:lstStyle/>
          <a:p>
            <a:r>
              <a:rPr lang="vi-VN"/>
              <a:t>Là phương thức </a:t>
            </a:r>
            <a:r>
              <a:rPr lang="vi-VN" b="1">
                <a:solidFill>
                  <a:srgbClr val="FF0000"/>
                </a:solidFill>
              </a:rPr>
              <a:t>chỉ có khai báo</a:t>
            </a:r>
            <a:r>
              <a:rPr lang="vi-VN"/>
              <a:t>, không có cài đặt.</a:t>
            </a:r>
          </a:p>
          <a:p>
            <a:r>
              <a:rPr lang="vi-VN"/>
              <a:t>Dùng từ khóa </a:t>
            </a:r>
            <a:r>
              <a:rPr lang="vi-VN" b="1">
                <a:solidFill>
                  <a:srgbClr val="FF0000"/>
                </a:solidFill>
              </a:rPr>
              <a:t>abstract</a:t>
            </a:r>
            <a:r>
              <a:rPr lang="vi-VN"/>
              <a:t> được dừng để khai báo một phương thức là trừu tượng.</a:t>
            </a:r>
          </a:p>
          <a:p>
            <a:r>
              <a:rPr lang="vi-VN"/>
              <a:t>Các lớp con phải cài đặt các phương thức trừu tượng của lớp cha.</a:t>
            </a:r>
          </a:p>
          <a:p>
            <a:r>
              <a:rPr lang="vi-VN"/>
              <a:t>Dùng cho các phương thức chưa có định nghĩa cụ thể trong ngữ cảnh của lớp đó.</a:t>
            </a:r>
          </a:p>
          <a:p>
            <a:r>
              <a:rPr lang="vi-VN"/>
              <a:t>Là một phương pháp để bắt buộc các lớp con phải cài đặt các phương thức theo yêu cầu.</a:t>
            </a:r>
          </a:p>
          <a:p>
            <a:endParaRPr lang="en-US"/>
          </a:p>
        </p:txBody>
      </p:sp>
    </p:spTree>
    <p:extLst>
      <p:ext uri="{BB962C8B-B14F-4D97-AF65-F5344CB8AC3E}">
        <p14:creationId xmlns:p14="http://schemas.microsoft.com/office/powerpoint/2010/main" val="3226537547"/>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971550"/>
            <a:ext cx="6858000" cy="857250"/>
          </a:xfrm>
        </p:spPr>
        <p:txBody>
          <a:bodyPr/>
          <a:lstStyle/>
          <a:p>
            <a:r>
              <a:rPr lang="en-US" smtClean="0"/>
              <a:t>6.4. Phương thức trừu tượng và lớp trừu tượng</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140</a:t>
            </a:fld>
            <a:endParaRPr lang="en-US"/>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7300" y="2267298"/>
            <a:ext cx="6483096"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4348" y="3467448"/>
            <a:ext cx="3429000" cy="2361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4780982"/>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971550"/>
            <a:ext cx="6858000" cy="857250"/>
          </a:xfrm>
        </p:spPr>
        <p:txBody>
          <a:bodyPr/>
          <a:lstStyle/>
          <a:p>
            <a:r>
              <a:rPr lang="en-US" smtClean="0"/>
              <a:t>6.4. Phương thức trừu tượng và lớp trừu tượng</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141</a:t>
            </a:fld>
            <a:endParaRPr lang="en-US"/>
          </a:p>
        </p:txBody>
      </p:sp>
      <p:pic>
        <p:nvPicPr>
          <p:cNvPr id="3" name="Picture 2"/>
          <p:cNvPicPr>
            <a:picLocks noChangeAspect="1"/>
          </p:cNvPicPr>
          <p:nvPr/>
        </p:nvPicPr>
        <p:blipFill>
          <a:blip r:embed="rId3"/>
          <a:stretch>
            <a:fillRect/>
          </a:stretch>
        </p:blipFill>
        <p:spPr>
          <a:xfrm>
            <a:off x="1383030" y="1943100"/>
            <a:ext cx="6377940" cy="2738052"/>
          </a:xfrm>
          <a:prstGeom prst="rect">
            <a:avLst/>
          </a:prstGeom>
        </p:spPr>
      </p:pic>
    </p:spTree>
    <p:extLst>
      <p:ext uri="{BB962C8B-B14F-4D97-AF65-F5344CB8AC3E}">
        <p14:creationId xmlns:p14="http://schemas.microsoft.com/office/powerpoint/2010/main" val="1551928074"/>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6.5. Interface</a:t>
            </a:r>
            <a:endParaRPr lang="en-US"/>
          </a:p>
        </p:txBody>
      </p:sp>
      <p:sp>
        <p:nvSpPr>
          <p:cNvPr id="3" name="Content Placeholder 2"/>
          <p:cNvSpPr>
            <a:spLocks noGrp="1"/>
          </p:cNvSpPr>
          <p:nvPr>
            <p:ph idx="1"/>
          </p:nvPr>
        </p:nvSpPr>
        <p:spPr>
          <a:xfrm>
            <a:off x="1385646" y="1828800"/>
            <a:ext cx="6372708" cy="3771900"/>
          </a:xfrm>
        </p:spPr>
        <p:txBody>
          <a:bodyPr wrap="square">
            <a:noAutofit/>
          </a:bodyPr>
          <a:lstStyle/>
          <a:p>
            <a:pPr>
              <a:spcBef>
                <a:spcPts val="450"/>
              </a:spcBef>
              <a:spcAft>
                <a:spcPts val="450"/>
              </a:spcAft>
            </a:pPr>
            <a:r>
              <a:rPr lang="vi-VN"/>
              <a:t>Interface (Giao diện) có thể xem như là một lớp hoàn toàn ảo: tất cả phương thức đều không được cài đặt.</a:t>
            </a:r>
          </a:p>
          <a:p>
            <a:pPr>
              <a:spcBef>
                <a:spcPts val="450"/>
              </a:spcBef>
              <a:spcAft>
                <a:spcPts val="450"/>
              </a:spcAft>
            </a:pPr>
            <a:r>
              <a:rPr lang="en-US" smtClean="0"/>
              <a:t>Một interface chỉ chứa các khai báo các phương thức có phạm vi truy cập là public hoặc các hằng số (public static final…).</a:t>
            </a:r>
          </a:p>
          <a:p>
            <a:pPr>
              <a:spcBef>
                <a:spcPts val="450"/>
              </a:spcBef>
              <a:spcAft>
                <a:spcPts val="450"/>
              </a:spcAft>
            </a:pPr>
            <a:r>
              <a:rPr lang="en-US" smtClean="0"/>
              <a:t>Cú pháp</a:t>
            </a:r>
          </a:p>
        </p:txBody>
      </p:sp>
      <p:sp>
        <p:nvSpPr>
          <p:cNvPr id="4" name="Slide Number Placeholder 3"/>
          <p:cNvSpPr>
            <a:spLocks noGrp="1"/>
          </p:cNvSpPr>
          <p:nvPr>
            <p:ph type="sldNum" sz="quarter" idx="12"/>
          </p:nvPr>
        </p:nvSpPr>
        <p:spPr/>
        <p:txBody>
          <a:bodyPr/>
          <a:lstStyle/>
          <a:p>
            <a:fld id="{E3E8E051-591C-4566-9813-B4BB16D377BD}" type="slidenum">
              <a:rPr lang="en-US" smtClean="0"/>
              <a:pPr/>
              <a:t>142</a:t>
            </a:fld>
            <a:endParaRPr lang="en-US"/>
          </a:p>
        </p:txBody>
      </p:sp>
      <p:pic>
        <p:nvPicPr>
          <p:cNvPr id="7" name="Picture 6"/>
          <p:cNvPicPr>
            <a:picLocks noChangeAspect="1"/>
          </p:cNvPicPr>
          <p:nvPr/>
        </p:nvPicPr>
        <p:blipFill>
          <a:blip r:embed="rId3"/>
          <a:stretch>
            <a:fillRect/>
          </a:stretch>
        </p:blipFill>
        <p:spPr>
          <a:xfrm>
            <a:off x="2801780" y="4488750"/>
            <a:ext cx="4800600" cy="1104683"/>
          </a:xfrm>
          <a:prstGeom prst="rect">
            <a:avLst/>
          </a:prstGeom>
        </p:spPr>
      </p:pic>
    </p:spTree>
    <p:extLst>
      <p:ext uri="{BB962C8B-B14F-4D97-AF65-F5344CB8AC3E}">
        <p14:creationId xmlns:p14="http://schemas.microsoft.com/office/powerpoint/2010/main" val="2069972017"/>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6.5. Interface</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143</a:t>
            </a:fld>
            <a:endParaRPr lang="en-US"/>
          </a:p>
        </p:txBody>
      </p:sp>
      <p:pic>
        <p:nvPicPr>
          <p:cNvPr id="6" name="Picture 5"/>
          <p:cNvPicPr>
            <a:picLocks noChangeAspect="1"/>
          </p:cNvPicPr>
          <p:nvPr/>
        </p:nvPicPr>
        <p:blipFill>
          <a:blip r:embed="rId3"/>
          <a:stretch>
            <a:fillRect/>
          </a:stretch>
        </p:blipFill>
        <p:spPr>
          <a:xfrm>
            <a:off x="1428750" y="1835036"/>
            <a:ext cx="6377940" cy="3397594"/>
          </a:xfrm>
          <a:prstGeom prst="rect">
            <a:avLst/>
          </a:prstGeom>
        </p:spPr>
      </p:pic>
    </p:spTree>
    <p:extLst>
      <p:ext uri="{BB962C8B-B14F-4D97-AF65-F5344CB8AC3E}">
        <p14:creationId xmlns:p14="http://schemas.microsoft.com/office/powerpoint/2010/main" val="3825819047"/>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6.5. Interface</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144</a:t>
            </a:fld>
            <a:endParaRPr lang="en-US"/>
          </a:p>
        </p:txBody>
      </p:sp>
      <p:pic>
        <p:nvPicPr>
          <p:cNvPr id="3" name="Picture 2"/>
          <p:cNvPicPr>
            <a:picLocks noChangeAspect="1"/>
          </p:cNvPicPr>
          <p:nvPr/>
        </p:nvPicPr>
        <p:blipFill>
          <a:blip r:embed="rId3"/>
          <a:stretch>
            <a:fillRect/>
          </a:stretch>
        </p:blipFill>
        <p:spPr>
          <a:xfrm>
            <a:off x="1660924" y="1930006"/>
            <a:ext cx="5993606" cy="3593306"/>
          </a:xfrm>
          <a:prstGeom prst="rect">
            <a:avLst/>
          </a:prstGeom>
        </p:spPr>
      </p:pic>
    </p:spTree>
    <p:extLst>
      <p:ext uri="{BB962C8B-B14F-4D97-AF65-F5344CB8AC3E}">
        <p14:creationId xmlns:p14="http://schemas.microsoft.com/office/powerpoint/2010/main" val="3798186229"/>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6.5. Interface</a:t>
            </a:r>
            <a:endParaRPr lang="en-US"/>
          </a:p>
        </p:txBody>
      </p:sp>
      <p:sp>
        <p:nvSpPr>
          <p:cNvPr id="3" name="Content Placeholder 2"/>
          <p:cNvSpPr>
            <a:spLocks noGrp="1"/>
          </p:cNvSpPr>
          <p:nvPr>
            <p:ph idx="1"/>
          </p:nvPr>
        </p:nvSpPr>
        <p:spPr>
          <a:xfrm>
            <a:off x="1385646" y="1828800"/>
            <a:ext cx="6372708" cy="3771900"/>
          </a:xfrm>
        </p:spPr>
        <p:txBody>
          <a:bodyPr wrap="square">
            <a:noAutofit/>
          </a:bodyPr>
          <a:lstStyle/>
          <a:p>
            <a:pPr>
              <a:spcBef>
                <a:spcPts val="450"/>
              </a:spcBef>
              <a:spcAft>
                <a:spcPts val="450"/>
              </a:spcAft>
            </a:pPr>
            <a:r>
              <a:rPr lang="en-US" b="1" smtClean="0"/>
              <a:t>Phương thức mặc định </a:t>
            </a:r>
            <a:r>
              <a:rPr lang="en-US" smtClean="0"/>
              <a:t>(default)</a:t>
            </a:r>
          </a:p>
          <a:p>
            <a:pPr lvl="1">
              <a:spcBef>
                <a:spcPts val="450"/>
              </a:spcBef>
              <a:spcAft>
                <a:spcPts val="450"/>
              </a:spcAft>
            </a:pPr>
            <a:r>
              <a:rPr lang="en-US" smtClean="0"/>
              <a:t>Từ Java 8, các interface có thể có các phương thức mặc định, là phương thức được cài đặt.</a:t>
            </a:r>
          </a:p>
          <a:p>
            <a:pPr lvl="1">
              <a:spcBef>
                <a:spcPts val="450"/>
              </a:spcBef>
              <a:spcAft>
                <a:spcPts val="450"/>
              </a:spcAft>
            </a:pPr>
            <a:r>
              <a:rPr lang="en-US" smtClean="0"/>
              <a:t>Các lớp hiện thực (implement) interface có thể cài đặt hoặc không cài đặt các phương thức mặc định.</a:t>
            </a:r>
          </a:p>
          <a:p>
            <a:pPr lvl="2">
              <a:spcBef>
                <a:spcPts val="450"/>
              </a:spcBef>
              <a:spcAft>
                <a:spcPts val="450"/>
              </a:spcAft>
            </a:pPr>
            <a:r>
              <a:rPr lang="en-US" sz="2100"/>
              <a:t>Không cài đặt: kế thừa phương thức mặc định.</a:t>
            </a:r>
          </a:p>
          <a:p>
            <a:pPr lvl="2">
              <a:spcBef>
                <a:spcPts val="450"/>
              </a:spcBef>
              <a:spcAft>
                <a:spcPts val="450"/>
              </a:spcAft>
            </a:pPr>
            <a:r>
              <a:rPr lang="en-US" sz="2100"/>
              <a:t>Cài đặt: overriding phương thức mặc định.</a:t>
            </a:r>
          </a:p>
          <a:p>
            <a:pPr lvl="1">
              <a:spcBef>
                <a:spcPts val="450"/>
              </a:spcBef>
              <a:spcAft>
                <a:spcPts val="450"/>
              </a:spcAft>
            </a:pPr>
            <a:r>
              <a:rPr lang="en-US" smtClean="0"/>
              <a:t>Cú pháp: thêm từ khóa </a:t>
            </a:r>
            <a:r>
              <a:rPr lang="en-US" smtClean="0">
                <a:solidFill>
                  <a:srgbClr val="FF0000"/>
                </a:solidFill>
              </a:rPr>
              <a:t>default</a:t>
            </a:r>
            <a:r>
              <a:rPr lang="en-US" smtClean="0"/>
              <a:t> trước khai báo.</a:t>
            </a:r>
          </a:p>
        </p:txBody>
      </p:sp>
      <p:sp>
        <p:nvSpPr>
          <p:cNvPr id="4" name="Slide Number Placeholder 3"/>
          <p:cNvSpPr>
            <a:spLocks noGrp="1"/>
          </p:cNvSpPr>
          <p:nvPr>
            <p:ph type="sldNum" sz="quarter" idx="12"/>
          </p:nvPr>
        </p:nvSpPr>
        <p:spPr/>
        <p:txBody>
          <a:bodyPr/>
          <a:lstStyle/>
          <a:p>
            <a:fld id="{E3E8E051-591C-4566-9813-B4BB16D377BD}" type="slidenum">
              <a:rPr lang="en-US" smtClean="0"/>
              <a:pPr/>
              <a:t>145</a:t>
            </a:fld>
            <a:endParaRPr lang="en-US"/>
          </a:p>
        </p:txBody>
      </p:sp>
    </p:spTree>
    <p:extLst>
      <p:ext uri="{BB962C8B-B14F-4D97-AF65-F5344CB8AC3E}">
        <p14:creationId xmlns:p14="http://schemas.microsoft.com/office/powerpoint/2010/main" val="2191966606"/>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6.5. Đa thừa kế</a:t>
            </a:r>
            <a:endParaRPr lang="en-US"/>
          </a:p>
        </p:txBody>
      </p:sp>
      <p:sp>
        <p:nvSpPr>
          <p:cNvPr id="3" name="Content Placeholder 2"/>
          <p:cNvSpPr>
            <a:spLocks noGrp="1"/>
          </p:cNvSpPr>
          <p:nvPr>
            <p:ph idx="1"/>
          </p:nvPr>
        </p:nvSpPr>
        <p:spPr>
          <a:xfrm>
            <a:off x="1385646" y="4514850"/>
            <a:ext cx="6372708" cy="1085850"/>
          </a:xfrm>
        </p:spPr>
        <p:txBody>
          <a:bodyPr wrap="square">
            <a:noAutofit/>
          </a:bodyPr>
          <a:lstStyle/>
          <a:p>
            <a:pPr>
              <a:spcBef>
                <a:spcPts val="450"/>
              </a:spcBef>
              <a:spcAft>
                <a:spcPts val="450"/>
              </a:spcAft>
            </a:pPr>
            <a:r>
              <a:rPr lang="en-US" smtClean="0"/>
              <a:t>Một lớp con được thừa kế từ nhiều lớp cha.</a:t>
            </a:r>
          </a:p>
          <a:p>
            <a:pPr>
              <a:spcBef>
                <a:spcPts val="450"/>
              </a:spcBef>
              <a:spcAft>
                <a:spcPts val="450"/>
              </a:spcAft>
            </a:pPr>
            <a:r>
              <a:rPr lang="en-US" smtClean="0"/>
              <a:t>Java không hỗ trợ đa thừa kế.</a:t>
            </a:r>
          </a:p>
        </p:txBody>
      </p:sp>
      <p:sp>
        <p:nvSpPr>
          <p:cNvPr id="4" name="Slide Number Placeholder 3"/>
          <p:cNvSpPr>
            <a:spLocks noGrp="1"/>
          </p:cNvSpPr>
          <p:nvPr>
            <p:ph type="sldNum" sz="quarter" idx="12"/>
          </p:nvPr>
        </p:nvSpPr>
        <p:spPr/>
        <p:txBody>
          <a:bodyPr/>
          <a:lstStyle/>
          <a:p>
            <a:fld id="{E3E8E051-591C-4566-9813-B4BB16D377BD}" type="slidenum">
              <a:rPr lang="en-US" smtClean="0"/>
              <a:pPr/>
              <a:t>146</a:t>
            </a:fld>
            <a:endParaRPr 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4" y="1885950"/>
            <a:ext cx="2294193"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6306" y="1976664"/>
            <a:ext cx="2830907" cy="217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8713093"/>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6.5. Đa thừa kế</a:t>
            </a:r>
            <a:endParaRPr lang="en-US"/>
          </a:p>
        </p:txBody>
      </p:sp>
      <p:sp>
        <p:nvSpPr>
          <p:cNvPr id="3" name="Content Placeholder 2"/>
          <p:cNvSpPr>
            <a:spLocks noGrp="1"/>
          </p:cNvSpPr>
          <p:nvPr>
            <p:ph idx="1"/>
          </p:nvPr>
        </p:nvSpPr>
        <p:spPr>
          <a:xfrm>
            <a:off x="1385646" y="1885950"/>
            <a:ext cx="6372708" cy="3657600"/>
          </a:xfrm>
        </p:spPr>
        <p:txBody>
          <a:bodyPr wrap="square">
            <a:noAutofit/>
          </a:bodyPr>
          <a:lstStyle/>
          <a:p>
            <a:pPr>
              <a:spcBef>
                <a:spcPts val="450"/>
              </a:spcBef>
              <a:spcAft>
                <a:spcPts val="450"/>
              </a:spcAft>
            </a:pPr>
            <a:r>
              <a:rPr lang="en-US" smtClean="0"/>
              <a:t>Java hỗ trợ đa thừa kế kiểu:</a:t>
            </a:r>
          </a:p>
          <a:p>
            <a:pPr lvl="1">
              <a:spcBef>
                <a:spcPts val="450"/>
              </a:spcBef>
              <a:spcAft>
                <a:spcPts val="450"/>
              </a:spcAft>
            </a:pPr>
            <a:r>
              <a:rPr lang="en-US" smtClean="0"/>
              <a:t>Một lớp có thể hiện thực nhiều interface</a:t>
            </a:r>
          </a:p>
          <a:p>
            <a:pPr lvl="1">
              <a:spcBef>
                <a:spcPts val="450"/>
              </a:spcBef>
              <a:spcAft>
                <a:spcPts val="450"/>
              </a:spcAft>
            </a:pPr>
            <a:endParaRPr lang="en-US"/>
          </a:p>
          <a:p>
            <a:pPr lvl="1">
              <a:spcBef>
                <a:spcPts val="450"/>
              </a:spcBef>
              <a:spcAft>
                <a:spcPts val="450"/>
              </a:spcAft>
            </a:pPr>
            <a:endParaRPr lang="en-US" smtClean="0"/>
          </a:p>
          <a:p>
            <a:pPr marL="342900" lvl="1" indent="0">
              <a:spcBef>
                <a:spcPts val="450"/>
              </a:spcBef>
              <a:spcAft>
                <a:spcPts val="450"/>
              </a:spcAft>
              <a:buNone/>
            </a:pPr>
            <a:endParaRPr lang="en-US" smtClean="0"/>
          </a:p>
          <a:p>
            <a:pPr lvl="1">
              <a:spcBef>
                <a:spcPts val="450"/>
              </a:spcBef>
              <a:spcAft>
                <a:spcPts val="450"/>
              </a:spcAft>
            </a:pPr>
            <a:r>
              <a:rPr lang="en-US" smtClean="0"/>
              <a:t>Một lớp có thể vừa thừa kế class, vừa hiên thực interface</a:t>
            </a:r>
          </a:p>
        </p:txBody>
      </p:sp>
      <p:sp>
        <p:nvSpPr>
          <p:cNvPr id="4" name="Slide Number Placeholder 3"/>
          <p:cNvSpPr>
            <a:spLocks noGrp="1"/>
          </p:cNvSpPr>
          <p:nvPr>
            <p:ph type="sldNum" sz="quarter" idx="12"/>
          </p:nvPr>
        </p:nvSpPr>
        <p:spPr/>
        <p:txBody>
          <a:bodyPr/>
          <a:lstStyle/>
          <a:p>
            <a:fld id="{E3E8E051-591C-4566-9813-B4BB16D377BD}" type="slidenum">
              <a:rPr lang="en-US" smtClean="0"/>
              <a:pPr/>
              <a:t>147</a:t>
            </a:fld>
            <a:endParaRPr lang="en-US"/>
          </a:p>
        </p:txBody>
      </p:sp>
      <p:pic>
        <p:nvPicPr>
          <p:cNvPr id="7" name="Picture 6"/>
          <p:cNvPicPr>
            <a:picLocks noChangeAspect="1"/>
          </p:cNvPicPr>
          <p:nvPr/>
        </p:nvPicPr>
        <p:blipFill>
          <a:blip r:embed="rId3"/>
          <a:stretch>
            <a:fillRect/>
          </a:stretch>
        </p:blipFill>
        <p:spPr>
          <a:xfrm>
            <a:off x="1828800" y="2953968"/>
            <a:ext cx="5897880" cy="989382"/>
          </a:xfrm>
          <a:prstGeom prst="rect">
            <a:avLst/>
          </a:prstGeom>
        </p:spPr>
      </p:pic>
      <p:pic>
        <p:nvPicPr>
          <p:cNvPr id="8" name="Picture 7"/>
          <p:cNvPicPr>
            <a:picLocks noChangeAspect="1"/>
          </p:cNvPicPr>
          <p:nvPr/>
        </p:nvPicPr>
        <p:blipFill>
          <a:blip r:embed="rId4"/>
          <a:stretch>
            <a:fillRect/>
          </a:stretch>
        </p:blipFill>
        <p:spPr>
          <a:xfrm>
            <a:off x="1885950" y="4936590"/>
            <a:ext cx="6035040" cy="575992"/>
          </a:xfrm>
          <a:prstGeom prst="rect">
            <a:avLst/>
          </a:prstGeom>
        </p:spPr>
      </p:pic>
    </p:spTree>
    <p:extLst>
      <p:ext uri="{BB962C8B-B14F-4D97-AF65-F5344CB8AC3E}">
        <p14:creationId xmlns:p14="http://schemas.microsoft.com/office/powerpoint/2010/main" val="1585583991"/>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Giả lập đa kế thừa</a:t>
            </a:r>
            <a:endParaRPr lang="en-US"/>
          </a:p>
        </p:txBody>
      </p:sp>
      <p:sp>
        <p:nvSpPr>
          <p:cNvPr id="3" name="Content Placeholder 2"/>
          <p:cNvSpPr>
            <a:spLocks noGrp="1"/>
          </p:cNvSpPr>
          <p:nvPr>
            <p:ph idx="1"/>
          </p:nvPr>
        </p:nvSpPr>
        <p:spPr>
          <a:xfrm>
            <a:off x="1385646" y="1828800"/>
            <a:ext cx="6372708" cy="1314450"/>
          </a:xfrm>
        </p:spPr>
        <p:txBody>
          <a:bodyPr wrap="square">
            <a:noAutofit/>
          </a:bodyPr>
          <a:lstStyle/>
          <a:p>
            <a:pPr>
              <a:spcBef>
                <a:spcPts val="450"/>
              </a:spcBef>
              <a:spcAft>
                <a:spcPts val="450"/>
              </a:spcAft>
            </a:pPr>
            <a:r>
              <a:rPr lang="en-US" smtClean="0"/>
              <a:t>Dùng phương thức </a:t>
            </a:r>
            <a:r>
              <a:rPr lang="en-US" smtClean="0">
                <a:solidFill>
                  <a:srgbClr val="FF0000"/>
                </a:solidFill>
              </a:rPr>
              <a:t>default</a:t>
            </a:r>
            <a:r>
              <a:rPr lang="en-US" smtClean="0"/>
              <a:t> của interface</a:t>
            </a:r>
          </a:p>
          <a:p>
            <a:pPr lvl="1">
              <a:spcBef>
                <a:spcPts val="450"/>
              </a:spcBef>
              <a:spcAft>
                <a:spcPts val="450"/>
              </a:spcAft>
            </a:pPr>
            <a:r>
              <a:rPr lang="en-US" smtClean="0"/>
              <a:t>Chỉ kế thừa được phương thức</a:t>
            </a:r>
          </a:p>
          <a:p>
            <a:pPr lvl="1">
              <a:spcBef>
                <a:spcPts val="450"/>
              </a:spcBef>
              <a:spcAft>
                <a:spcPts val="450"/>
              </a:spcAft>
            </a:pPr>
            <a:r>
              <a:rPr lang="en-US" smtClean="0"/>
              <a:t>Chỉ được hỗ trợ từ Java 8</a:t>
            </a:r>
          </a:p>
        </p:txBody>
      </p:sp>
      <p:sp>
        <p:nvSpPr>
          <p:cNvPr id="4" name="Slide Number Placeholder 3"/>
          <p:cNvSpPr>
            <a:spLocks noGrp="1"/>
          </p:cNvSpPr>
          <p:nvPr>
            <p:ph type="sldNum" sz="quarter" idx="12"/>
          </p:nvPr>
        </p:nvSpPr>
        <p:spPr/>
        <p:txBody>
          <a:bodyPr/>
          <a:lstStyle/>
          <a:p>
            <a:fld id="{E3E8E051-591C-4566-9813-B4BB16D377BD}" type="slidenum">
              <a:rPr lang="en-US" smtClean="0"/>
              <a:pPr/>
              <a:t>148</a:t>
            </a:fld>
            <a:endParaRPr lang="en-US"/>
          </a:p>
        </p:txBody>
      </p:sp>
      <p:pic>
        <p:nvPicPr>
          <p:cNvPr id="6" name="Picture 5"/>
          <p:cNvPicPr>
            <a:picLocks noChangeAspect="1"/>
          </p:cNvPicPr>
          <p:nvPr/>
        </p:nvPicPr>
        <p:blipFill>
          <a:blip r:embed="rId3"/>
          <a:stretch>
            <a:fillRect/>
          </a:stretch>
        </p:blipFill>
        <p:spPr>
          <a:xfrm>
            <a:off x="1589945" y="3130784"/>
            <a:ext cx="5986463" cy="2564606"/>
          </a:xfrm>
          <a:prstGeom prst="rect">
            <a:avLst/>
          </a:prstGeom>
        </p:spPr>
      </p:pic>
    </p:spTree>
    <p:extLst>
      <p:ext uri="{BB962C8B-B14F-4D97-AF65-F5344CB8AC3E}">
        <p14:creationId xmlns:p14="http://schemas.microsoft.com/office/powerpoint/2010/main" val="2706119318"/>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Giả lập đa kế thừa</a:t>
            </a:r>
            <a:endParaRPr lang="en-US"/>
          </a:p>
        </p:txBody>
      </p:sp>
      <p:sp>
        <p:nvSpPr>
          <p:cNvPr id="3" name="Content Placeholder 2"/>
          <p:cNvSpPr>
            <a:spLocks noGrp="1"/>
          </p:cNvSpPr>
          <p:nvPr>
            <p:ph idx="1"/>
          </p:nvPr>
        </p:nvSpPr>
        <p:spPr>
          <a:xfrm>
            <a:off x="1385646" y="1828800"/>
            <a:ext cx="6372708" cy="1314450"/>
          </a:xfrm>
        </p:spPr>
        <p:txBody>
          <a:bodyPr wrap="square">
            <a:noAutofit/>
          </a:bodyPr>
          <a:lstStyle/>
          <a:p>
            <a:pPr>
              <a:spcBef>
                <a:spcPts val="450"/>
              </a:spcBef>
              <a:spcAft>
                <a:spcPts val="450"/>
              </a:spcAft>
            </a:pPr>
            <a:r>
              <a:rPr lang="en-US" smtClean="0"/>
              <a:t>Dùng quan hệ composition (bao gồm):</a:t>
            </a:r>
          </a:p>
          <a:p>
            <a:pPr lvl="1">
              <a:spcBef>
                <a:spcPts val="450"/>
              </a:spcBef>
              <a:spcAft>
                <a:spcPts val="450"/>
              </a:spcAft>
            </a:pPr>
            <a:r>
              <a:rPr lang="en-US" smtClean="0"/>
              <a:t>Không chính xác về ngữ nghĩa</a:t>
            </a:r>
          </a:p>
          <a:p>
            <a:pPr lvl="1">
              <a:spcBef>
                <a:spcPts val="450"/>
              </a:spcBef>
              <a:spcAft>
                <a:spcPts val="450"/>
              </a:spcAft>
            </a:pPr>
            <a:r>
              <a:rPr lang="en-US" smtClean="0"/>
              <a:t>Cho phép kế thừa cả thuộc tính và phương thức.</a:t>
            </a:r>
          </a:p>
        </p:txBody>
      </p:sp>
      <p:sp>
        <p:nvSpPr>
          <p:cNvPr id="4" name="Slide Number Placeholder 3"/>
          <p:cNvSpPr>
            <a:spLocks noGrp="1"/>
          </p:cNvSpPr>
          <p:nvPr>
            <p:ph type="sldNum" sz="quarter" idx="12"/>
          </p:nvPr>
        </p:nvSpPr>
        <p:spPr/>
        <p:txBody>
          <a:bodyPr/>
          <a:lstStyle/>
          <a:p>
            <a:fld id="{E3E8E051-591C-4566-9813-B4BB16D377BD}" type="slidenum">
              <a:rPr lang="en-US" smtClean="0"/>
              <a:pPr/>
              <a:t>149</a:t>
            </a:fld>
            <a:endParaRPr lang="en-US"/>
          </a:p>
        </p:txBody>
      </p:sp>
    </p:spTree>
    <p:extLst>
      <p:ext uri="{BB962C8B-B14F-4D97-AF65-F5344CB8AC3E}">
        <p14:creationId xmlns:p14="http://schemas.microsoft.com/office/powerpoint/2010/main" val="2341338961"/>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7. Xử lý ngoại lệ</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marL="0" indent="0">
              <a:spcAft>
                <a:spcPts val="450"/>
              </a:spcAft>
              <a:buNone/>
            </a:pPr>
            <a:r>
              <a:rPr lang="en-US" smtClean="0"/>
              <a:t>7.1. Cơ bản về ngoại lệ</a:t>
            </a:r>
          </a:p>
          <a:p>
            <a:pPr marL="0" indent="0">
              <a:spcAft>
                <a:spcPts val="450"/>
              </a:spcAft>
              <a:buNone/>
            </a:pPr>
            <a:r>
              <a:rPr lang="en-US" smtClean="0"/>
              <a:t>7.2. Xử lý ngoại lệ bằng lệnh try…catch…finally</a:t>
            </a:r>
          </a:p>
          <a:p>
            <a:pPr marL="0" indent="0">
              <a:spcAft>
                <a:spcPts val="450"/>
              </a:spcAft>
              <a:buNone/>
            </a:pPr>
            <a:r>
              <a:rPr lang="en-US" smtClean="0"/>
              <a:t>7.3. Lệnh throw và throws</a:t>
            </a:r>
          </a:p>
          <a:p>
            <a:pPr marL="0" indent="0">
              <a:spcAft>
                <a:spcPts val="450"/>
              </a:spcAft>
              <a:buNone/>
            </a:pP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150</a:t>
            </a:fld>
            <a:endParaRPr lang="en-US"/>
          </a:p>
        </p:txBody>
      </p:sp>
    </p:spTree>
    <p:extLst>
      <p:ext uri="{BB962C8B-B14F-4D97-AF65-F5344CB8AC3E}">
        <p14:creationId xmlns:p14="http://schemas.microsoft.com/office/powerpoint/2010/main" val="703932721"/>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7.1. Cơ bản về ngoại lệ (Exception)</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a:spcBef>
                <a:spcPts val="450"/>
              </a:spcBef>
              <a:spcAft>
                <a:spcPts val="450"/>
              </a:spcAft>
            </a:pPr>
            <a:r>
              <a:rPr lang="vi-VN" smtClean="0"/>
              <a:t>Ngoại </a:t>
            </a:r>
            <a:r>
              <a:rPr lang="vi-VN"/>
              <a:t>lệ là </a:t>
            </a:r>
            <a:r>
              <a:rPr lang="en-US" smtClean="0"/>
              <a:t>những</a:t>
            </a:r>
            <a:r>
              <a:rPr lang="vi-VN" smtClean="0"/>
              <a:t> </a:t>
            </a:r>
            <a:r>
              <a:rPr lang="vi-VN"/>
              <a:t>lỗi đặc biệt có thể phát sinh trong quá trình thực hiện chương trình và làm chương trình bị ngắt đột </a:t>
            </a:r>
            <a:r>
              <a:rPr lang="vi-VN" smtClean="0"/>
              <a:t>ngột</a:t>
            </a:r>
            <a:r>
              <a:rPr lang="en-US" smtClean="0"/>
              <a:t>.</a:t>
            </a:r>
          </a:p>
          <a:p>
            <a:pPr>
              <a:spcBef>
                <a:spcPts val="450"/>
              </a:spcBef>
              <a:spcAft>
                <a:spcPts val="450"/>
              </a:spcAft>
            </a:pPr>
            <a:r>
              <a:rPr lang="vi-VN"/>
              <a:t>Ví dụ về một số nguyên nhân làm xuất hiện exception</a:t>
            </a:r>
            <a:r>
              <a:rPr lang="vi-VN" smtClean="0"/>
              <a:t>:</a:t>
            </a:r>
            <a:endParaRPr lang="vi-VN"/>
          </a:p>
          <a:p>
            <a:pPr lvl="1">
              <a:spcBef>
                <a:spcPts val="450"/>
              </a:spcBef>
              <a:spcAft>
                <a:spcPts val="450"/>
              </a:spcAft>
            </a:pPr>
            <a:r>
              <a:rPr lang="vi-VN"/>
              <a:t>Nhập dữ liệu không hợp </a:t>
            </a:r>
            <a:r>
              <a:rPr lang="vi-VN" smtClean="0"/>
              <a:t>lệ</a:t>
            </a:r>
            <a:r>
              <a:rPr lang="en-US" smtClean="0"/>
              <a:t>;</a:t>
            </a:r>
            <a:endParaRPr lang="vi-VN"/>
          </a:p>
          <a:p>
            <a:pPr lvl="1">
              <a:spcBef>
                <a:spcPts val="450"/>
              </a:spcBef>
              <a:spcAft>
                <a:spcPts val="450"/>
              </a:spcAft>
            </a:pPr>
            <a:r>
              <a:rPr lang="vi-VN" smtClean="0"/>
              <a:t>Không </a:t>
            </a:r>
            <a:r>
              <a:rPr lang="vi-VN"/>
              <a:t>tìm thấy </a:t>
            </a:r>
            <a:r>
              <a:rPr lang="vi-VN" smtClean="0"/>
              <a:t>file</a:t>
            </a:r>
            <a:r>
              <a:rPr lang="en-US" smtClean="0"/>
              <a:t>;</a:t>
            </a:r>
            <a:endParaRPr lang="vi-VN"/>
          </a:p>
          <a:p>
            <a:pPr lvl="1">
              <a:spcBef>
                <a:spcPts val="450"/>
              </a:spcBef>
              <a:spcAft>
                <a:spcPts val="450"/>
              </a:spcAft>
            </a:pPr>
            <a:r>
              <a:rPr lang="vi-VN"/>
              <a:t>Kết nối mạng không tìm thấy hoặc JVM tràn bộ </a:t>
            </a:r>
            <a:r>
              <a:rPr lang="vi-VN" smtClean="0"/>
              <a:t>nhớ</a:t>
            </a:r>
            <a:r>
              <a:rPr lang="en-US" smtClean="0"/>
              <a:t>…</a:t>
            </a:r>
            <a:endParaRPr lang="vi-VN" smtClean="0"/>
          </a:p>
          <a:p>
            <a:pPr>
              <a:spcAft>
                <a:spcPts val="450"/>
              </a:spcAft>
            </a:pPr>
            <a:endParaRPr lang="en-US" smtClean="0"/>
          </a:p>
          <a:p>
            <a:pPr>
              <a:spcAft>
                <a:spcPts val="450"/>
              </a:spcAft>
            </a:pPr>
            <a:endParaRPr lang="vi-VN"/>
          </a:p>
        </p:txBody>
      </p:sp>
      <p:sp>
        <p:nvSpPr>
          <p:cNvPr id="4" name="Slide Number Placeholder 3"/>
          <p:cNvSpPr>
            <a:spLocks noGrp="1"/>
          </p:cNvSpPr>
          <p:nvPr>
            <p:ph type="sldNum" sz="quarter" idx="12"/>
          </p:nvPr>
        </p:nvSpPr>
        <p:spPr/>
        <p:txBody>
          <a:bodyPr/>
          <a:lstStyle/>
          <a:p>
            <a:fld id="{E3E8E051-591C-4566-9813-B4BB16D377BD}" type="slidenum">
              <a:rPr lang="en-US" smtClean="0"/>
              <a:pPr/>
              <a:t>151</a:t>
            </a:fld>
            <a:endParaRPr lang="en-US"/>
          </a:p>
        </p:txBody>
      </p:sp>
    </p:spTree>
    <p:extLst>
      <p:ext uri="{BB962C8B-B14F-4D97-AF65-F5344CB8AC3E}">
        <p14:creationId xmlns:p14="http://schemas.microsoft.com/office/powerpoint/2010/main" val="382270947"/>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7.1. Ngoại lệ (Exception)</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152</a:t>
            </a:fld>
            <a:endParaRPr lang="en-US"/>
          </a:p>
        </p:txBody>
      </p:sp>
      <p:pic>
        <p:nvPicPr>
          <p:cNvPr id="7" name="Picture 6"/>
          <p:cNvPicPr>
            <a:picLocks noChangeAspect="1"/>
          </p:cNvPicPr>
          <p:nvPr/>
        </p:nvPicPr>
        <p:blipFill>
          <a:blip r:embed="rId3"/>
          <a:stretch>
            <a:fillRect/>
          </a:stretch>
        </p:blipFill>
        <p:spPr>
          <a:xfrm>
            <a:off x="1572018" y="2000250"/>
            <a:ext cx="6310822" cy="3429000"/>
          </a:xfrm>
          <a:prstGeom prst="rect">
            <a:avLst/>
          </a:prstGeom>
        </p:spPr>
      </p:pic>
    </p:spTree>
    <p:extLst>
      <p:ext uri="{BB962C8B-B14F-4D97-AF65-F5344CB8AC3E}">
        <p14:creationId xmlns:p14="http://schemas.microsoft.com/office/powerpoint/2010/main" val="402309785"/>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7.1. Ngoại lệ (Exception)</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a:spcBef>
                <a:spcPts val="450"/>
              </a:spcBef>
              <a:spcAft>
                <a:spcPts val="0"/>
              </a:spcAft>
            </a:pPr>
            <a:r>
              <a:rPr lang="en-US" b="1" smtClean="0"/>
              <a:t>Phân loại Exception</a:t>
            </a:r>
          </a:p>
          <a:p>
            <a:pPr lvl="1">
              <a:spcBef>
                <a:spcPts val="450"/>
              </a:spcBef>
              <a:spcAft>
                <a:spcPts val="0"/>
              </a:spcAft>
            </a:pPr>
            <a:r>
              <a:rPr lang="vi-VN" sz="2250" b="1"/>
              <a:t>Checked</a:t>
            </a:r>
            <a:r>
              <a:rPr lang="vi-VN" sz="2250"/>
              <a:t> </a:t>
            </a:r>
            <a:r>
              <a:rPr lang="vi-VN" sz="2250"/>
              <a:t>Exception</a:t>
            </a:r>
            <a:r>
              <a:rPr lang="en-US" sz="2250"/>
              <a:t>:</a:t>
            </a:r>
            <a:r>
              <a:rPr lang="en-US" sz="2250"/>
              <a:t> </a:t>
            </a:r>
            <a:r>
              <a:rPr lang="vi-VN" sz="2250"/>
              <a:t>xảy </a:t>
            </a:r>
            <a:r>
              <a:rPr lang="vi-VN" sz="2250"/>
              <a:t>ra tại thời điểm compile </a:t>
            </a:r>
            <a:r>
              <a:rPr lang="vi-VN" sz="2250"/>
              <a:t>time</a:t>
            </a:r>
            <a:r>
              <a:rPr lang="en-US" sz="2250"/>
              <a:t>, lỗi </a:t>
            </a:r>
            <a:r>
              <a:rPr lang="vi-VN" sz="2250"/>
              <a:t>do </a:t>
            </a:r>
            <a:r>
              <a:rPr lang="vi-VN" sz="2250"/>
              <a:t>người dùng mà không thể lường trước được bởi lập trình </a:t>
            </a:r>
            <a:r>
              <a:rPr lang="vi-VN" sz="2250"/>
              <a:t>viên</a:t>
            </a:r>
            <a:r>
              <a:rPr lang="en-US" sz="2250"/>
              <a:t>. </a:t>
            </a:r>
            <a:r>
              <a:rPr lang="vi-VN" sz="2250"/>
              <a:t>Ví dụ</a:t>
            </a:r>
            <a:r>
              <a:rPr lang="en-US" sz="2250"/>
              <a:t>: </a:t>
            </a:r>
            <a:r>
              <a:rPr lang="vi-VN" sz="2250"/>
              <a:t>đọc </a:t>
            </a:r>
            <a:r>
              <a:rPr lang="vi-VN" sz="2250"/>
              <a:t>một file nhưng file đó không được tìm </a:t>
            </a:r>
            <a:r>
              <a:rPr lang="vi-VN" sz="2250"/>
              <a:t>thấy</a:t>
            </a:r>
            <a:r>
              <a:rPr lang="en-US" sz="2250"/>
              <a:t>… </a:t>
            </a:r>
            <a:r>
              <a:rPr lang="en-US" sz="2250">
                <a:sym typeface="Wingdings" panose="05000000000000000000" pitchFamily="2" charset="2"/>
              </a:rPr>
              <a:t> Không cần “catch”</a:t>
            </a:r>
            <a:endParaRPr lang="vi-VN" sz="2250"/>
          </a:p>
          <a:p>
            <a:pPr lvl="1">
              <a:spcBef>
                <a:spcPts val="450"/>
              </a:spcBef>
              <a:spcAft>
                <a:spcPts val="0"/>
              </a:spcAft>
            </a:pPr>
            <a:r>
              <a:rPr lang="vi-VN" sz="2250" b="1"/>
              <a:t>Unchecked</a:t>
            </a:r>
            <a:r>
              <a:rPr lang="vi-VN" sz="2250"/>
              <a:t> </a:t>
            </a:r>
            <a:r>
              <a:rPr lang="vi-VN" sz="2250"/>
              <a:t>Exception</a:t>
            </a:r>
            <a:r>
              <a:rPr lang="en-US" sz="2250"/>
              <a:t>: </a:t>
            </a:r>
            <a:r>
              <a:rPr lang="vi-VN" sz="2250"/>
              <a:t>xảy </a:t>
            </a:r>
            <a:r>
              <a:rPr lang="vi-VN" sz="2250"/>
              <a:t>ra </a:t>
            </a:r>
            <a:r>
              <a:rPr lang="vi-VN" sz="2250"/>
              <a:t>ở </a:t>
            </a:r>
            <a:r>
              <a:rPr lang="en-US" sz="2250"/>
              <a:t>thời điểm </a:t>
            </a:r>
            <a:r>
              <a:rPr lang="vi-VN" sz="2250"/>
              <a:t>runtime</a:t>
            </a:r>
            <a:r>
              <a:rPr lang="vi-VN" sz="2250"/>
              <a:t>, </a:t>
            </a:r>
            <a:r>
              <a:rPr lang="en-US" sz="2250"/>
              <a:t>ngoại lệ</a:t>
            </a:r>
            <a:r>
              <a:rPr lang="vi-VN" sz="2250"/>
              <a:t> </a:t>
            </a:r>
            <a:r>
              <a:rPr lang="vi-VN" sz="2250"/>
              <a:t>này thường liên quan đến lỗi logic, là ngoại lệ có thể tránh được bởi lập trình </a:t>
            </a:r>
            <a:r>
              <a:rPr lang="vi-VN" sz="2250"/>
              <a:t>viên</a:t>
            </a:r>
            <a:r>
              <a:rPr lang="en-US" sz="2250"/>
              <a:t>. </a:t>
            </a:r>
            <a:r>
              <a:rPr lang="vi-VN" sz="2250"/>
              <a:t>Ví dụ</a:t>
            </a:r>
            <a:r>
              <a:rPr lang="en-US" sz="2250"/>
              <a:t>: </a:t>
            </a:r>
            <a:r>
              <a:rPr lang="vi-VN" sz="2250"/>
              <a:t>lấy </a:t>
            </a:r>
            <a:r>
              <a:rPr lang="vi-VN" sz="2250"/>
              <a:t>x/y </a:t>
            </a:r>
            <a:r>
              <a:rPr lang="vi-VN" sz="2250"/>
              <a:t>(y </a:t>
            </a:r>
            <a:r>
              <a:rPr lang="vi-VN" sz="2250"/>
              <a:t>=0</a:t>
            </a:r>
            <a:r>
              <a:rPr lang="vi-VN" sz="2250"/>
              <a:t>)</a:t>
            </a:r>
            <a:r>
              <a:rPr lang="en-US" sz="2250"/>
              <a:t>, t</a:t>
            </a:r>
            <a:r>
              <a:rPr lang="vi-VN" sz="2250"/>
              <a:t>ruy </a:t>
            </a:r>
            <a:r>
              <a:rPr lang="vi-VN" sz="2250"/>
              <a:t>cập đến phần tử vượt quá chiều dài của </a:t>
            </a:r>
            <a:r>
              <a:rPr lang="vi-VN" sz="2250"/>
              <a:t>mản</a:t>
            </a:r>
            <a:r>
              <a:rPr lang="en-US" sz="2250"/>
              <a:t>g…</a:t>
            </a:r>
            <a:endParaRPr lang="vi-VN" smtClean="0"/>
          </a:p>
        </p:txBody>
      </p:sp>
      <p:sp>
        <p:nvSpPr>
          <p:cNvPr id="4" name="Slide Number Placeholder 3"/>
          <p:cNvSpPr>
            <a:spLocks noGrp="1"/>
          </p:cNvSpPr>
          <p:nvPr>
            <p:ph type="sldNum" sz="quarter" idx="12"/>
          </p:nvPr>
        </p:nvSpPr>
        <p:spPr/>
        <p:txBody>
          <a:bodyPr/>
          <a:lstStyle/>
          <a:p>
            <a:fld id="{E3E8E051-591C-4566-9813-B4BB16D377BD}" type="slidenum">
              <a:rPr lang="en-US" smtClean="0"/>
              <a:pPr/>
              <a:t>153</a:t>
            </a:fld>
            <a:endParaRPr lang="en-US"/>
          </a:p>
        </p:txBody>
      </p:sp>
    </p:spTree>
    <p:extLst>
      <p:ext uri="{BB962C8B-B14F-4D97-AF65-F5344CB8AC3E}">
        <p14:creationId xmlns:p14="http://schemas.microsoft.com/office/powerpoint/2010/main" val="2584960204"/>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7.2. Xử lý ngoại lệ</a:t>
            </a:r>
            <a:endParaRPr lang="en-US"/>
          </a:p>
        </p:txBody>
      </p:sp>
      <p:sp>
        <p:nvSpPr>
          <p:cNvPr id="3" name="Content Placeholder 2"/>
          <p:cNvSpPr>
            <a:spLocks noGrp="1"/>
          </p:cNvSpPr>
          <p:nvPr>
            <p:ph idx="1"/>
          </p:nvPr>
        </p:nvSpPr>
        <p:spPr>
          <a:xfrm>
            <a:off x="1385646" y="1874286"/>
            <a:ext cx="6372708" cy="3726414"/>
          </a:xfrm>
        </p:spPr>
        <p:txBody>
          <a:bodyPr wrap="square">
            <a:noAutofit/>
          </a:bodyPr>
          <a:lstStyle/>
          <a:p>
            <a:pPr>
              <a:spcBef>
                <a:spcPts val="450"/>
              </a:spcBef>
              <a:spcAft>
                <a:spcPts val="0"/>
              </a:spcAft>
            </a:pPr>
            <a:r>
              <a:rPr lang="en-US" b="1" smtClean="0"/>
              <a:t>Xử lý lỗi truyền thống</a:t>
            </a:r>
          </a:p>
          <a:p>
            <a:pPr lvl="1">
              <a:spcBef>
                <a:spcPts val="450"/>
              </a:spcBef>
              <a:spcAft>
                <a:spcPts val="0"/>
              </a:spcAft>
            </a:pPr>
            <a:r>
              <a:rPr lang="vi-VN" sz="2250"/>
              <a:t>Cài đặt mã xử lý lỗi tại nơi phát sinh ra lỗi:</a:t>
            </a:r>
          </a:p>
          <a:p>
            <a:pPr lvl="2">
              <a:spcBef>
                <a:spcPts val="450"/>
              </a:spcBef>
              <a:spcAft>
                <a:spcPts val="0"/>
              </a:spcAft>
            </a:pPr>
            <a:r>
              <a:rPr lang="vi-VN" sz="2250"/>
              <a:t>Làm cho chương trình trở nên rối rắm, khó </a:t>
            </a:r>
            <a:r>
              <a:rPr lang="vi-VN" sz="2250"/>
              <a:t>hiểu</a:t>
            </a:r>
            <a:r>
              <a:rPr lang="en-US" sz="2250"/>
              <a:t>;</a:t>
            </a:r>
            <a:endParaRPr lang="vi-VN" sz="2250"/>
          </a:p>
          <a:p>
            <a:pPr lvl="2">
              <a:spcBef>
                <a:spcPts val="450"/>
              </a:spcBef>
              <a:spcAft>
                <a:spcPts val="0"/>
              </a:spcAft>
            </a:pPr>
            <a:r>
              <a:rPr lang="vi-VN" sz="2250"/>
              <a:t>Không phải lúc nào cũng </a:t>
            </a:r>
            <a:r>
              <a:rPr lang="en-US" sz="2250"/>
              <a:t>có </a:t>
            </a:r>
            <a:r>
              <a:rPr lang="vi-VN" sz="2250"/>
              <a:t>đầy </a:t>
            </a:r>
            <a:r>
              <a:rPr lang="vi-VN" sz="2250"/>
              <a:t>đủ thông tin để xử </a:t>
            </a:r>
            <a:r>
              <a:rPr lang="vi-VN" sz="2250"/>
              <a:t>lý</a:t>
            </a:r>
            <a:r>
              <a:rPr lang="en-US" sz="2250"/>
              <a:t>;</a:t>
            </a:r>
            <a:endParaRPr lang="vi-VN" sz="2250"/>
          </a:p>
          <a:p>
            <a:pPr lvl="2">
              <a:spcBef>
                <a:spcPts val="450"/>
              </a:spcBef>
              <a:spcAft>
                <a:spcPts val="0"/>
              </a:spcAft>
            </a:pPr>
            <a:r>
              <a:rPr lang="vi-VN" sz="2250"/>
              <a:t>Không nhất thiết phải xử lý tại lúc </a:t>
            </a:r>
            <a:r>
              <a:rPr lang="vi-VN" sz="2250"/>
              <a:t>đó…</a:t>
            </a:r>
            <a:endParaRPr lang="vi-VN" sz="2250"/>
          </a:p>
          <a:p>
            <a:pPr lvl="1">
              <a:spcBef>
                <a:spcPts val="450"/>
              </a:spcBef>
              <a:spcAft>
                <a:spcPts val="0"/>
              </a:spcAft>
            </a:pPr>
            <a:r>
              <a:rPr lang="vi-VN" sz="2250"/>
              <a:t>Khó kiểm soát được hết các trường hợp như lỗi số học, lỗi bộ nhớ …</a:t>
            </a:r>
          </a:p>
          <a:p>
            <a:pPr lvl="1">
              <a:spcBef>
                <a:spcPts val="450"/>
              </a:spcBef>
              <a:spcAft>
                <a:spcPts val="0"/>
              </a:spcAft>
            </a:pPr>
            <a:r>
              <a:rPr lang="vi-VN" sz="2250"/>
              <a:t>Lập trình viên có thể quên xử lý lỗi.</a:t>
            </a:r>
          </a:p>
          <a:p>
            <a:pPr>
              <a:spcBef>
                <a:spcPts val="450"/>
              </a:spcBef>
              <a:spcAft>
                <a:spcPts val="0"/>
              </a:spcAft>
            </a:pPr>
            <a:endParaRPr lang="en-US" smtClean="0"/>
          </a:p>
          <a:p>
            <a:pPr>
              <a:spcBef>
                <a:spcPts val="450"/>
              </a:spcBef>
              <a:spcAft>
                <a:spcPts val="0"/>
              </a:spcAft>
            </a:pPr>
            <a:endParaRPr lang="vi-VN"/>
          </a:p>
        </p:txBody>
      </p:sp>
      <p:sp>
        <p:nvSpPr>
          <p:cNvPr id="4" name="Slide Number Placeholder 3"/>
          <p:cNvSpPr>
            <a:spLocks noGrp="1"/>
          </p:cNvSpPr>
          <p:nvPr>
            <p:ph type="sldNum" sz="quarter" idx="12"/>
          </p:nvPr>
        </p:nvSpPr>
        <p:spPr/>
        <p:txBody>
          <a:bodyPr/>
          <a:lstStyle/>
          <a:p>
            <a:fld id="{E3E8E051-591C-4566-9813-B4BB16D377BD}" type="slidenum">
              <a:rPr lang="en-US" smtClean="0"/>
              <a:pPr/>
              <a:t>154</a:t>
            </a:fld>
            <a:endParaRPr lang="en-US"/>
          </a:p>
        </p:txBody>
      </p:sp>
    </p:spTree>
    <p:extLst>
      <p:ext uri="{BB962C8B-B14F-4D97-AF65-F5344CB8AC3E}">
        <p14:creationId xmlns:p14="http://schemas.microsoft.com/office/powerpoint/2010/main" val="3733032707"/>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7.2. Xử lý ngoại lệ</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a:spcBef>
                <a:spcPts val="450"/>
              </a:spcBef>
              <a:spcAft>
                <a:spcPts val="0"/>
              </a:spcAft>
            </a:pPr>
            <a:r>
              <a:rPr lang="en-US" sz="2400" b="1"/>
              <a:t>Xử lý ngoại lệ</a:t>
            </a:r>
          </a:p>
          <a:p>
            <a:pPr lvl="1">
              <a:spcBef>
                <a:spcPts val="450"/>
              </a:spcBef>
              <a:spcAft>
                <a:spcPts val="450"/>
              </a:spcAft>
            </a:pPr>
            <a:r>
              <a:rPr lang="vi-VN" sz="2700"/>
              <a:t>Sử dụng khối try – catch</a:t>
            </a:r>
          </a:p>
          <a:p>
            <a:pPr lvl="1">
              <a:spcBef>
                <a:spcPts val="450"/>
              </a:spcBef>
              <a:spcAft>
                <a:spcPts val="450"/>
              </a:spcAft>
            </a:pPr>
            <a:r>
              <a:rPr lang="vi-VN" sz="2700"/>
              <a:t>Sử dụng nhiều khối catch</a:t>
            </a:r>
          </a:p>
          <a:p>
            <a:pPr lvl="1">
              <a:spcBef>
                <a:spcPts val="450"/>
              </a:spcBef>
              <a:spcAft>
                <a:spcPts val="450"/>
              </a:spcAft>
            </a:pPr>
            <a:r>
              <a:rPr lang="vi-VN" sz="2700"/>
              <a:t>Sử dụng try – catch - finally</a:t>
            </a:r>
          </a:p>
          <a:p>
            <a:pPr lvl="1">
              <a:spcBef>
                <a:spcPts val="450"/>
              </a:spcBef>
              <a:spcAft>
                <a:spcPts val="450"/>
              </a:spcAft>
            </a:pPr>
            <a:r>
              <a:rPr lang="vi-VN" sz="2700"/>
              <a:t>Sử dụng từ khóa throw, throws</a:t>
            </a:r>
          </a:p>
          <a:p>
            <a:pPr marL="0" indent="0">
              <a:spcBef>
                <a:spcPts val="450"/>
              </a:spcBef>
              <a:spcAft>
                <a:spcPts val="0"/>
              </a:spcAft>
              <a:buNone/>
            </a:pPr>
            <a:endParaRPr lang="en-US" smtClean="0"/>
          </a:p>
        </p:txBody>
      </p:sp>
      <p:sp>
        <p:nvSpPr>
          <p:cNvPr id="4" name="Slide Number Placeholder 3"/>
          <p:cNvSpPr>
            <a:spLocks noGrp="1"/>
          </p:cNvSpPr>
          <p:nvPr>
            <p:ph type="sldNum" sz="quarter" idx="12"/>
          </p:nvPr>
        </p:nvSpPr>
        <p:spPr/>
        <p:txBody>
          <a:bodyPr/>
          <a:lstStyle/>
          <a:p>
            <a:fld id="{E3E8E051-591C-4566-9813-B4BB16D377BD}" type="slidenum">
              <a:rPr lang="en-US" smtClean="0"/>
              <a:pPr/>
              <a:t>155</a:t>
            </a:fld>
            <a:endParaRPr lang="en-US"/>
          </a:p>
        </p:txBody>
      </p:sp>
    </p:spTree>
    <p:extLst>
      <p:ext uri="{BB962C8B-B14F-4D97-AF65-F5344CB8AC3E}">
        <p14:creationId xmlns:p14="http://schemas.microsoft.com/office/powerpoint/2010/main" val="1369607909"/>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7.2.1. Sử dụng try - catch</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156</a:t>
            </a:fld>
            <a:endParaRPr lang="en-US"/>
          </a:p>
        </p:txBody>
      </p:sp>
      <p:sp>
        <p:nvSpPr>
          <p:cNvPr id="6" name="Content Placeholder 1"/>
          <p:cNvSpPr txBox="1">
            <a:spLocks/>
          </p:cNvSpPr>
          <p:nvPr/>
        </p:nvSpPr>
        <p:spPr bwMode="auto">
          <a:xfrm>
            <a:off x="1503164" y="3120036"/>
            <a:ext cx="1318022" cy="625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lnSpc>
                <a:spcPct val="150000"/>
              </a:lnSpc>
              <a:spcBef>
                <a:spcPct val="20000"/>
              </a:spcBef>
              <a:buClr>
                <a:srgbClr val="000000"/>
              </a:buClr>
              <a:buSzPct val="100000"/>
              <a:buFont typeface="Wingdings" panose="05000000000000000000" pitchFamily="2" charset="2"/>
              <a:buNone/>
            </a:pPr>
            <a:r>
              <a:rPr lang="en-US" altLang="en-US" sz="2100" b="1" u="sng">
                <a:solidFill>
                  <a:srgbClr val="000099"/>
                </a:solidFill>
              </a:rPr>
              <a:t>Syntax</a:t>
            </a:r>
          </a:p>
          <a:p>
            <a:pPr algn="just">
              <a:spcBef>
                <a:spcPct val="20000"/>
              </a:spcBef>
              <a:buClr>
                <a:srgbClr val="000000"/>
              </a:buClr>
              <a:buSzPct val="100000"/>
              <a:buFont typeface="Wingdings" panose="05000000000000000000" pitchFamily="2" charset="2"/>
              <a:buNone/>
            </a:pPr>
            <a:endParaRPr lang="en-US" altLang="en-US" sz="2100">
              <a:solidFill>
                <a:srgbClr val="000099"/>
              </a:solidFill>
            </a:endParaRPr>
          </a:p>
        </p:txBody>
      </p:sp>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4" y="1743079"/>
            <a:ext cx="326707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a:spLocks noGrp="1" noChangeArrowheads="1"/>
          </p:cNvSpPr>
          <p:nvPr/>
        </p:nvSpPr>
        <p:spPr bwMode="auto">
          <a:xfrm>
            <a:off x="1593652" y="3745111"/>
            <a:ext cx="3448050"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400">
                <a:solidFill>
                  <a:schemeClr val="tx1"/>
                </a:solidFill>
                <a:latin typeface="Arial" panose="020B0604020202020204" pitchFamily="34" charset="0"/>
              </a:defRPr>
            </a:lvl1pPr>
            <a:lvl2pPr marL="692150" indent="-347663"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80000"/>
              </a:lnSpc>
              <a:spcBef>
                <a:spcPct val="20000"/>
              </a:spcBef>
              <a:buClr>
                <a:schemeClr val="accent2"/>
              </a:buClr>
              <a:buSzPct val="70000"/>
              <a:buFont typeface="Wingdings" panose="05000000000000000000" pitchFamily="2" charset="2"/>
              <a:buNone/>
            </a:pPr>
            <a:r>
              <a:rPr lang="en-US" altLang="en-US" sz="1350" b="1">
                <a:latin typeface="Courier New" panose="02070309020205020404" pitchFamily="49" charset="0"/>
              </a:rPr>
              <a:t>try {</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350" b="1">
                <a:latin typeface="Courier New" panose="02070309020205020404" pitchFamily="49" charset="0"/>
              </a:rPr>
              <a:t>	</a:t>
            </a:r>
            <a:r>
              <a:rPr lang="en-US" altLang="en-US" sz="1350">
                <a:latin typeface="Courier New" panose="02070309020205020404" pitchFamily="49" charset="0"/>
              </a:rPr>
              <a:t>Statement_1;</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350">
                <a:latin typeface="Courier New" panose="02070309020205020404" pitchFamily="49" charset="0"/>
              </a:rPr>
              <a:t>	Statement_2;</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350">
                <a:latin typeface="Courier New" panose="02070309020205020404" pitchFamily="49" charset="0"/>
              </a:rPr>
              <a:t>	…</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350" b="1">
                <a:latin typeface="Courier New" panose="02070309020205020404" pitchFamily="49" charset="0"/>
              </a:rPr>
              <a:t>}</a:t>
            </a:r>
          </a:p>
          <a:p>
            <a:pPr eaLnBrk="1" hangingPunct="1">
              <a:lnSpc>
                <a:spcPct val="80000"/>
              </a:lnSpc>
              <a:spcBef>
                <a:spcPct val="20000"/>
              </a:spcBef>
              <a:buClr>
                <a:schemeClr val="accent2"/>
              </a:buClr>
              <a:buSzPct val="70000"/>
              <a:buFont typeface="Wingdings" panose="05000000000000000000" pitchFamily="2" charset="2"/>
              <a:buNone/>
            </a:pPr>
            <a:r>
              <a:rPr lang="en-US" altLang="en-US" sz="1350" b="1">
                <a:latin typeface="Courier New" panose="02070309020205020404" pitchFamily="49" charset="0"/>
              </a:rPr>
              <a:t>catch</a:t>
            </a:r>
            <a:r>
              <a:rPr lang="en-US" altLang="en-US" sz="1350">
                <a:latin typeface="Courier New" panose="02070309020205020404" pitchFamily="49" charset="0"/>
              </a:rPr>
              <a:t>(ExceptionType ObjectName)</a:t>
            </a:r>
            <a:r>
              <a:rPr lang="en-US" altLang="en-US" sz="1350" b="1">
                <a:latin typeface="Courier New" panose="02070309020205020404" pitchFamily="49" charset="0"/>
              </a:rPr>
              <a:t>{</a:t>
            </a:r>
          </a:p>
          <a:p>
            <a:pPr eaLnBrk="1" hangingPunct="1">
              <a:lnSpc>
                <a:spcPct val="80000"/>
              </a:lnSpc>
              <a:spcBef>
                <a:spcPct val="20000"/>
              </a:spcBef>
              <a:buClr>
                <a:schemeClr val="accent2"/>
              </a:buClr>
              <a:buSzPct val="70000"/>
              <a:buFont typeface="Wingdings" panose="05000000000000000000" pitchFamily="2" charset="2"/>
              <a:buNone/>
            </a:pPr>
            <a:r>
              <a:rPr lang="en-US" altLang="en-US" sz="1350" b="1">
                <a:latin typeface="Courier New" panose="02070309020205020404" pitchFamily="49" charset="0"/>
              </a:rPr>
              <a:t>	  </a:t>
            </a:r>
            <a:r>
              <a:rPr lang="en-US" altLang="en-US" sz="1350">
                <a:latin typeface="Courier New" panose="02070309020205020404" pitchFamily="49" charset="0"/>
              </a:rPr>
              <a:t>St1;</a:t>
            </a:r>
          </a:p>
          <a:p>
            <a:pPr eaLnBrk="1" hangingPunct="1">
              <a:lnSpc>
                <a:spcPct val="80000"/>
              </a:lnSpc>
              <a:spcBef>
                <a:spcPct val="20000"/>
              </a:spcBef>
              <a:buClr>
                <a:schemeClr val="accent2"/>
              </a:buClr>
              <a:buSzPct val="70000"/>
              <a:buFont typeface="Wingdings" panose="05000000000000000000" pitchFamily="2" charset="2"/>
              <a:buNone/>
            </a:pPr>
            <a:r>
              <a:rPr lang="en-US" altLang="en-US" sz="1350" b="1">
                <a:latin typeface="Courier New" panose="02070309020205020404" pitchFamily="49" charset="0"/>
              </a:rPr>
              <a:t>}</a:t>
            </a:r>
          </a:p>
        </p:txBody>
      </p:sp>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7" y="3432579"/>
            <a:ext cx="2721769" cy="219313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8774390"/>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7.2.1. Sử dụng try - catch</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157</a:t>
            </a:fld>
            <a:endParaRPr lang="en-US"/>
          </a:p>
        </p:txBody>
      </p:sp>
      <p:sp>
        <p:nvSpPr>
          <p:cNvPr id="10" name="Content Placeholder 1"/>
          <p:cNvSpPr txBox="1">
            <a:spLocks/>
          </p:cNvSpPr>
          <p:nvPr/>
        </p:nvSpPr>
        <p:spPr bwMode="auto">
          <a:xfrm>
            <a:off x="1371359" y="2228850"/>
            <a:ext cx="15430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lnSpc>
                <a:spcPct val="150000"/>
              </a:lnSpc>
              <a:spcBef>
                <a:spcPct val="20000"/>
              </a:spcBef>
              <a:buClr>
                <a:srgbClr val="000000"/>
              </a:buClr>
              <a:buSzPct val="100000"/>
              <a:buFont typeface="Wingdings" panose="05000000000000000000" pitchFamily="2" charset="2"/>
              <a:buNone/>
            </a:pPr>
            <a:r>
              <a:rPr lang="en-US" altLang="en-US" sz="2100" b="1" u="sng">
                <a:solidFill>
                  <a:schemeClr val="accent1"/>
                </a:solidFill>
              </a:rPr>
              <a:t>Syntax</a:t>
            </a:r>
          </a:p>
          <a:p>
            <a:pPr algn="just">
              <a:spcBef>
                <a:spcPct val="20000"/>
              </a:spcBef>
              <a:buClr>
                <a:srgbClr val="000000"/>
              </a:buClr>
              <a:buSzPct val="100000"/>
              <a:buFont typeface="Wingdings" panose="05000000000000000000" pitchFamily="2" charset="2"/>
              <a:buNone/>
            </a:pPr>
            <a:endParaRPr lang="en-US" altLang="en-US" sz="2100" b="1" u="sng">
              <a:solidFill>
                <a:schemeClr val="accent1"/>
              </a:solidFill>
            </a:endParaRPr>
          </a:p>
        </p:txBody>
      </p:sp>
      <p:sp>
        <p:nvSpPr>
          <p:cNvPr id="11" name="Rectangle 10"/>
          <p:cNvSpPr>
            <a:spLocks noGrp="1" noChangeArrowheads="1"/>
          </p:cNvSpPr>
          <p:nvPr/>
        </p:nvSpPr>
        <p:spPr bwMode="auto">
          <a:xfrm>
            <a:off x="1028704" y="2857500"/>
            <a:ext cx="3163491" cy="262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400">
                <a:solidFill>
                  <a:schemeClr val="tx1"/>
                </a:solidFill>
                <a:latin typeface="Arial" panose="020B0604020202020204" pitchFamily="34" charset="0"/>
              </a:defRPr>
            </a:lvl1pPr>
            <a:lvl2pPr marL="692150" indent="-347663"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lvl="1" eaLnBrk="1" hangingPunct="1">
              <a:lnSpc>
                <a:spcPct val="80000"/>
              </a:lnSpc>
              <a:spcBef>
                <a:spcPct val="20000"/>
              </a:spcBef>
              <a:buClr>
                <a:schemeClr val="accent1"/>
              </a:buClr>
              <a:buSzPct val="70000"/>
              <a:buFont typeface="Wingdings" panose="05000000000000000000" pitchFamily="2" charset="2"/>
              <a:buNone/>
            </a:pPr>
            <a:r>
              <a:rPr lang="en-US" altLang="en-US" sz="1200">
                <a:latin typeface="Courier New" panose="02070309020205020404" pitchFamily="49" charset="0"/>
              </a:rPr>
              <a:t>try{</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200">
                <a:latin typeface="Courier New" panose="02070309020205020404" pitchFamily="49" charset="0"/>
              </a:rPr>
              <a:t>		Statement_1;</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200">
                <a:latin typeface="Courier New" panose="02070309020205020404" pitchFamily="49" charset="0"/>
              </a:rPr>
              <a:t>		Statement_2;</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200">
                <a:latin typeface="Courier New" panose="02070309020205020404" pitchFamily="49" charset="0"/>
              </a:rPr>
              <a:t>		…</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200">
                <a:latin typeface="Courier New" panose="02070309020205020404" pitchFamily="49" charset="0"/>
              </a:rPr>
              <a:t>}catch(ExceptionType name1){</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200">
                <a:latin typeface="Courier New" panose="02070309020205020404" pitchFamily="49" charset="0"/>
              </a:rPr>
              <a:t>		st1;</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200">
                <a:latin typeface="Courier New" panose="02070309020205020404" pitchFamily="49" charset="0"/>
              </a:rPr>
              <a:t>}catch(ExceptionType name2){</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200">
                <a:latin typeface="Courier New" panose="02070309020205020404" pitchFamily="49" charset="0"/>
              </a:rPr>
              <a:t>		st2;</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200">
                <a:latin typeface="Courier New" panose="02070309020205020404" pitchFamily="49" charset="0"/>
              </a:rPr>
              <a:t>}</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200">
                <a:latin typeface="Courier New" panose="02070309020205020404" pitchFamily="49" charset="0"/>
              </a:rPr>
              <a:t>…</a:t>
            </a:r>
          </a:p>
        </p:txBody>
      </p:sp>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2195" y="2400300"/>
            <a:ext cx="3694509" cy="309205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Content Placeholder 2"/>
          <p:cNvSpPr>
            <a:spLocks noGrp="1"/>
          </p:cNvSpPr>
          <p:nvPr>
            <p:ph idx="1"/>
          </p:nvPr>
        </p:nvSpPr>
        <p:spPr>
          <a:xfrm>
            <a:off x="1385646" y="1808820"/>
            <a:ext cx="6372708" cy="420030"/>
          </a:xfrm>
        </p:spPr>
        <p:txBody>
          <a:bodyPr wrap="square">
            <a:noAutofit/>
          </a:bodyPr>
          <a:lstStyle/>
          <a:p>
            <a:pPr>
              <a:spcBef>
                <a:spcPts val="450"/>
              </a:spcBef>
              <a:spcAft>
                <a:spcPts val="0"/>
              </a:spcAft>
            </a:pPr>
            <a:r>
              <a:rPr lang="en-US" sz="2400"/>
              <a:t>Sử dụng nhiều khối catch</a:t>
            </a:r>
          </a:p>
        </p:txBody>
      </p:sp>
    </p:spTree>
    <p:extLst>
      <p:ext uri="{BB962C8B-B14F-4D97-AF65-F5344CB8AC3E}">
        <p14:creationId xmlns:p14="http://schemas.microsoft.com/office/powerpoint/2010/main" val="928709854"/>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7.2.2. Sử dụng try – catch - finally</a:t>
            </a:r>
            <a:endParaRPr lang="en-US"/>
          </a:p>
        </p:txBody>
      </p:sp>
      <p:sp>
        <p:nvSpPr>
          <p:cNvPr id="4" name="Slide Number Placeholder 3"/>
          <p:cNvSpPr>
            <a:spLocks noGrp="1"/>
          </p:cNvSpPr>
          <p:nvPr>
            <p:ph type="sldNum" sz="quarter" idx="12"/>
          </p:nvPr>
        </p:nvSpPr>
        <p:spPr/>
        <p:txBody>
          <a:bodyPr/>
          <a:lstStyle/>
          <a:p>
            <a:fld id="{E3E8E051-591C-4566-9813-B4BB16D377BD}" type="slidenum">
              <a:rPr lang="en-US" smtClean="0"/>
              <a:pPr/>
              <a:t>158</a:t>
            </a:fld>
            <a:endParaRPr lang="en-US"/>
          </a:p>
        </p:txBody>
      </p:sp>
      <p:sp>
        <p:nvSpPr>
          <p:cNvPr id="9" name="Rectangle 7"/>
          <p:cNvSpPr>
            <a:spLocks noGrp="1"/>
          </p:cNvSpPr>
          <p:nvPr/>
        </p:nvSpPr>
        <p:spPr bwMode="auto">
          <a:xfrm>
            <a:off x="1257300" y="2343150"/>
            <a:ext cx="3314700" cy="234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400">
                <a:solidFill>
                  <a:schemeClr val="tx1"/>
                </a:solidFill>
                <a:latin typeface="Arial" panose="020B0604020202020204" pitchFamily="34" charset="0"/>
              </a:defRPr>
            </a:lvl1pPr>
            <a:lvl2pPr marL="692150" indent="-347663"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80000"/>
              </a:lnSpc>
              <a:spcBef>
                <a:spcPct val="20000"/>
              </a:spcBef>
              <a:buClr>
                <a:schemeClr val="accent2"/>
              </a:buClr>
              <a:buSzPct val="70000"/>
              <a:buFont typeface="Wingdings" panose="05000000000000000000" pitchFamily="2" charset="2"/>
              <a:buNone/>
            </a:pPr>
            <a:r>
              <a:rPr lang="en-US" altLang="en-US" sz="1275" b="1">
                <a:latin typeface="Courier New" panose="02070309020205020404" pitchFamily="49" charset="0"/>
              </a:rPr>
              <a:t>try</a:t>
            </a:r>
            <a:r>
              <a:rPr lang="en-US" altLang="en-US" sz="1275">
                <a:latin typeface="Courier New" panose="02070309020205020404" pitchFamily="49" charset="0"/>
              </a:rPr>
              <a:t> {</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275">
                <a:latin typeface="Courier New" panose="02070309020205020404" pitchFamily="49" charset="0"/>
              </a:rPr>
              <a:t>	Statement_1;</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275">
                <a:latin typeface="Courier New" panose="02070309020205020404" pitchFamily="49" charset="0"/>
              </a:rPr>
              <a:t>	Statement_2;</a:t>
            </a:r>
          </a:p>
          <a:p>
            <a:pPr lvl="1" eaLnBrk="1" hangingPunct="1">
              <a:lnSpc>
                <a:spcPct val="80000"/>
              </a:lnSpc>
              <a:spcBef>
                <a:spcPct val="20000"/>
              </a:spcBef>
              <a:buClr>
                <a:schemeClr val="accent1"/>
              </a:buClr>
              <a:buSzPct val="70000"/>
              <a:buFont typeface="Wingdings" panose="05000000000000000000" pitchFamily="2" charset="2"/>
              <a:buNone/>
            </a:pPr>
            <a:r>
              <a:rPr lang="en-US" altLang="en-US" sz="1275">
                <a:latin typeface="Courier New" panose="02070309020205020404" pitchFamily="49" charset="0"/>
              </a:rPr>
              <a:t>}</a:t>
            </a:r>
          </a:p>
          <a:p>
            <a:pPr eaLnBrk="1" hangingPunct="1">
              <a:lnSpc>
                <a:spcPct val="80000"/>
              </a:lnSpc>
              <a:spcBef>
                <a:spcPct val="20000"/>
              </a:spcBef>
              <a:buClr>
                <a:schemeClr val="accent2"/>
              </a:buClr>
              <a:buSzPct val="70000"/>
              <a:buFont typeface="Wingdings" panose="05000000000000000000" pitchFamily="2" charset="2"/>
              <a:buNone/>
            </a:pPr>
            <a:r>
              <a:rPr lang="en-US" altLang="en-US" sz="1275" b="1">
                <a:latin typeface="Courier New" panose="02070309020205020404" pitchFamily="49" charset="0"/>
              </a:rPr>
              <a:t>catch</a:t>
            </a:r>
            <a:r>
              <a:rPr lang="en-US" altLang="en-US" sz="1275">
                <a:latin typeface="Courier New" panose="02070309020205020404" pitchFamily="49" charset="0"/>
              </a:rPr>
              <a:t>(ExceptionType ObjectName){</a:t>
            </a:r>
          </a:p>
          <a:p>
            <a:pPr eaLnBrk="1" hangingPunct="1">
              <a:lnSpc>
                <a:spcPct val="80000"/>
              </a:lnSpc>
              <a:spcBef>
                <a:spcPct val="20000"/>
              </a:spcBef>
              <a:buClr>
                <a:schemeClr val="accent2"/>
              </a:buClr>
              <a:buSzPct val="70000"/>
              <a:buFont typeface="Wingdings" panose="05000000000000000000" pitchFamily="2" charset="2"/>
              <a:buNone/>
            </a:pPr>
            <a:r>
              <a:rPr lang="en-US" altLang="en-US" sz="1275">
                <a:latin typeface="Courier New" panose="02070309020205020404" pitchFamily="49" charset="0"/>
              </a:rPr>
              <a:t>	   Statement_i;</a:t>
            </a:r>
          </a:p>
          <a:p>
            <a:pPr eaLnBrk="1" hangingPunct="1">
              <a:lnSpc>
                <a:spcPct val="80000"/>
              </a:lnSpc>
              <a:spcBef>
                <a:spcPct val="20000"/>
              </a:spcBef>
              <a:buClr>
                <a:schemeClr val="accent2"/>
              </a:buClr>
              <a:buSzPct val="70000"/>
              <a:buFont typeface="Wingdings" panose="05000000000000000000" pitchFamily="2" charset="2"/>
              <a:buNone/>
            </a:pPr>
            <a:r>
              <a:rPr lang="en-US" altLang="en-US" sz="1275">
                <a:latin typeface="Courier New" panose="02070309020205020404" pitchFamily="49" charset="0"/>
              </a:rPr>
              <a:t>}</a:t>
            </a:r>
          </a:p>
          <a:p>
            <a:pPr eaLnBrk="1" hangingPunct="1">
              <a:lnSpc>
                <a:spcPct val="80000"/>
              </a:lnSpc>
              <a:spcBef>
                <a:spcPct val="20000"/>
              </a:spcBef>
              <a:buClr>
                <a:schemeClr val="accent2"/>
              </a:buClr>
              <a:buSzPct val="70000"/>
              <a:buFont typeface="Wingdings" panose="05000000000000000000" pitchFamily="2" charset="2"/>
              <a:buNone/>
            </a:pPr>
            <a:r>
              <a:rPr lang="en-US" altLang="en-US" sz="1275" b="1">
                <a:latin typeface="Courier New" panose="02070309020205020404" pitchFamily="49" charset="0"/>
              </a:rPr>
              <a:t>finally</a:t>
            </a:r>
            <a:r>
              <a:rPr lang="en-US" altLang="en-US" sz="1275">
                <a:latin typeface="Courier New" panose="02070309020205020404" pitchFamily="49" charset="0"/>
              </a:rPr>
              <a:t>{ 	</a:t>
            </a:r>
          </a:p>
          <a:p>
            <a:pPr eaLnBrk="1" hangingPunct="1">
              <a:lnSpc>
                <a:spcPct val="80000"/>
              </a:lnSpc>
              <a:spcBef>
                <a:spcPct val="20000"/>
              </a:spcBef>
              <a:buClr>
                <a:schemeClr val="accent2"/>
              </a:buClr>
              <a:buSzPct val="70000"/>
              <a:buFont typeface="Wingdings" panose="05000000000000000000" pitchFamily="2" charset="2"/>
              <a:buNone/>
            </a:pPr>
            <a:r>
              <a:rPr lang="en-US" altLang="en-US" sz="1275">
                <a:latin typeface="Courier New" panose="02070309020205020404" pitchFamily="49" charset="0"/>
              </a:rPr>
              <a:t>		//Clean up code</a:t>
            </a:r>
          </a:p>
          <a:p>
            <a:pPr eaLnBrk="1" hangingPunct="1">
              <a:lnSpc>
                <a:spcPct val="80000"/>
              </a:lnSpc>
              <a:spcBef>
                <a:spcPct val="20000"/>
              </a:spcBef>
              <a:buClr>
                <a:schemeClr val="accent2"/>
              </a:buClr>
              <a:buSzPct val="70000"/>
              <a:buFont typeface="Wingdings" panose="05000000000000000000" pitchFamily="2" charset="2"/>
              <a:buNone/>
            </a:pPr>
            <a:r>
              <a:rPr lang="en-US" altLang="en-US" sz="1275">
                <a:latin typeface="Courier New" panose="02070309020205020404" pitchFamily="49" charset="0"/>
              </a:rPr>
              <a:t>		Statement_j;</a:t>
            </a:r>
          </a:p>
          <a:p>
            <a:pPr eaLnBrk="1" hangingPunct="1">
              <a:lnSpc>
                <a:spcPct val="80000"/>
              </a:lnSpc>
              <a:spcBef>
                <a:spcPct val="20000"/>
              </a:spcBef>
              <a:buClr>
                <a:schemeClr val="accent2"/>
              </a:buClr>
              <a:buSzPct val="70000"/>
              <a:buFont typeface="Wingdings" panose="05000000000000000000" pitchFamily="2" charset="2"/>
              <a:buNone/>
            </a:pPr>
            <a:r>
              <a:rPr lang="en-US" altLang="en-US" sz="1275">
                <a:latin typeface="Courier New" panose="02070309020205020404" pitchFamily="49" charset="0"/>
              </a:rPr>
              <a:t>}</a:t>
            </a:r>
          </a:p>
        </p:txBody>
      </p:sp>
      <p:sp>
        <p:nvSpPr>
          <p:cNvPr id="10" name="Content Placeholder 1"/>
          <p:cNvSpPr txBox="1">
            <a:spLocks/>
          </p:cNvSpPr>
          <p:nvPr/>
        </p:nvSpPr>
        <p:spPr bwMode="auto">
          <a:xfrm>
            <a:off x="1347790" y="1771654"/>
            <a:ext cx="1318022" cy="625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lnSpc>
                <a:spcPct val="150000"/>
              </a:lnSpc>
              <a:spcBef>
                <a:spcPct val="20000"/>
              </a:spcBef>
              <a:buClr>
                <a:srgbClr val="000000"/>
              </a:buClr>
              <a:buSzPct val="100000"/>
              <a:buFont typeface="Wingdings" panose="05000000000000000000" pitchFamily="2" charset="2"/>
              <a:buNone/>
            </a:pPr>
            <a:r>
              <a:rPr lang="en-US" altLang="en-US" sz="2100" b="1" u="sng">
                <a:solidFill>
                  <a:schemeClr val="accent1"/>
                </a:solidFill>
              </a:rPr>
              <a:t>Syntax</a:t>
            </a:r>
          </a:p>
          <a:p>
            <a:pPr algn="just">
              <a:spcBef>
                <a:spcPct val="20000"/>
              </a:spcBef>
              <a:buClr>
                <a:srgbClr val="000000"/>
              </a:buClr>
              <a:buSzPct val="100000"/>
              <a:buFont typeface="Wingdings" panose="05000000000000000000" pitchFamily="2" charset="2"/>
              <a:buNone/>
            </a:pPr>
            <a:endParaRPr lang="en-US" altLang="en-US" sz="2100">
              <a:solidFill>
                <a:schemeClr val="accent1"/>
              </a:solidFill>
            </a:endParaRPr>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3" y="1828800"/>
            <a:ext cx="3313510" cy="2971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ectangle 13"/>
          <p:cNvSpPr>
            <a:spLocks noChangeArrowheads="1"/>
          </p:cNvSpPr>
          <p:nvPr/>
        </p:nvSpPr>
        <p:spPr bwMode="auto">
          <a:xfrm>
            <a:off x="1886342" y="5078541"/>
            <a:ext cx="5543550" cy="646331"/>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spcBef>
                <a:spcPts val="450"/>
              </a:spcBef>
            </a:pPr>
            <a:r>
              <a:rPr lang="en-US" altLang="en-US" sz="2100"/>
              <a:t>Khối  </a:t>
            </a:r>
            <a:r>
              <a:rPr lang="en-US" altLang="en-US" sz="2100">
                <a:solidFill>
                  <a:srgbClr val="FF0000"/>
                </a:solidFill>
              </a:rPr>
              <a:t>finally</a:t>
            </a:r>
            <a:r>
              <a:rPr lang="en-US" altLang="en-US" sz="2100"/>
              <a:t> sẽ luôn luôn được thực thi </a:t>
            </a:r>
            <a:r>
              <a:rPr lang="en-US" altLang="en-US" sz="2100"/>
              <a:t>dù </a:t>
            </a:r>
            <a:r>
              <a:rPr lang="en-US" altLang="en-US" sz="2100"/>
              <a:t>có xảy ra hay không xảy ra ngoại </a:t>
            </a:r>
            <a:r>
              <a:rPr lang="en-US" altLang="en-US" sz="2100"/>
              <a:t>lệ.</a:t>
            </a:r>
            <a:endParaRPr lang="en-US" altLang="en-US" sz="2100"/>
          </a:p>
        </p:txBody>
      </p:sp>
    </p:spTree>
    <p:extLst>
      <p:ext uri="{BB962C8B-B14F-4D97-AF65-F5344CB8AC3E}">
        <p14:creationId xmlns:p14="http://schemas.microsoft.com/office/powerpoint/2010/main" val="1076724797"/>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7.2.2. </a:t>
            </a:r>
            <a:r>
              <a:rPr lang="en-US"/>
              <a:t>Sử dụng try – catch - finally</a:t>
            </a:r>
          </a:p>
        </p:txBody>
      </p:sp>
      <p:sp>
        <p:nvSpPr>
          <p:cNvPr id="4" name="Slide Number Placeholder 3"/>
          <p:cNvSpPr>
            <a:spLocks noGrp="1"/>
          </p:cNvSpPr>
          <p:nvPr>
            <p:ph type="sldNum" sz="quarter" idx="12"/>
          </p:nvPr>
        </p:nvSpPr>
        <p:spPr/>
        <p:txBody>
          <a:bodyPr/>
          <a:lstStyle/>
          <a:p>
            <a:fld id="{E3E8E051-591C-4566-9813-B4BB16D377BD}" type="slidenum">
              <a:rPr lang="en-US" smtClean="0"/>
              <a:pPr/>
              <a:t>159</a:t>
            </a:fld>
            <a:endParaRPr lang="en-US"/>
          </a:p>
        </p:txBody>
      </p:sp>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222" y="2000251"/>
            <a:ext cx="4478594"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8564" y="2000254"/>
            <a:ext cx="2043113" cy="614363"/>
          </a:xfrm>
          <a:prstGeom prst="rect">
            <a:avLst/>
          </a:prstGeom>
          <a:noFill/>
          <a:ln w="25400">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3562" y="4286253"/>
            <a:ext cx="2071688" cy="907256"/>
          </a:xfrm>
          <a:prstGeom prst="rect">
            <a:avLst/>
          </a:prstGeom>
          <a:noFill/>
          <a:ln w="25400">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18564" y="2836073"/>
            <a:ext cx="2085975" cy="842963"/>
          </a:xfrm>
          <a:prstGeom prst="rect">
            <a:avLst/>
          </a:prstGeom>
          <a:noFill/>
          <a:ln w="25400">
            <a:solidFill>
              <a:srgbClr val="C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ight Arrow 8"/>
          <p:cNvSpPr/>
          <p:nvPr/>
        </p:nvSpPr>
        <p:spPr>
          <a:xfrm>
            <a:off x="4532710" y="2514607"/>
            <a:ext cx="914400" cy="321469"/>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474152896"/>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8. Các luồng nhập xuất dữ liệu</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a:spcBef>
                <a:spcPts val="450"/>
              </a:spcBef>
              <a:spcAft>
                <a:spcPts val="0"/>
              </a:spcAft>
            </a:pPr>
            <a:r>
              <a:rPr lang="en-US" smtClean="0"/>
              <a:t>Giới thiệu về nhập xuất trong Java</a:t>
            </a:r>
          </a:p>
          <a:p>
            <a:pPr>
              <a:spcBef>
                <a:spcPts val="450"/>
              </a:spcBef>
              <a:spcAft>
                <a:spcPts val="0"/>
              </a:spcAft>
            </a:pPr>
            <a:r>
              <a:rPr lang="en-US" smtClean="0"/>
              <a:t>Lớp java.io.File</a:t>
            </a:r>
          </a:p>
          <a:p>
            <a:pPr>
              <a:spcBef>
                <a:spcPts val="450"/>
              </a:spcBef>
              <a:spcAft>
                <a:spcPts val="0"/>
              </a:spcAft>
            </a:pPr>
            <a:r>
              <a:rPr lang="en-US" smtClean="0"/>
              <a:t>Luồng nhập xuất (Stream)</a:t>
            </a:r>
          </a:p>
          <a:p>
            <a:pPr>
              <a:spcBef>
                <a:spcPts val="450"/>
              </a:spcBef>
              <a:spcAft>
                <a:spcPts val="0"/>
              </a:spcAft>
            </a:pPr>
            <a:r>
              <a:rPr lang="en-US" smtClean="0"/>
              <a:t>Luồng nhập xuất theo byte</a:t>
            </a:r>
          </a:p>
          <a:p>
            <a:pPr>
              <a:spcBef>
                <a:spcPts val="450"/>
              </a:spcBef>
              <a:spcAft>
                <a:spcPts val="0"/>
              </a:spcAft>
            </a:pPr>
            <a:r>
              <a:rPr lang="en-US" smtClean="0"/>
              <a:t>Luồng nhập xuất theo ký tự</a:t>
            </a:r>
          </a:p>
          <a:p>
            <a:pPr>
              <a:spcBef>
                <a:spcPts val="450"/>
              </a:spcBef>
              <a:spcAft>
                <a:spcPts val="0"/>
              </a:spcAft>
            </a:pPr>
            <a:r>
              <a:rPr lang="en-US" smtClean="0"/>
              <a:t>Nhập xuất đối tượng</a:t>
            </a:r>
            <a:endParaRPr lang="vi-VN"/>
          </a:p>
        </p:txBody>
      </p:sp>
      <p:sp>
        <p:nvSpPr>
          <p:cNvPr id="4" name="Slide Number Placeholder 3"/>
          <p:cNvSpPr>
            <a:spLocks noGrp="1"/>
          </p:cNvSpPr>
          <p:nvPr>
            <p:ph type="sldNum" sz="quarter" idx="12"/>
          </p:nvPr>
        </p:nvSpPr>
        <p:spPr/>
        <p:txBody>
          <a:bodyPr/>
          <a:lstStyle/>
          <a:p>
            <a:fld id="{E3E8E051-591C-4566-9813-B4BB16D377BD}" type="slidenum">
              <a:rPr lang="en-US" smtClean="0"/>
              <a:pPr/>
              <a:t>160</a:t>
            </a:fld>
            <a:endParaRPr lang="en-US"/>
          </a:p>
        </p:txBody>
      </p:sp>
      <p:sp>
        <p:nvSpPr>
          <p:cNvPr id="5" name="object 7"/>
          <p:cNvSpPr/>
          <p:nvPr/>
        </p:nvSpPr>
        <p:spPr>
          <a:xfrm>
            <a:off x="3829054" y="4495104"/>
            <a:ext cx="2833497" cy="1028700"/>
          </a:xfrm>
          <a:prstGeom prst="rect">
            <a:avLst/>
          </a:prstGeom>
          <a:blipFill>
            <a:blip r:embed="rId3" cstate="print"/>
            <a:stretch>
              <a:fillRect/>
            </a:stretch>
          </a:blipFill>
        </p:spPr>
        <p:txBody>
          <a:bodyPr wrap="square" lIns="0" tIns="0" rIns="0" bIns="0" rtlCol="0">
            <a:noAutofit/>
          </a:bodyPr>
          <a:lstStyle/>
          <a:p>
            <a:endParaRPr/>
          </a:p>
        </p:txBody>
      </p:sp>
    </p:spTree>
    <p:extLst>
      <p:ext uri="{BB962C8B-B14F-4D97-AF65-F5344CB8AC3E}">
        <p14:creationId xmlns:p14="http://schemas.microsoft.com/office/powerpoint/2010/main" val="2411899030"/>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8.1. Giới thiệu về nhập xuất trong Java</a:t>
            </a:r>
            <a:endParaRPr lang="en-US" sz="2400"/>
          </a:p>
        </p:txBody>
      </p:sp>
      <p:sp>
        <p:nvSpPr>
          <p:cNvPr id="3" name="Content Placeholder 2"/>
          <p:cNvSpPr>
            <a:spLocks noGrp="1"/>
          </p:cNvSpPr>
          <p:nvPr>
            <p:ph idx="1"/>
          </p:nvPr>
        </p:nvSpPr>
        <p:spPr>
          <a:xfrm>
            <a:off x="1385646" y="1808820"/>
            <a:ext cx="6372708" cy="3726414"/>
          </a:xfrm>
        </p:spPr>
        <p:txBody>
          <a:bodyPr wrap="square">
            <a:noAutofit/>
          </a:bodyPr>
          <a:lstStyle/>
          <a:p>
            <a:pPr>
              <a:spcBef>
                <a:spcPts val="450"/>
              </a:spcBef>
              <a:spcAft>
                <a:spcPts val="0"/>
              </a:spcAft>
            </a:pPr>
            <a:r>
              <a:rPr lang="en-US" b="1" smtClean="0"/>
              <a:t>Các gói hỗ trợ nhập xuất trong JDK</a:t>
            </a:r>
          </a:p>
          <a:p>
            <a:pPr lvl="1">
              <a:spcBef>
                <a:spcPts val="450"/>
              </a:spcBef>
              <a:spcAft>
                <a:spcPts val="0"/>
              </a:spcAft>
            </a:pPr>
            <a:r>
              <a:rPr lang="en-US" smtClean="0"/>
              <a:t>Java.oi: nhập xuất chuẩn (standart I/O)</a:t>
            </a:r>
          </a:p>
          <a:p>
            <a:pPr lvl="2">
              <a:spcBef>
                <a:spcPts val="450"/>
              </a:spcBef>
              <a:spcAft>
                <a:spcPts val="0"/>
              </a:spcAft>
            </a:pPr>
            <a:r>
              <a:rPr lang="en-US" smtClean="0"/>
              <a:t>Được giới thiệu từ JDK 1.0</a:t>
            </a:r>
          </a:p>
          <a:p>
            <a:pPr lvl="2">
              <a:spcBef>
                <a:spcPts val="450"/>
              </a:spcBef>
              <a:spcAft>
                <a:spcPts val="0"/>
              </a:spcAft>
            </a:pPr>
            <a:r>
              <a:rPr lang="en-US" smtClean="0"/>
              <a:t>Nhập xuất thông qua Stream</a:t>
            </a:r>
          </a:p>
          <a:p>
            <a:pPr lvl="1">
              <a:spcBef>
                <a:spcPts val="450"/>
              </a:spcBef>
              <a:spcAft>
                <a:spcPts val="0"/>
              </a:spcAft>
            </a:pPr>
            <a:r>
              <a:rPr lang="en-US" smtClean="0"/>
              <a:t>Java.nio: nhập xuất mới (new I/O)</a:t>
            </a:r>
          </a:p>
          <a:p>
            <a:pPr lvl="2">
              <a:spcBef>
                <a:spcPts val="450"/>
              </a:spcBef>
              <a:spcAft>
                <a:spcPts val="0"/>
              </a:spcAft>
            </a:pPr>
            <a:r>
              <a:rPr lang="en-US" smtClean="0"/>
              <a:t>Được giới thiệu từ JDK 1.4</a:t>
            </a:r>
          </a:p>
          <a:p>
            <a:pPr lvl="2">
              <a:spcBef>
                <a:spcPts val="450"/>
              </a:spcBef>
              <a:spcAft>
                <a:spcPts val="0"/>
              </a:spcAft>
            </a:pPr>
            <a:r>
              <a:rPr lang="en-US" smtClean="0"/>
              <a:t>Nâng cao hiệu quả việc nhập xuất qua vùng đệm</a:t>
            </a:r>
          </a:p>
          <a:p>
            <a:pPr lvl="2">
              <a:spcBef>
                <a:spcPts val="450"/>
              </a:spcBef>
              <a:spcAft>
                <a:spcPts val="0"/>
              </a:spcAft>
            </a:pPr>
            <a:r>
              <a:rPr lang="en-US" smtClean="0"/>
              <a:t>Được giới thiệu từ JDK 1.7</a:t>
            </a:r>
          </a:p>
          <a:p>
            <a:pPr>
              <a:spcBef>
                <a:spcPts val="450"/>
              </a:spcBef>
              <a:spcAft>
                <a:spcPts val="0"/>
              </a:spcAft>
            </a:pPr>
            <a:endParaRPr lang="en-US" smtClean="0"/>
          </a:p>
          <a:p>
            <a:pPr>
              <a:spcBef>
                <a:spcPts val="450"/>
              </a:spcBef>
              <a:spcAft>
                <a:spcPts val="0"/>
              </a:spcAft>
            </a:pPr>
            <a:endParaRPr lang="vi-VN">
              <a:solidFill>
                <a:srgbClr val="FF0000"/>
              </a:solidFill>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161</a:t>
            </a:fld>
            <a:endParaRPr lang="en-US"/>
          </a:p>
        </p:txBody>
      </p:sp>
    </p:spTree>
    <p:extLst>
      <p:ext uri="{BB962C8B-B14F-4D97-AF65-F5344CB8AC3E}">
        <p14:creationId xmlns:p14="http://schemas.microsoft.com/office/powerpoint/2010/main" val="234832822"/>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8.2. Lớp java.io.File</a:t>
            </a:r>
            <a:endParaRPr lang="en-US" sz="2400"/>
          </a:p>
        </p:txBody>
      </p:sp>
      <p:sp>
        <p:nvSpPr>
          <p:cNvPr id="3" name="Content Placeholder 2"/>
          <p:cNvSpPr>
            <a:spLocks noGrp="1"/>
          </p:cNvSpPr>
          <p:nvPr>
            <p:ph idx="1"/>
          </p:nvPr>
        </p:nvSpPr>
        <p:spPr>
          <a:xfrm>
            <a:off x="1385646" y="1808820"/>
            <a:ext cx="6372708" cy="3963330"/>
          </a:xfrm>
        </p:spPr>
        <p:txBody>
          <a:bodyPr wrap="square">
            <a:noAutofit/>
          </a:bodyPr>
          <a:lstStyle/>
          <a:p>
            <a:pPr marL="363931">
              <a:spcBef>
                <a:spcPts val="225"/>
              </a:spcBef>
            </a:pPr>
            <a:r>
              <a:rPr lang="vi-VN"/>
              <a:t>Đối</a:t>
            </a:r>
            <a:r>
              <a:rPr lang="vi-VN" spc="-28"/>
              <a:t> </a:t>
            </a:r>
            <a:r>
              <a:rPr lang="vi-VN"/>
              <a:t>tượng</a:t>
            </a:r>
            <a:r>
              <a:rPr lang="vi-VN" spc="-30"/>
              <a:t> </a:t>
            </a:r>
            <a:r>
              <a:rPr lang="vi-VN" b="1">
                <a:solidFill>
                  <a:srgbClr val="FF0000"/>
                </a:solidFill>
              </a:rPr>
              <a:t>File</a:t>
            </a:r>
            <a:r>
              <a:rPr lang="vi-VN" b="1" spc="-26">
                <a:solidFill>
                  <a:srgbClr val="FF0000"/>
                </a:solidFill>
              </a:rPr>
              <a:t> </a:t>
            </a:r>
            <a:r>
              <a:rPr lang="vi-VN"/>
              <a:t>b</a:t>
            </a:r>
            <a:r>
              <a:rPr lang="vi-VN" spc="-7"/>
              <a:t>i</a:t>
            </a:r>
            <a:r>
              <a:rPr lang="vi-VN"/>
              <a:t>ểu</a:t>
            </a:r>
            <a:r>
              <a:rPr lang="vi-VN" spc="-22"/>
              <a:t> </a:t>
            </a:r>
            <a:r>
              <a:rPr lang="vi-VN"/>
              <a:t>d</a:t>
            </a:r>
            <a:r>
              <a:rPr lang="vi-VN" spc="-7"/>
              <a:t>i</a:t>
            </a:r>
            <a:r>
              <a:rPr lang="vi-VN"/>
              <a:t>ễn</a:t>
            </a:r>
            <a:r>
              <a:rPr lang="vi-VN" spc="-22"/>
              <a:t> </a:t>
            </a:r>
            <a:r>
              <a:rPr lang="vi-VN"/>
              <a:t>1</a:t>
            </a:r>
            <a:r>
              <a:rPr lang="vi-VN" spc="-3"/>
              <a:t> </a:t>
            </a:r>
            <a:r>
              <a:rPr lang="vi-VN" spc="-26"/>
              <a:t>t</a:t>
            </a:r>
            <a:r>
              <a:rPr lang="vi-VN"/>
              <a:t>ập</a:t>
            </a:r>
            <a:r>
              <a:rPr lang="vi-VN" spc="-28"/>
              <a:t> </a:t>
            </a:r>
            <a:r>
              <a:rPr lang="vi-VN"/>
              <a:t>tin</a:t>
            </a:r>
            <a:r>
              <a:rPr lang="vi-VN" spc="-8"/>
              <a:t> </a:t>
            </a:r>
            <a:r>
              <a:rPr lang="vi-VN"/>
              <a:t>hoặc</a:t>
            </a:r>
            <a:r>
              <a:rPr lang="vi-VN" spc="-41"/>
              <a:t> </a:t>
            </a:r>
            <a:r>
              <a:rPr lang="vi-VN"/>
              <a:t>1 thư</a:t>
            </a:r>
            <a:r>
              <a:rPr lang="vi-VN" spc="-19"/>
              <a:t> </a:t>
            </a:r>
            <a:r>
              <a:rPr lang="vi-VN"/>
              <a:t>mục.</a:t>
            </a:r>
          </a:p>
          <a:p>
            <a:pPr marL="363931">
              <a:spcBef>
                <a:spcPts val="225"/>
              </a:spcBef>
            </a:pPr>
            <a:r>
              <a:rPr lang="vi-VN" smtClean="0"/>
              <a:t>Khởi</a:t>
            </a:r>
            <a:r>
              <a:rPr lang="vi-VN" spc="-38"/>
              <a:t> </a:t>
            </a:r>
            <a:r>
              <a:rPr lang="vi-VN" spc="-26"/>
              <a:t>t</a:t>
            </a:r>
            <a:r>
              <a:rPr lang="vi-VN"/>
              <a:t>ạo</a:t>
            </a:r>
            <a:r>
              <a:rPr lang="vi-VN" spc="-24"/>
              <a:t> </a:t>
            </a:r>
            <a:r>
              <a:rPr lang="vi-VN"/>
              <a:t>1</a:t>
            </a:r>
            <a:r>
              <a:rPr lang="vi-VN" spc="-3"/>
              <a:t> </a:t>
            </a:r>
            <a:r>
              <a:rPr lang="vi-VN"/>
              <a:t>đối</a:t>
            </a:r>
            <a:r>
              <a:rPr lang="vi-VN" spc="-27"/>
              <a:t> </a:t>
            </a:r>
            <a:r>
              <a:rPr lang="vi-VN" smtClean="0"/>
              <a:t>tượng</a:t>
            </a:r>
            <a:endParaRPr lang="en-US" smtClean="0"/>
          </a:p>
          <a:p>
            <a:pPr marL="106756" indent="0" algn="ctr">
              <a:spcBef>
                <a:spcPts val="225"/>
              </a:spcBef>
              <a:buNone/>
            </a:pPr>
            <a:r>
              <a:rPr lang="vi-VN" sz="2100" b="1">
                <a:solidFill>
                  <a:srgbClr val="006F1F"/>
                </a:solidFill>
              </a:rPr>
              <a:t>pu</a:t>
            </a:r>
            <a:r>
              <a:rPr lang="vi-VN" sz="2100" b="1" spc="3">
                <a:solidFill>
                  <a:srgbClr val="006F1F"/>
                </a:solidFill>
              </a:rPr>
              <a:t>b</a:t>
            </a:r>
            <a:r>
              <a:rPr lang="vi-VN" sz="2100" b="1">
                <a:solidFill>
                  <a:srgbClr val="006F1F"/>
                </a:solidFill>
              </a:rPr>
              <a:t>lic</a:t>
            </a:r>
            <a:r>
              <a:rPr lang="vi-VN" sz="2100" b="1" spc="11">
                <a:solidFill>
                  <a:srgbClr val="006F1F"/>
                </a:solidFill>
              </a:rPr>
              <a:t> </a:t>
            </a:r>
            <a:r>
              <a:rPr lang="vi-VN" sz="2100" spc="7">
                <a:solidFill>
                  <a:srgbClr val="05287D"/>
                </a:solidFill>
              </a:rPr>
              <a:t>Fi</a:t>
            </a:r>
            <a:r>
              <a:rPr lang="vi-VN" sz="2100">
                <a:solidFill>
                  <a:srgbClr val="05287D"/>
                </a:solidFill>
              </a:rPr>
              <a:t>l</a:t>
            </a:r>
            <a:r>
              <a:rPr lang="vi-VN" sz="2100" spc="3">
                <a:solidFill>
                  <a:srgbClr val="05287D"/>
                </a:solidFill>
              </a:rPr>
              <a:t>e</a:t>
            </a:r>
            <a:r>
              <a:rPr lang="vi-VN" sz="2100" spc="11">
                <a:solidFill>
                  <a:srgbClr val="666666"/>
                </a:solidFill>
              </a:rPr>
              <a:t>(</a:t>
            </a:r>
            <a:r>
              <a:rPr lang="vi-VN" sz="2100">
                <a:solidFill>
                  <a:srgbClr val="FF0000"/>
                </a:solidFill>
              </a:rPr>
              <a:t>St</a:t>
            </a:r>
            <a:r>
              <a:rPr lang="vi-VN" sz="2100" spc="3">
                <a:solidFill>
                  <a:srgbClr val="FF0000"/>
                </a:solidFill>
              </a:rPr>
              <a:t>r</a:t>
            </a:r>
            <a:r>
              <a:rPr lang="vi-VN" sz="2100">
                <a:solidFill>
                  <a:srgbClr val="FF0000"/>
                </a:solidFill>
              </a:rPr>
              <a:t>i</a:t>
            </a:r>
            <a:r>
              <a:rPr lang="vi-VN" sz="2100" spc="7">
                <a:solidFill>
                  <a:srgbClr val="FF0000"/>
                </a:solidFill>
              </a:rPr>
              <a:t>n</a:t>
            </a:r>
            <a:r>
              <a:rPr lang="vi-VN" sz="2100">
                <a:solidFill>
                  <a:srgbClr val="FF0000"/>
                </a:solidFill>
              </a:rPr>
              <a:t>g</a:t>
            </a:r>
            <a:r>
              <a:rPr lang="vi-VN" sz="2100" spc="11">
                <a:solidFill>
                  <a:srgbClr val="FF0000"/>
                </a:solidFill>
              </a:rPr>
              <a:t> </a:t>
            </a:r>
            <a:r>
              <a:rPr lang="vi-VN" sz="2100"/>
              <a:t>p</a:t>
            </a:r>
            <a:r>
              <a:rPr lang="vi-VN" sz="2100" spc="7"/>
              <a:t>a</a:t>
            </a:r>
            <a:r>
              <a:rPr lang="vi-VN" sz="2100"/>
              <a:t>th</a:t>
            </a:r>
            <a:r>
              <a:rPr lang="vi-VN" sz="2100" spc="3"/>
              <a:t>S</a:t>
            </a:r>
            <a:r>
              <a:rPr lang="vi-VN" sz="2100"/>
              <a:t>t</a:t>
            </a:r>
            <a:r>
              <a:rPr lang="vi-VN" sz="2100" spc="7"/>
              <a:t>ri</a:t>
            </a:r>
            <a:r>
              <a:rPr lang="vi-VN" sz="2100"/>
              <a:t>n</a:t>
            </a:r>
            <a:r>
              <a:rPr lang="vi-VN" sz="2100" spc="7"/>
              <a:t>g</a:t>
            </a:r>
            <a:r>
              <a:rPr lang="vi-VN" sz="2100">
                <a:solidFill>
                  <a:srgbClr val="666666"/>
                </a:solidFill>
              </a:rPr>
              <a:t>)</a:t>
            </a:r>
            <a:endParaRPr lang="en-US" sz="2100"/>
          </a:p>
          <a:p>
            <a:pPr marL="363931">
              <a:spcBef>
                <a:spcPts val="225"/>
              </a:spcBef>
            </a:pPr>
            <a:r>
              <a:rPr lang="vi-VN" smtClean="0"/>
              <a:t>Sử</a:t>
            </a:r>
            <a:r>
              <a:rPr lang="vi-VN" spc="-18"/>
              <a:t> </a:t>
            </a:r>
            <a:r>
              <a:rPr lang="vi-VN"/>
              <a:t>dụ</a:t>
            </a:r>
            <a:r>
              <a:rPr lang="vi-VN" spc="-7"/>
              <a:t>n</a:t>
            </a:r>
            <a:r>
              <a:rPr lang="vi-VN"/>
              <a:t>g</a:t>
            </a:r>
            <a:r>
              <a:rPr lang="vi-VN" spc="-24"/>
              <a:t> </a:t>
            </a:r>
            <a:r>
              <a:rPr lang="vi-VN"/>
              <a:t>đường</a:t>
            </a:r>
            <a:r>
              <a:rPr lang="vi-VN" spc="-38"/>
              <a:t> </a:t>
            </a:r>
            <a:r>
              <a:rPr lang="vi-VN"/>
              <a:t>dẫn</a:t>
            </a:r>
            <a:r>
              <a:rPr lang="vi-VN" spc="-24"/>
              <a:t> </a:t>
            </a:r>
            <a:r>
              <a:rPr lang="vi-VN"/>
              <a:t>(p</a:t>
            </a:r>
            <a:r>
              <a:rPr lang="vi-VN" spc="-14"/>
              <a:t>a</a:t>
            </a:r>
            <a:r>
              <a:rPr lang="vi-VN"/>
              <a:t>th)</a:t>
            </a:r>
            <a:r>
              <a:rPr lang="vi-VN" spc="-41"/>
              <a:t> </a:t>
            </a:r>
            <a:r>
              <a:rPr lang="vi-VN"/>
              <a:t>theo</a:t>
            </a:r>
            <a:r>
              <a:rPr lang="vi-VN" spc="-32"/>
              <a:t> </a:t>
            </a:r>
            <a:r>
              <a:rPr lang="vi-VN" smtClean="0"/>
              <a:t>dạng:</a:t>
            </a:r>
            <a:endParaRPr lang="en-US" smtClean="0"/>
          </a:p>
          <a:p>
            <a:pPr marL="663968" lvl="1">
              <a:spcBef>
                <a:spcPts val="225"/>
              </a:spcBef>
            </a:pPr>
            <a:r>
              <a:rPr lang="vi-VN" spc="-113"/>
              <a:t>T</a:t>
            </a:r>
            <a:r>
              <a:rPr lang="vi-VN" spc="-26"/>
              <a:t>r</a:t>
            </a:r>
            <a:r>
              <a:rPr lang="vi-VN" smtClean="0"/>
              <a:t>ong</a:t>
            </a:r>
            <a:r>
              <a:rPr lang="vi-VN" spc="-3"/>
              <a:t> </a:t>
            </a:r>
            <a:r>
              <a:rPr lang="vi-VN"/>
              <a:t>Wind</a:t>
            </a:r>
            <a:r>
              <a:rPr lang="vi-VN" spc="-11"/>
              <a:t>o</a:t>
            </a:r>
            <a:r>
              <a:rPr lang="vi-VN" spc="-19"/>
              <a:t>w</a:t>
            </a:r>
            <a:r>
              <a:rPr lang="vi-VN"/>
              <a:t>s:	</a:t>
            </a:r>
            <a:r>
              <a:rPr lang="en-US" smtClean="0"/>
              <a:t>“</a:t>
            </a:r>
            <a:r>
              <a:rPr lang="en-US" spc="3"/>
              <a:t>D</a:t>
            </a:r>
            <a:r>
              <a:rPr lang="vi-VN" spc="7"/>
              <a:t>:</a:t>
            </a:r>
            <a:r>
              <a:rPr lang="vi-VN" spc="-3"/>
              <a:t>\</a:t>
            </a:r>
            <a:r>
              <a:rPr lang="vi-VN" smtClean="0"/>
              <a:t>ViduJ</a:t>
            </a:r>
            <a:r>
              <a:rPr lang="vi-VN" spc="-26"/>
              <a:t>a</a:t>
            </a:r>
            <a:r>
              <a:rPr lang="vi-VN" spc="-29"/>
              <a:t>v</a:t>
            </a:r>
            <a:r>
              <a:rPr lang="vi-VN" spc="3"/>
              <a:t>a</a:t>
            </a:r>
            <a:r>
              <a:rPr lang="vi-VN" spc="-3"/>
              <a:t>\</a:t>
            </a:r>
            <a:r>
              <a:rPr lang="vi-VN" smtClean="0"/>
              <a:t>H</a:t>
            </a:r>
            <a:r>
              <a:rPr lang="vi-VN" spc="3"/>
              <a:t>e</a:t>
            </a:r>
            <a:r>
              <a:rPr lang="vi-VN" smtClean="0"/>
              <a:t>llo</a:t>
            </a:r>
            <a:r>
              <a:rPr lang="vi-VN" spc="-7"/>
              <a:t>.</a:t>
            </a:r>
            <a:r>
              <a:rPr lang="vi-VN" smtClean="0"/>
              <a:t>j</a:t>
            </a:r>
            <a:r>
              <a:rPr lang="vi-VN" spc="-22"/>
              <a:t>a</a:t>
            </a:r>
            <a:r>
              <a:rPr lang="vi-VN" spc="-29"/>
              <a:t>v</a:t>
            </a:r>
            <a:r>
              <a:rPr lang="vi-VN" smtClean="0"/>
              <a:t>a</a:t>
            </a:r>
            <a:r>
              <a:rPr lang="en-US" smtClean="0"/>
              <a:t>”</a:t>
            </a:r>
          </a:p>
          <a:p>
            <a:pPr marL="663968" lvl="1">
              <a:spcBef>
                <a:spcPts val="225"/>
              </a:spcBef>
            </a:pPr>
            <a:r>
              <a:rPr lang="vi-VN" sz="1950"/>
              <a:t>Trong Unix/Mac:	</a:t>
            </a:r>
            <a:r>
              <a:rPr lang="en-US" sz="1950"/>
              <a:t>“</a:t>
            </a:r>
            <a:r>
              <a:rPr lang="vi-VN" sz="1950"/>
              <a:t>/ViduJava/Hello.java</a:t>
            </a:r>
            <a:r>
              <a:rPr lang="en-US" sz="1950"/>
              <a:t>”</a:t>
            </a:r>
            <a:endParaRPr lang="en-US" sz="1950"/>
          </a:p>
          <a:p>
            <a:pPr marL="363931">
              <a:spcBef>
                <a:spcPts val="225"/>
              </a:spcBef>
            </a:pPr>
            <a:r>
              <a:rPr lang="vi-VN"/>
              <a:t>Ví dụ </a:t>
            </a:r>
            <a:endParaRPr lang="en-US"/>
          </a:p>
          <a:p>
            <a:pPr marL="663968" lvl="1">
              <a:spcBef>
                <a:spcPts val="225"/>
              </a:spcBef>
            </a:pPr>
            <a:r>
              <a:rPr lang="vi-VN" smtClean="0"/>
              <a:t>File</a:t>
            </a:r>
            <a:r>
              <a:rPr lang="en-US"/>
              <a:t> </a:t>
            </a:r>
            <a:r>
              <a:rPr lang="vi-VN" smtClean="0"/>
              <a:t>f1 =</a:t>
            </a:r>
            <a:r>
              <a:rPr lang="en-US" smtClean="0"/>
              <a:t> </a:t>
            </a:r>
            <a:r>
              <a:rPr lang="vi-VN" smtClean="0"/>
              <a:t>new</a:t>
            </a:r>
            <a:r>
              <a:rPr lang="en-US"/>
              <a:t> </a:t>
            </a:r>
            <a:r>
              <a:rPr lang="vi-VN" smtClean="0"/>
              <a:t>File</a:t>
            </a:r>
            <a:r>
              <a:rPr lang="vi-VN"/>
              <a:t>("data.txt")</a:t>
            </a:r>
            <a:endParaRPr lang="en-US"/>
          </a:p>
          <a:p>
            <a:pPr marL="663968" lvl="1">
              <a:spcBef>
                <a:spcPts val="225"/>
              </a:spcBef>
            </a:pPr>
            <a:r>
              <a:rPr lang="vi-VN" smtClean="0"/>
              <a:t>File</a:t>
            </a:r>
            <a:r>
              <a:rPr lang="en-US"/>
              <a:t> </a:t>
            </a:r>
            <a:r>
              <a:rPr lang="vi-VN" smtClean="0"/>
              <a:t>f2 =</a:t>
            </a:r>
            <a:r>
              <a:rPr lang="en-US" smtClean="0"/>
              <a:t> </a:t>
            </a:r>
            <a:r>
              <a:rPr lang="vi-VN" smtClean="0"/>
              <a:t>new</a:t>
            </a:r>
            <a:r>
              <a:rPr lang="en-US" smtClean="0"/>
              <a:t> </a:t>
            </a:r>
            <a:r>
              <a:rPr lang="vi-VN" smtClean="0"/>
              <a:t>File</a:t>
            </a:r>
            <a:r>
              <a:rPr lang="vi-VN"/>
              <a:t>("C:\\ViDu\\Hello.java");</a:t>
            </a:r>
            <a:endParaRPr lang="en-US"/>
          </a:p>
          <a:p>
            <a:pPr marL="663968" lvl="1">
              <a:spcBef>
                <a:spcPts val="225"/>
              </a:spcBef>
            </a:pPr>
            <a:r>
              <a:rPr lang="vi-VN" smtClean="0"/>
              <a:t>File</a:t>
            </a:r>
            <a:r>
              <a:rPr lang="en-US"/>
              <a:t> </a:t>
            </a:r>
            <a:r>
              <a:rPr lang="vi-VN" smtClean="0"/>
              <a:t>dir1= </a:t>
            </a:r>
            <a:r>
              <a:rPr lang="vi-VN"/>
              <a:t>new File("C:\\temp");</a:t>
            </a:r>
          </a:p>
          <a:p>
            <a:pPr>
              <a:spcBef>
                <a:spcPts val="450"/>
              </a:spcBef>
              <a:spcAft>
                <a:spcPts val="0"/>
              </a:spcAft>
            </a:pPr>
            <a:endParaRPr lang="en-US" smtClean="0"/>
          </a:p>
          <a:p>
            <a:pPr>
              <a:spcBef>
                <a:spcPts val="450"/>
              </a:spcBef>
              <a:spcAft>
                <a:spcPts val="0"/>
              </a:spcAft>
            </a:pPr>
            <a:endParaRPr lang="vi-VN">
              <a:solidFill>
                <a:srgbClr val="FF0000"/>
              </a:solidFill>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162</a:t>
            </a:fld>
            <a:endParaRPr lang="en-US"/>
          </a:p>
        </p:txBody>
      </p:sp>
    </p:spTree>
    <p:extLst>
      <p:ext uri="{BB962C8B-B14F-4D97-AF65-F5344CB8AC3E}">
        <p14:creationId xmlns:p14="http://schemas.microsoft.com/office/powerpoint/2010/main" val="4210760986"/>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8.2. Lớp java.io.File</a:t>
            </a:r>
            <a:endParaRPr lang="en-US" sz="2400"/>
          </a:p>
        </p:txBody>
      </p:sp>
      <p:sp>
        <p:nvSpPr>
          <p:cNvPr id="3" name="Content Placeholder 2"/>
          <p:cNvSpPr>
            <a:spLocks noGrp="1"/>
          </p:cNvSpPr>
          <p:nvPr>
            <p:ph idx="1"/>
          </p:nvPr>
        </p:nvSpPr>
        <p:spPr>
          <a:xfrm>
            <a:off x="1385646" y="1808820"/>
            <a:ext cx="6372708" cy="3963330"/>
          </a:xfrm>
        </p:spPr>
        <p:txBody>
          <a:bodyPr wrap="square">
            <a:noAutofit/>
          </a:bodyPr>
          <a:lstStyle/>
          <a:p>
            <a:pPr marL="363931">
              <a:spcBef>
                <a:spcPts val="225"/>
              </a:spcBef>
            </a:pPr>
            <a:r>
              <a:rPr lang="en-US" smtClean="0"/>
              <a:t>Một số phương thức thông dụng</a:t>
            </a:r>
          </a:p>
          <a:p>
            <a:pPr marL="663968" lvl="1">
              <a:spcBef>
                <a:spcPts val="0"/>
              </a:spcBef>
              <a:spcAft>
                <a:spcPts val="0"/>
              </a:spcAft>
            </a:pPr>
            <a:r>
              <a:rPr lang="vi-VN" b="1" baseline="12810" smtClean="0">
                <a:solidFill>
                  <a:srgbClr val="006F1F"/>
                </a:solidFill>
                <a:latin typeface="Consolas"/>
                <a:cs typeface="Consolas"/>
              </a:rPr>
              <a:t>public</a:t>
            </a:r>
            <a:r>
              <a:rPr lang="vi-VN" b="1" baseline="12810">
                <a:solidFill>
                  <a:srgbClr val="006F1F"/>
                </a:solidFill>
                <a:latin typeface="Consolas"/>
                <a:cs typeface="Consolas"/>
              </a:rPr>
              <a:t>	</a:t>
            </a:r>
            <a:r>
              <a:rPr lang="vi-VN" baseline="12810">
                <a:solidFill>
                  <a:srgbClr val="901F00"/>
                </a:solidFill>
                <a:latin typeface="Consolas"/>
                <a:cs typeface="Consolas"/>
              </a:rPr>
              <a:t>bo</a:t>
            </a:r>
            <a:r>
              <a:rPr lang="vi-VN" spc="-3" baseline="12810">
                <a:solidFill>
                  <a:srgbClr val="901F00"/>
                </a:solidFill>
                <a:latin typeface="Consolas"/>
                <a:cs typeface="Consolas"/>
              </a:rPr>
              <a:t>o</a:t>
            </a:r>
            <a:r>
              <a:rPr lang="vi-VN" spc="-7" baseline="12810">
                <a:solidFill>
                  <a:srgbClr val="901F00"/>
                </a:solidFill>
                <a:latin typeface="Consolas"/>
                <a:cs typeface="Consolas"/>
              </a:rPr>
              <a:t>l</a:t>
            </a:r>
            <a:r>
              <a:rPr lang="vi-VN" baseline="12810">
                <a:solidFill>
                  <a:srgbClr val="901F00"/>
                </a:solidFill>
                <a:latin typeface="Consolas"/>
                <a:cs typeface="Consolas"/>
              </a:rPr>
              <a:t>ean	</a:t>
            </a:r>
            <a:r>
              <a:rPr lang="en-US" baseline="12810" smtClean="0">
                <a:solidFill>
                  <a:srgbClr val="901F00"/>
                </a:solidFill>
                <a:latin typeface="Consolas"/>
                <a:cs typeface="Consolas"/>
              </a:rPr>
              <a:t> </a:t>
            </a:r>
            <a:r>
              <a:rPr lang="vi-VN" baseline="12810" smtClean="0">
                <a:solidFill>
                  <a:srgbClr val="05287D"/>
                </a:solidFill>
                <a:latin typeface="Consolas"/>
                <a:cs typeface="Consolas"/>
              </a:rPr>
              <a:t>ex</a:t>
            </a:r>
            <a:r>
              <a:rPr lang="vi-VN" spc="-3" baseline="12810">
                <a:solidFill>
                  <a:srgbClr val="05287D"/>
                </a:solidFill>
                <a:latin typeface="Consolas"/>
                <a:cs typeface="Consolas"/>
              </a:rPr>
              <a:t>i</a:t>
            </a:r>
            <a:r>
              <a:rPr lang="vi-VN" baseline="12810" smtClean="0">
                <a:solidFill>
                  <a:srgbClr val="05287D"/>
                </a:solidFill>
                <a:latin typeface="Consolas"/>
                <a:cs typeface="Consolas"/>
              </a:rPr>
              <a:t>st</a:t>
            </a:r>
            <a:r>
              <a:rPr lang="vi-VN" spc="-3" baseline="12810">
                <a:solidFill>
                  <a:srgbClr val="05287D"/>
                </a:solidFill>
                <a:latin typeface="Consolas"/>
                <a:cs typeface="Consolas"/>
              </a:rPr>
              <a:t>s</a:t>
            </a:r>
            <a:r>
              <a:rPr lang="vi-VN" spc="-7" baseline="12810">
                <a:solidFill>
                  <a:srgbClr val="666666"/>
                </a:solidFill>
                <a:latin typeface="Consolas"/>
                <a:cs typeface="Consolas"/>
              </a:rPr>
              <a:t>(</a:t>
            </a:r>
            <a:r>
              <a:rPr lang="vi-VN" baseline="12810" smtClean="0">
                <a:solidFill>
                  <a:srgbClr val="666666"/>
                </a:solidFill>
                <a:latin typeface="Consolas"/>
                <a:cs typeface="Consolas"/>
              </a:rPr>
              <a:t>);</a:t>
            </a:r>
            <a:r>
              <a:rPr lang="en-US" baseline="12810" smtClean="0">
                <a:solidFill>
                  <a:srgbClr val="666666"/>
                </a:solidFill>
                <a:latin typeface="Consolas"/>
                <a:cs typeface="Consolas"/>
              </a:rPr>
              <a:t> </a:t>
            </a:r>
            <a:r>
              <a:rPr lang="vi-VN" i="1" baseline="13044" smtClean="0">
                <a:solidFill>
                  <a:srgbClr val="666666"/>
                </a:solidFill>
                <a:latin typeface="Arial"/>
                <a:cs typeface="Arial"/>
              </a:rPr>
              <a:t>//</a:t>
            </a:r>
            <a:r>
              <a:rPr lang="vi-VN" i="1" spc="-18" baseline="13044">
                <a:solidFill>
                  <a:srgbClr val="666666"/>
                </a:solidFill>
                <a:latin typeface="Arial"/>
                <a:cs typeface="Arial"/>
              </a:rPr>
              <a:t> </a:t>
            </a:r>
            <a:r>
              <a:rPr lang="vi-VN" i="1" baseline="13044">
                <a:solidFill>
                  <a:srgbClr val="666666"/>
                </a:solidFill>
                <a:latin typeface="Arial"/>
                <a:cs typeface="Arial"/>
              </a:rPr>
              <a:t>Có </a:t>
            </a:r>
            <a:r>
              <a:rPr lang="vi-VN" i="1" spc="-7" baseline="13044">
                <a:solidFill>
                  <a:srgbClr val="666666"/>
                </a:solidFill>
                <a:latin typeface="Arial"/>
                <a:cs typeface="Arial"/>
              </a:rPr>
              <a:t>t</a:t>
            </a:r>
            <a:r>
              <a:rPr lang="vi-VN" i="1" baseline="13044">
                <a:solidFill>
                  <a:srgbClr val="666666"/>
                </a:solidFill>
                <a:latin typeface="Arial"/>
                <a:cs typeface="Arial"/>
              </a:rPr>
              <a:t>ồn</a:t>
            </a:r>
            <a:r>
              <a:rPr lang="vi-VN" i="1" spc="-11" baseline="13044">
                <a:solidFill>
                  <a:srgbClr val="666666"/>
                </a:solidFill>
                <a:latin typeface="Arial"/>
                <a:cs typeface="Arial"/>
              </a:rPr>
              <a:t> </a:t>
            </a:r>
            <a:r>
              <a:rPr lang="vi-VN" i="1" baseline="13044">
                <a:solidFill>
                  <a:srgbClr val="666666"/>
                </a:solidFill>
                <a:latin typeface="Arial"/>
                <a:cs typeface="Arial"/>
              </a:rPr>
              <a:t>tại</a:t>
            </a:r>
            <a:r>
              <a:rPr lang="vi-VN" i="1" spc="-7" baseline="13044">
                <a:solidFill>
                  <a:srgbClr val="666666"/>
                </a:solidFill>
                <a:latin typeface="Arial"/>
                <a:cs typeface="Arial"/>
              </a:rPr>
              <a:t> </a:t>
            </a:r>
            <a:r>
              <a:rPr lang="vi-VN" i="1" baseline="13044">
                <a:solidFill>
                  <a:srgbClr val="666666"/>
                </a:solidFill>
                <a:latin typeface="Arial"/>
                <a:cs typeface="Arial"/>
              </a:rPr>
              <a:t>hay</a:t>
            </a:r>
            <a:r>
              <a:rPr lang="vi-VN" i="1" spc="-14" baseline="13044">
                <a:solidFill>
                  <a:srgbClr val="666666"/>
                </a:solidFill>
                <a:latin typeface="Arial"/>
                <a:cs typeface="Arial"/>
              </a:rPr>
              <a:t> </a:t>
            </a:r>
            <a:r>
              <a:rPr lang="vi-VN" i="1" baseline="13044" smtClean="0">
                <a:solidFill>
                  <a:srgbClr val="666666"/>
                </a:solidFill>
                <a:latin typeface="Arial"/>
                <a:cs typeface="Arial"/>
              </a:rPr>
              <a:t>k</a:t>
            </a:r>
            <a:r>
              <a:rPr lang="vi-VN" i="1" spc="3" baseline="13044">
                <a:solidFill>
                  <a:srgbClr val="666666"/>
                </a:solidFill>
                <a:latin typeface="Arial"/>
                <a:cs typeface="Arial"/>
              </a:rPr>
              <a:t>h</a:t>
            </a:r>
            <a:r>
              <a:rPr lang="vi-VN" i="1" baseline="13044" smtClean="0">
                <a:solidFill>
                  <a:srgbClr val="666666"/>
                </a:solidFill>
                <a:latin typeface="Arial"/>
                <a:cs typeface="Arial"/>
              </a:rPr>
              <a:t>ông</a:t>
            </a:r>
            <a:endParaRPr lang="en-US" sz="1350">
              <a:latin typeface="Arial"/>
              <a:cs typeface="Arial"/>
            </a:endParaRPr>
          </a:p>
          <a:p>
            <a:pPr marL="663968" lvl="1">
              <a:spcBef>
                <a:spcPts val="0"/>
              </a:spcBef>
              <a:spcAft>
                <a:spcPts val="0"/>
              </a:spcAft>
            </a:pPr>
            <a:r>
              <a:rPr lang="vi-VN" b="1" baseline="14234" smtClean="0">
                <a:solidFill>
                  <a:srgbClr val="006F1F"/>
                </a:solidFill>
                <a:latin typeface="Consolas"/>
                <a:cs typeface="Consolas"/>
              </a:rPr>
              <a:t>pub</a:t>
            </a:r>
            <a:r>
              <a:rPr lang="vi-VN" b="1" spc="-7" baseline="14234">
                <a:solidFill>
                  <a:srgbClr val="006F1F"/>
                </a:solidFill>
                <a:latin typeface="Consolas"/>
                <a:cs typeface="Consolas"/>
              </a:rPr>
              <a:t>l</a:t>
            </a:r>
            <a:r>
              <a:rPr lang="vi-VN" b="1" baseline="14234" smtClean="0">
                <a:solidFill>
                  <a:srgbClr val="006F1F"/>
                </a:solidFill>
                <a:latin typeface="Consolas"/>
                <a:cs typeface="Consolas"/>
              </a:rPr>
              <a:t>ic</a:t>
            </a:r>
            <a:r>
              <a:rPr lang="vi-VN" b="1" baseline="14234">
                <a:solidFill>
                  <a:srgbClr val="006F1F"/>
                </a:solidFill>
                <a:latin typeface="Consolas"/>
                <a:cs typeface="Consolas"/>
              </a:rPr>
              <a:t>	</a:t>
            </a:r>
            <a:r>
              <a:rPr lang="vi-VN" baseline="14234" smtClean="0">
                <a:solidFill>
                  <a:srgbClr val="901F00"/>
                </a:solidFill>
                <a:latin typeface="Consolas"/>
                <a:cs typeface="Consolas"/>
              </a:rPr>
              <a:t>lo</a:t>
            </a:r>
            <a:r>
              <a:rPr lang="vi-VN" spc="-7" baseline="14234">
                <a:solidFill>
                  <a:srgbClr val="901F00"/>
                </a:solidFill>
                <a:latin typeface="Consolas"/>
                <a:cs typeface="Consolas"/>
              </a:rPr>
              <a:t>n</a:t>
            </a:r>
            <a:r>
              <a:rPr lang="vi-VN" baseline="14234" smtClean="0">
                <a:solidFill>
                  <a:srgbClr val="901F00"/>
                </a:solidFill>
                <a:latin typeface="Consolas"/>
                <a:cs typeface="Consolas"/>
              </a:rPr>
              <a:t>g</a:t>
            </a:r>
            <a:r>
              <a:rPr lang="en-US" smtClean="0">
                <a:solidFill>
                  <a:srgbClr val="901F00"/>
                </a:solidFill>
                <a:latin typeface="Consolas"/>
                <a:cs typeface="Consolas"/>
              </a:rPr>
              <a:t> </a:t>
            </a:r>
            <a:r>
              <a:rPr lang="vi-VN" baseline="14234" smtClean="0">
                <a:solidFill>
                  <a:srgbClr val="05287D"/>
                </a:solidFill>
                <a:latin typeface="Consolas"/>
                <a:cs typeface="Consolas"/>
              </a:rPr>
              <a:t>le</a:t>
            </a:r>
            <a:r>
              <a:rPr lang="vi-VN" spc="-7" baseline="14234">
                <a:solidFill>
                  <a:srgbClr val="05287D"/>
                </a:solidFill>
                <a:latin typeface="Consolas"/>
                <a:cs typeface="Consolas"/>
              </a:rPr>
              <a:t>n</a:t>
            </a:r>
            <a:r>
              <a:rPr lang="vi-VN" baseline="14234" smtClean="0">
                <a:solidFill>
                  <a:srgbClr val="05287D"/>
                </a:solidFill>
                <a:latin typeface="Consolas"/>
                <a:cs typeface="Consolas"/>
              </a:rPr>
              <a:t>gt</a:t>
            </a:r>
            <a:r>
              <a:rPr lang="vi-VN" spc="-3" baseline="14234">
                <a:solidFill>
                  <a:srgbClr val="05287D"/>
                </a:solidFill>
                <a:latin typeface="Consolas"/>
                <a:cs typeface="Consolas"/>
              </a:rPr>
              <a:t>h</a:t>
            </a:r>
            <a:r>
              <a:rPr lang="vi-VN" baseline="14234" smtClean="0">
                <a:solidFill>
                  <a:srgbClr val="666666"/>
                </a:solidFill>
                <a:latin typeface="Consolas"/>
                <a:cs typeface="Consolas"/>
              </a:rPr>
              <a:t>();</a:t>
            </a:r>
            <a:r>
              <a:rPr lang="en-US" baseline="14234" smtClean="0">
                <a:solidFill>
                  <a:srgbClr val="666666"/>
                </a:solidFill>
                <a:latin typeface="Consolas"/>
                <a:cs typeface="Consolas"/>
              </a:rPr>
              <a:t> </a:t>
            </a:r>
            <a:r>
              <a:rPr lang="vi-VN" i="1" baseline="14493" smtClean="0">
                <a:solidFill>
                  <a:srgbClr val="666666"/>
                </a:solidFill>
                <a:latin typeface="Arial"/>
                <a:cs typeface="Arial"/>
              </a:rPr>
              <a:t>//</a:t>
            </a:r>
            <a:r>
              <a:rPr lang="vi-VN" i="1" spc="-22" baseline="14493">
                <a:solidFill>
                  <a:srgbClr val="666666"/>
                </a:solidFill>
                <a:latin typeface="Arial"/>
                <a:cs typeface="Arial"/>
              </a:rPr>
              <a:t> </a:t>
            </a:r>
            <a:r>
              <a:rPr lang="vi-VN" i="1" spc="-3" baseline="14493">
                <a:solidFill>
                  <a:srgbClr val="666666"/>
                </a:solidFill>
                <a:latin typeface="Arial"/>
                <a:cs typeface="Arial"/>
              </a:rPr>
              <a:t>K</a:t>
            </a:r>
            <a:r>
              <a:rPr lang="vi-VN" i="1" baseline="14493">
                <a:solidFill>
                  <a:srgbClr val="666666"/>
                </a:solidFill>
                <a:latin typeface="Arial"/>
                <a:cs typeface="Arial"/>
              </a:rPr>
              <a:t>ích thước</a:t>
            </a:r>
            <a:r>
              <a:rPr lang="vi-VN" i="1" spc="-22" baseline="14493">
                <a:solidFill>
                  <a:srgbClr val="666666"/>
                </a:solidFill>
                <a:latin typeface="Arial"/>
                <a:cs typeface="Arial"/>
              </a:rPr>
              <a:t> </a:t>
            </a:r>
            <a:r>
              <a:rPr lang="vi-VN" i="1" baseline="14493" smtClean="0">
                <a:solidFill>
                  <a:srgbClr val="666666"/>
                </a:solidFill>
                <a:latin typeface="Arial"/>
                <a:cs typeface="Arial"/>
              </a:rPr>
              <a:t>f</a:t>
            </a:r>
            <a:r>
              <a:rPr lang="vi-VN" i="1" spc="-7" baseline="14493">
                <a:solidFill>
                  <a:srgbClr val="666666"/>
                </a:solidFill>
                <a:latin typeface="Arial"/>
                <a:cs typeface="Arial"/>
              </a:rPr>
              <a:t>i</a:t>
            </a:r>
            <a:r>
              <a:rPr lang="vi-VN" i="1" baseline="14493" smtClean="0">
                <a:solidFill>
                  <a:srgbClr val="666666"/>
                </a:solidFill>
                <a:latin typeface="Arial"/>
                <a:cs typeface="Arial"/>
              </a:rPr>
              <a:t>le</a:t>
            </a:r>
            <a:endParaRPr lang="en-US" sz="1500">
              <a:latin typeface="Arial"/>
              <a:cs typeface="Arial"/>
            </a:endParaRPr>
          </a:p>
          <a:p>
            <a:pPr marL="663968" lvl="1">
              <a:spcBef>
                <a:spcPts val="0"/>
              </a:spcBef>
              <a:spcAft>
                <a:spcPts val="0"/>
              </a:spcAft>
            </a:pPr>
            <a:r>
              <a:rPr lang="vi-VN" b="1" baseline="14234" smtClean="0">
                <a:solidFill>
                  <a:srgbClr val="006F1F"/>
                </a:solidFill>
                <a:latin typeface="Consolas"/>
                <a:cs typeface="Consolas"/>
              </a:rPr>
              <a:t>public</a:t>
            </a:r>
            <a:r>
              <a:rPr lang="vi-VN" b="1" spc="-11" baseline="14234">
                <a:solidFill>
                  <a:srgbClr val="006F1F"/>
                </a:solidFill>
                <a:latin typeface="Consolas"/>
                <a:cs typeface="Consolas"/>
              </a:rPr>
              <a:t> </a:t>
            </a:r>
            <a:r>
              <a:rPr lang="vi-VN" baseline="14234" smtClean="0">
                <a:solidFill>
                  <a:srgbClr val="901F00"/>
                </a:solidFill>
                <a:latin typeface="Consolas"/>
                <a:cs typeface="Consolas"/>
              </a:rPr>
              <a:t>boolean</a:t>
            </a:r>
            <a:r>
              <a:rPr lang="vi-VN" spc="-19" baseline="14234">
                <a:solidFill>
                  <a:srgbClr val="901F00"/>
                </a:solidFill>
                <a:latin typeface="Consolas"/>
                <a:cs typeface="Consolas"/>
              </a:rPr>
              <a:t> </a:t>
            </a:r>
            <a:r>
              <a:rPr lang="vi-VN" baseline="14234" smtClean="0">
                <a:solidFill>
                  <a:srgbClr val="05287D"/>
                </a:solidFill>
                <a:latin typeface="Consolas"/>
                <a:cs typeface="Consolas"/>
              </a:rPr>
              <a:t>isDirector</a:t>
            </a:r>
            <a:r>
              <a:rPr lang="vi-VN" spc="-3" baseline="14234">
                <a:solidFill>
                  <a:srgbClr val="05287D"/>
                </a:solidFill>
                <a:latin typeface="Consolas"/>
                <a:cs typeface="Consolas"/>
              </a:rPr>
              <a:t>y</a:t>
            </a:r>
            <a:r>
              <a:rPr lang="vi-VN" spc="3" baseline="14234">
                <a:solidFill>
                  <a:srgbClr val="666666"/>
                </a:solidFill>
                <a:latin typeface="Consolas"/>
                <a:cs typeface="Consolas"/>
              </a:rPr>
              <a:t>()</a:t>
            </a:r>
            <a:r>
              <a:rPr lang="vi-VN" baseline="14234" smtClean="0">
                <a:solidFill>
                  <a:srgbClr val="666666"/>
                </a:solidFill>
                <a:latin typeface="Consolas"/>
                <a:cs typeface="Consolas"/>
              </a:rPr>
              <a:t>;</a:t>
            </a:r>
            <a:r>
              <a:rPr lang="en-US" baseline="14234" smtClean="0">
                <a:solidFill>
                  <a:srgbClr val="666666"/>
                </a:solidFill>
                <a:latin typeface="Consolas"/>
                <a:cs typeface="Consolas"/>
              </a:rPr>
              <a:t> </a:t>
            </a:r>
            <a:r>
              <a:rPr lang="vi-VN" i="1" baseline="14493" smtClean="0">
                <a:solidFill>
                  <a:srgbClr val="666666"/>
                </a:solidFill>
                <a:latin typeface="Arial"/>
                <a:cs typeface="Arial"/>
              </a:rPr>
              <a:t>//</a:t>
            </a:r>
            <a:r>
              <a:rPr lang="vi-VN" i="1" spc="-18" baseline="14493">
                <a:solidFill>
                  <a:srgbClr val="666666"/>
                </a:solidFill>
                <a:latin typeface="Arial"/>
                <a:cs typeface="Arial"/>
              </a:rPr>
              <a:t> </a:t>
            </a:r>
            <a:r>
              <a:rPr lang="vi-VN" i="1" baseline="14493" smtClean="0">
                <a:solidFill>
                  <a:srgbClr val="666666"/>
                </a:solidFill>
                <a:latin typeface="Arial"/>
                <a:cs typeface="Arial"/>
              </a:rPr>
              <a:t>Là </a:t>
            </a:r>
            <a:r>
              <a:rPr lang="vi-VN" i="1" spc="-3" baseline="14493">
                <a:solidFill>
                  <a:srgbClr val="666666"/>
                </a:solidFill>
                <a:latin typeface="Arial"/>
                <a:cs typeface="Arial"/>
              </a:rPr>
              <a:t>t</a:t>
            </a:r>
            <a:r>
              <a:rPr lang="vi-VN" i="1" baseline="14493" smtClean="0">
                <a:solidFill>
                  <a:srgbClr val="666666"/>
                </a:solidFill>
                <a:latin typeface="Arial"/>
                <a:cs typeface="Arial"/>
              </a:rPr>
              <a:t>hư</a:t>
            </a:r>
            <a:r>
              <a:rPr lang="vi-VN" i="1" spc="-18" baseline="14493">
                <a:solidFill>
                  <a:srgbClr val="666666"/>
                </a:solidFill>
                <a:latin typeface="Arial"/>
                <a:cs typeface="Arial"/>
              </a:rPr>
              <a:t> </a:t>
            </a:r>
            <a:r>
              <a:rPr lang="vi-VN" i="1" spc="-11" baseline="14493">
                <a:solidFill>
                  <a:srgbClr val="666666"/>
                </a:solidFill>
                <a:latin typeface="Arial"/>
                <a:cs typeface="Arial"/>
              </a:rPr>
              <a:t>m</a:t>
            </a:r>
            <a:r>
              <a:rPr lang="vi-VN" i="1" baseline="14493" smtClean="0">
                <a:solidFill>
                  <a:srgbClr val="666666"/>
                </a:solidFill>
                <a:latin typeface="Arial"/>
                <a:cs typeface="Arial"/>
              </a:rPr>
              <a:t>ụ</a:t>
            </a:r>
            <a:r>
              <a:rPr lang="vi-VN" i="1" spc="3" baseline="14493">
                <a:solidFill>
                  <a:srgbClr val="666666"/>
                </a:solidFill>
                <a:latin typeface="Arial"/>
                <a:cs typeface="Arial"/>
              </a:rPr>
              <a:t>c</a:t>
            </a:r>
            <a:r>
              <a:rPr lang="vi-VN" i="1" baseline="14493" smtClean="0">
                <a:solidFill>
                  <a:srgbClr val="666666"/>
                </a:solidFill>
                <a:latin typeface="Arial"/>
                <a:cs typeface="Arial"/>
              </a:rPr>
              <a:t>?</a:t>
            </a:r>
            <a:endParaRPr lang="en-US" sz="1500">
              <a:latin typeface="Arial"/>
              <a:cs typeface="Arial"/>
            </a:endParaRPr>
          </a:p>
          <a:p>
            <a:pPr marL="663968" lvl="1">
              <a:spcBef>
                <a:spcPts val="0"/>
              </a:spcBef>
              <a:spcAft>
                <a:spcPts val="0"/>
              </a:spcAft>
            </a:pPr>
            <a:r>
              <a:rPr lang="vi-VN" b="1" baseline="14234" smtClean="0">
                <a:solidFill>
                  <a:srgbClr val="006F1F"/>
                </a:solidFill>
                <a:latin typeface="Consolas"/>
                <a:cs typeface="Consolas"/>
              </a:rPr>
              <a:t>public</a:t>
            </a:r>
            <a:r>
              <a:rPr lang="vi-VN" b="1" baseline="14234">
                <a:solidFill>
                  <a:srgbClr val="006F1F"/>
                </a:solidFill>
                <a:latin typeface="Consolas"/>
                <a:cs typeface="Consolas"/>
              </a:rPr>
              <a:t>	</a:t>
            </a:r>
            <a:r>
              <a:rPr lang="vi-VN" baseline="14234">
                <a:solidFill>
                  <a:srgbClr val="901F00"/>
                </a:solidFill>
                <a:latin typeface="Consolas"/>
                <a:cs typeface="Consolas"/>
              </a:rPr>
              <a:t>bo</a:t>
            </a:r>
            <a:r>
              <a:rPr lang="vi-VN" spc="-3" baseline="14234">
                <a:solidFill>
                  <a:srgbClr val="901F00"/>
                </a:solidFill>
                <a:latin typeface="Consolas"/>
                <a:cs typeface="Consolas"/>
              </a:rPr>
              <a:t>o</a:t>
            </a:r>
            <a:r>
              <a:rPr lang="vi-VN" spc="-7" baseline="14234">
                <a:solidFill>
                  <a:srgbClr val="901F00"/>
                </a:solidFill>
                <a:latin typeface="Consolas"/>
                <a:cs typeface="Consolas"/>
              </a:rPr>
              <a:t>l</a:t>
            </a:r>
            <a:r>
              <a:rPr lang="vi-VN" baseline="14234">
                <a:solidFill>
                  <a:srgbClr val="901F00"/>
                </a:solidFill>
                <a:latin typeface="Consolas"/>
                <a:cs typeface="Consolas"/>
              </a:rPr>
              <a:t>ean	</a:t>
            </a:r>
            <a:r>
              <a:rPr lang="en-US" baseline="14234" smtClean="0">
                <a:solidFill>
                  <a:srgbClr val="901F00"/>
                </a:solidFill>
                <a:latin typeface="Consolas"/>
                <a:cs typeface="Consolas"/>
              </a:rPr>
              <a:t> </a:t>
            </a:r>
            <a:r>
              <a:rPr lang="vi-VN" baseline="14234" smtClean="0">
                <a:solidFill>
                  <a:srgbClr val="05287D"/>
                </a:solidFill>
                <a:latin typeface="Consolas"/>
                <a:cs typeface="Consolas"/>
              </a:rPr>
              <a:t>is</a:t>
            </a:r>
            <a:r>
              <a:rPr lang="vi-VN" spc="-3" baseline="14234">
                <a:solidFill>
                  <a:srgbClr val="05287D"/>
                </a:solidFill>
                <a:latin typeface="Consolas"/>
                <a:cs typeface="Consolas"/>
              </a:rPr>
              <a:t>F</a:t>
            </a:r>
            <a:r>
              <a:rPr lang="vi-VN" baseline="14234" smtClean="0">
                <a:solidFill>
                  <a:srgbClr val="05287D"/>
                </a:solidFill>
                <a:latin typeface="Consolas"/>
                <a:cs typeface="Consolas"/>
              </a:rPr>
              <a:t>il</a:t>
            </a:r>
            <a:r>
              <a:rPr lang="vi-VN" spc="-3" baseline="14234">
                <a:solidFill>
                  <a:srgbClr val="05287D"/>
                </a:solidFill>
                <a:latin typeface="Consolas"/>
                <a:cs typeface="Consolas"/>
              </a:rPr>
              <a:t>e</a:t>
            </a:r>
            <a:r>
              <a:rPr lang="vi-VN" spc="-7" baseline="14234">
                <a:solidFill>
                  <a:srgbClr val="666666"/>
                </a:solidFill>
                <a:latin typeface="Consolas"/>
                <a:cs typeface="Consolas"/>
              </a:rPr>
              <a:t>(</a:t>
            </a:r>
            <a:r>
              <a:rPr lang="vi-VN" baseline="14234" smtClean="0">
                <a:solidFill>
                  <a:srgbClr val="666666"/>
                </a:solidFill>
                <a:latin typeface="Consolas"/>
                <a:cs typeface="Consolas"/>
              </a:rPr>
              <a:t>);</a:t>
            </a:r>
            <a:r>
              <a:rPr lang="en-US" baseline="14234" smtClean="0">
                <a:solidFill>
                  <a:srgbClr val="666666"/>
                </a:solidFill>
                <a:latin typeface="Consolas"/>
                <a:cs typeface="Consolas"/>
              </a:rPr>
              <a:t> </a:t>
            </a:r>
            <a:r>
              <a:rPr lang="vi-VN" i="1" baseline="14493">
                <a:solidFill>
                  <a:srgbClr val="666666"/>
                </a:solidFill>
                <a:latin typeface="Arial"/>
                <a:cs typeface="Arial"/>
              </a:rPr>
              <a:t>//</a:t>
            </a:r>
            <a:r>
              <a:rPr lang="vi-VN" i="1" spc="-22" baseline="14493">
                <a:solidFill>
                  <a:srgbClr val="666666"/>
                </a:solidFill>
                <a:latin typeface="Arial"/>
                <a:cs typeface="Arial"/>
              </a:rPr>
              <a:t> </a:t>
            </a:r>
            <a:r>
              <a:rPr lang="vi-VN" i="1" spc="-18" baseline="14493">
                <a:solidFill>
                  <a:srgbClr val="666666"/>
                </a:solidFill>
                <a:latin typeface="Arial"/>
                <a:cs typeface="Arial"/>
              </a:rPr>
              <a:t> </a:t>
            </a:r>
            <a:r>
              <a:rPr lang="vi-VN" i="1" baseline="14493" smtClean="0">
                <a:solidFill>
                  <a:srgbClr val="666666"/>
                </a:solidFill>
                <a:latin typeface="Arial"/>
                <a:cs typeface="Arial"/>
              </a:rPr>
              <a:t>Là </a:t>
            </a:r>
            <a:r>
              <a:rPr lang="vi-VN" i="1" spc="-3" baseline="14493">
                <a:solidFill>
                  <a:srgbClr val="666666"/>
                </a:solidFill>
                <a:latin typeface="Arial"/>
                <a:cs typeface="Arial"/>
              </a:rPr>
              <a:t>t</a:t>
            </a:r>
            <a:r>
              <a:rPr lang="vi-VN" i="1" baseline="14493">
                <a:solidFill>
                  <a:srgbClr val="666666"/>
                </a:solidFill>
                <a:latin typeface="Arial"/>
                <a:cs typeface="Arial"/>
              </a:rPr>
              <a:t>ập</a:t>
            </a:r>
            <a:r>
              <a:rPr lang="vi-VN" i="1" spc="-11" baseline="14493">
                <a:solidFill>
                  <a:srgbClr val="666666"/>
                </a:solidFill>
                <a:latin typeface="Arial"/>
                <a:cs typeface="Arial"/>
              </a:rPr>
              <a:t> </a:t>
            </a:r>
            <a:r>
              <a:rPr lang="vi-VN" i="1" baseline="14493" smtClean="0">
                <a:solidFill>
                  <a:srgbClr val="666666"/>
                </a:solidFill>
                <a:latin typeface="Arial"/>
                <a:cs typeface="Arial"/>
              </a:rPr>
              <a:t>tin?</a:t>
            </a:r>
            <a:endParaRPr lang="en-US" sz="1500">
              <a:latin typeface="Arial"/>
              <a:cs typeface="Arial"/>
            </a:endParaRPr>
          </a:p>
          <a:p>
            <a:pPr marL="663968" lvl="1">
              <a:spcBef>
                <a:spcPts val="0"/>
              </a:spcBef>
              <a:spcAft>
                <a:spcPts val="0"/>
              </a:spcAft>
            </a:pPr>
            <a:r>
              <a:rPr lang="vi-VN" b="1" baseline="14234" smtClean="0">
                <a:solidFill>
                  <a:srgbClr val="006F1F"/>
                </a:solidFill>
                <a:latin typeface="Consolas"/>
                <a:cs typeface="Consolas"/>
              </a:rPr>
              <a:t>public</a:t>
            </a:r>
            <a:r>
              <a:rPr lang="vi-VN" b="1" baseline="14234">
                <a:solidFill>
                  <a:srgbClr val="006F1F"/>
                </a:solidFill>
                <a:latin typeface="Consolas"/>
                <a:cs typeface="Consolas"/>
              </a:rPr>
              <a:t>	</a:t>
            </a:r>
            <a:r>
              <a:rPr lang="vi-VN" baseline="14234" smtClean="0">
                <a:solidFill>
                  <a:srgbClr val="901F00"/>
                </a:solidFill>
                <a:latin typeface="Consolas"/>
                <a:cs typeface="Consolas"/>
              </a:rPr>
              <a:t>bo</a:t>
            </a:r>
            <a:r>
              <a:rPr lang="vi-VN" spc="-3" baseline="14234">
                <a:solidFill>
                  <a:srgbClr val="901F00"/>
                </a:solidFill>
                <a:latin typeface="Consolas"/>
                <a:cs typeface="Consolas"/>
              </a:rPr>
              <a:t>o</a:t>
            </a:r>
            <a:r>
              <a:rPr lang="vi-VN" spc="-7" baseline="14234">
                <a:solidFill>
                  <a:srgbClr val="901F00"/>
                </a:solidFill>
                <a:latin typeface="Consolas"/>
                <a:cs typeface="Consolas"/>
              </a:rPr>
              <a:t>l</a:t>
            </a:r>
            <a:r>
              <a:rPr lang="vi-VN" baseline="14234" smtClean="0">
                <a:solidFill>
                  <a:srgbClr val="901F00"/>
                </a:solidFill>
                <a:latin typeface="Consolas"/>
                <a:cs typeface="Consolas"/>
              </a:rPr>
              <a:t>ean</a:t>
            </a:r>
            <a:r>
              <a:rPr lang="vi-VN" baseline="14234">
                <a:solidFill>
                  <a:srgbClr val="901F00"/>
                </a:solidFill>
                <a:latin typeface="Consolas"/>
                <a:cs typeface="Consolas"/>
              </a:rPr>
              <a:t>	</a:t>
            </a:r>
            <a:r>
              <a:rPr lang="en-US" baseline="14234" smtClean="0">
                <a:solidFill>
                  <a:srgbClr val="901F00"/>
                </a:solidFill>
                <a:latin typeface="Consolas"/>
                <a:cs typeface="Consolas"/>
              </a:rPr>
              <a:t> </a:t>
            </a:r>
            <a:r>
              <a:rPr lang="vi-VN" baseline="14234" smtClean="0">
                <a:solidFill>
                  <a:srgbClr val="05287D"/>
                </a:solidFill>
                <a:latin typeface="Consolas"/>
                <a:cs typeface="Consolas"/>
              </a:rPr>
              <a:t>ca</a:t>
            </a:r>
            <a:r>
              <a:rPr lang="vi-VN" spc="-3" baseline="14234">
                <a:solidFill>
                  <a:srgbClr val="05287D"/>
                </a:solidFill>
                <a:latin typeface="Consolas"/>
                <a:cs typeface="Consolas"/>
              </a:rPr>
              <a:t>n</a:t>
            </a:r>
            <a:r>
              <a:rPr lang="vi-VN" baseline="14234" smtClean="0">
                <a:solidFill>
                  <a:srgbClr val="05287D"/>
                </a:solidFill>
                <a:latin typeface="Consolas"/>
                <a:cs typeface="Consolas"/>
              </a:rPr>
              <a:t>Re</a:t>
            </a:r>
            <a:r>
              <a:rPr lang="vi-VN" spc="-3" baseline="14234">
                <a:solidFill>
                  <a:srgbClr val="05287D"/>
                </a:solidFill>
                <a:latin typeface="Consolas"/>
                <a:cs typeface="Consolas"/>
              </a:rPr>
              <a:t>a</a:t>
            </a:r>
            <a:r>
              <a:rPr lang="vi-VN" spc="-7" baseline="14234">
                <a:solidFill>
                  <a:srgbClr val="05287D"/>
                </a:solidFill>
                <a:latin typeface="Consolas"/>
                <a:cs typeface="Consolas"/>
              </a:rPr>
              <a:t>d</a:t>
            </a:r>
            <a:r>
              <a:rPr lang="vi-VN" baseline="14234" smtClean="0">
                <a:solidFill>
                  <a:srgbClr val="666666"/>
                </a:solidFill>
                <a:latin typeface="Consolas"/>
                <a:cs typeface="Consolas"/>
              </a:rPr>
              <a:t>(</a:t>
            </a:r>
            <a:r>
              <a:rPr lang="vi-VN" spc="3" baseline="14234">
                <a:solidFill>
                  <a:srgbClr val="666666"/>
                </a:solidFill>
                <a:latin typeface="Consolas"/>
                <a:cs typeface="Consolas"/>
              </a:rPr>
              <a:t>)</a:t>
            </a:r>
            <a:r>
              <a:rPr lang="vi-VN" baseline="14234" smtClean="0">
                <a:latin typeface="Consolas"/>
                <a:cs typeface="Consolas"/>
              </a:rPr>
              <a:t>;</a:t>
            </a:r>
            <a:r>
              <a:rPr lang="en-US" baseline="14234" smtClean="0">
                <a:latin typeface="Consolas"/>
                <a:cs typeface="Consolas"/>
              </a:rPr>
              <a:t> </a:t>
            </a:r>
            <a:r>
              <a:rPr lang="vi-VN" i="1" baseline="14493" smtClean="0">
                <a:solidFill>
                  <a:srgbClr val="666666"/>
                </a:solidFill>
                <a:latin typeface="Arial"/>
                <a:cs typeface="Arial"/>
              </a:rPr>
              <a:t>//</a:t>
            </a:r>
            <a:r>
              <a:rPr lang="vi-VN" i="1" spc="-18" baseline="14493">
                <a:solidFill>
                  <a:srgbClr val="666666"/>
                </a:solidFill>
                <a:latin typeface="Arial"/>
                <a:cs typeface="Arial"/>
              </a:rPr>
              <a:t> </a:t>
            </a:r>
            <a:r>
              <a:rPr lang="vi-VN" i="1" baseline="14493">
                <a:solidFill>
                  <a:srgbClr val="666666"/>
                </a:solidFill>
                <a:latin typeface="Arial"/>
                <a:cs typeface="Arial"/>
              </a:rPr>
              <a:t>Có </a:t>
            </a:r>
            <a:r>
              <a:rPr lang="vi-VN" i="1" spc="-7" baseline="14493">
                <a:solidFill>
                  <a:srgbClr val="666666"/>
                </a:solidFill>
                <a:latin typeface="Arial"/>
                <a:cs typeface="Arial"/>
              </a:rPr>
              <a:t>t</a:t>
            </a:r>
            <a:r>
              <a:rPr lang="vi-VN" i="1" baseline="14493">
                <a:solidFill>
                  <a:srgbClr val="666666"/>
                </a:solidFill>
                <a:latin typeface="Arial"/>
                <a:cs typeface="Arial"/>
              </a:rPr>
              <a:t>hể</a:t>
            </a:r>
            <a:r>
              <a:rPr lang="vi-VN" i="1" spc="-11" baseline="14493">
                <a:solidFill>
                  <a:srgbClr val="666666"/>
                </a:solidFill>
                <a:latin typeface="Arial"/>
                <a:cs typeface="Arial"/>
              </a:rPr>
              <a:t> </a:t>
            </a:r>
            <a:r>
              <a:rPr lang="vi-VN" i="1" baseline="14493" smtClean="0">
                <a:solidFill>
                  <a:srgbClr val="666666"/>
                </a:solidFill>
                <a:latin typeface="Arial"/>
                <a:cs typeface="Arial"/>
              </a:rPr>
              <a:t>đọ</a:t>
            </a:r>
            <a:r>
              <a:rPr lang="vi-VN" i="1" spc="7" baseline="14493">
                <a:solidFill>
                  <a:srgbClr val="666666"/>
                </a:solidFill>
                <a:latin typeface="Arial"/>
                <a:cs typeface="Arial"/>
              </a:rPr>
              <a:t>c</a:t>
            </a:r>
            <a:r>
              <a:rPr lang="vi-VN" i="1" baseline="14493" smtClean="0">
                <a:solidFill>
                  <a:srgbClr val="666666"/>
                </a:solidFill>
                <a:latin typeface="Arial"/>
                <a:cs typeface="Arial"/>
              </a:rPr>
              <a:t>?</a:t>
            </a:r>
            <a:endParaRPr lang="en-US" sz="1500">
              <a:latin typeface="Arial"/>
              <a:cs typeface="Arial"/>
            </a:endParaRPr>
          </a:p>
          <a:p>
            <a:pPr marL="663968" lvl="1">
              <a:spcBef>
                <a:spcPts val="0"/>
              </a:spcBef>
              <a:spcAft>
                <a:spcPts val="0"/>
              </a:spcAft>
            </a:pPr>
            <a:r>
              <a:rPr lang="vi-VN" b="1" baseline="14234" smtClean="0">
                <a:solidFill>
                  <a:srgbClr val="006F1F"/>
                </a:solidFill>
                <a:latin typeface="Consolas"/>
                <a:cs typeface="Consolas"/>
              </a:rPr>
              <a:t>public</a:t>
            </a:r>
            <a:r>
              <a:rPr lang="vi-VN" b="1" baseline="14234">
                <a:solidFill>
                  <a:srgbClr val="006F1F"/>
                </a:solidFill>
                <a:latin typeface="Consolas"/>
                <a:cs typeface="Consolas"/>
              </a:rPr>
              <a:t>	</a:t>
            </a:r>
            <a:r>
              <a:rPr lang="vi-VN" baseline="14234">
                <a:solidFill>
                  <a:srgbClr val="901F00"/>
                </a:solidFill>
                <a:latin typeface="Consolas"/>
                <a:cs typeface="Consolas"/>
              </a:rPr>
              <a:t>bo</a:t>
            </a:r>
            <a:r>
              <a:rPr lang="vi-VN" spc="-3" baseline="14234">
                <a:solidFill>
                  <a:srgbClr val="901F00"/>
                </a:solidFill>
                <a:latin typeface="Consolas"/>
                <a:cs typeface="Consolas"/>
              </a:rPr>
              <a:t>o</a:t>
            </a:r>
            <a:r>
              <a:rPr lang="vi-VN" spc="-7" baseline="14234">
                <a:solidFill>
                  <a:srgbClr val="901F00"/>
                </a:solidFill>
                <a:latin typeface="Consolas"/>
                <a:cs typeface="Consolas"/>
              </a:rPr>
              <a:t>l</a:t>
            </a:r>
            <a:r>
              <a:rPr lang="vi-VN" baseline="14234">
                <a:solidFill>
                  <a:srgbClr val="901F00"/>
                </a:solidFill>
                <a:latin typeface="Consolas"/>
                <a:cs typeface="Consolas"/>
              </a:rPr>
              <a:t>ean	</a:t>
            </a:r>
            <a:r>
              <a:rPr lang="en-US" baseline="14234" smtClean="0">
                <a:solidFill>
                  <a:srgbClr val="901F00"/>
                </a:solidFill>
                <a:latin typeface="Consolas"/>
                <a:cs typeface="Consolas"/>
              </a:rPr>
              <a:t> </a:t>
            </a:r>
            <a:r>
              <a:rPr lang="vi-VN" baseline="14234" smtClean="0">
                <a:solidFill>
                  <a:srgbClr val="05287D"/>
                </a:solidFill>
                <a:latin typeface="Consolas"/>
                <a:cs typeface="Consolas"/>
              </a:rPr>
              <a:t>ca</a:t>
            </a:r>
            <a:r>
              <a:rPr lang="vi-VN" spc="-3" baseline="14234">
                <a:solidFill>
                  <a:srgbClr val="05287D"/>
                </a:solidFill>
                <a:latin typeface="Consolas"/>
                <a:cs typeface="Consolas"/>
              </a:rPr>
              <a:t>n</a:t>
            </a:r>
            <a:r>
              <a:rPr lang="vi-VN" baseline="14234" smtClean="0">
                <a:solidFill>
                  <a:srgbClr val="05287D"/>
                </a:solidFill>
                <a:latin typeface="Consolas"/>
                <a:cs typeface="Consolas"/>
              </a:rPr>
              <a:t>Wr</a:t>
            </a:r>
            <a:r>
              <a:rPr lang="vi-VN" spc="-3" baseline="14234">
                <a:solidFill>
                  <a:srgbClr val="05287D"/>
                </a:solidFill>
                <a:latin typeface="Consolas"/>
                <a:cs typeface="Consolas"/>
              </a:rPr>
              <a:t>i</a:t>
            </a:r>
            <a:r>
              <a:rPr lang="vi-VN" spc="-7" baseline="14234">
                <a:solidFill>
                  <a:srgbClr val="05287D"/>
                </a:solidFill>
                <a:latin typeface="Consolas"/>
                <a:cs typeface="Consolas"/>
              </a:rPr>
              <a:t>t</a:t>
            </a:r>
            <a:r>
              <a:rPr lang="vi-VN" baseline="14234" smtClean="0">
                <a:solidFill>
                  <a:srgbClr val="05287D"/>
                </a:solidFill>
                <a:latin typeface="Consolas"/>
                <a:cs typeface="Consolas"/>
              </a:rPr>
              <a:t>e</a:t>
            </a:r>
            <a:r>
              <a:rPr lang="vi-VN" baseline="14234" smtClean="0">
                <a:solidFill>
                  <a:srgbClr val="666666"/>
                </a:solidFill>
                <a:latin typeface="Consolas"/>
                <a:cs typeface="Consolas"/>
              </a:rPr>
              <a:t>();</a:t>
            </a:r>
            <a:r>
              <a:rPr lang="en-US" smtClean="0">
                <a:solidFill>
                  <a:srgbClr val="666666"/>
                </a:solidFill>
                <a:latin typeface="Consolas"/>
                <a:cs typeface="Consolas"/>
              </a:rPr>
              <a:t> </a:t>
            </a:r>
            <a:r>
              <a:rPr lang="vi-VN" i="1" baseline="14493" smtClean="0">
                <a:solidFill>
                  <a:srgbClr val="666666"/>
                </a:solidFill>
                <a:latin typeface="Arial"/>
                <a:cs typeface="Arial"/>
              </a:rPr>
              <a:t>//</a:t>
            </a:r>
            <a:r>
              <a:rPr lang="vi-VN" i="1" spc="-18" baseline="14493">
                <a:solidFill>
                  <a:srgbClr val="666666"/>
                </a:solidFill>
                <a:latin typeface="Arial"/>
                <a:cs typeface="Arial"/>
              </a:rPr>
              <a:t> </a:t>
            </a:r>
            <a:r>
              <a:rPr lang="vi-VN" i="1" baseline="14493">
                <a:solidFill>
                  <a:srgbClr val="666666"/>
                </a:solidFill>
                <a:latin typeface="Arial"/>
                <a:cs typeface="Arial"/>
              </a:rPr>
              <a:t>Có </a:t>
            </a:r>
            <a:r>
              <a:rPr lang="vi-VN" i="1" spc="-7" baseline="14493">
                <a:solidFill>
                  <a:srgbClr val="666666"/>
                </a:solidFill>
                <a:latin typeface="Arial"/>
                <a:cs typeface="Arial"/>
              </a:rPr>
              <a:t>t</a:t>
            </a:r>
            <a:r>
              <a:rPr lang="vi-VN" i="1" baseline="14493">
                <a:solidFill>
                  <a:srgbClr val="666666"/>
                </a:solidFill>
                <a:latin typeface="Arial"/>
                <a:cs typeface="Arial"/>
              </a:rPr>
              <a:t>hể</a:t>
            </a:r>
            <a:r>
              <a:rPr lang="vi-VN" i="1" spc="-11" baseline="14493">
                <a:solidFill>
                  <a:srgbClr val="666666"/>
                </a:solidFill>
                <a:latin typeface="Arial"/>
                <a:cs typeface="Arial"/>
              </a:rPr>
              <a:t> </a:t>
            </a:r>
            <a:r>
              <a:rPr lang="vi-VN" i="1" baseline="14493" smtClean="0">
                <a:solidFill>
                  <a:srgbClr val="666666"/>
                </a:solidFill>
                <a:latin typeface="Arial"/>
                <a:cs typeface="Arial"/>
              </a:rPr>
              <a:t>ghi?</a:t>
            </a:r>
            <a:endParaRPr lang="en-US" sz="1500">
              <a:latin typeface="Arial"/>
              <a:cs typeface="Arial"/>
            </a:endParaRPr>
          </a:p>
          <a:p>
            <a:pPr marL="663968" lvl="1">
              <a:spcBef>
                <a:spcPts val="0"/>
              </a:spcBef>
              <a:spcAft>
                <a:spcPts val="0"/>
              </a:spcAft>
            </a:pPr>
            <a:r>
              <a:rPr lang="vi-VN" b="1" baseline="14234" smtClean="0">
                <a:solidFill>
                  <a:srgbClr val="006F1F"/>
                </a:solidFill>
                <a:latin typeface="Consolas"/>
                <a:cs typeface="Consolas"/>
              </a:rPr>
              <a:t>public</a:t>
            </a:r>
            <a:r>
              <a:rPr lang="vi-VN" b="1" baseline="14234">
                <a:solidFill>
                  <a:srgbClr val="006F1F"/>
                </a:solidFill>
                <a:latin typeface="Consolas"/>
                <a:cs typeface="Consolas"/>
              </a:rPr>
              <a:t>	</a:t>
            </a:r>
            <a:r>
              <a:rPr lang="vi-VN" baseline="14234">
                <a:solidFill>
                  <a:srgbClr val="901F00"/>
                </a:solidFill>
                <a:latin typeface="Consolas"/>
                <a:cs typeface="Consolas"/>
              </a:rPr>
              <a:t>bo</a:t>
            </a:r>
            <a:r>
              <a:rPr lang="vi-VN" spc="-3" baseline="14234">
                <a:solidFill>
                  <a:srgbClr val="901F00"/>
                </a:solidFill>
                <a:latin typeface="Consolas"/>
                <a:cs typeface="Consolas"/>
              </a:rPr>
              <a:t>o</a:t>
            </a:r>
            <a:r>
              <a:rPr lang="vi-VN" spc="-7" baseline="14234">
                <a:solidFill>
                  <a:srgbClr val="901F00"/>
                </a:solidFill>
                <a:latin typeface="Consolas"/>
                <a:cs typeface="Consolas"/>
              </a:rPr>
              <a:t>l</a:t>
            </a:r>
            <a:r>
              <a:rPr lang="vi-VN" baseline="14234">
                <a:solidFill>
                  <a:srgbClr val="901F00"/>
                </a:solidFill>
                <a:latin typeface="Consolas"/>
                <a:cs typeface="Consolas"/>
              </a:rPr>
              <a:t>ean	</a:t>
            </a:r>
            <a:r>
              <a:rPr lang="en-US" baseline="14234" smtClean="0">
                <a:solidFill>
                  <a:srgbClr val="901F00"/>
                </a:solidFill>
                <a:latin typeface="Consolas"/>
                <a:cs typeface="Consolas"/>
              </a:rPr>
              <a:t> </a:t>
            </a:r>
            <a:r>
              <a:rPr lang="vi-VN" baseline="14234" smtClean="0">
                <a:solidFill>
                  <a:srgbClr val="05287D"/>
                </a:solidFill>
                <a:latin typeface="Consolas"/>
                <a:cs typeface="Consolas"/>
              </a:rPr>
              <a:t>de</a:t>
            </a:r>
            <a:r>
              <a:rPr lang="vi-VN" spc="-3" baseline="14234">
                <a:solidFill>
                  <a:srgbClr val="05287D"/>
                </a:solidFill>
                <a:latin typeface="Consolas"/>
                <a:cs typeface="Consolas"/>
              </a:rPr>
              <a:t>l</a:t>
            </a:r>
            <a:r>
              <a:rPr lang="vi-VN" baseline="14234" smtClean="0">
                <a:solidFill>
                  <a:srgbClr val="05287D"/>
                </a:solidFill>
                <a:latin typeface="Consolas"/>
                <a:cs typeface="Consolas"/>
              </a:rPr>
              <a:t>et</a:t>
            </a:r>
            <a:r>
              <a:rPr lang="vi-VN" spc="-3" baseline="14234">
                <a:solidFill>
                  <a:srgbClr val="05287D"/>
                </a:solidFill>
                <a:latin typeface="Consolas"/>
                <a:cs typeface="Consolas"/>
              </a:rPr>
              <a:t>e</a:t>
            </a:r>
            <a:r>
              <a:rPr lang="vi-VN" spc="-7" baseline="14234">
                <a:solidFill>
                  <a:srgbClr val="666666"/>
                </a:solidFill>
                <a:latin typeface="Consolas"/>
                <a:cs typeface="Consolas"/>
              </a:rPr>
              <a:t>(</a:t>
            </a:r>
            <a:r>
              <a:rPr lang="vi-VN" baseline="14234" smtClean="0">
                <a:solidFill>
                  <a:srgbClr val="666666"/>
                </a:solidFill>
                <a:latin typeface="Consolas"/>
                <a:cs typeface="Consolas"/>
              </a:rPr>
              <a:t>);</a:t>
            </a:r>
            <a:r>
              <a:rPr lang="en-US" smtClean="0">
                <a:solidFill>
                  <a:srgbClr val="666666"/>
                </a:solidFill>
                <a:latin typeface="Consolas"/>
                <a:cs typeface="Consolas"/>
              </a:rPr>
              <a:t> </a:t>
            </a:r>
            <a:r>
              <a:rPr lang="vi-VN" i="1" baseline="14493" smtClean="0">
                <a:solidFill>
                  <a:srgbClr val="666666"/>
                </a:solidFill>
                <a:latin typeface="Arial"/>
                <a:cs typeface="Arial"/>
              </a:rPr>
              <a:t>//</a:t>
            </a:r>
            <a:r>
              <a:rPr lang="vi-VN" i="1" spc="-18" baseline="14493">
                <a:solidFill>
                  <a:srgbClr val="666666"/>
                </a:solidFill>
                <a:latin typeface="Arial"/>
                <a:cs typeface="Arial"/>
              </a:rPr>
              <a:t> </a:t>
            </a:r>
            <a:r>
              <a:rPr lang="vi-VN" i="1" baseline="14493" smtClean="0">
                <a:solidFill>
                  <a:srgbClr val="666666"/>
                </a:solidFill>
                <a:latin typeface="Arial"/>
                <a:cs typeface="Arial"/>
              </a:rPr>
              <a:t>Xóa</a:t>
            </a:r>
            <a:endParaRPr lang="en-US" sz="1500">
              <a:latin typeface="Arial"/>
              <a:cs typeface="Arial"/>
            </a:endParaRPr>
          </a:p>
          <a:p>
            <a:pPr marL="663968" lvl="1">
              <a:spcBef>
                <a:spcPts val="0"/>
              </a:spcBef>
              <a:spcAft>
                <a:spcPts val="0"/>
              </a:spcAft>
            </a:pPr>
            <a:r>
              <a:rPr lang="vi-VN" b="1" baseline="14234" smtClean="0">
                <a:solidFill>
                  <a:srgbClr val="006F1F"/>
                </a:solidFill>
                <a:latin typeface="Consolas"/>
                <a:cs typeface="Consolas"/>
              </a:rPr>
              <a:t>public</a:t>
            </a:r>
            <a:r>
              <a:rPr lang="vi-VN" b="1" baseline="14234">
                <a:solidFill>
                  <a:srgbClr val="006F1F"/>
                </a:solidFill>
                <a:latin typeface="Consolas"/>
                <a:cs typeface="Consolas"/>
              </a:rPr>
              <a:t>	</a:t>
            </a:r>
            <a:r>
              <a:rPr lang="vi-VN" baseline="14234" smtClean="0">
                <a:solidFill>
                  <a:srgbClr val="901F00"/>
                </a:solidFill>
                <a:latin typeface="Consolas"/>
                <a:cs typeface="Consolas"/>
              </a:rPr>
              <a:t>vo</a:t>
            </a:r>
            <a:r>
              <a:rPr lang="vi-VN" spc="-3" baseline="14234">
                <a:solidFill>
                  <a:srgbClr val="901F00"/>
                </a:solidFill>
                <a:latin typeface="Consolas"/>
                <a:cs typeface="Consolas"/>
              </a:rPr>
              <a:t>i</a:t>
            </a:r>
            <a:r>
              <a:rPr lang="vi-VN" baseline="14234" smtClean="0">
                <a:solidFill>
                  <a:srgbClr val="901F00"/>
                </a:solidFill>
                <a:latin typeface="Consolas"/>
                <a:cs typeface="Consolas"/>
              </a:rPr>
              <a:t>d</a:t>
            </a:r>
            <a:r>
              <a:rPr lang="en-US" baseline="14234">
                <a:solidFill>
                  <a:srgbClr val="901F00"/>
                </a:solidFill>
                <a:latin typeface="Consolas"/>
                <a:cs typeface="Consolas"/>
              </a:rPr>
              <a:t> </a:t>
            </a:r>
            <a:r>
              <a:rPr lang="vi-VN" baseline="14234" smtClean="0">
                <a:solidFill>
                  <a:srgbClr val="05287D"/>
                </a:solidFill>
                <a:latin typeface="Consolas"/>
                <a:cs typeface="Consolas"/>
              </a:rPr>
              <a:t>de</a:t>
            </a:r>
            <a:r>
              <a:rPr lang="vi-VN" spc="-3" baseline="14234">
                <a:solidFill>
                  <a:srgbClr val="05287D"/>
                </a:solidFill>
                <a:latin typeface="Consolas"/>
                <a:cs typeface="Consolas"/>
              </a:rPr>
              <a:t>l</a:t>
            </a:r>
            <a:r>
              <a:rPr lang="vi-VN" baseline="14234" smtClean="0">
                <a:solidFill>
                  <a:srgbClr val="05287D"/>
                </a:solidFill>
                <a:latin typeface="Consolas"/>
                <a:cs typeface="Consolas"/>
              </a:rPr>
              <a:t>et</a:t>
            </a:r>
            <a:r>
              <a:rPr lang="vi-VN" spc="-3" baseline="14234">
                <a:solidFill>
                  <a:srgbClr val="05287D"/>
                </a:solidFill>
                <a:latin typeface="Consolas"/>
                <a:cs typeface="Consolas"/>
              </a:rPr>
              <a:t>e</a:t>
            </a:r>
            <a:r>
              <a:rPr lang="vi-VN" baseline="14234" smtClean="0">
                <a:solidFill>
                  <a:srgbClr val="05287D"/>
                </a:solidFill>
                <a:latin typeface="Consolas"/>
                <a:cs typeface="Consolas"/>
              </a:rPr>
              <a:t>On</a:t>
            </a:r>
            <a:r>
              <a:rPr lang="vi-VN" spc="-3" baseline="14234">
                <a:solidFill>
                  <a:srgbClr val="05287D"/>
                </a:solidFill>
                <a:latin typeface="Consolas"/>
                <a:cs typeface="Consolas"/>
              </a:rPr>
              <a:t>E</a:t>
            </a:r>
            <a:r>
              <a:rPr lang="vi-VN" spc="-7" baseline="14234">
                <a:solidFill>
                  <a:srgbClr val="05287D"/>
                </a:solidFill>
                <a:latin typeface="Consolas"/>
                <a:cs typeface="Consolas"/>
              </a:rPr>
              <a:t>x</a:t>
            </a:r>
            <a:r>
              <a:rPr lang="vi-VN" baseline="14234" smtClean="0">
                <a:solidFill>
                  <a:srgbClr val="05287D"/>
                </a:solidFill>
                <a:latin typeface="Consolas"/>
                <a:cs typeface="Consolas"/>
              </a:rPr>
              <a:t>i</a:t>
            </a:r>
            <a:r>
              <a:rPr lang="vi-VN" spc="3" baseline="14234">
                <a:solidFill>
                  <a:srgbClr val="05287D"/>
                </a:solidFill>
                <a:latin typeface="Consolas"/>
                <a:cs typeface="Consolas"/>
              </a:rPr>
              <a:t>t</a:t>
            </a:r>
            <a:r>
              <a:rPr lang="vi-VN" baseline="14234">
                <a:solidFill>
                  <a:srgbClr val="666666"/>
                </a:solidFill>
                <a:latin typeface="Consolas"/>
                <a:cs typeface="Consolas"/>
              </a:rPr>
              <a:t>(</a:t>
            </a:r>
            <a:r>
              <a:rPr lang="vi-VN" spc="-7" baseline="14234">
                <a:solidFill>
                  <a:srgbClr val="666666"/>
                </a:solidFill>
                <a:latin typeface="Consolas"/>
                <a:cs typeface="Consolas"/>
              </a:rPr>
              <a:t>)</a:t>
            </a:r>
            <a:r>
              <a:rPr lang="vi-VN" baseline="14234">
                <a:latin typeface="Consolas"/>
                <a:cs typeface="Consolas"/>
              </a:rPr>
              <a:t>;	</a:t>
            </a:r>
            <a:r>
              <a:rPr lang="vi-VN" i="1" baseline="14493">
                <a:solidFill>
                  <a:srgbClr val="666666"/>
                </a:solidFill>
                <a:latin typeface="Arial"/>
                <a:cs typeface="Arial"/>
              </a:rPr>
              <a:t>//</a:t>
            </a:r>
            <a:r>
              <a:rPr lang="vi-VN" i="1" spc="-18" baseline="14493">
                <a:solidFill>
                  <a:srgbClr val="666666"/>
                </a:solidFill>
                <a:latin typeface="Arial"/>
                <a:cs typeface="Arial"/>
              </a:rPr>
              <a:t> </a:t>
            </a:r>
            <a:r>
              <a:rPr lang="vi-VN" i="1" baseline="14493">
                <a:solidFill>
                  <a:srgbClr val="666666"/>
                </a:solidFill>
                <a:latin typeface="Arial"/>
                <a:cs typeface="Arial"/>
              </a:rPr>
              <a:t>Xóa k</a:t>
            </a:r>
            <a:r>
              <a:rPr lang="vi-VN" i="1" spc="3" baseline="14493">
                <a:solidFill>
                  <a:srgbClr val="666666"/>
                </a:solidFill>
                <a:latin typeface="Arial"/>
                <a:cs typeface="Arial"/>
              </a:rPr>
              <a:t>h</a:t>
            </a:r>
            <a:r>
              <a:rPr lang="vi-VN" i="1" baseline="14493">
                <a:solidFill>
                  <a:srgbClr val="666666"/>
                </a:solidFill>
                <a:latin typeface="Arial"/>
                <a:cs typeface="Arial"/>
              </a:rPr>
              <a:t>i kết</a:t>
            </a:r>
            <a:r>
              <a:rPr lang="vi-VN" i="1" spc="-22" baseline="14493">
                <a:solidFill>
                  <a:srgbClr val="666666"/>
                </a:solidFill>
                <a:latin typeface="Arial"/>
                <a:cs typeface="Arial"/>
              </a:rPr>
              <a:t> </a:t>
            </a:r>
            <a:r>
              <a:rPr lang="vi-VN" i="1" baseline="14493" smtClean="0">
                <a:solidFill>
                  <a:srgbClr val="666666"/>
                </a:solidFill>
                <a:latin typeface="Arial"/>
                <a:cs typeface="Arial"/>
              </a:rPr>
              <a:t>thúc</a:t>
            </a:r>
            <a:endParaRPr lang="en-US" sz="1500">
              <a:latin typeface="Arial"/>
              <a:cs typeface="Arial"/>
            </a:endParaRPr>
          </a:p>
          <a:p>
            <a:pPr marL="663968" lvl="1">
              <a:spcBef>
                <a:spcPts val="0"/>
              </a:spcBef>
              <a:spcAft>
                <a:spcPts val="0"/>
              </a:spcAft>
            </a:pPr>
            <a:r>
              <a:rPr lang="vi-VN" b="1" baseline="14234" smtClean="0">
                <a:solidFill>
                  <a:srgbClr val="006F1F"/>
                </a:solidFill>
                <a:latin typeface="Consolas"/>
                <a:cs typeface="Consolas"/>
              </a:rPr>
              <a:t>public</a:t>
            </a:r>
            <a:r>
              <a:rPr lang="vi-VN" b="1" spc="-11" baseline="14234">
                <a:solidFill>
                  <a:srgbClr val="006F1F"/>
                </a:solidFill>
                <a:latin typeface="Consolas"/>
                <a:cs typeface="Consolas"/>
              </a:rPr>
              <a:t> </a:t>
            </a:r>
            <a:r>
              <a:rPr lang="vi-VN" baseline="14234">
                <a:solidFill>
                  <a:srgbClr val="901F00"/>
                </a:solidFill>
                <a:latin typeface="Consolas"/>
                <a:cs typeface="Consolas"/>
              </a:rPr>
              <a:t>boolean</a:t>
            </a:r>
            <a:r>
              <a:rPr lang="vi-VN" spc="-19" baseline="14234">
                <a:solidFill>
                  <a:srgbClr val="901F00"/>
                </a:solidFill>
                <a:latin typeface="Consolas"/>
                <a:cs typeface="Consolas"/>
              </a:rPr>
              <a:t> </a:t>
            </a:r>
            <a:r>
              <a:rPr lang="vi-VN" baseline="14234">
                <a:solidFill>
                  <a:srgbClr val="05287D"/>
                </a:solidFill>
                <a:latin typeface="Consolas"/>
                <a:cs typeface="Consolas"/>
              </a:rPr>
              <a:t>renameT</a:t>
            </a:r>
            <a:r>
              <a:rPr lang="vi-VN" spc="3" baseline="14234">
                <a:solidFill>
                  <a:srgbClr val="05287D"/>
                </a:solidFill>
                <a:latin typeface="Consolas"/>
                <a:cs typeface="Consolas"/>
              </a:rPr>
              <a:t>o</a:t>
            </a:r>
            <a:r>
              <a:rPr lang="vi-VN" baseline="14234">
                <a:solidFill>
                  <a:srgbClr val="666666"/>
                </a:solidFill>
                <a:latin typeface="Consolas"/>
                <a:cs typeface="Consolas"/>
              </a:rPr>
              <a:t>(</a:t>
            </a:r>
            <a:r>
              <a:rPr lang="vi-VN" baseline="14234">
                <a:latin typeface="Consolas"/>
                <a:cs typeface="Consolas"/>
              </a:rPr>
              <a:t>F</a:t>
            </a:r>
            <a:r>
              <a:rPr lang="vi-VN" spc="-3" baseline="14234">
                <a:latin typeface="Consolas"/>
                <a:cs typeface="Consolas"/>
              </a:rPr>
              <a:t>i</a:t>
            </a:r>
            <a:r>
              <a:rPr lang="vi-VN" baseline="14234">
                <a:latin typeface="Consolas"/>
                <a:cs typeface="Consolas"/>
              </a:rPr>
              <a:t>le</a:t>
            </a:r>
            <a:r>
              <a:rPr lang="vi-VN" spc="-29" baseline="14234">
                <a:latin typeface="Consolas"/>
                <a:cs typeface="Consolas"/>
              </a:rPr>
              <a:t> </a:t>
            </a:r>
            <a:r>
              <a:rPr lang="vi-VN" baseline="14234">
                <a:latin typeface="Consolas"/>
                <a:cs typeface="Consolas"/>
              </a:rPr>
              <a:t>des</a:t>
            </a:r>
            <a:r>
              <a:rPr lang="vi-VN" spc="7" baseline="14234">
                <a:latin typeface="Consolas"/>
                <a:cs typeface="Consolas"/>
              </a:rPr>
              <a:t>t</a:t>
            </a:r>
            <a:r>
              <a:rPr lang="vi-VN" baseline="14234">
                <a:solidFill>
                  <a:srgbClr val="666666"/>
                </a:solidFill>
                <a:latin typeface="Consolas"/>
                <a:cs typeface="Consolas"/>
              </a:rPr>
              <a:t>)</a:t>
            </a:r>
            <a:r>
              <a:rPr lang="vi-VN" baseline="14234">
                <a:latin typeface="Consolas"/>
                <a:cs typeface="Consolas"/>
              </a:rPr>
              <a:t>;	</a:t>
            </a:r>
            <a:r>
              <a:rPr lang="en-US" baseline="14234" smtClean="0">
                <a:latin typeface="Consolas"/>
                <a:cs typeface="Consolas"/>
              </a:rPr>
              <a:t> </a:t>
            </a:r>
            <a:r>
              <a:rPr lang="vi-VN" i="1" baseline="14493" smtClean="0">
                <a:solidFill>
                  <a:srgbClr val="666666"/>
                </a:solidFill>
                <a:latin typeface="Arial"/>
                <a:cs typeface="Arial"/>
              </a:rPr>
              <a:t>//</a:t>
            </a:r>
            <a:r>
              <a:rPr lang="vi-VN" i="1" spc="-18" baseline="14493">
                <a:solidFill>
                  <a:srgbClr val="666666"/>
                </a:solidFill>
                <a:latin typeface="Arial"/>
                <a:cs typeface="Arial"/>
              </a:rPr>
              <a:t> </a:t>
            </a:r>
            <a:r>
              <a:rPr lang="vi-VN" i="1" baseline="14493">
                <a:solidFill>
                  <a:srgbClr val="666666"/>
                </a:solidFill>
                <a:latin typeface="Arial"/>
                <a:cs typeface="Arial"/>
              </a:rPr>
              <a:t>Đ</a:t>
            </a:r>
            <a:r>
              <a:rPr lang="vi-VN" i="1" spc="3" baseline="14493">
                <a:solidFill>
                  <a:srgbClr val="666666"/>
                </a:solidFill>
                <a:latin typeface="Arial"/>
                <a:cs typeface="Arial"/>
              </a:rPr>
              <a:t>ổ</a:t>
            </a:r>
            <a:r>
              <a:rPr lang="vi-VN" i="1" baseline="14493">
                <a:solidFill>
                  <a:srgbClr val="666666"/>
                </a:solidFill>
                <a:latin typeface="Arial"/>
                <a:cs typeface="Arial"/>
              </a:rPr>
              <a:t>i </a:t>
            </a:r>
            <a:r>
              <a:rPr lang="vi-VN" i="1" spc="-7" baseline="14493">
                <a:solidFill>
                  <a:srgbClr val="666666"/>
                </a:solidFill>
                <a:latin typeface="Arial"/>
                <a:cs typeface="Arial"/>
              </a:rPr>
              <a:t>t</a:t>
            </a:r>
            <a:r>
              <a:rPr lang="vi-VN" i="1" baseline="14493" smtClean="0">
                <a:solidFill>
                  <a:srgbClr val="666666"/>
                </a:solidFill>
                <a:latin typeface="Arial"/>
                <a:cs typeface="Arial"/>
              </a:rPr>
              <a:t>ên</a:t>
            </a:r>
            <a:endParaRPr lang="en-US" sz="1500">
              <a:latin typeface="Arial"/>
              <a:cs typeface="Arial"/>
            </a:endParaRPr>
          </a:p>
          <a:p>
            <a:pPr marL="663968" lvl="1">
              <a:spcBef>
                <a:spcPts val="0"/>
              </a:spcBef>
              <a:spcAft>
                <a:spcPts val="0"/>
              </a:spcAft>
            </a:pPr>
            <a:r>
              <a:rPr lang="vi-VN" b="1" baseline="14234" smtClean="0">
                <a:solidFill>
                  <a:srgbClr val="006F1F"/>
                </a:solidFill>
                <a:latin typeface="Consolas"/>
                <a:cs typeface="Consolas"/>
              </a:rPr>
              <a:t>public</a:t>
            </a:r>
            <a:r>
              <a:rPr lang="vi-VN" b="1" baseline="14234">
                <a:solidFill>
                  <a:srgbClr val="006F1F"/>
                </a:solidFill>
                <a:latin typeface="Consolas"/>
                <a:cs typeface="Consolas"/>
              </a:rPr>
              <a:t>	</a:t>
            </a:r>
            <a:r>
              <a:rPr lang="vi-VN" baseline="14234">
                <a:solidFill>
                  <a:srgbClr val="901F00"/>
                </a:solidFill>
                <a:latin typeface="Consolas"/>
                <a:cs typeface="Consolas"/>
              </a:rPr>
              <a:t>bo</a:t>
            </a:r>
            <a:r>
              <a:rPr lang="vi-VN" spc="-3" baseline="14234">
                <a:solidFill>
                  <a:srgbClr val="901F00"/>
                </a:solidFill>
                <a:latin typeface="Consolas"/>
                <a:cs typeface="Consolas"/>
              </a:rPr>
              <a:t>o</a:t>
            </a:r>
            <a:r>
              <a:rPr lang="vi-VN" spc="-7" baseline="14234">
                <a:solidFill>
                  <a:srgbClr val="901F00"/>
                </a:solidFill>
                <a:latin typeface="Consolas"/>
                <a:cs typeface="Consolas"/>
              </a:rPr>
              <a:t>l</a:t>
            </a:r>
            <a:r>
              <a:rPr lang="vi-VN" baseline="14234">
                <a:solidFill>
                  <a:srgbClr val="901F00"/>
                </a:solidFill>
                <a:latin typeface="Consolas"/>
                <a:cs typeface="Consolas"/>
              </a:rPr>
              <a:t>ean	</a:t>
            </a:r>
            <a:r>
              <a:rPr lang="en-US" baseline="14234" smtClean="0">
                <a:solidFill>
                  <a:srgbClr val="901F00"/>
                </a:solidFill>
                <a:latin typeface="Consolas"/>
                <a:cs typeface="Consolas"/>
              </a:rPr>
              <a:t> </a:t>
            </a:r>
            <a:r>
              <a:rPr lang="vi-VN" baseline="14234" smtClean="0">
                <a:solidFill>
                  <a:srgbClr val="05287D"/>
                </a:solidFill>
                <a:latin typeface="Consolas"/>
                <a:cs typeface="Consolas"/>
              </a:rPr>
              <a:t>mk</a:t>
            </a:r>
            <a:r>
              <a:rPr lang="vi-VN" spc="-3" baseline="14234">
                <a:solidFill>
                  <a:srgbClr val="05287D"/>
                </a:solidFill>
                <a:latin typeface="Consolas"/>
                <a:cs typeface="Consolas"/>
              </a:rPr>
              <a:t>d</a:t>
            </a:r>
            <a:r>
              <a:rPr lang="vi-VN" baseline="14234" smtClean="0">
                <a:solidFill>
                  <a:srgbClr val="05287D"/>
                </a:solidFill>
                <a:latin typeface="Consolas"/>
                <a:cs typeface="Consolas"/>
              </a:rPr>
              <a:t>i</a:t>
            </a:r>
            <a:r>
              <a:rPr lang="vi-VN" spc="3" baseline="14234">
                <a:solidFill>
                  <a:srgbClr val="05287D"/>
                </a:solidFill>
                <a:latin typeface="Consolas"/>
                <a:cs typeface="Consolas"/>
              </a:rPr>
              <a:t>r</a:t>
            </a:r>
            <a:r>
              <a:rPr lang="vi-VN" spc="-7" baseline="14234">
                <a:solidFill>
                  <a:srgbClr val="666666"/>
                </a:solidFill>
                <a:latin typeface="Consolas"/>
                <a:cs typeface="Consolas"/>
              </a:rPr>
              <a:t>()</a:t>
            </a:r>
            <a:r>
              <a:rPr lang="vi-VN" baseline="14234" smtClean="0">
                <a:solidFill>
                  <a:srgbClr val="666666"/>
                </a:solidFill>
                <a:latin typeface="Consolas"/>
                <a:cs typeface="Consolas"/>
              </a:rPr>
              <a:t>;</a:t>
            </a:r>
            <a:r>
              <a:rPr lang="en-US" smtClean="0">
                <a:solidFill>
                  <a:srgbClr val="666666"/>
                </a:solidFill>
                <a:latin typeface="Consolas"/>
                <a:cs typeface="Consolas"/>
              </a:rPr>
              <a:t> </a:t>
            </a:r>
            <a:r>
              <a:rPr lang="vi-VN" i="1" baseline="14493" smtClean="0">
                <a:solidFill>
                  <a:srgbClr val="666666"/>
                </a:solidFill>
                <a:latin typeface="Arial"/>
                <a:cs typeface="Arial"/>
              </a:rPr>
              <a:t>//</a:t>
            </a:r>
            <a:r>
              <a:rPr lang="vi-VN" i="1" spc="-18" baseline="14493">
                <a:solidFill>
                  <a:srgbClr val="666666"/>
                </a:solidFill>
                <a:latin typeface="Arial"/>
                <a:cs typeface="Arial"/>
              </a:rPr>
              <a:t> </a:t>
            </a:r>
            <a:r>
              <a:rPr lang="vi-VN" i="1" baseline="14493">
                <a:solidFill>
                  <a:srgbClr val="666666"/>
                </a:solidFill>
                <a:latin typeface="Arial"/>
                <a:cs typeface="Arial"/>
              </a:rPr>
              <a:t>Tạo </a:t>
            </a:r>
            <a:r>
              <a:rPr lang="vi-VN" i="1" spc="-7" baseline="14493">
                <a:solidFill>
                  <a:srgbClr val="666666"/>
                </a:solidFill>
                <a:latin typeface="Arial"/>
                <a:cs typeface="Arial"/>
              </a:rPr>
              <a:t>t</a:t>
            </a:r>
            <a:r>
              <a:rPr lang="vi-VN" i="1" baseline="14493">
                <a:solidFill>
                  <a:srgbClr val="666666"/>
                </a:solidFill>
                <a:latin typeface="Arial"/>
                <a:cs typeface="Arial"/>
              </a:rPr>
              <a:t>hư</a:t>
            </a:r>
            <a:r>
              <a:rPr lang="vi-VN" i="1" spc="-18" baseline="14493">
                <a:solidFill>
                  <a:srgbClr val="666666"/>
                </a:solidFill>
                <a:latin typeface="Arial"/>
                <a:cs typeface="Arial"/>
              </a:rPr>
              <a:t> </a:t>
            </a:r>
            <a:r>
              <a:rPr lang="vi-VN" i="1" spc="-11" baseline="14493">
                <a:solidFill>
                  <a:srgbClr val="666666"/>
                </a:solidFill>
                <a:latin typeface="Arial"/>
                <a:cs typeface="Arial"/>
              </a:rPr>
              <a:t>m</a:t>
            </a:r>
            <a:r>
              <a:rPr lang="vi-VN" i="1" baseline="14493" smtClean="0">
                <a:solidFill>
                  <a:srgbClr val="666666"/>
                </a:solidFill>
                <a:latin typeface="Arial"/>
                <a:cs typeface="Arial"/>
              </a:rPr>
              <a:t>ục</a:t>
            </a:r>
            <a:endParaRPr lang="en-US" sz="1500">
              <a:latin typeface="Arial"/>
              <a:cs typeface="Arial"/>
            </a:endParaRPr>
          </a:p>
          <a:p>
            <a:pPr marL="663968" lvl="1">
              <a:spcBef>
                <a:spcPts val="0"/>
              </a:spcBef>
              <a:spcAft>
                <a:spcPts val="0"/>
              </a:spcAft>
            </a:pPr>
            <a:r>
              <a:rPr lang="vi-VN" b="1" baseline="14234" smtClean="0">
                <a:solidFill>
                  <a:srgbClr val="006F1F"/>
                </a:solidFill>
                <a:latin typeface="Consolas"/>
                <a:cs typeface="Consolas"/>
              </a:rPr>
              <a:t>public</a:t>
            </a:r>
            <a:r>
              <a:rPr lang="vi-VN" b="1" baseline="14234">
                <a:solidFill>
                  <a:srgbClr val="006F1F"/>
                </a:solidFill>
                <a:latin typeface="Consolas"/>
                <a:cs typeface="Consolas"/>
              </a:rPr>
              <a:t>	</a:t>
            </a:r>
            <a:r>
              <a:rPr lang="vi-VN" baseline="14234">
                <a:latin typeface="Consolas"/>
                <a:cs typeface="Consolas"/>
              </a:rPr>
              <a:t>Fi</a:t>
            </a:r>
            <a:r>
              <a:rPr lang="vi-VN" spc="-3" baseline="14234">
                <a:latin typeface="Consolas"/>
                <a:cs typeface="Consolas"/>
              </a:rPr>
              <a:t>l</a:t>
            </a:r>
            <a:r>
              <a:rPr lang="vi-VN" spc="-7" baseline="14234">
                <a:latin typeface="Consolas"/>
                <a:cs typeface="Consolas"/>
              </a:rPr>
              <a:t>e</a:t>
            </a:r>
            <a:r>
              <a:rPr lang="vi-VN" baseline="14234">
                <a:solidFill>
                  <a:srgbClr val="666666"/>
                </a:solidFill>
                <a:latin typeface="Consolas"/>
                <a:cs typeface="Consolas"/>
              </a:rPr>
              <a:t>[]	</a:t>
            </a:r>
            <a:r>
              <a:rPr lang="vi-VN" spc="-7" baseline="14234">
                <a:solidFill>
                  <a:srgbClr val="05287D"/>
                </a:solidFill>
                <a:latin typeface="Consolas"/>
                <a:cs typeface="Consolas"/>
              </a:rPr>
              <a:t>l</a:t>
            </a:r>
            <a:r>
              <a:rPr lang="vi-VN" baseline="14234">
                <a:solidFill>
                  <a:srgbClr val="05287D"/>
                </a:solidFill>
                <a:latin typeface="Consolas"/>
                <a:cs typeface="Consolas"/>
              </a:rPr>
              <a:t>is</a:t>
            </a:r>
            <a:r>
              <a:rPr lang="vi-VN" spc="-3" baseline="14234">
                <a:solidFill>
                  <a:srgbClr val="05287D"/>
                </a:solidFill>
                <a:latin typeface="Consolas"/>
                <a:cs typeface="Consolas"/>
              </a:rPr>
              <a:t>t</a:t>
            </a:r>
            <a:r>
              <a:rPr lang="vi-VN" baseline="14234">
                <a:solidFill>
                  <a:srgbClr val="05287D"/>
                </a:solidFill>
                <a:latin typeface="Consolas"/>
                <a:cs typeface="Consolas"/>
              </a:rPr>
              <a:t>Fi</a:t>
            </a:r>
            <a:r>
              <a:rPr lang="vi-VN" spc="-3" baseline="14234">
                <a:solidFill>
                  <a:srgbClr val="05287D"/>
                </a:solidFill>
                <a:latin typeface="Consolas"/>
                <a:cs typeface="Consolas"/>
              </a:rPr>
              <a:t>l</a:t>
            </a:r>
            <a:r>
              <a:rPr lang="vi-VN" spc="-7" baseline="14234">
                <a:solidFill>
                  <a:srgbClr val="05287D"/>
                </a:solidFill>
                <a:latin typeface="Consolas"/>
                <a:cs typeface="Consolas"/>
              </a:rPr>
              <a:t>e</a:t>
            </a:r>
            <a:r>
              <a:rPr lang="vi-VN" baseline="14234">
                <a:solidFill>
                  <a:srgbClr val="05287D"/>
                </a:solidFill>
                <a:latin typeface="Consolas"/>
                <a:cs typeface="Consolas"/>
              </a:rPr>
              <a:t>s</a:t>
            </a:r>
            <a:r>
              <a:rPr lang="vi-VN" baseline="14234">
                <a:solidFill>
                  <a:srgbClr val="666666"/>
                </a:solidFill>
                <a:latin typeface="Consolas"/>
                <a:cs typeface="Consolas"/>
              </a:rPr>
              <a:t>();	</a:t>
            </a:r>
            <a:r>
              <a:rPr lang="vi-VN" i="1" baseline="14493">
                <a:solidFill>
                  <a:srgbClr val="666666"/>
                </a:solidFill>
                <a:latin typeface="Arial"/>
                <a:cs typeface="Arial"/>
              </a:rPr>
              <a:t>//</a:t>
            </a:r>
            <a:r>
              <a:rPr lang="vi-VN" i="1" spc="-18" baseline="14493">
                <a:solidFill>
                  <a:srgbClr val="666666"/>
                </a:solidFill>
                <a:latin typeface="Arial"/>
                <a:cs typeface="Arial"/>
              </a:rPr>
              <a:t> </a:t>
            </a:r>
            <a:r>
              <a:rPr lang="vi-VN" i="1" baseline="14493">
                <a:solidFill>
                  <a:srgbClr val="666666"/>
                </a:solidFill>
                <a:latin typeface="Arial"/>
                <a:cs typeface="Arial"/>
              </a:rPr>
              <a:t>Liệt</a:t>
            </a:r>
            <a:r>
              <a:rPr lang="vi-VN" i="1" spc="-3" baseline="14493">
                <a:solidFill>
                  <a:srgbClr val="666666"/>
                </a:solidFill>
                <a:latin typeface="Arial"/>
                <a:cs typeface="Arial"/>
              </a:rPr>
              <a:t> </a:t>
            </a:r>
            <a:r>
              <a:rPr lang="vi-VN" i="1" baseline="14493">
                <a:solidFill>
                  <a:srgbClr val="666666"/>
                </a:solidFill>
                <a:latin typeface="Arial"/>
                <a:cs typeface="Arial"/>
              </a:rPr>
              <a:t>kê</a:t>
            </a:r>
            <a:r>
              <a:rPr lang="vi-VN" i="1" spc="-7" baseline="14493">
                <a:solidFill>
                  <a:srgbClr val="666666"/>
                </a:solidFill>
                <a:latin typeface="Arial"/>
                <a:cs typeface="Arial"/>
              </a:rPr>
              <a:t> </a:t>
            </a:r>
            <a:r>
              <a:rPr lang="vi-VN" i="1" baseline="14493">
                <a:solidFill>
                  <a:srgbClr val="666666"/>
                </a:solidFill>
                <a:latin typeface="Arial"/>
                <a:cs typeface="Arial"/>
              </a:rPr>
              <a:t>thư</a:t>
            </a:r>
            <a:r>
              <a:rPr lang="vi-VN" i="1" spc="-11" baseline="14493">
                <a:solidFill>
                  <a:srgbClr val="666666"/>
                </a:solidFill>
                <a:latin typeface="Arial"/>
                <a:cs typeface="Arial"/>
              </a:rPr>
              <a:t> m</a:t>
            </a:r>
            <a:r>
              <a:rPr lang="vi-VN" i="1" baseline="14493">
                <a:solidFill>
                  <a:srgbClr val="666666"/>
                </a:solidFill>
                <a:latin typeface="Arial"/>
                <a:cs typeface="Arial"/>
              </a:rPr>
              <a:t>ục</a:t>
            </a:r>
            <a:r>
              <a:rPr lang="vi-VN" i="1" spc="-7" baseline="14493">
                <a:solidFill>
                  <a:srgbClr val="666666"/>
                </a:solidFill>
                <a:latin typeface="Arial"/>
                <a:cs typeface="Arial"/>
              </a:rPr>
              <a:t> </a:t>
            </a:r>
            <a:r>
              <a:rPr lang="vi-VN" i="1" baseline="14493">
                <a:solidFill>
                  <a:srgbClr val="666666"/>
                </a:solidFill>
                <a:latin typeface="Arial"/>
                <a:cs typeface="Arial"/>
              </a:rPr>
              <a:t>dạng</a:t>
            </a:r>
            <a:r>
              <a:rPr lang="vi-VN" i="1" spc="-7" baseline="14493">
                <a:solidFill>
                  <a:srgbClr val="666666"/>
                </a:solidFill>
                <a:latin typeface="Arial"/>
                <a:cs typeface="Arial"/>
              </a:rPr>
              <a:t> </a:t>
            </a:r>
            <a:r>
              <a:rPr lang="vi-VN" i="1" baseline="14493">
                <a:solidFill>
                  <a:srgbClr val="666666"/>
                </a:solidFill>
                <a:latin typeface="Arial"/>
                <a:cs typeface="Arial"/>
              </a:rPr>
              <a:t>File</a:t>
            </a:r>
            <a:endParaRPr lang="vi-VN" sz="1500">
              <a:latin typeface="Arial"/>
              <a:cs typeface="Arial"/>
            </a:endParaRPr>
          </a:p>
          <a:p>
            <a:pPr marL="663968" lvl="1">
              <a:spcBef>
                <a:spcPts val="0"/>
              </a:spcBef>
              <a:spcAft>
                <a:spcPts val="0"/>
              </a:spcAft>
            </a:pPr>
            <a:endParaRPr lang="vi-VN"/>
          </a:p>
          <a:p>
            <a:pPr>
              <a:spcBef>
                <a:spcPts val="0"/>
              </a:spcBef>
              <a:spcAft>
                <a:spcPts val="0"/>
              </a:spcAft>
            </a:pPr>
            <a:endParaRPr lang="en-US" smtClean="0"/>
          </a:p>
          <a:p>
            <a:pPr marL="0" indent="0">
              <a:spcBef>
                <a:spcPts val="0"/>
              </a:spcBef>
              <a:spcAft>
                <a:spcPts val="0"/>
              </a:spcAft>
              <a:buNone/>
            </a:pPr>
            <a:endParaRPr lang="vi-VN">
              <a:solidFill>
                <a:srgbClr val="FF0000"/>
              </a:solidFill>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163</a:t>
            </a:fld>
            <a:endParaRPr lang="en-US"/>
          </a:p>
        </p:txBody>
      </p:sp>
    </p:spTree>
    <p:extLst>
      <p:ext uri="{BB962C8B-B14F-4D97-AF65-F5344CB8AC3E}">
        <p14:creationId xmlns:p14="http://schemas.microsoft.com/office/powerpoint/2010/main" val="2490817136"/>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8.2. Lớp java.io.File</a:t>
            </a:r>
            <a:endParaRPr lang="en-US" sz="2400"/>
          </a:p>
        </p:txBody>
      </p:sp>
      <p:sp>
        <p:nvSpPr>
          <p:cNvPr id="3" name="Content Placeholder 2"/>
          <p:cNvSpPr>
            <a:spLocks noGrp="1"/>
          </p:cNvSpPr>
          <p:nvPr>
            <p:ph idx="1"/>
          </p:nvPr>
        </p:nvSpPr>
        <p:spPr>
          <a:xfrm>
            <a:off x="1385646" y="1808820"/>
            <a:ext cx="6372708" cy="420030"/>
          </a:xfrm>
        </p:spPr>
        <p:txBody>
          <a:bodyPr wrap="square">
            <a:noAutofit/>
          </a:bodyPr>
          <a:lstStyle/>
          <a:p>
            <a:pPr marL="363931">
              <a:spcBef>
                <a:spcPts val="225"/>
              </a:spcBef>
            </a:pPr>
            <a:r>
              <a:rPr lang="en-US" smtClean="0"/>
              <a:t>Ví dụ: truy xuất thông tin của môt file</a:t>
            </a:r>
            <a:endParaRPr lang="vi-VN" sz="1500">
              <a:latin typeface="Arial"/>
              <a:cs typeface="Arial"/>
            </a:endParaRPr>
          </a:p>
          <a:p>
            <a:pPr marL="663968" lvl="1">
              <a:spcBef>
                <a:spcPts val="0"/>
              </a:spcBef>
              <a:spcAft>
                <a:spcPts val="0"/>
              </a:spcAft>
            </a:pPr>
            <a:endParaRPr lang="vi-VN"/>
          </a:p>
          <a:p>
            <a:pPr>
              <a:spcBef>
                <a:spcPts val="0"/>
              </a:spcBef>
              <a:spcAft>
                <a:spcPts val="0"/>
              </a:spcAft>
            </a:pPr>
            <a:endParaRPr lang="en-US" smtClean="0"/>
          </a:p>
          <a:p>
            <a:pPr marL="0" indent="0">
              <a:spcBef>
                <a:spcPts val="0"/>
              </a:spcBef>
              <a:spcAft>
                <a:spcPts val="0"/>
              </a:spcAft>
              <a:buNone/>
            </a:pPr>
            <a:endParaRPr lang="vi-VN">
              <a:solidFill>
                <a:srgbClr val="FF0000"/>
              </a:solidFill>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164</a:t>
            </a:fld>
            <a:endParaRPr lang="en-US"/>
          </a:p>
        </p:txBody>
      </p:sp>
      <p:pic>
        <p:nvPicPr>
          <p:cNvPr id="5" name="Picture 4"/>
          <p:cNvPicPr>
            <a:picLocks noChangeAspect="1"/>
          </p:cNvPicPr>
          <p:nvPr/>
        </p:nvPicPr>
        <p:blipFill>
          <a:blip r:embed="rId3"/>
          <a:stretch>
            <a:fillRect/>
          </a:stretch>
        </p:blipFill>
        <p:spPr>
          <a:xfrm>
            <a:off x="1828800" y="2228853"/>
            <a:ext cx="5692140" cy="3503440"/>
          </a:xfrm>
          <a:prstGeom prst="rect">
            <a:avLst/>
          </a:prstGeom>
        </p:spPr>
      </p:pic>
    </p:spTree>
    <p:extLst>
      <p:ext uri="{BB962C8B-B14F-4D97-AF65-F5344CB8AC3E}">
        <p14:creationId xmlns:p14="http://schemas.microsoft.com/office/powerpoint/2010/main" val="368560731"/>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8.2. Lớp java.io.File</a:t>
            </a:r>
            <a:endParaRPr lang="en-US" sz="2400"/>
          </a:p>
        </p:txBody>
      </p:sp>
      <p:sp>
        <p:nvSpPr>
          <p:cNvPr id="3" name="Content Placeholder 2"/>
          <p:cNvSpPr>
            <a:spLocks noGrp="1"/>
          </p:cNvSpPr>
          <p:nvPr>
            <p:ph idx="1"/>
          </p:nvPr>
        </p:nvSpPr>
        <p:spPr>
          <a:xfrm>
            <a:off x="1385646" y="1808820"/>
            <a:ext cx="6372708" cy="420030"/>
          </a:xfrm>
        </p:spPr>
        <p:txBody>
          <a:bodyPr wrap="square">
            <a:noAutofit/>
          </a:bodyPr>
          <a:lstStyle/>
          <a:p>
            <a:pPr marL="363931">
              <a:spcBef>
                <a:spcPts val="225"/>
              </a:spcBef>
            </a:pPr>
            <a:r>
              <a:rPr lang="en-US" smtClean="0"/>
              <a:t>Ví dụ: hiển thị danh sách file trong một folder</a:t>
            </a:r>
            <a:endParaRPr lang="vi-VN" sz="1500">
              <a:latin typeface="Arial"/>
              <a:cs typeface="Arial"/>
            </a:endParaRPr>
          </a:p>
          <a:p>
            <a:pPr marL="663968" lvl="1">
              <a:spcBef>
                <a:spcPts val="0"/>
              </a:spcBef>
              <a:spcAft>
                <a:spcPts val="0"/>
              </a:spcAft>
            </a:pPr>
            <a:endParaRPr lang="vi-VN"/>
          </a:p>
          <a:p>
            <a:pPr>
              <a:spcBef>
                <a:spcPts val="0"/>
              </a:spcBef>
              <a:spcAft>
                <a:spcPts val="0"/>
              </a:spcAft>
            </a:pPr>
            <a:endParaRPr lang="en-US" smtClean="0"/>
          </a:p>
          <a:p>
            <a:pPr marL="0" indent="0">
              <a:spcBef>
                <a:spcPts val="0"/>
              </a:spcBef>
              <a:spcAft>
                <a:spcPts val="0"/>
              </a:spcAft>
              <a:buNone/>
            </a:pPr>
            <a:endParaRPr lang="vi-VN">
              <a:solidFill>
                <a:srgbClr val="FF0000"/>
              </a:solidFill>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165</a:t>
            </a:fld>
            <a:endParaRPr lang="en-US"/>
          </a:p>
        </p:txBody>
      </p:sp>
      <p:pic>
        <p:nvPicPr>
          <p:cNvPr id="6" name="Picture 5"/>
          <p:cNvPicPr>
            <a:picLocks noChangeAspect="1"/>
          </p:cNvPicPr>
          <p:nvPr/>
        </p:nvPicPr>
        <p:blipFill>
          <a:blip r:embed="rId3"/>
          <a:stretch>
            <a:fillRect/>
          </a:stretch>
        </p:blipFill>
        <p:spPr>
          <a:xfrm>
            <a:off x="1914525" y="2228853"/>
            <a:ext cx="5486400" cy="3147466"/>
          </a:xfrm>
          <a:prstGeom prst="rect">
            <a:avLst/>
          </a:prstGeom>
        </p:spPr>
      </p:pic>
    </p:spTree>
    <p:extLst>
      <p:ext uri="{BB962C8B-B14F-4D97-AF65-F5344CB8AC3E}">
        <p14:creationId xmlns:p14="http://schemas.microsoft.com/office/powerpoint/2010/main" val="3653381694"/>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8.3. Lớp java.nio.Files</a:t>
            </a:r>
            <a:endParaRPr lang="en-US" sz="2400"/>
          </a:p>
        </p:txBody>
      </p:sp>
      <p:sp>
        <p:nvSpPr>
          <p:cNvPr id="3" name="Content Placeholder 2"/>
          <p:cNvSpPr>
            <a:spLocks noGrp="1"/>
          </p:cNvSpPr>
          <p:nvPr>
            <p:ph idx="1"/>
          </p:nvPr>
        </p:nvSpPr>
        <p:spPr>
          <a:xfrm>
            <a:off x="1385646" y="1808820"/>
            <a:ext cx="6372708" cy="3963330"/>
          </a:xfrm>
        </p:spPr>
        <p:txBody>
          <a:bodyPr wrap="square">
            <a:noAutofit/>
          </a:bodyPr>
          <a:lstStyle/>
          <a:p>
            <a:pPr marL="363931">
              <a:spcBef>
                <a:spcPts val="450"/>
              </a:spcBef>
            </a:pPr>
            <a:r>
              <a:rPr lang="en-US" b="1" smtClean="0"/>
              <a:t>Files</a:t>
            </a:r>
          </a:p>
          <a:p>
            <a:pPr marL="663968" lvl="1">
              <a:spcBef>
                <a:spcPts val="450"/>
              </a:spcBef>
            </a:pPr>
            <a:r>
              <a:rPr lang="en-US" smtClean="0"/>
              <a:t>import java.nio.Files</a:t>
            </a:r>
          </a:p>
          <a:p>
            <a:pPr marL="363931">
              <a:spcBef>
                <a:spcPts val="450"/>
              </a:spcBef>
            </a:pPr>
            <a:r>
              <a:rPr lang="en-US" smtClean="0"/>
              <a:t>Một số phương thức thông dụng:</a:t>
            </a:r>
          </a:p>
          <a:p>
            <a:pPr marL="663968" lvl="1">
              <a:spcBef>
                <a:spcPts val="450"/>
              </a:spcBef>
            </a:pPr>
            <a:r>
              <a:rPr lang="en-US" smtClean="0"/>
              <a:t>static </a:t>
            </a:r>
            <a:r>
              <a:rPr lang="en-US" smtClean="0">
                <a:solidFill>
                  <a:srgbClr val="FF0000"/>
                </a:solidFill>
              </a:rPr>
              <a:t>List</a:t>
            </a:r>
            <a:r>
              <a:rPr lang="en-US" smtClean="0"/>
              <a:t>&lt;String&gt; </a:t>
            </a:r>
            <a:r>
              <a:rPr lang="en-US" b="1" smtClean="0"/>
              <a:t>readAllLines</a:t>
            </a:r>
            <a:r>
              <a:rPr lang="en-US" smtClean="0"/>
              <a:t>(Path p, Charset cs)</a:t>
            </a:r>
          </a:p>
          <a:p>
            <a:pPr marL="449656" lvl="1" indent="0">
              <a:spcBef>
                <a:spcPts val="450"/>
              </a:spcBef>
              <a:buNone/>
            </a:pPr>
            <a:r>
              <a:rPr lang="en-US" smtClean="0"/>
              <a:t>Đọc tất cả các dòng của một tập tin </a:t>
            </a:r>
            <a:r>
              <a:rPr lang="en-US" smtClean="0">
                <a:sym typeface="Wingdings" panose="05000000000000000000" pitchFamily="2" charset="2"/>
              </a:rPr>
              <a:t> mảng các dòng (List).</a:t>
            </a:r>
            <a:endParaRPr lang="en-US" smtClean="0"/>
          </a:p>
          <a:p>
            <a:pPr marL="663968" lvl="1">
              <a:spcBef>
                <a:spcPts val="450"/>
              </a:spcBef>
            </a:pPr>
            <a:r>
              <a:rPr lang="en-US" smtClean="0"/>
              <a:t>static </a:t>
            </a:r>
            <a:r>
              <a:rPr lang="en-US" smtClean="0">
                <a:solidFill>
                  <a:srgbClr val="FF0000"/>
                </a:solidFill>
              </a:rPr>
              <a:t>byte</a:t>
            </a:r>
            <a:r>
              <a:rPr lang="en-US" smtClean="0"/>
              <a:t>[] </a:t>
            </a:r>
            <a:r>
              <a:rPr lang="en-US" b="1" smtClean="0"/>
              <a:t>readAllBytes</a:t>
            </a:r>
            <a:r>
              <a:rPr lang="en-US" smtClean="0"/>
              <a:t>(Path p)</a:t>
            </a:r>
          </a:p>
          <a:p>
            <a:pPr marL="449656" lvl="1" indent="0">
              <a:spcBef>
                <a:spcPts val="450"/>
              </a:spcBef>
              <a:buNone/>
            </a:pPr>
            <a:r>
              <a:rPr lang="en-US" smtClean="0"/>
              <a:t>Đọc toàn bộ nội dung của tập tin </a:t>
            </a:r>
            <a:r>
              <a:rPr lang="en-US" smtClean="0">
                <a:sym typeface="Wingdings" panose="05000000000000000000" pitchFamily="2" charset="2"/>
              </a:rPr>
              <a:t> mảng các byte.</a:t>
            </a:r>
            <a:endParaRPr lang="en-US" smtClean="0"/>
          </a:p>
          <a:p>
            <a:pPr>
              <a:spcBef>
                <a:spcPts val="450"/>
              </a:spcBef>
              <a:spcAft>
                <a:spcPts val="0"/>
              </a:spcAft>
            </a:pPr>
            <a:endParaRPr lang="vi-VN">
              <a:solidFill>
                <a:srgbClr val="FF0000"/>
              </a:solidFill>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166</a:t>
            </a:fld>
            <a:endParaRPr lang="en-US"/>
          </a:p>
        </p:txBody>
      </p:sp>
    </p:spTree>
    <p:extLst>
      <p:ext uri="{BB962C8B-B14F-4D97-AF65-F5344CB8AC3E}">
        <p14:creationId xmlns:p14="http://schemas.microsoft.com/office/powerpoint/2010/main" val="3933109701"/>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8.3. Lớp java.nio.Files</a:t>
            </a:r>
            <a:endParaRPr lang="en-US" sz="2400"/>
          </a:p>
        </p:txBody>
      </p:sp>
      <p:sp>
        <p:nvSpPr>
          <p:cNvPr id="3" name="Content Placeholder 2"/>
          <p:cNvSpPr>
            <a:spLocks noGrp="1"/>
          </p:cNvSpPr>
          <p:nvPr>
            <p:ph idx="1"/>
          </p:nvPr>
        </p:nvSpPr>
        <p:spPr>
          <a:xfrm>
            <a:off x="1385646" y="1808820"/>
            <a:ext cx="6372708" cy="420030"/>
          </a:xfrm>
        </p:spPr>
        <p:txBody>
          <a:bodyPr wrap="square">
            <a:noAutofit/>
          </a:bodyPr>
          <a:lstStyle/>
          <a:p>
            <a:pPr marL="363931">
              <a:spcBef>
                <a:spcPts val="225"/>
              </a:spcBef>
            </a:pPr>
            <a:r>
              <a:rPr lang="en-US" smtClean="0"/>
              <a:t>Ví dụ: Đọc toàn bộ nội dung tập tin</a:t>
            </a:r>
            <a:endParaRPr lang="vi-VN" sz="1500">
              <a:latin typeface="Arial"/>
              <a:cs typeface="Arial"/>
            </a:endParaRPr>
          </a:p>
          <a:p>
            <a:pPr marL="663968" lvl="1">
              <a:spcBef>
                <a:spcPts val="0"/>
              </a:spcBef>
              <a:spcAft>
                <a:spcPts val="0"/>
              </a:spcAft>
            </a:pPr>
            <a:endParaRPr lang="vi-VN"/>
          </a:p>
          <a:p>
            <a:pPr>
              <a:spcBef>
                <a:spcPts val="0"/>
              </a:spcBef>
              <a:spcAft>
                <a:spcPts val="0"/>
              </a:spcAft>
            </a:pPr>
            <a:endParaRPr lang="en-US" smtClean="0"/>
          </a:p>
          <a:p>
            <a:pPr marL="0" indent="0">
              <a:spcBef>
                <a:spcPts val="0"/>
              </a:spcBef>
              <a:spcAft>
                <a:spcPts val="0"/>
              </a:spcAft>
              <a:buNone/>
            </a:pPr>
            <a:endParaRPr lang="vi-VN">
              <a:solidFill>
                <a:srgbClr val="FF0000"/>
              </a:solidFill>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167</a:t>
            </a:fld>
            <a:endParaRPr lang="en-US"/>
          </a:p>
        </p:txBody>
      </p:sp>
      <p:pic>
        <p:nvPicPr>
          <p:cNvPr id="5" name="Picture 4"/>
          <p:cNvPicPr>
            <a:picLocks noChangeAspect="1"/>
          </p:cNvPicPr>
          <p:nvPr/>
        </p:nvPicPr>
        <p:blipFill>
          <a:blip r:embed="rId3"/>
          <a:stretch>
            <a:fillRect/>
          </a:stretch>
        </p:blipFill>
        <p:spPr>
          <a:xfrm>
            <a:off x="1371600" y="2328869"/>
            <a:ext cx="6583680" cy="2808839"/>
          </a:xfrm>
          <a:prstGeom prst="rect">
            <a:avLst/>
          </a:prstGeom>
        </p:spPr>
      </p:pic>
    </p:spTree>
    <p:extLst>
      <p:ext uri="{BB962C8B-B14F-4D97-AF65-F5344CB8AC3E}">
        <p14:creationId xmlns:p14="http://schemas.microsoft.com/office/powerpoint/2010/main" val="1576490345"/>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8.3. Lớp java.nio.Files</a:t>
            </a:r>
            <a:endParaRPr lang="en-US" sz="2400"/>
          </a:p>
        </p:txBody>
      </p:sp>
      <p:sp>
        <p:nvSpPr>
          <p:cNvPr id="3" name="Content Placeholder 2"/>
          <p:cNvSpPr>
            <a:spLocks noGrp="1"/>
          </p:cNvSpPr>
          <p:nvPr>
            <p:ph idx="1"/>
          </p:nvPr>
        </p:nvSpPr>
        <p:spPr>
          <a:xfrm>
            <a:off x="1385646" y="1808820"/>
            <a:ext cx="6372708" cy="420030"/>
          </a:xfrm>
        </p:spPr>
        <p:txBody>
          <a:bodyPr wrap="square">
            <a:noAutofit/>
          </a:bodyPr>
          <a:lstStyle/>
          <a:p>
            <a:pPr marL="363931">
              <a:spcBef>
                <a:spcPts val="225"/>
              </a:spcBef>
            </a:pPr>
            <a:r>
              <a:rPr lang="en-US" smtClean="0"/>
              <a:t>Ví dụ: Đọc toàn bộ nội dung tập tin</a:t>
            </a:r>
            <a:endParaRPr lang="vi-VN" sz="1500">
              <a:latin typeface="Arial"/>
              <a:cs typeface="Arial"/>
            </a:endParaRPr>
          </a:p>
          <a:p>
            <a:pPr marL="663968" lvl="1">
              <a:spcBef>
                <a:spcPts val="0"/>
              </a:spcBef>
              <a:spcAft>
                <a:spcPts val="0"/>
              </a:spcAft>
            </a:pPr>
            <a:endParaRPr lang="vi-VN"/>
          </a:p>
          <a:p>
            <a:pPr>
              <a:spcBef>
                <a:spcPts val="0"/>
              </a:spcBef>
              <a:spcAft>
                <a:spcPts val="0"/>
              </a:spcAft>
            </a:pPr>
            <a:endParaRPr lang="en-US" smtClean="0"/>
          </a:p>
          <a:p>
            <a:pPr marL="0" indent="0">
              <a:spcBef>
                <a:spcPts val="0"/>
              </a:spcBef>
              <a:spcAft>
                <a:spcPts val="0"/>
              </a:spcAft>
              <a:buNone/>
            </a:pPr>
            <a:endParaRPr lang="vi-VN">
              <a:solidFill>
                <a:srgbClr val="FF0000"/>
              </a:solidFill>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168</a:t>
            </a:fld>
            <a:endParaRPr lang="en-US"/>
          </a:p>
        </p:txBody>
      </p:sp>
      <p:pic>
        <p:nvPicPr>
          <p:cNvPr id="6" name="Picture 5"/>
          <p:cNvPicPr>
            <a:picLocks noChangeAspect="1"/>
          </p:cNvPicPr>
          <p:nvPr/>
        </p:nvPicPr>
        <p:blipFill>
          <a:blip r:embed="rId3"/>
          <a:stretch>
            <a:fillRect/>
          </a:stretch>
        </p:blipFill>
        <p:spPr>
          <a:xfrm>
            <a:off x="1553765" y="2228850"/>
            <a:ext cx="6377940" cy="3143250"/>
          </a:xfrm>
          <a:prstGeom prst="rect">
            <a:avLst/>
          </a:prstGeom>
        </p:spPr>
      </p:pic>
    </p:spTree>
    <p:extLst>
      <p:ext uri="{BB962C8B-B14F-4D97-AF65-F5344CB8AC3E}">
        <p14:creationId xmlns:p14="http://schemas.microsoft.com/office/powerpoint/2010/main" val="1408977713"/>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8.4. Khái niệm về luồng (Stream)</a:t>
            </a:r>
            <a:endParaRPr lang="en-US"/>
          </a:p>
        </p:txBody>
      </p:sp>
      <p:sp>
        <p:nvSpPr>
          <p:cNvPr id="3" name="Content Placeholder 2"/>
          <p:cNvSpPr>
            <a:spLocks noGrp="1"/>
          </p:cNvSpPr>
          <p:nvPr>
            <p:ph idx="1"/>
          </p:nvPr>
        </p:nvSpPr>
        <p:spPr>
          <a:xfrm>
            <a:off x="1385646" y="1808820"/>
            <a:ext cx="6372708" cy="3726414"/>
          </a:xfrm>
        </p:spPr>
        <p:txBody>
          <a:bodyPr wrap="square">
            <a:noAutofit/>
          </a:bodyPr>
          <a:lstStyle/>
          <a:p>
            <a:pPr marL="0" indent="0">
              <a:spcBef>
                <a:spcPts val="450"/>
              </a:spcBef>
              <a:spcAft>
                <a:spcPts val="0"/>
              </a:spcAft>
              <a:buNone/>
            </a:pPr>
            <a:r>
              <a:rPr lang="en-US">
                <a:solidFill>
                  <a:srgbClr val="FF0000"/>
                </a:solidFill>
              </a:rPr>
              <a:t>Stream</a:t>
            </a:r>
            <a:r>
              <a:rPr lang="en-US"/>
              <a:t> là một dòng tuần tự các byte, có thứ tự (</a:t>
            </a:r>
            <a:r>
              <a:rPr lang="en-US" i="1"/>
              <a:t>chỉ đi theo 1 chiều</a:t>
            </a:r>
            <a:r>
              <a:rPr lang="en-US"/>
              <a:t>) dùng để truyền tải dữ liệu giữa chương trình và nguồn dữ liệu (các thiết bị)</a:t>
            </a:r>
            <a:endParaRPr lang="vi-VN"/>
          </a:p>
        </p:txBody>
      </p:sp>
      <p:sp>
        <p:nvSpPr>
          <p:cNvPr id="4" name="Slide Number Placeholder 3"/>
          <p:cNvSpPr>
            <a:spLocks noGrp="1"/>
          </p:cNvSpPr>
          <p:nvPr>
            <p:ph type="sldNum" sz="quarter" idx="12"/>
          </p:nvPr>
        </p:nvSpPr>
        <p:spPr/>
        <p:txBody>
          <a:bodyPr/>
          <a:lstStyle/>
          <a:p>
            <a:fld id="{E3E8E051-591C-4566-9813-B4BB16D377BD}" type="slidenum">
              <a:rPr lang="en-US" smtClean="0"/>
              <a:pPr/>
              <a:t>169</a:t>
            </a:fld>
            <a:endParaRPr lang="en-US"/>
          </a:p>
        </p:txBody>
      </p:sp>
      <p:pic>
        <p:nvPicPr>
          <p:cNvPr id="9" name="Picture 8"/>
          <p:cNvPicPr>
            <a:picLocks noChangeAspect="1"/>
          </p:cNvPicPr>
          <p:nvPr/>
        </p:nvPicPr>
        <p:blipFill>
          <a:blip r:embed="rId3"/>
          <a:stretch>
            <a:fillRect/>
          </a:stretch>
        </p:blipFill>
        <p:spPr>
          <a:xfrm>
            <a:off x="2000250" y="2949234"/>
            <a:ext cx="4743450" cy="2953282"/>
          </a:xfrm>
          <a:prstGeom prst="rect">
            <a:avLst/>
          </a:prstGeom>
        </p:spPr>
      </p:pic>
    </p:spTree>
    <p:extLst>
      <p:ext uri="{BB962C8B-B14F-4D97-AF65-F5344CB8AC3E}">
        <p14:creationId xmlns:p14="http://schemas.microsoft.com/office/powerpoint/2010/main" val="4077502057"/>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8.4. Khái niệm về luồng (Stream)</a:t>
            </a:r>
          </a:p>
        </p:txBody>
      </p:sp>
      <p:sp>
        <p:nvSpPr>
          <p:cNvPr id="3" name="Content Placeholder 2"/>
          <p:cNvSpPr>
            <a:spLocks noGrp="1"/>
          </p:cNvSpPr>
          <p:nvPr>
            <p:ph idx="1"/>
          </p:nvPr>
        </p:nvSpPr>
        <p:spPr>
          <a:xfrm>
            <a:off x="1385646" y="1808820"/>
            <a:ext cx="6372708" cy="3963330"/>
          </a:xfrm>
        </p:spPr>
        <p:txBody>
          <a:bodyPr wrap="square">
            <a:noAutofit/>
          </a:bodyPr>
          <a:lstStyle/>
          <a:p>
            <a:pPr marL="363931">
              <a:spcBef>
                <a:spcPts val="450"/>
              </a:spcBef>
            </a:pPr>
            <a:r>
              <a:rPr lang="en-US" b="1" smtClean="0"/>
              <a:t>FileOutputStream</a:t>
            </a:r>
          </a:p>
          <a:p>
            <a:pPr marL="663968" lvl="1">
              <a:spcBef>
                <a:spcPts val="450"/>
              </a:spcBef>
            </a:pPr>
            <a:r>
              <a:rPr lang="en-US" smtClean="0"/>
              <a:t>Sử dụng để ghi dữ liệu ra tập tin</a:t>
            </a:r>
          </a:p>
          <a:p>
            <a:pPr marL="663968" lvl="1">
              <a:spcBef>
                <a:spcPts val="450"/>
              </a:spcBef>
            </a:pPr>
            <a:r>
              <a:rPr lang="en-US" smtClean="0"/>
              <a:t>Khởi tạo:</a:t>
            </a:r>
          </a:p>
          <a:p>
            <a:pPr marL="964006" lvl="2">
              <a:spcBef>
                <a:spcPts val="450"/>
              </a:spcBef>
            </a:pPr>
            <a:r>
              <a:rPr lang="en-US" smtClean="0"/>
              <a:t>FileOutputStream(File file)</a:t>
            </a:r>
          </a:p>
          <a:p>
            <a:pPr marL="964006" lvl="2">
              <a:spcBef>
                <a:spcPts val="450"/>
              </a:spcBef>
            </a:pPr>
            <a:r>
              <a:rPr lang="en-US" smtClean="0"/>
              <a:t>FileOutputStream(String name)</a:t>
            </a:r>
          </a:p>
          <a:p>
            <a:pPr marL="363931">
              <a:spcBef>
                <a:spcPts val="450"/>
              </a:spcBef>
            </a:pPr>
            <a:r>
              <a:rPr lang="en-US" b="1" smtClean="0"/>
              <a:t>FileInputStream</a:t>
            </a:r>
          </a:p>
          <a:p>
            <a:pPr marL="663968" lvl="1">
              <a:spcBef>
                <a:spcPts val="450"/>
              </a:spcBef>
            </a:pPr>
            <a:r>
              <a:rPr lang="en-US" smtClean="0"/>
              <a:t>Sử dụng để truy xuất dữ liệu từ tập tin</a:t>
            </a:r>
          </a:p>
          <a:p>
            <a:pPr marL="663968" lvl="1">
              <a:spcBef>
                <a:spcPts val="450"/>
              </a:spcBef>
            </a:pPr>
            <a:r>
              <a:rPr lang="en-US" smtClean="0"/>
              <a:t>Khởi tạo</a:t>
            </a:r>
          </a:p>
          <a:p>
            <a:pPr marL="964006" lvl="2">
              <a:spcBef>
                <a:spcPts val="450"/>
              </a:spcBef>
            </a:pPr>
            <a:r>
              <a:rPr lang="en-US" smtClean="0"/>
              <a:t>FileInputStream(File file)</a:t>
            </a:r>
          </a:p>
          <a:p>
            <a:pPr marL="964006" lvl="2">
              <a:spcBef>
                <a:spcPts val="450"/>
              </a:spcBef>
            </a:pPr>
            <a:r>
              <a:rPr lang="en-US" smtClean="0"/>
              <a:t>FileInputStream(String name)</a:t>
            </a:r>
          </a:p>
          <a:p>
            <a:pPr>
              <a:spcBef>
                <a:spcPts val="450"/>
              </a:spcBef>
              <a:spcAft>
                <a:spcPts val="0"/>
              </a:spcAft>
            </a:pPr>
            <a:endParaRPr lang="vi-VN">
              <a:solidFill>
                <a:srgbClr val="FF0000"/>
              </a:solidFill>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170</a:t>
            </a:fld>
            <a:endParaRPr lang="en-US"/>
          </a:p>
        </p:txBody>
      </p:sp>
    </p:spTree>
    <p:extLst>
      <p:ext uri="{BB962C8B-B14F-4D97-AF65-F5344CB8AC3E}">
        <p14:creationId xmlns:p14="http://schemas.microsoft.com/office/powerpoint/2010/main" val="3467866938"/>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8.5. Các bước đọc/ghi tập tin</a:t>
            </a:r>
            <a:endParaRPr lang="en-US" sz="2400"/>
          </a:p>
        </p:txBody>
      </p:sp>
      <p:sp>
        <p:nvSpPr>
          <p:cNvPr id="3" name="Content Placeholder 2"/>
          <p:cNvSpPr>
            <a:spLocks noGrp="1"/>
          </p:cNvSpPr>
          <p:nvPr>
            <p:ph idx="1"/>
          </p:nvPr>
        </p:nvSpPr>
        <p:spPr>
          <a:xfrm>
            <a:off x="1385646" y="1657350"/>
            <a:ext cx="6372708" cy="3963330"/>
          </a:xfrm>
        </p:spPr>
        <p:txBody>
          <a:bodyPr wrap="square">
            <a:noAutofit/>
          </a:bodyPr>
          <a:lstStyle/>
          <a:p>
            <a:pPr marL="363931">
              <a:spcBef>
                <a:spcPts val="0"/>
              </a:spcBef>
            </a:pPr>
            <a:r>
              <a:rPr lang="en-US" sz="1875" b="1"/>
              <a:t>Ghi </a:t>
            </a:r>
          </a:p>
          <a:p>
            <a:pPr marL="663968" lvl="1">
              <a:lnSpc>
                <a:spcPct val="110000"/>
              </a:lnSpc>
              <a:spcBef>
                <a:spcPts val="0"/>
              </a:spcBef>
            </a:pPr>
            <a:r>
              <a:rPr lang="en-US" sz="1875"/>
              <a:t>Tạo đối tượng </a:t>
            </a:r>
            <a:r>
              <a:rPr lang="en-US" sz="1875" b="1"/>
              <a:t>FileOutputStream</a:t>
            </a:r>
            <a:r>
              <a:rPr lang="en-US" sz="1875"/>
              <a:t> từ một đường dẫn tập tin hoặc một đối tượng File.</a:t>
            </a:r>
          </a:p>
          <a:p>
            <a:pPr marL="663968" lvl="1">
              <a:lnSpc>
                <a:spcPct val="110000"/>
              </a:lnSpc>
              <a:spcBef>
                <a:spcPts val="0"/>
              </a:spcBef>
            </a:pPr>
            <a:r>
              <a:rPr lang="en-US" sz="1875"/>
              <a:t>Tạo đối tượng </a:t>
            </a:r>
            <a:r>
              <a:rPr lang="en-US" sz="1875" b="1"/>
              <a:t>Writer/OutputStream</a:t>
            </a:r>
            <a:r>
              <a:rPr lang="en-US" sz="1875"/>
              <a:t> kết nối với đối tượng </a:t>
            </a:r>
            <a:r>
              <a:rPr lang="en-US" sz="1875" b="1"/>
              <a:t>FileOutputStream</a:t>
            </a:r>
            <a:r>
              <a:rPr lang="en-US" sz="1875"/>
              <a:t>.</a:t>
            </a:r>
          </a:p>
          <a:p>
            <a:pPr marL="663968" lvl="1">
              <a:lnSpc>
                <a:spcPct val="110000"/>
              </a:lnSpc>
              <a:spcBef>
                <a:spcPts val="0"/>
              </a:spcBef>
            </a:pPr>
            <a:r>
              <a:rPr lang="en-US" sz="1875"/>
              <a:t>Sử dụng đối tượng </a:t>
            </a:r>
            <a:r>
              <a:rPr lang="en-US" sz="1875" b="1"/>
              <a:t>Writer/OutputStream</a:t>
            </a:r>
            <a:r>
              <a:rPr lang="en-US" sz="1875"/>
              <a:t> để ghi dữ liệu</a:t>
            </a:r>
          </a:p>
          <a:p>
            <a:pPr marL="363931">
              <a:spcBef>
                <a:spcPts val="0"/>
              </a:spcBef>
            </a:pPr>
            <a:r>
              <a:rPr lang="en-US" sz="1875" b="1"/>
              <a:t>Đọc</a:t>
            </a:r>
          </a:p>
          <a:p>
            <a:pPr marL="663968" lvl="1">
              <a:spcBef>
                <a:spcPts val="0"/>
              </a:spcBef>
            </a:pPr>
            <a:r>
              <a:rPr lang="en-US" sz="1875"/>
              <a:t>Tạo đối tượng </a:t>
            </a:r>
            <a:r>
              <a:rPr lang="en-US" sz="1875" b="1"/>
              <a:t>FileInputStream</a:t>
            </a:r>
            <a:r>
              <a:rPr lang="en-US" sz="1875"/>
              <a:t> từ một đường dẫn tập tin hoặc một đối tượng File.</a:t>
            </a:r>
          </a:p>
          <a:p>
            <a:pPr marL="663968" lvl="1">
              <a:spcBef>
                <a:spcPts val="0"/>
              </a:spcBef>
            </a:pPr>
            <a:r>
              <a:rPr lang="en-US" sz="1875"/>
              <a:t>Tạo đối tượng </a:t>
            </a:r>
            <a:r>
              <a:rPr lang="en-US" sz="1875" b="1"/>
              <a:t>Reader/InputStream</a:t>
            </a:r>
            <a:r>
              <a:rPr lang="en-US" sz="1875"/>
              <a:t> kết nối với đối tượng </a:t>
            </a:r>
            <a:r>
              <a:rPr lang="en-US" sz="1875" b="1"/>
              <a:t>FileInputStream</a:t>
            </a:r>
            <a:r>
              <a:rPr lang="en-US" sz="1875"/>
              <a:t>.</a:t>
            </a:r>
          </a:p>
          <a:p>
            <a:pPr marL="663968" lvl="1">
              <a:spcBef>
                <a:spcPts val="0"/>
              </a:spcBef>
            </a:pPr>
            <a:r>
              <a:rPr lang="en-US" sz="1875"/>
              <a:t>Sử dụng đối tượng </a:t>
            </a:r>
            <a:r>
              <a:rPr lang="en-US" sz="1875" b="1"/>
              <a:t>Reader/InputStream</a:t>
            </a:r>
            <a:r>
              <a:rPr lang="en-US" sz="1875"/>
              <a:t> để </a:t>
            </a:r>
            <a:r>
              <a:rPr lang="en-US" sz="1875"/>
              <a:t>đọc </a:t>
            </a:r>
            <a:r>
              <a:rPr lang="en-US" sz="1875"/>
              <a:t>dữ </a:t>
            </a:r>
            <a:r>
              <a:rPr lang="en-US" sz="1875"/>
              <a:t>liệu.</a:t>
            </a:r>
            <a:endParaRPr lang="en-US" sz="1875"/>
          </a:p>
          <a:p>
            <a:pPr marL="0" indent="0">
              <a:spcBef>
                <a:spcPts val="450"/>
              </a:spcBef>
              <a:spcAft>
                <a:spcPts val="0"/>
              </a:spcAft>
              <a:buNone/>
            </a:pPr>
            <a:endParaRPr lang="vi-VN">
              <a:solidFill>
                <a:srgbClr val="FF0000"/>
              </a:solidFill>
            </a:endParaRPr>
          </a:p>
        </p:txBody>
      </p:sp>
      <p:sp>
        <p:nvSpPr>
          <p:cNvPr id="4" name="Slide Number Placeholder 3"/>
          <p:cNvSpPr>
            <a:spLocks noGrp="1"/>
          </p:cNvSpPr>
          <p:nvPr>
            <p:ph type="sldNum" sz="quarter" idx="12"/>
          </p:nvPr>
        </p:nvSpPr>
        <p:spPr/>
        <p:txBody>
          <a:bodyPr/>
          <a:lstStyle/>
          <a:p>
            <a:fld id="{E3E8E051-591C-4566-9813-B4BB16D377BD}" type="slidenum">
              <a:rPr lang="en-US" smtClean="0"/>
              <a:pPr/>
              <a:t>171</a:t>
            </a:fld>
            <a:endParaRPr lang="en-US"/>
          </a:p>
        </p:txBody>
      </p:sp>
    </p:spTree>
    <p:extLst>
      <p:ext uri="{BB962C8B-B14F-4D97-AF65-F5344CB8AC3E}">
        <p14:creationId xmlns:p14="http://schemas.microsoft.com/office/powerpoint/2010/main" val="2109099741"/>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8.5.1. Character Stream – Ghi file</a:t>
            </a:r>
            <a:endParaRPr lang="en-US" sz="2400"/>
          </a:p>
        </p:txBody>
      </p:sp>
      <p:sp>
        <p:nvSpPr>
          <p:cNvPr id="4" name="Slide Number Placeholder 3"/>
          <p:cNvSpPr>
            <a:spLocks noGrp="1"/>
          </p:cNvSpPr>
          <p:nvPr>
            <p:ph type="sldNum" sz="quarter" idx="12"/>
          </p:nvPr>
        </p:nvSpPr>
        <p:spPr/>
        <p:txBody>
          <a:bodyPr/>
          <a:lstStyle/>
          <a:p>
            <a:fld id="{E3E8E051-591C-4566-9813-B4BB16D377BD}" type="slidenum">
              <a:rPr lang="en-US" smtClean="0"/>
              <a:pPr/>
              <a:t>172</a:t>
            </a:fld>
            <a:endParaRPr lang="en-US"/>
          </a:p>
        </p:txBody>
      </p:sp>
      <p:pic>
        <p:nvPicPr>
          <p:cNvPr id="6" name="Picture 5"/>
          <p:cNvPicPr>
            <a:picLocks noChangeAspect="1"/>
          </p:cNvPicPr>
          <p:nvPr/>
        </p:nvPicPr>
        <p:blipFill>
          <a:blip r:embed="rId3"/>
          <a:stretch>
            <a:fillRect/>
          </a:stretch>
        </p:blipFill>
        <p:spPr>
          <a:xfrm>
            <a:off x="1371600" y="1943100"/>
            <a:ext cx="6583680" cy="3314700"/>
          </a:xfrm>
          <a:prstGeom prst="rect">
            <a:avLst/>
          </a:prstGeom>
        </p:spPr>
      </p:pic>
    </p:spTree>
    <p:extLst>
      <p:ext uri="{BB962C8B-B14F-4D97-AF65-F5344CB8AC3E}">
        <p14:creationId xmlns:p14="http://schemas.microsoft.com/office/powerpoint/2010/main" val="3868865279"/>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8.5.2. Character Stream – Đọc file</a:t>
            </a:r>
            <a:endParaRPr lang="en-US" sz="2400"/>
          </a:p>
        </p:txBody>
      </p:sp>
      <p:sp>
        <p:nvSpPr>
          <p:cNvPr id="4" name="Slide Number Placeholder 3"/>
          <p:cNvSpPr>
            <a:spLocks noGrp="1"/>
          </p:cNvSpPr>
          <p:nvPr>
            <p:ph type="sldNum" sz="quarter" idx="12"/>
          </p:nvPr>
        </p:nvSpPr>
        <p:spPr/>
        <p:txBody>
          <a:bodyPr/>
          <a:lstStyle/>
          <a:p>
            <a:fld id="{E3E8E051-591C-4566-9813-B4BB16D377BD}" type="slidenum">
              <a:rPr lang="en-US" smtClean="0"/>
              <a:pPr/>
              <a:t>173</a:t>
            </a:fld>
            <a:endParaRPr lang="en-US"/>
          </a:p>
        </p:txBody>
      </p:sp>
      <p:pic>
        <p:nvPicPr>
          <p:cNvPr id="3" name="Picture 2"/>
          <p:cNvPicPr>
            <a:picLocks noChangeAspect="1"/>
          </p:cNvPicPr>
          <p:nvPr/>
        </p:nvPicPr>
        <p:blipFill>
          <a:blip r:embed="rId3"/>
          <a:stretch>
            <a:fillRect/>
          </a:stretch>
        </p:blipFill>
        <p:spPr>
          <a:xfrm>
            <a:off x="1428750" y="1885957"/>
            <a:ext cx="6446520" cy="3738563"/>
          </a:xfrm>
          <a:prstGeom prst="rect">
            <a:avLst/>
          </a:prstGeom>
        </p:spPr>
      </p:pic>
    </p:spTree>
    <p:extLst>
      <p:ext uri="{BB962C8B-B14F-4D97-AF65-F5344CB8AC3E}">
        <p14:creationId xmlns:p14="http://schemas.microsoft.com/office/powerpoint/2010/main" val="4076127237"/>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8.5.3. Bye Stream – Ghi đối tượng ra file</a:t>
            </a:r>
            <a:endParaRPr lang="en-US" sz="2400"/>
          </a:p>
        </p:txBody>
      </p:sp>
      <p:sp>
        <p:nvSpPr>
          <p:cNvPr id="4" name="Slide Number Placeholder 3"/>
          <p:cNvSpPr>
            <a:spLocks noGrp="1"/>
          </p:cNvSpPr>
          <p:nvPr>
            <p:ph type="sldNum" sz="quarter" idx="12"/>
          </p:nvPr>
        </p:nvSpPr>
        <p:spPr/>
        <p:txBody>
          <a:bodyPr/>
          <a:lstStyle/>
          <a:p>
            <a:fld id="{E3E8E051-591C-4566-9813-B4BB16D377BD}" type="slidenum">
              <a:rPr lang="en-US" smtClean="0"/>
              <a:pPr/>
              <a:t>174</a:t>
            </a:fld>
            <a:endParaRPr lang="en-US"/>
          </a:p>
        </p:txBody>
      </p:sp>
      <p:pic>
        <p:nvPicPr>
          <p:cNvPr id="5" name="Picture 4"/>
          <p:cNvPicPr>
            <a:picLocks noChangeAspect="1"/>
          </p:cNvPicPr>
          <p:nvPr/>
        </p:nvPicPr>
        <p:blipFill>
          <a:blip r:embed="rId3"/>
          <a:stretch>
            <a:fillRect/>
          </a:stretch>
        </p:blipFill>
        <p:spPr>
          <a:xfrm>
            <a:off x="1637480" y="1828803"/>
            <a:ext cx="5760720" cy="3756202"/>
          </a:xfrm>
          <a:prstGeom prst="rect">
            <a:avLst/>
          </a:prstGeom>
        </p:spPr>
      </p:pic>
    </p:spTree>
    <p:extLst>
      <p:ext uri="{BB962C8B-B14F-4D97-AF65-F5344CB8AC3E}">
        <p14:creationId xmlns:p14="http://schemas.microsoft.com/office/powerpoint/2010/main" val="1416827320"/>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8.5.3. Bye Stream – Ghi đối tượng ra file</a:t>
            </a:r>
            <a:endParaRPr lang="en-US" sz="2400"/>
          </a:p>
        </p:txBody>
      </p:sp>
      <p:sp>
        <p:nvSpPr>
          <p:cNvPr id="4" name="Slide Number Placeholder 3"/>
          <p:cNvSpPr>
            <a:spLocks noGrp="1"/>
          </p:cNvSpPr>
          <p:nvPr>
            <p:ph type="sldNum" sz="quarter" idx="12"/>
          </p:nvPr>
        </p:nvSpPr>
        <p:spPr/>
        <p:txBody>
          <a:bodyPr/>
          <a:lstStyle/>
          <a:p>
            <a:fld id="{E3E8E051-591C-4566-9813-B4BB16D377BD}" type="slidenum">
              <a:rPr lang="en-US" smtClean="0"/>
              <a:pPr/>
              <a:t>175</a:t>
            </a:fld>
            <a:endParaRPr lang="en-US"/>
          </a:p>
        </p:txBody>
      </p:sp>
      <p:pic>
        <p:nvPicPr>
          <p:cNvPr id="3" name="Picture 2"/>
          <p:cNvPicPr>
            <a:picLocks noChangeAspect="1"/>
          </p:cNvPicPr>
          <p:nvPr/>
        </p:nvPicPr>
        <p:blipFill>
          <a:blip r:embed="rId3"/>
          <a:stretch>
            <a:fillRect/>
          </a:stretch>
        </p:blipFill>
        <p:spPr>
          <a:xfrm>
            <a:off x="1424594" y="2057400"/>
            <a:ext cx="6446520" cy="3028950"/>
          </a:xfrm>
          <a:prstGeom prst="rect">
            <a:avLst/>
          </a:prstGeom>
        </p:spPr>
      </p:pic>
    </p:spTree>
    <p:extLst>
      <p:ext uri="{BB962C8B-B14F-4D97-AF65-F5344CB8AC3E}">
        <p14:creationId xmlns:p14="http://schemas.microsoft.com/office/powerpoint/2010/main" val="1651885484"/>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8.5.3. Bye Stream – đọc đối tượng từ file</a:t>
            </a:r>
            <a:endParaRPr lang="en-US" sz="2400"/>
          </a:p>
        </p:txBody>
      </p:sp>
      <p:sp>
        <p:nvSpPr>
          <p:cNvPr id="4" name="Slide Number Placeholder 3"/>
          <p:cNvSpPr>
            <a:spLocks noGrp="1"/>
          </p:cNvSpPr>
          <p:nvPr>
            <p:ph type="sldNum" sz="quarter" idx="12"/>
          </p:nvPr>
        </p:nvSpPr>
        <p:spPr/>
        <p:txBody>
          <a:bodyPr/>
          <a:lstStyle/>
          <a:p>
            <a:fld id="{E3E8E051-591C-4566-9813-B4BB16D377BD}" type="slidenum">
              <a:rPr lang="en-US" smtClean="0"/>
              <a:pPr/>
              <a:t>176</a:t>
            </a:fld>
            <a:endParaRPr lang="en-US"/>
          </a:p>
        </p:txBody>
      </p:sp>
      <p:pic>
        <p:nvPicPr>
          <p:cNvPr id="5" name="Picture 4"/>
          <p:cNvPicPr>
            <a:picLocks noChangeAspect="1"/>
          </p:cNvPicPr>
          <p:nvPr/>
        </p:nvPicPr>
        <p:blipFill>
          <a:blip r:embed="rId3"/>
          <a:stretch>
            <a:fillRect/>
          </a:stretch>
        </p:blipFill>
        <p:spPr>
          <a:xfrm>
            <a:off x="1492007" y="1929313"/>
            <a:ext cx="6309360" cy="3594695"/>
          </a:xfrm>
          <a:prstGeom prst="rect">
            <a:avLst/>
          </a:prstGeom>
        </p:spPr>
      </p:pic>
    </p:spTree>
    <p:extLst>
      <p:ext uri="{BB962C8B-B14F-4D97-AF65-F5344CB8AC3E}">
        <p14:creationId xmlns:p14="http://schemas.microsoft.com/office/powerpoint/2010/main" val="32784027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ran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0</TotalTime>
  <Words>7588</Words>
  <Application>Microsoft Office PowerPoint</Application>
  <PresentationFormat>On-screen Show (4:3)</PresentationFormat>
  <Paragraphs>1407</Paragraphs>
  <Slides>176</Slides>
  <Notes>121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176</vt:i4>
      </vt:variant>
    </vt:vector>
  </HeadingPairs>
  <TitlesOfParts>
    <vt:vector size="184" baseType="lpstr">
      <vt:lpstr>Arial</vt:lpstr>
      <vt:lpstr>Calibri</vt:lpstr>
      <vt:lpstr>Consolas</vt:lpstr>
      <vt:lpstr>Courier New</vt:lpstr>
      <vt:lpstr>Tahoma</vt:lpstr>
      <vt:lpstr>Times New Roman</vt:lpstr>
      <vt:lpstr>Wingdings</vt:lpstr>
      <vt:lpstr>Orange</vt:lpstr>
      <vt:lpstr>Chương 1 Căn bản về Ngôn ngữ lập trình Java</vt:lpstr>
      <vt:lpstr>The top 10 programming languages of TIOBE</vt:lpstr>
      <vt:lpstr>The PYPL PopularitY of Programming Language Index</vt:lpstr>
      <vt:lpstr>Nội dung</vt:lpstr>
      <vt:lpstr>1. Tổng quan về NNLT Java</vt:lpstr>
      <vt:lpstr>1.1. Lịch sử phát triển</vt:lpstr>
      <vt:lpstr>1.1. Lịch sử phát triển</vt:lpstr>
      <vt:lpstr>1.1. Lịch sử phát triển</vt:lpstr>
      <vt:lpstr>1.2. Đặc điểm</vt:lpstr>
      <vt:lpstr>1.2. Đặc điểm</vt:lpstr>
      <vt:lpstr>1.2. Đặc điểm</vt:lpstr>
      <vt:lpstr>1.2. Đặc điểm</vt:lpstr>
      <vt:lpstr>1.2. Đặc điểm</vt:lpstr>
      <vt:lpstr>1.2. Đặc điểm</vt:lpstr>
      <vt:lpstr>1.2. Đặc điểm</vt:lpstr>
      <vt:lpstr>1.2. Đặc điểm</vt:lpstr>
      <vt:lpstr>1.3. Các công nghệ Java</vt:lpstr>
      <vt:lpstr>1.3. Các công nghệ Java</vt:lpstr>
      <vt:lpstr>1.3. Các công nghệ Java</vt:lpstr>
      <vt:lpstr>1.3. Các công nghệ Java</vt:lpstr>
      <vt:lpstr>1.4. Môi trường lập trình Java</vt:lpstr>
      <vt:lpstr>1.5. Chương trình Java đơn giản</vt:lpstr>
      <vt:lpstr>1.5. Chương trình Java đơn giản</vt:lpstr>
      <vt:lpstr>1.5. Chương trình Java đơn giản</vt:lpstr>
      <vt:lpstr>1.6. Quá trình phát triển một chương trình Java</vt:lpstr>
      <vt:lpstr>1.6. Quá trình phát triển một chương trình Java</vt:lpstr>
      <vt:lpstr>1.7. IDE hỗ trợ lập trình Java</vt:lpstr>
      <vt:lpstr>2. Các thành phần cơ bản của NNLT Java</vt:lpstr>
      <vt:lpstr>2.1. Từ khóa và định danh</vt:lpstr>
      <vt:lpstr>2.1. Từ khóa và định danh</vt:lpstr>
      <vt:lpstr>2.1. Từ khóa và định danh</vt:lpstr>
      <vt:lpstr>2.1. Từ khóa và định danh</vt:lpstr>
      <vt:lpstr>2.2. Kiểu dữ liệu</vt:lpstr>
      <vt:lpstr>2.2.1. Các kiểu dữ liệu cơ sở</vt:lpstr>
      <vt:lpstr>2.2.2. Kiểu dữ liệu tham chiếu</vt:lpstr>
      <vt:lpstr>2.3. Toán tử</vt:lpstr>
      <vt:lpstr>2.3.1. Toán tử số học</vt:lpstr>
      <vt:lpstr>2.3.1. Toán tử số học (2)</vt:lpstr>
      <vt:lpstr>2.3.2. Toán tử nhị phân</vt:lpstr>
      <vt:lpstr>2.3.2. Toán tử nhị phân (2)</vt:lpstr>
      <vt:lpstr>2.2.3. Toán tử nhị phân (3)</vt:lpstr>
      <vt:lpstr>2.2.4. Toán tử quan hệ</vt:lpstr>
      <vt:lpstr>2.2.5. Toán tử logic</vt:lpstr>
      <vt:lpstr>2.2.6. Toán tử điều kiện</vt:lpstr>
      <vt:lpstr>2.3. Biến và hằng</vt:lpstr>
      <vt:lpstr>2.4. Câu lệnh và khối lệnh</vt:lpstr>
      <vt:lpstr>2.4. Câu lệnh và khối lệnh</vt:lpstr>
      <vt:lpstr>2.5. Chú thích</vt:lpstr>
      <vt:lpstr>2.5. Chú thích (4)</vt:lpstr>
      <vt:lpstr>2.5. Chú thích (3)</vt:lpstr>
      <vt:lpstr>3. Lệnh điều khiển</vt:lpstr>
      <vt:lpstr>3.1. Lệnh rẽ nhánh</vt:lpstr>
      <vt:lpstr>3.1.1. Lệnh if</vt:lpstr>
      <vt:lpstr>3.1.2. Lệnh if … else</vt:lpstr>
      <vt:lpstr>Lệnh if, if…else</vt:lpstr>
      <vt:lpstr>3.1.3. Lệnh if … else lồng nhau</vt:lpstr>
      <vt:lpstr>3.1.3. Lệnh if … else lồng nhau</vt:lpstr>
      <vt:lpstr>3.1.3. Lệnh if … else lồng nhau</vt:lpstr>
      <vt:lpstr>3.1.4. Lệnh switch … case</vt:lpstr>
      <vt:lpstr>3.1.4. Lệnh switch … case</vt:lpstr>
      <vt:lpstr>3.1.4. Lệnh switch … case</vt:lpstr>
      <vt:lpstr>3.2. Lệnh lặp</vt:lpstr>
      <vt:lpstr>3.2.1. Lệnh while</vt:lpstr>
      <vt:lpstr>3.2.2. Lệnh do … while</vt:lpstr>
      <vt:lpstr>3.2.3. Lệnh for</vt:lpstr>
      <vt:lpstr>3.2.4. Lệnh break</vt:lpstr>
      <vt:lpstr>3.2.4. Lệnh break</vt:lpstr>
      <vt:lpstr>3.2.5. Lệnh continue</vt:lpstr>
      <vt:lpstr>3.2.5. Lệnh continue</vt:lpstr>
      <vt:lpstr>4. Mảng và chuỗi</vt:lpstr>
      <vt:lpstr>4.1. Chuỗi ký tự - Lớp String</vt:lpstr>
      <vt:lpstr>4.1. Chuỗi ký tự - Lớp String (2)</vt:lpstr>
      <vt:lpstr>4.1. Chuỗi ký tự - Lớp String (3)</vt:lpstr>
      <vt:lpstr>4.1. Chuỗi ký tự - Lớp String (4)</vt:lpstr>
      <vt:lpstr>4.1. Chuỗi ký tự - Lớp String (5)</vt:lpstr>
      <vt:lpstr>4.11. Chuỗi ký tự - Lớp String (5)</vt:lpstr>
      <vt:lpstr>4.2. Mảng một chiều</vt:lpstr>
      <vt:lpstr>4.2. Mảng một chiều</vt:lpstr>
      <vt:lpstr>4.2. Mảng một chiều</vt:lpstr>
      <vt:lpstr>4.2. Mảng một chiều</vt:lpstr>
      <vt:lpstr>4.2. Mảng một chiều</vt:lpstr>
      <vt:lpstr>4.2. Mảng một chiều</vt:lpstr>
      <vt:lpstr>4.2. Mảng một chiều</vt:lpstr>
      <vt:lpstr>4.2. Mảng một chiều</vt:lpstr>
      <vt:lpstr>4.2. Mảng một chiều</vt:lpstr>
      <vt:lpstr>4.3. Mảng hai chiều</vt:lpstr>
      <vt:lpstr>4.3. Mảng hai chiều</vt:lpstr>
      <vt:lpstr>4.3. Mảng hai chiều</vt:lpstr>
      <vt:lpstr>4.3. Mảng hai chiều</vt:lpstr>
      <vt:lpstr>4.3. Mảng hai chiều</vt:lpstr>
      <vt:lpstr>4.3. Mảng hai chiều</vt:lpstr>
      <vt:lpstr>4.3. Mảng hai chiều</vt:lpstr>
      <vt:lpstr>4.3. Mảng hai chiều</vt:lpstr>
      <vt:lpstr>5. Nhập xuất dữ liệu đơn giản</vt:lpstr>
      <vt:lpstr>5.1. Nhập dữ liệu từ bàn phím</vt:lpstr>
      <vt:lpstr>5.1. Nhập dữ liệu từ bàn phím</vt:lpstr>
      <vt:lpstr>5.2. Xuất dữ liệu ra màn hình</vt:lpstr>
      <vt:lpstr>6. Lập trình hướng đối tượng trong Java</vt:lpstr>
      <vt:lpstr>Lập trình cổ điển và Lập trình HĐT</vt:lpstr>
      <vt:lpstr>Lập trình cổ điển và Lập trình HĐT</vt:lpstr>
      <vt:lpstr>6.1. Đối tượng và lớp</vt:lpstr>
      <vt:lpstr>6.1. Đối tượng và lớp</vt:lpstr>
      <vt:lpstr>6.1. Đối tượng và lớp</vt:lpstr>
      <vt:lpstr>6.1. Đối tượng và lớp</vt:lpstr>
      <vt:lpstr>6.1.1. Xây dựng lớp</vt:lpstr>
      <vt:lpstr>6.1.1. Xây dựng lớp</vt:lpstr>
      <vt:lpstr>6.1.1. Xây dựng lớp</vt:lpstr>
      <vt:lpstr>6.1.1. Xây dựng lớp</vt:lpstr>
      <vt:lpstr>6.1.2. Khai báo và sử dụng đối tượng</vt:lpstr>
      <vt:lpstr>6.1.3. Phương thức get, set</vt:lpstr>
      <vt:lpstr>6.1.3. Phương thức get, set</vt:lpstr>
      <vt:lpstr>6.1.4. Phương thức khởi tạo</vt:lpstr>
      <vt:lpstr>6.1.4. Phương thức khởi tạo</vt:lpstr>
      <vt:lpstr>6.1.4. Phương thức khởi tạo</vt:lpstr>
      <vt:lpstr>6.1.4. Phương thức khởi tạo</vt:lpstr>
      <vt:lpstr>6.1.4. Phương thức khởi tạo</vt:lpstr>
      <vt:lpstr>6.1.5. Nạp chồng phương thức (overload)</vt:lpstr>
      <vt:lpstr>6.1.5. Nạp chồng phương thức (overload)</vt:lpstr>
      <vt:lpstr>6.1.6. Thành phần tĩnh (static members)</vt:lpstr>
      <vt:lpstr>6.1.6. Thành phần tĩnh (static members)</vt:lpstr>
      <vt:lpstr>6.1.6. Thành phần tĩnh (static members)</vt:lpstr>
      <vt:lpstr>6.1.7. Biến tham chiếu this</vt:lpstr>
      <vt:lpstr>6.1.7. Biến tham chiếu this</vt:lpstr>
      <vt:lpstr>6.1.7. Biến tham chiếu this</vt:lpstr>
      <vt:lpstr>6.2. Kế thừa (Inheritance)</vt:lpstr>
      <vt:lpstr>6.2. Kế thừa (Inheritance)</vt:lpstr>
      <vt:lpstr>6.2. Kế thừa (Inheritance)</vt:lpstr>
      <vt:lpstr>6.2.1. Tạo lớp kế thừa</vt:lpstr>
      <vt:lpstr>6.2.2. Constructor trong kế thừa</vt:lpstr>
      <vt:lpstr>6.2.2. Constructor trong kế thừa</vt:lpstr>
      <vt:lpstr>6.2.2. Constructor trong kế thừa</vt:lpstr>
      <vt:lpstr>6.2.3. Các dạng kế thừa</vt:lpstr>
      <vt:lpstr>6.2.4. Nạp đè (Override)</vt:lpstr>
      <vt:lpstr>6.2.4. Nạp đè (Override)</vt:lpstr>
      <vt:lpstr>6.2.4. Nạp đè (Override)</vt:lpstr>
      <vt:lpstr>Sự tương thích giữa tham chiếu và đối tượng</vt:lpstr>
      <vt:lpstr>6.3. Đa hình</vt:lpstr>
      <vt:lpstr>6.3. Đa hình</vt:lpstr>
      <vt:lpstr>6.4. Phương thức trừu tượng và lớp trừu tượng</vt:lpstr>
      <vt:lpstr>6.4. Phương thức trừu tượng và lớp trừu tượng</vt:lpstr>
      <vt:lpstr>6.4. Phương thức trừu tượng và lớp trừu tượng</vt:lpstr>
      <vt:lpstr>6.5. Interface</vt:lpstr>
      <vt:lpstr>6.5. Interface</vt:lpstr>
      <vt:lpstr>6.5. Interface</vt:lpstr>
      <vt:lpstr>6.5. Interface</vt:lpstr>
      <vt:lpstr>6.5. Đa thừa kế</vt:lpstr>
      <vt:lpstr>6.5. Đa thừa kế</vt:lpstr>
      <vt:lpstr>Giả lập đa kế thừa</vt:lpstr>
      <vt:lpstr>Giả lập đa kế thừa</vt:lpstr>
      <vt:lpstr>7. Xử lý ngoại lệ</vt:lpstr>
      <vt:lpstr>7.1. Cơ bản về ngoại lệ (Exception)</vt:lpstr>
      <vt:lpstr>7.1. Ngoại lệ (Exception)</vt:lpstr>
      <vt:lpstr>7.1. Ngoại lệ (Exception)</vt:lpstr>
      <vt:lpstr>7.2. Xử lý ngoại lệ</vt:lpstr>
      <vt:lpstr>7.2. Xử lý ngoại lệ</vt:lpstr>
      <vt:lpstr>7.2.1. Sử dụng try - catch</vt:lpstr>
      <vt:lpstr>7.2.1. Sử dụng try - catch</vt:lpstr>
      <vt:lpstr>7.2.2. Sử dụng try – catch - finally</vt:lpstr>
      <vt:lpstr>7.2.2. Sử dụng try – catch - finally</vt:lpstr>
      <vt:lpstr>8. Các luồng nhập xuất dữ liệu</vt:lpstr>
      <vt:lpstr>8.1. Giới thiệu về nhập xuất trong Java</vt:lpstr>
      <vt:lpstr>8.2. Lớp java.io.File</vt:lpstr>
      <vt:lpstr>8.2. Lớp java.io.File</vt:lpstr>
      <vt:lpstr>8.2. Lớp java.io.File</vt:lpstr>
      <vt:lpstr>8.2. Lớp java.io.File</vt:lpstr>
      <vt:lpstr>8.3. Lớp java.nio.Files</vt:lpstr>
      <vt:lpstr>8.3. Lớp java.nio.Files</vt:lpstr>
      <vt:lpstr>8.3. Lớp java.nio.Files</vt:lpstr>
      <vt:lpstr>8.4. Khái niệm về luồng (Stream)</vt:lpstr>
      <vt:lpstr>8.4. Khái niệm về luồng (Stream)</vt:lpstr>
      <vt:lpstr>8.5. Các bước đọc/ghi tập tin</vt:lpstr>
      <vt:lpstr>8.5.1. Character Stream – Ghi file</vt:lpstr>
      <vt:lpstr>8.5.2. Character Stream – Đọc file</vt:lpstr>
      <vt:lpstr>8.5.3. Bye Stream – Ghi đối tượng ra file</vt:lpstr>
      <vt:lpstr>8.5.3. Bye Stream – Ghi đối tượng ra file</vt:lpstr>
      <vt:lpstr>8.5.3. Bye Stream – đọc đối tượng từ file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2017-10-21T23:55:37Z</dcterms:created>
  <dcterms:modified xsi:type="dcterms:W3CDTF">2023-01-10T15:34:05Z</dcterms:modified>
</cp:coreProperties>
</file>